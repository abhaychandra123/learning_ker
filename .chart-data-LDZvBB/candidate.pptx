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3827f38a3854c07" /><Relationship Type="http://schemas.openxmlformats.org/officeDocument/2006/relationships/extended-properties" Target="/docProps/app.xml" Id="Rd1d0c9054b474e91" /><Relationship Type="http://schemas.openxmlformats.org/officeDocument/2006/relationships/officeDocument" Target="/ppt/presentation.xml" Id="Raea35a3893d94d76" /></Relationships>
</file>

<file path=ppt/presentation.xml><?xml version="1.0" encoding="utf-8"?>
<p:presentation xmlns:p="http://schemas.openxmlformats.org/presentationml/2006/main">
  <p:sldMasterIdLst>
    <p:sldMasterId xmlns:r="http://schemas.openxmlformats.org/officeDocument/2006/relationships" id="2147483648" r:id="Rc794fff3d8784cc0"/>
  </p:sldMasterIdLst>
  <p:notesMasterIdLst>
    <p:notesMasterId xmlns:r="http://schemas.openxmlformats.org/officeDocument/2006/relationships" r:id="Rd0df91fe1d1f45c2"/>
  </p:notesMasterIdLst>
  <p:sldIdLst>
    <p:sldId xmlns:r="http://schemas.openxmlformats.org/officeDocument/2006/relationships" id="256" r:id="R4bf23a363c2149a6"/>
    <p:sldId xmlns:r="http://schemas.openxmlformats.org/officeDocument/2006/relationships" id="257" r:id="R04b57a34b9e44950"/>
    <p:sldId xmlns:r="http://schemas.openxmlformats.org/officeDocument/2006/relationships" id="258" r:id="Rd340fb96475e4966"/>
    <p:sldId xmlns:r="http://schemas.openxmlformats.org/officeDocument/2006/relationships" id="259" r:id="Re923f13575854aa8"/>
    <p:sldId xmlns:r="http://schemas.openxmlformats.org/officeDocument/2006/relationships" id="260" r:id="Ra4cf678290e44031"/>
    <p:sldId xmlns:r="http://schemas.openxmlformats.org/officeDocument/2006/relationships" id="261" r:id="R9e010ef025e943b4"/>
    <p:sldId xmlns:r="http://schemas.openxmlformats.org/officeDocument/2006/relationships" id="262" r:id="R2e8549672c9d4f14"/>
    <p:sldId xmlns:r="http://schemas.openxmlformats.org/officeDocument/2006/relationships" id="263" r:id="R200b650a6dfb4dfb"/>
    <p:sldId xmlns:r="http://schemas.openxmlformats.org/officeDocument/2006/relationships" id="264" r:id="Rfdb26473b08544c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dc348130d8645aa" /><Relationship Type="http://schemas.openxmlformats.org/officeDocument/2006/relationships/slideMaster" Target="/ppt/slideMasters/slideMaster1.xml" Id="Rc794fff3d8784cc0" /><Relationship Type="http://schemas.openxmlformats.org/officeDocument/2006/relationships/notesMaster" Target="/ppt/notesMasters/notesMaster1.xml" Id="Rd0df91fe1d1f45c2" /><Relationship Type="http://schemas.openxmlformats.org/officeDocument/2006/relationships/presProps" Target="/ppt/presProps.xml" Id="R580aa7f7616f480b" /><Relationship Type="http://schemas.openxmlformats.org/officeDocument/2006/relationships/tableStyles" Target="/ppt/tableStyles.xml" Id="R8ab300a78a434371" /><Relationship Type="http://schemas.openxmlformats.org/officeDocument/2006/relationships/slide" Target="/ppt/slides/slide1.xml" Id="R4bf23a363c2149a6" /><Relationship Type="http://schemas.openxmlformats.org/officeDocument/2006/relationships/slide" Target="/ppt/slides/slide2.xml" Id="R04b57a34b9e44950" /><Relationship Type="http://schemas.openxmlformats.org/officeDocument/2006/relationships/slide" Target="/ppt/slides/slide3.xml" Id="Rd340fb96475e4966" /><Relationship Type="http://schemas.openxmlformats.org/officeDocument/2006/relationships/slide" Target="/ppt/slides/slide4.xml" Id="Re923f13575854aa8" /><Relationship Type="http://schemas.openxmlformats.org/officeDocument/2006/relationships/slide" Target="/ppt/slides/slide5.xml" Id="Ra4cf678290e44031" /><Relationship Type="http://schemas.openxmlformats.org/officeDocument/2006/relationships/slide" Target="/ppt/slides/slide6.xml" Id="R9e010ef025e943b4" /><Relationship Type="http://schemas.openxmlformats.org/officeDocument/2006/relationships/slide" Target="/ppt/slides/slide7.xml" Id="R2e8549672c9d4f14" /><Relationship Type="http://schemas.openxmlformats.org/officeDocument/2006/relationships/slide" Target="/ppt/slides/slide8.xml" Id="R200b650a6dfb4dfb" /><Relationship Type="http://schemas.openxmlformats.org/officeDocument/2006/relationships/slide" Target="/ppt/slides/slide9.xml" Id="Rfdb26473b08544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275d93688348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6f09775772e46b1" /><Relationship Type="http://schemas.openxmlformats.org/officeDocument/2006/relationships/notesMaster" Target="/ppt/notesMasters/notesMaster1.xml" Id="R558bdc952f5142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4737026fb844448" /><Relationship Type="http://schemas.openxmlformats.org/officeDocument/2006/relationships/notesMaster" Target="/ppt/notesMasters/notesMaster1.xml" Id="R83790784e0a0447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03bd32af6c5406d" /><Relationship Type="http://schemas.openxmlformats.org/officeDocument/2006/relationships/notesMaster" Target="/ppt/notesMasters/notesMaster1.xml" Id="R97910909a6be4c60" /></Relationships>
</file>

<file path=ppt/notesSlides/_rels/notesSlide4.xml.rels>&#65279;<?xml version="1.0" encoding="utf-8"?><Relationships xmlns="http://schemas.openxmlformats.org/package/2006/relationships"><Relationship Type="http://schemas.openxmlformats.org/officeDocument/2006/relationships/slide" Target="/ppt/slides/slide4.xml" Id="Rf98653a48f9e4bd7" /><Relationship Type="http://schemas.openxmlformats.org/officeDocument/2006/relationships/notesMaster" Target="/ppt/notesMasters/notesMaster1.xml" Id="Rcba240db1af443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6578e981084e27" /><Relationship Type="http://schemas.openxmlformats.org/officeDocument/2006/relationships/notesMaster" Target="/ppt/notesMasters/notesMaster1.xml" Id="R7f6517eb7d6a4b0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60bde4a14a490e" /><Relationship Type="http://schemas.openxmlformats.org/officeDocument/2006/relationships/notesMaster" Target="/ppt/notesMasters/notesMaster1.xml" Id="R1361559f94704538" /></Relationships>
</file>

<file path=ppt/notesSlides/_rels/notesSlide7.xml.rels>&#65279;<?xml version="1.0" encoding="utf-8"?><Relationships xmlns="http://schemas.openxmlformats.org/package/2006/relationships"><Relationship Type="http://schemas.openxmlformats.org/officeDocument/2006/relationships/slide" Target="/ppt/slides/slide7.xml" Id="R73d49cfcacdc4fd1" /><Relationship Type="http://schemas.openxmlformats.org/officeDocument/2006/relationships/notesMaster" Target="/ppt/notesMasters/notesMaster1.xml" Id="Re34318340234426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5ed3d38d3004b21" /><Relationship Type="http://schemas.openxmlformats.org/officeDocument/2006/relationships/notesMaster" Target="/ppt/notesMasters/notesMaster1.xml" Id="R60dcbd904ebd4343" /></Relationships>
</file>

<file path=ppt/notesSlides/_rels/notesSlide9.xml.rels>&#65279;<?xml version="1.0" encoding="utf-8"?><Relationships xmlns="http://schemas.openxmlformats.org/package/2006/relationships"><Relationship Type="http://schemas.openxmlformats.org/officeDocument/2006/relationships/slide" Target="/ppt/slides/slide9.xml" Id="Rc7b163ea1c034f05" /><Relationship Type="http://schemas.openxmlformats.org/officeDocument/2006/relationships/notesMaster" Target="/ppt/notesMasters/notesMaster1.xml" Id="R0e5c1dde2ecb43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and both datasets first moved to Prajna, where queue and submission limits delayed GPU access. The actual combined experiment ran on the professor’s GPU server. One RTX A6000 has about 48 GB VRAM. The Python 3.11 / PyTorch 2.6 CUDA 12.4 environment passed FFT and gradient checks. The latest supplied log shows the 200-epoch run started, but no completed full-run results were supplied. Snapshot: 23 October 2026.</a:t>
            </a:r>
          </a:p>
          <a:p xmlns:a="http://schemas.openxmlformats.org/drawingml/2006/main">
            <a:r>
              <a:t/>
            </a:r>
          </a:p>
          <a:p xmlns:a="http://schemas.openxmlformats.org/drawingml/2006/main">
            <a:r>
              <a:t>Sources</a:t>
            </a:r>
          </a:p>
          <a:p xmlns:a="http://schemas.openxmlformats.org/drawingml/2006/main">
            <a:r>
              <a:t>User-supplied Prajna squeue and submission errors, transfer logs, professor-server nvidia-smi, package installation and CUDA FFT/autograd check outputs in this conversation.</a:t>
            </a:r>
          </a:p>
          <a:p xmlns:a="http://schemas.openxmlformats.org/drawingml/2006/main">
            <a:r>
              <a:t>User-supplied combined-full-200.log on 23 October 2026: baseline validation passed, epoch 0/200 and epoch 1/200 completed, epoch 2 training started. No final 200-epoch result was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raw inventory contains 20 CSV planes: 11 L1_C1, 7 IC_4um and 2 IC_2um. Anchor pairing uses each geometry’s lowest available plane as reference. L1_C1 inputs z=1 through 10 µm use reference 0.5 µm. IC_4um inputs z=3,4,5,6,7,10 µm use reference 0.5 µm. IC_2um input 2 µm uses reference 1 µm. Every pair provides matched Bx, By and Bz examples. The loader validates units, finite values, complete grids and coordinate alignment, then caches float32 µT fields with checksums. These are full 1400x1400 maps, not crops. Examples share references and are correlated.</a:t>
            </a:r>
          </a:p>
          <a:p xmlns:a="http://schemas.openxmlformats.org/drawingml/2006/main">
            <a:r>
              <a:t/>
            </a:r>
          </a:p>
          <a:p xmlns:a="http://schemas.openxmlformats.org/drawingml/2006/main">
            <a:r>
              <a:t>Sources</a:t>
            </a:r>
          </a:p>
          <a:p xmlns:a="http://schemas.openxmlformats.org/drawingml/2006/main">
            <a:r>
              <a:t>/Users/abhay/Desktop/bsp/learning_ker/hpc/combined_dataset_inventory.json</a:t>
            </a:r>
          </a:p>
          <a:p xmlns:a="http://schemas.openxmlformats.org/drawingml/2006/main">
            <a:r>
              <a:t>/Users/abhay/Desktop/bsp/learning_ker/scripts/combined_data.py</a:t>
            </a:r>
          </a:p>
          <a:p xmlns:a="http://schemas.openxmlformats.org/drawingml/2006/main">
            <a:r>
              <a:t>User-supplied server outputs in this conversation, 23 October 2026: runs/combined_pilot/status.json, summary.csv, comparison.csv and combined-pilot.log. These numerical outputs were pasted by the user; the remote artifacts were not downloaded.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method extends the previous single-pair ConvLISTA without changing its 163-parameter count. Pair-specific Fourier kernels H are jointly fitted to Bx/By/Bz and then frozen. A=Crop(real(IFFT(H*FFT(Pad(x))))) with 32-pixel padding; its adjoint uses conjugate H. In normalized coordinates the update is soft at threshold s_p theta of x-s_p A_p*(A_p x-b)+C_b b+C_x x. The pair step is 0.99/max|H_p|². There are two tied bias-free 9x9 convolutional filters and one nonnegative shared scalar. Zero filters and theta=lambda/q initialize the model at ISTA for every pair. q is the maximum absolute value across all training inputs and references, preserving relative amplitudes. Predictions return to µT by multiplication by q. One full component per batch contributes normalized MSE weight 1/51. Gradients accumulate across all components before one Adam update. The model uses activation checkpointing and a blurred-field warm start.</a:t>
            </a:r>
          </a:p>
          <a:p xmlns:a="http://schemas.openxmlformats.org/drawingml/2006/main">
            <a:r>
              <a:t/>
            </a:r>
          </a:p>
          <a:p xmlns:a="http://schemas.openxmlformats.org/drawingml/2006/main">
            <a:r>
              <a:t>Sources</a:t>
            </a:r>
          </a:p>
          <a:p xmlns:a="http://schemas.openxmlformats.org/drawingml/2006/main">
            <a:r>
              <a:t>/Users/abhay/Desktop/bsp/learning_ker/scripts/combined_lista.py</a:t>
            </a:r>
          </a:p>
          <a:p xmlns:a="http://schemas.openxmlformats.org/drawingml/2006/main">
            <a:r>
              <a:t>/Users/abhay/Desktop/bsp/learning_ker/scripts/compare_combined.py</a:t>
            </a:r>
          </a:p>
          <a:p xmlns:a="http://schemas.openxmlformats.org/drawingml/2006/main">
            <a:r>
              <a:t>/Users/abhay/Desktop/bsp/learning_ker/scripts/torch_inverse.py and scripts/deblur.py</a:t>
            </a:r>
          </a:p>
          <a:p xmlns:a="http://schemas.openxmlformats.org/drawingml/2006/main">
            <a:r>
              <a:t>/Users/abhay/Desktop/bsp/learning_ker/README_COMBINED_EXPERIMENT.md (methodology and reported pilot results; introductory pre-run wording is stale)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Defaults match the actual pilot and full-run launch: 16 layers, Adam learning rate 1e-4, gradient norm clip 1, physical lambda 1e-4 µT, 32-pixel pad, blurred initialization, batch size one and activation checkpointing. The pilot trains for 2 epochs and the new full run for 200 from the original initialization. Best post-update training MSE including epoch 0 selects the checkpoint. All pairs also enter joint reference-assisted operator fitting, so this is same-sample reconstruction, not held-out generalization. Classical methods use the same pair operator, scale, precision and GPU. Relative PG is RMS proximal-gradient mapping divided by its initial value. Stop at &lt;=0.001 or the 100000-update cap. Timing uses one warm-up and three synchronized repeats, and the summary sums per-batch medians. Learned model loss is sharp-field MSE; ISTA/FISTA minimize the L1 reconstruction objective.</a:t>
            </a:r>
          </a:p>
          <a:p xmlns:a="http://schemas.openxmlformats.org/drawingml/2006/main">
            <a:r>
              <a:t/>
            </a:r>
          </a:p>
          <a:p xmlns:a="http://schemas.openxmlformats.org/drawingml/2006/main">
            <a:r>
              <a:t>Sources</a:t>
            </a:r>
          </a:p>
          <a:p xmlns:a="http://schemas.openxmlformats.org/drawingml/2006/main">
            <a:r>
              <a:t>/Users/abhay/Desktop/bsp/learning_ker/scripts/compare_combined.py</a:t>
            </a:r>
          </a:p>
          <a:p xmlns:a="http://schemas.openxmlformats.org/drawingml/2006/main">
            <a:r>
              <a:t>/Users/abhay/Desktop/bsp/learning_ker/README_COMBINED_EXPERIMENT.md (methodology and reported pilot results; introductory pre-run wording is stale)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user-reported normalized training MSE: epoch 0, 0.005756863; epoch 1, 0.0053842191; epoch 2, 0.0051312871. The reduction is approximately 10.87%. Best epoch is 2. These are only three observed points, with no independent validation curve. The vertical axis is cropped to show the small training change and is clearly labelled.</a:t>
            </a:r>
          </a:p>
          <a:p xmlns:a="http://schemas.openxmlformats.org/drawingml/2006/main">
            <a:r>
              <a:t/>
            </a:r>
          </a:p>
          <a:p xmlns:a="http://schemas.openxmlformats.org/drawingml/2006/main">
            <a:r>
              <a:t>Sources</a:t>
            </a:r>
          </a:p>
          <a:p xmlns:a="http://schemas.openxmlformats.org/drawingml/2006/main">
            <a:r>
              <a:t>User-supplied server outputs in this conversation, 23 October 2026: runs/combined_pilot/status.json, summary.csv, comparison.csv and combined-pilot.log. These numerical outputs were pasted by the user; the remote artifacts were not downloaded.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User-reported mean range NRMSE percentages across 51 component pairs: ISTA16 4.191692027391172, FISTA16 3.8442948979197764, LISTA 3.9175267933922653, adaptive ISTA 2.736754540134879, adaptive FISTA 2.9598749845343475. The chart starts at zero. Adaptive ISTA includes two unconverged capped rows, explicitly marked. All adaptive FISTA component solves converged. ConvLISTA has only two training epochs. Range NRMSE is 100*RMSE/(max reference-min reference); it is not an accuracy percentage. These are same-sample reconstruction errors.</a:t>
            </a:r>
          </a:p>
          <a:p xmlns:a="http://schemas.openxmlformats.org/drawingml/2006/main">
            <a:r>
              <a:t/>
            </a:r>
          </a:p>
          <a:p xmlns:a="http://schemas.openxmlformats.org/drawingml/2006/main">
            <a:r>
              <a:t>Sources</a:t>
            </a:r>
          </a:p>
          <a:p xmlns:a="http://schemas.openxmlformats.org/drawingml/2006/main">
            <a:r>
              <a:t>User-supplied server outputs in this conversation, 23 October 2026: runs/combined_pilot/status.json, summary.csv, comparison.csv and combined-pilot.log. These numerical outputs were pasted by the user; the remote artifacts were not downloaded.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user-pasted summary.csv. Times sum medians for the 51 one-component batches, not total job walltime. Metrics exclude kernel fitting and file I/O; adaptive times include convergence checks. Each adaptive solver ran once for results, once for warm-up and three times for timing, explaining the long pilot walltime. ConvLISTA after two epochs improves on ISTA16 error, but FISTA16 retains lower error and lower measured time. The adaptive ISTA mean includes two unconverged runs. This table uses range NRMSE percent, not relative L2 or the synthetic ALISTA NMSE dB.</a:t>
            </a:r>
          </a:p>
          <a:p xmlns:a="http://schemas.openxmlformats.org/drawingml/2006/main">
            <a:r>
              <a:t/>
            </a:r>
          </a:p>
          <a:p xmlns:a="http://schemas.openxmlformats.org/drawingml/2006/main">
            <a:r>
              <a:t>Sources</a:t>
            </a:r>
          </a:p>
          <a:p xmlns:a="http://schemas.openxmlformats.org/drawingml/2006/main">
            <a:r>
              <a:t>User-supplied server outputs in this conversation, 23 October 2026: runs/combined_pilot/status.json, summary.csv, comparison.csv and combined-pilot.log. These numerical outputs were pasted by the user; the remote artifacts were not downloaded.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IC_2um 2-to-1 µm adaptive ISTA entries from comparison.csv. Bx:100000 updates, relative_pg 0.0013982770892834446, safety_limit. By:100000,0.0011839429761937702,safety_limit. Bz:79425,0.0009999942913851581,converged. Relative PG is the proximal-gradient RMS residual normalized to its initial value; it measures stationarity, not sharp-field reconstruction error. Bx and By are about 39.8% and 18.4% above the threshold, but this cannot be converted to a required extra iteration count. Keep the two nonconverged flags when reusing these baselines.</a:t>
            </a:r>
          </a:p>
          <a:p xmlns:a="http://schemas.openxmlformats.org/drawingml/2006/main">
            <a:r>
              <a:t/>
            </a:r>
          </a:p>
          <a:p xmlns:a="http://schemas.openxmlformats.org/drawingml/2006/main">
            <a:r>
              <a:t>Sources</a:t>
            </a:r>
          </a:p>
          <a:p xmlns:a="http://schemas.openxmlformats.org/drawingml/2006/main">
            <a:r>
              <a:t>User-supplied server outputs in this conversation, 23 October 2026: runs/combined_pilot/status.json, summary.csv, comparison.csv and combined-pilot.log. These numerical outputs were pasted by the user; the remote artifacts were not downloaded.</a:t>
            </a:r>
          </a:p>
          <a:p xmlns:a="http://schemas.openxmlformats.org/drawingml/2006/main">
            <a:r>
              <a:t>/Users/abhay/Desktop/bsp/learning_ker/scripts/torch_inverse.py and scripts/deblur.py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latest supplied server log confirms all 8 tests passed, baseline compatibility validation passed, epoch 0 loss was 0.005756863, epoch 1 loss 0.0053842191, and epoch 2 training started. No final full-run metrics were supplied. The full run starts from the original seed and initialization in runs/combined_full_200, leaving runs/combined_pilot intact. It reuses verified frozen physics and classical scores, times, histories, reconstructions and stopping flags. Data/source/settings/environment compatibility checks guard reuse. Future results should be read from status.json, training.json, summary.csv and metrics.json. Add per-geometry errors and field reconstruction images once available. Do not claim held-out performance: all geometry groups enter training and operator fitting. ALISTA is a separate benchmark. This slide deliberately leaves numerical results pending.</a:t>
            </a:r>
          </a:p>
          <a:p xmlns:a="http://schemas.openxmlformats.org/drawingml/2006/main">
            <a:r>
              <a:t/>
            </a:r>
          </a:p>
          <a:p xmlns:a="http://schemas.openxmlformats.org/drawingml/2006/main">
            <a:r>
              <a:t>Sources</a:t>
            </a:r>
          </a:p>
          <a:p xmlns:a="http://schemas.openxmlformats.org/drawingml/2006/main">
            <a:r>
              <a:t>User-supplied combined-full-200.log on 23 October 2026: baseline validation passed, epoch 0/200 and epoch 1/200 completed, epoch 2 training started. No final 200-epoch result was supplied.</a:t>
            </a:r>
          </a:p>
          <a:p xmlns:a="http://schemas.openxmlformats.org/drawingml/2006/main">
            <a:r>
              <a:t>/Users/abhay/Desktop/bsp/learning_ker/README_COMBINED_EXPERIMENT.md (methodology and reported pilot results; introductory pre-run wording is stale)</a:t>
            </a:r>
          </a:p>
          <a:p xmlns:a="http://schemas.openxmlformats.org/drawingml/2006/main">
            <a:r>
              <a:t>/Users/abhay/Desktop/bsp/learning_ker/scripts/compare_combined.py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a21b3f815345a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7f718348734d8e" /><Relationship Type="http://schemas.openxmlformats.org/officeDocument/2006/relationships/slideLayout" Target="/ppt/slideLayouts/slideLayout1.xml" Id="Rc5f226a5ddbe4fe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5f226a5ddbe4fe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5a7751691ab499c" /><Relationship Type="http://schemas.openxmlformats.org/officeDocument/2006/relationships/notesSlide" Target="/ppt/notesSlides/notesSlide1.xml" Id="R5d219d5184954fd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57901832249437d" /><Relationship Type="http://schemas.openxmlformats.org/officeDocument/2006/relationships/notesSlide" Target="/ppt/notesSlides/notesSlide2.xml" Id="R7a404b9a30d2449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d5d98da1da14838" /><Relationship Type="http://schemas.openxmlformats.org/officeDocument/2006/relationships/notesSlide" Target="/ppt/notesSlides/notesSlide3.xml" Id="R536d1e2a51e64b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77623ee4dd34b0a" /><Relationship Type="http://schemas.openxmlformats.org/officeDocument/2006/relationships/notesSlide" Target="/ppt/notesSlides/notesSlide4.xml" Id="R79a3af0813f447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815e05447cc4f44" /><Relationship Type="http://schemas.openxmlformats.org/officeDocument/2006/relationships/chart" Target="/ppt/slides/charts/chart1.xml" Id="Rc6dfae5a8b5a46ff" /><Relationship Type="http://schemas.openxmlformats.org/officeDocument/2006/relationships/notesSlide" Target="/ppt/notesSlides/notesSlide5.xml" Id="R1aabe5a0cdf04a3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6e956ab339242f3" /><Relationship Type="http://schemas.openxmlformats.org/officeDocument/2006/relationships/chart" Target="/ppt/slides/charts/chart2.xml" Id="R531c8881e9db48ad" /><Relationship Type="http://schemas.openxmlformats.org/officeDocument/2006/relationships/notesSlide" Target="/ppt/notesSlides/notesSlide6.xml" Id="Rae84925b715542c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748d8c0b1cc4c59" /><Relationship Type="http://schemas.openxmlformats.org/officeDocument/2006/relationships/notesSlide" Target="/ppt/notesSlides/notesSlide7.xml" Id="R0461afcf964d4d8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9f8a217134d4afd" /><Relationship Type="http://schemas.openxmlformats.org/officeDocument/2006/relationships/notesSlide" Target="/ppt/notesSlides/notesSlide8.xml" Id="R3c120b6de2144ab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aca6cf0502a49f6" /><Relationship Type="http://schemas.openxmlformats.org/officeDocument/2006/relationships/notesSlide" Target="/ppt/notesSlides/notesSlide9.xml" Id="R24c95f2a47ca4ea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Normalized training MSE</c:v>
          </c:tx>
          <c:spPr>
            <a:ln xmlns:a="http://schemas.openxmlformats.org/drawingml/2006/main" w="28575">
              <a:solidFill>
                <a:srgbClr val="2872A2"/>
              </a:solidFill>
            </a:ln>
          </c:spPr>
          <c:marker>
            <c:symbol val="circle"/>
            <c:size val="9"/>
            <c:spPr>
              <a:solidFill xmlns:a="http://schemas.openxmlformats.org/drawingml/2006/main">
                <a:srgbClr val="2872A2"/>
              </a:solidFill>
            </c:spPr>
          </c:marker>
          <c:cat>
            <c:strRef>
              <c:f>'Chart Data'!$A$2:$A$4</c:f>
              <c:strCache>
                <c:ptCount val="3"/>
                <c:pt idx="0">
                  <c:v>Epoch 0</c:v>
                </c:pt>
                <c:pt idx="1">
                  <c:v>Epoch 1</c:v>
                </c:pt>
                <c:pt idx="2">
                  <c:v>Epoch 2</c:v>
                </c:pt>
              </c:strCache>
            </c:strRef>
          </c:cat>
          <c:val>
            <c:numRef>
              <c:f>'Chart Data'!$B$2:$B$4</c:f>
              <c:numCache>
                <c:formatCode>0.0000</c:formatCode>
                <c:ptCount val="3"/>
                <c:pt idx="0">
                  <c:v>0.005756863</c:v>
                </c:pt>
                <c:pt idx="1">
                  <c:v>0.0053842191</c:v>
                </c:pt>
                <c:pt idx="2">
                  <c:v>0.0051312871</c:v>
                </c:pt>
              </c:numCache>
            </c:numRef>
          </c:val>
          <c:smooth val="0"/>
        </c:ser>
        <c:dLbls>
          <c:numFmt formatCode="0.000000" sourceLinked="0"/>
          <c:txPr>
            <a:bodyPr xmlns:a="http://schemas.openxmlformats.org/drawingml/2006/main" anchorCtr="1"/>
            <a:lstStyle xmlns:a="http://schemas.openxmlformats.org/drawingml/2006/main"/>
            <a:p xmlns:a="http://schemas.openxmlformats.org/drawingml/2006/main">
              <a:pPr>
                <a:defRPr sz="2025">
                  <a:solidFill>
                    <a:srgbClr val="30414D"/>
                  </a:solidFill>
                  <a:latin typeface="Arial"/>
                  <a:ea typeface="Arial"/>
                  <a:cs typeface="Arial"/>
                </a:defRPr>
              </a:pPr>
            </a:p>
          </c:txPr>
          <c:dLblPos val="t"/>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53616A"/>
            </a:solidFill>
          </a:ln>
        </c:spPr>
        <c:txPr>
          <a:bodyPr xmlns:a="http://schemas.openxmlformats.org/drawingml/2006/main" anchorCtr="1"/>
          <a:lstStyle xmlns:a="http://schemas.openxmlformats.org/drawingml/2006/main"/>
          <a:p xmlns:a="http://schemas.openxmlformats.org/drawingml/2006/main">
            <a:pPr>
              <a:defRPr sz="1950">
                <a:solidFill>
                  <a:srgbClr val="30414D"/>
                </a:solidFill>
                <a:latin typeface="Arial"/>
                <a:ea typeface="Arial"/>
                <a:cs typeface="Arial"/>
              </a:defRPr>
            </a:pPr>
          </a:p>
        </c:txPr>
        <c:crossAx val="48672768"/>
      </c:catAx>
      <c:valAx>
        <c:axId val="48672768"/>
        <c:scaling>
          <c:orientation val="minMax"/>
          <c:max val="0.006"/>
          <c:min val="0.0048"/>
        </c:scaling>
        <c:delete val="0"/>
        <c:axPos val="l"/>
        <c:majorGridlines>
          <c:spPr>
            <a:ln xmlns:a="http://schemas.openxmlformats.org/drawingml/2006/main" w="9525">
              <a:solidFill>
                <a:srgbClr val="D5DCE0"/>
              </a:solidFill>
            </a:ln>
          </c:spPr>
        </c:majorGridlines>
        <c:title>
          <c:tx>
            <c:rich>
              <a:bodyPr xmlns:a="http://schemas.openxmlformats.org/drawingml/2006/main"/>
              <a:lstStyle xmlns:a="http://schemas.openxmlformats.org/drawingml/2006/main"/>
              <a:p xmlns:a="http://schemas.openxmlformats.org/drawingml/2006/main">
                <a:r>
                  <a:rPr sz="1800">
                    <a:solidFill>
                      <a:srgbClr val="53616A"/>
                    </a:solidFill>
                    <a:latin typeface="Arial"/>
                    <a:ea typeface="Arial"/>
                    <a:cs typeface="Arial"/>
                  </a:rPr>
                  <a:t>Normalized training MSE</a:t>
                </a:r>
              </a:p>
            </c:rich>
          </c:tx>
          <c:overlay val="0"/>
          <c:txPr>
            <a:bodyPr xmlns:a="http://schemas.openxmlformats.org/drawingml/2006/main" anchorCtr="1"/>
            <a:lstStyle xmlns:a="http://schemas.openxmlformats.org/drawingml/2006/main"/>
            <a:p xmlns:a="http://schemas.openxmlformats.org/drawingml/2006/main">
              <a:pPr>
                <a:defRPr sz="1800">
                  <a:solidFill>
                    <a:srgbClr val="53616A"/>
                  </a:solidFill>
                  <a:latin typeface="Arial"/>
                  <a:ea typeface="Arial"/>
                  <a:cs typeface="Arial"/>
                </a:defRPr>
              </a:pPr>
            </a:p>
          </c:txPr>
        </c:title>
        <c:numFmt formatCode="0.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3616A"/>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range NRMSE (%)</c:v>
          </c:tx>
          <c:spPr>
            <a:solidFill xmlns:a="http://schemas.openxmlformats.org/drawingml/2006/main">
              <a:srgbClr val="2872A2"/>
            </a:solidFill>
          </c:spPr>
          <c:invertIfNegative val="0"/>
          <c:dPt>
            <c:idx val="2"/>
            <c:invertIfNegative val="0"/>
            <c:spPr>
              <a:solidFill xmlns:a="http://schemas.openxmlformats.org/drawingml/2006/main">
                <a:srgbClr val="B5522B"/>
              </a:solidFill>
            </c:spPr>
          </c:dPt>
          <c:dPt>
            <c:idx val="3"/>
            <c:invertIfNegative val="0"/>
            <c:spPr>
              <a:solidFill xmlns:a="http://schemas.openxmlformats.org/drawingml/2006/main">
                <a:srgbClr val="8C9EAA"/>
              </a:solidFill>
            </c:spPr>
          </c:dPt>
          <c:dPt>
            <c:idx val="4"/>
            <c:invertIfNegative val="0"/>
            <c:spPr>
              <a:solidFill xmlns:a="http://schemas.openxmlformats.org/drawingml/2006/main">
                <a:srgbClr val="8C9EAA"/>
              </a:solidFill>
            </c:spPr>
          </c:dPt>
          <c:cat>
            <c:strRef>
              <c:f>'Chart Data'!$A$2:$A$6</c:f>
              <c:strCache>
                <c:ptCount val="5"/>
                <c:pt idx="0">
                  <c:v>ISTA 16</c:v>
                </c:pt>
                <c:pt idx="1">
                  <c:v>FISTA 16</c:v>
                </c:pt>
                <c:pt idx="2">
                  <c:v>ConvLISTA 16</c:v>
                </c:pt>
                <c:pt idx="3">
                  <c:v>ISTA adaptive*</c:v>
                </c:pt>
                <c:pt idx="4">
                  <c:v>FISTA adaptive</c:v>
                </c:pt>
              </c:strCache>
            </c:strRef>
          </c:cat>
          <c:val>
            <c:numRef>
              <c:f>'Chart Data'!$B$2:$B$6</c:f>
              <c:numCache>
                <c:formatCode>0.0</c:formatCode>
                <c:ptCount val="5"/>
                <c:pt idx="0">
                  <c:v>4.191692</c:v>
                </c:pt>
                <c:pt idx="1">
                  <c:v>3.844295</c:v>
                </c:pt>
                <c:pt idx="2">
                  <c:v>3.917527</c:v>
                </c:pt>
                <c:pt idx="3">
                  <c:v>2.736755</c:v>
                </c:pt>
                <c:pt idx="4">
                  <c:v>2.959875</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2025">
                  <a:solidFill>
                    <a:srgbClr val="30414D"/>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53616A"/>
            </a:solidFill>
          </a:ln>
        </c:spPr>
        <c:txPr>
          <a:bodyPr xmlns:a="http://schemas.openxmlformats.org/drawingml/2006/main" anchorCtr="1"/>
          <a:lstStyle xmlns:a="http://schemas.openxmlformats.org/drawingml/2006/main"/>
          <a:p xmlns:a="http://schemas.openxmlformats.org/drawingml/2006/main">
            <a:pPr>
              <a:defRPr sz="1800">
                <a:solidFill>
                  <a:srgbClr val="30414D"/>
                </a:solidFill>
                <a:latin typeface="Arial"/>
                <a:ea typeface="Arial"/>
                <a:cs typeface="Arial"/>
              </a:defRPr>
            </a:pPr>
          </a:p>
        </c:txPr>
        <c:crossAx val="48672768"/>
      </c:catAx>
      <c:valAx>
        <c:axId val="48672768"/>
        <c:scaling>
          <c:orientation val="minMax"/>
          <c:max val="5"/>
          <c:min val="0"/>
        </c:scaling>
        <c:delete val="0"/>
        <c:axPos val="l"/>
        <c:majorGridlines>
          <c:spPr>
            <a:ln xmlns:a="http://schemas.openxmlformats.org/drawingml/2006/main" w="9525">
              <a:solidFill>
                <a:srgbClr val="D5DCE0"/>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3616A"/>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HPC transfer and GPU setup</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a:t>
            </a:r>
          </a:p>
        </p:txBody>
      </p:sp>
      <p:sp>
        <p:nvSpPr>
          <p:cNvPr id="9" name="Transferred the code and both datasets to remote compute.">
            <a:extLst xmlns:a="http://schemas.openxmlformats.org/drawingml/2006/main">
              <a:ext uri="{FF2B5EF4-FFF2-40B4-BE49-F238E27FC236}">
                <a16:creationId xmlns:a16="http://schemas.microsoft.com/office/drawing/2014/main" id="{D93F9245-8FFC-47E4-8E21-9C3A4402CA4C}"/>
              </a:ext>
            </a:extLst>
          </p:cNvPr>
          <p:cNvSpPr>
            <a:spLocks xmlns:a="http://schemas.openxmlformats.org/drawingml/2006/main" noGrp="1"/>
          </p:cNvSpPr>
          <p:nvPr/>
        </p:nvSpPr>
        <p:spPr>
          <a:xfrm xmlns:a="http://schemas.openxmlformats.org/drawingml/2006/main">
            <a:off x="685800" y="17145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0414D"/>
                </a:solidFill>
                <a:latin typeface="Arial"/>
                <a:ea typeface="Arial"/>
                <a:cs typeface="Arial"/>
              </a:defRPr>
            </a:defPPr>
            <a:lvl1pPr algn="l">
              <a:defRPr sz="2325" b="0">
                <a:solidFill>
                  <a:srgbClr val="30414D"/>
                </a:solidFill>
                <a:latin typeface="Arial"/>
                <a:ea typeface="Arial"/>
                <a:cs typeface="Arial"/>
              </a:defRPr>
            </a:lvl1pPr>
            <a:lvl2pPr algn="l">
              <a:defRPr sz="2325" b="0">
                <a:solidFill>
                  <a:srgbClr val="30414D"/>
                </a:solidFill>
                <a:latin typeface="Arial"/>
                <a:ea typeface="Arial"/>
                <a:cs typeface="Arial"/>
              </a:defRPr>
            </a:lvl2pPr>
            <a:lvl3pPr algn="l">
              <a:defRPr sz="2325" b="0">
                <a:solidFill>
                  <a:srgbClr val="30414D"/>
                </a:solidFill>
                <a:latin typeface="Arial"/>
                <a:ea typeface="Arial"/>
                <a:cs typeface="Arial"/>
              </a:defRPr>
            </a:lvl3pPr>
            <a:lvl4pPr algn="l">
              <a:defRPr sz="2325" b="0">
                <a:solidFill>
                  <a:srgbClr val="30414D"/>
                </a:solidFill>
                <a:latin typeface="Arial"/>
                <a:ea typeface="Arial"/>
                <a:cs typeface="Arial"/>
              </a:defRPr>
            </a:lvl4pPr>
            <a:lvl5pPr algn="l">
              <a:defRPr sz="2325" b="0">
                <a:solidFill>
                  <a:srgbClr val="30414D"/>
                </a:solidFill>
                <a:latin typeface="Arial"/>
                <a:ea typeface="Arial"/>
                <a:cs typeface="Arial"/>
              </a:defRPr>
            </a:lvl5pPr>
            <a:lvl6pPr algn="l">
              <a:defRPr sz="2325" b="0">
                <a:solidFill>
                  <a:srgbClr val="30414D"/>
                </a:solidFill>
                <a:latin typeface="Arial"/>
                <a:ea typeface="Arial"/>
                <a:cs typeface="Arial"/>
              </a:defRPr>
            </a:lvl6pPr>
            <a:lvl7pPr algn="l">
              <a:defRPr sz="2325" b="0">
                <a:solidFill>
                  <a:srgbClr val="30414D"/>
                </a:solidFill>
                <a:latin typeface="Arial"/>
                <a:ea typeface="Arial"/>
                <a:cs typeface="Arial"/>
              </a:defRPr>
            </a:lvl7pPr>
            <a:lvl8pPr algn="l">
              <a:defRPr sz="2325" b="0">
                <a:solidFill>
                  <a:srgbClr val="30414D"/>
                </a:solidFill>
                <a:latin typeface="Arial"/>
                <a:ea typeface="Arial"/>
                <a:cs typeface="Arial"/>
              </a:defRPr>
            </a:lvl8pPr>
            <a:lvl9pPr algn="l">
              <a:defRPr sz="2325" b="0">
                <a:solidFill>
                  <a:srgbClr val="30414D"/>
                </a:solidFill>
                <a:latin typeface="Arial"/>
                <a:ea typeface="Arial"/>
                <a:cs typeface="Arial"/>
              </a:defRPr>
            </a:lvl9pPr>
          </a:lstStyle>
          <a:p xmlns:a="http://schemas.openxmlformats.org/drawingml/2006/main">
            <a:pPr algn="l">
              <a:defRPr sz="2325" b="0">
                <a:solidFill>
                  <a:srgbClr val="30414D"/>
                </a:solidFill>
                <a:latin typeface="Arial"/>
                <a:ea typeface="Arial"/>
                <a:cs typeface="Arial"/>
              </a:defRPr>
            </a:pPr>
            <a:r>
              <a:rPr sz="2325" b="0">
                <a:solidFill>
                  <a:srgbClr val="30414D"/>
                </a:solidFill>
                <a:latin typeface="Arial"/>
                <a:ea typeface="Arial"/>
                <a:cs typeface="Arial"/>
              </a:rPr>
              <a:t>Transferred the code and both datasets to remote compute.</a:t>
            </a:r>
          </a:p>
        </p:txBody>
      </p:sp>
      <p:sp>
        <p:nvSpPr>
          <p:cNvPr id="10" name="Moved execution from the Prajna queue to the professor’s server.">
            <a:extLst xmlns:a="http://schemas.openxmlformats.org/drawingml/2006/main">
              <a:ext uri="{FF2B5EF4-FFF2-40B4-BE49-F238E27FC236}">
                <a16:creationId xmlns:a16="http://schemas.microsoft.com/office/drawing/2014/main" id="{8D0BFCBC-7271-4AE8-9D80-68300D26EE13}"/>
              </a:ext>
            </a:extLst>
          </p:cNvPr>
          <p:cNvSpPr>
            <a:spLocks xmlns:a="http://schemas.openxmlformats.org/drawingml/2006/main" noGrp="1"/>
          </p:cNvSpPr>
          <p:nvPr/>
        </p:nvSpPr>
        <p:spPr>
          <a:xfrm xmlns:a="http://schemas.openxmlformats.org/drawingml/2006/main">
            <a:off x="685800" y="28098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0414D"/>
                </a:solidFill>
                <a:latin typeface="Arial"/>
                <a:ea typeface="Arial"/>
                <a:cs typeface="Arial"/>
              </a:defRPr>
            </a:defPPr>
            <a:lvl1pPr algn="l">
              <a:defRPr sz="2325" b="0">
                <a:solidFill>
                  <a:srgbClr val="30414D"/>
                </a:solidFill>
                <a:latin typeface="Arial"/>
                <a:ea typeface="Arial"/>
                <a:cs typeface="Arial"/>
              </a:defRPr>
            </a:lvl1pPr>
            <a:lvl2pPr algn="l">
              <a:defRPr sz="2325" b="0">
                <a:solidFill>
                  <a:srgbClr val="30414D"/>
                </a:solidFill>
                <a:latin typeface="Arial"/>
                <a:ea typeface="Arial"/>
                <a:cs typeface="Arial"/>
              </a:defRPr>
            </a:lvl2pPr>
            <a:lvl3pPr algn="l">
              <a:defRPr sz="2325" b="0">
                <a:solidFill>
                  <a:srgbClr val="30414D"/>
                </a:solidFill>
                <a:latin typeface="Arial"/>
                <a:ea typeface="Arial"/>
                <a:cs typeface="Arial"/>
              </a:defRPr>
            </a:lvl3pPr>
            <a:lvl4pPr algn="l">
              <a:defRPr sz="2325" b="0">
                <a:solidFill>
                  <a:srgbClr val="30414D"/>
                </a:solidFill>
                <a:latin typeface="Arial"/>
                <a:ea typeface="Arial"/>
                <a:cs typeface="Arial"/>
              </a:defRPr>
            </a:lvl4pPr>
            <a:lvl5pPr algn="l">
              <a:defRPr sz="2325" b="0">
                <a:solidFill>
                  <a:srgbClr val="30414D"/>
                </a:solidFill>
                <a:latin typeface="Arial"/>
                <a:ea typeface="Arial"/>
                <a:cs typeface="Arial"/>
              </a:defRPr>
            </a:lvl5pPr>
            <a:lvl6pPr algn="l">
              <a:defRPr sz="2325" b="0">
                <a:solidFill>
                  <a:srgbClr val="30414D"/>
                </a:solidFill>
                <a:latin typeface="Arial"/>
                <a:ea typeface="Arial"/>
                <a:cs typeface="Arial"/>
              </a:defRPr>
            </a:lvl6pPr>
            <a:lvl7pPr algn="l">
              <a:defRPr sz="2325" b="0">
                <a:solidFill>
                  <a:srgbClr val="30414D"/>
                </a:solidFill>
                <a:latin typeface="Arial"/>
                <a:ea typeface="Arial"/>
                <a:cs typeface="Arial"/>
              </a:defRPr>
            </a:lvl7pPr>
            <a:lvl8pPr algn="l">
              <a:defRPr sz="2325" b="0">
                <a:solidFill>
                  <a:srgbClr val="30414D"/>
                </a:solidFill>
                <a:latin typeface="Arial"/>
                <a:ea typeface="Arial"/>
                <a:cs typeface="Arial"/>
              </a:defRPr>
            </a:lvl8pPr>
            <a:lvl9pPr algn="l">
              <a:defRPr sz="2325" b="0">
                <a:solidFill>
                  <a:srgbClr val="30414D"/>
                </a:solidFill>
                <a:latin typeface="Arial"/>
                <a:ea typeface="Arial"/>
                <a:cs typeface="Arial"/>
              </a:defRPr>
            </a:lvl9pPr>
          </a:lstStyle>
          <a:p xmlns:a="http://schemas.openxmlformats.org/drawingml/2006/main">
            <a:pPr algn="l">
              <a:defRPr sz="2325" b="0">
                <a:solidFill>
                  <a:srgbClr val="30414D"/>
                </a:solidFill>
                <a:latin typeface="Arial"/>
                <a:ea typeface="Arial"/>
                <a:cs typeface="Arial"/>
              </a:defRPr>
            </a:pPr>
            <a:r>
              <a:rPr sz="2325" b="0">
                <a:solidFill>
                  <a:srgbClr val="30414D"/>
                </a:solidFill>
                <a:latin typeface="Arial"/>
                <a:ea typeface="Arial"/>
                <a:cs typeface="Arial"/>
              </a:rPr>
              <a:t>Moved execution from the Prajna queue to the professor’s server.</a:t>
            </a:r>
          </a:p>
        </p:txBody>
      </p:sp>
      <p:sp>
        <p:nvSpPr>
          <p:cNvPr id="11" name="RTX A6000, 48 GB GPU memory. CUDA checks passed.">
            <a:extLst xmlns:a="http://schemas.openxmlformats.org/drawingml/2006/main">
              <a:ext uri="{FF2B5EF4-FFF2-40B4-BE49-F238E27FC236}">
                <a16:creationId xmlns:a16="http://schemas.microsoft.com/office/drawing/2014/main" id="{8BB68DF7-DACB-46DA-B90F-277682688FAC}"/>
              </a:ext>
            </a:extLst>
          </p:cNvPr>
          <p:cNvSpPr>
            <a:spLocks xmlns:a="http://schemas.openxmlformats.org/drawingml/2006/main" noGrp="1"/>
          </p:cNvSpPr>
          <p:nvPr/>
        </p:nvSpPr>
        <p:spPr>
          <a:xfrm xmlns:a="http://schemas.openxmlformats.org/drawingml/2006/main">
            <a:off x="685800" y="39052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0414D"/>
                </a:solidFill>
                <a:latin typeface="Arial"/>
                <a:ea typeface="Arial"/>
                <a:cs typeface="Arial"/>
              </a:defRPr>
            </a:defPPr>
            <a:lvl1pPr algn="l">
              <a:defRPr sz="2325" b="0">
                <a:solidFill>
                  <a:srgbClr val="30414D"/>
                </a:solidFill>
                <a:latin typeface="Arial"/>
                <a:ea typeface="Arial"/>
                <a:cs typeface="Arial"/>
              </a:defRPr>
            </a:lvl1pPr>
            <a:lvl2pPr algn="l">
              <a:defRPr sz="2325" b="0">
                <a:solidFill>
                  <a:srgbClr val="30414D"/>
                </a:solidFill>
                <a:latin typeface="Arial"/>
                <a:ea typeface="Arial"/>
                <a:cs typeface="Arial"/>
              </a:defRPr>
            </a:lvl2pPr>
            <a:lvl3pPr algn="l">
              <a:defRPr sz="2325" b="0">
                <a:solidFill>
                  <a:srgbClr val="30414D"/>
                </a:solidFill>
                <a:latin typeface="Arial"/>
                <a:ea typeface="Arial"/>
                <a:cs typeface="Arial"/>
              </a:defRPr>
            </a:lvl3pPr>
            <a:lvl4pPr algn="l">
              <a:defRPr sz="2325" b="0">
                <a:solidFill>
                  <a:srgbClr val="30414D"/>
                </a:solidFill>
                <a:latin typeface="Arial"/>
                <a:ea typeface="Arial"/>
                <a:cs typeface="Arial"/>
              </a:defRPr>
            </a:lvl4pPr>
            <a:lvl5pPr algn="l">
              <a:defRPr sz="2325" b="0">
                <a:solidFill>
                  <a:srgbClr val="30414D"/>
                </a:solidFill>
                <a:latin typeface="Arial"/>
                <a:ea typeface="Arial"/>
                <a:cs typeface="Arial"/>
              </a:defRPr>
            </a:lvl5pPr>
            <a:lvl6pPr algn="l">
              <a:defRPr sz="2325" b="0">
                <a:solidFill>
                  <a:srgbClr val="30414D"/>
                </a:solidFill>
                <a:latin typeface="Arial"/>
                <a:ea typeface="Arial"/>
                <a:cs typeface="Arial"/>
              </a:defRPr>
            </a:lvl6pPr>
            <a:lvl7pPr algn="l">
              <a:defRPr sz="2325" b="0">
                <a:solidFill>
                  <a:srgbClr val="30414D"/>
                </a:solidFill>
                <a:latin typeface="Arial"/>
                <a:ea typeface="Arial"/>
                <a:cs typeface="Arial"/>
              </a:defRPr>
            </a:lvl7pPr>
            <a:lvl8pPr algn="l">
              <a:defRPr sz="2325" b="0">
                <a:solidFill>
                  <a:srgbClr val="30414D"/>
                </a:solidFill>
                <a:latin typeface="Arial"/>
                <a:ea typeface="Arial"/>
                <a:cs typeface="Arial"/>
              </a:defRPr>
            </a:lvl8pPr>
            <a:lvl9pPr algn="l">
              <a:defRPr sz="2325" b="0">
                <a:solidFill>
                  <a:srgbClr val="30414D"/>
                </a:solidFill>
                <a:latin typeface="Arial"/>
                <a:ea typeface="Arial"/>
                <a:cs typeface="Arial"/>
              </a:defRPr>
            </a:lvl9pPr>
          </a:lstStyle>
          <a:p xmlns:a="http://schemas.openxmlformats.org/drawingml/2006/main">
            <a:pPr algn="l">
              <a:defRPr sz="2325" b="0">
                <a:solidFill>
                  <a:srgbClr val="30414D"/>
                </a:solidFill>
                <a:latin typeface="Arial"/>
                <a:ea typeface="Arial"/>
                <a:cs typeface="Arial"/>
              </a:defRPr>
            </a:pPr>
            <a:r>
              <a:rPr sz="2325" b="0">
                <a:solidFill>
                  <a:srgbClr val="30414D"/>
                </a:solidFill>
                <a:latin typeface="Arial"/>
                <a:ea typeface="Arial"/>
                <a:cs typeface="Arial"/>
              </a:rPr>
              <a:t>RTX A6000, 48 GB GPU memory. CUDA checks passed.</a:t>
            </a:r>
          </a:p>
        </p:txBody>
      </p:sp>
      <p:sp>
        <p:nvSpPr>
          <p:cNvPr id="12" name="Two-epoch pilot complete. The 200-epoch experiment has started.">
            <a:extLst xmlns:a="http://schemas.openxmlformats.org/drawingml/2006/main">
              <a:ext uri="{FF2B5EF4-FFF2-40B4-BE49-F238E27FC236}">
                <a16:creationId xmlns:a16="http://schemas.microsoft.com/office/drawing/2014/main" id="{1AC8B366-14C8-4313-83DD-5B03AD7B5CAF}"/>
              </a:ext>
            </a:extLst>
          </p:cNvPr>
          <p:cNvSpPr>
            <a:spLocks xmlns:a="http://schemas.openxmlformats.org/drawingml/2006/main" noGrp="1"/>
          </p:cNvSpPr>
          <p:nvPr/>
        </p:nvSpPr>
        <p:spPr>
          <a:xfrm xmlns:a="http://schemas.openxmlformats.org/drawingml/2006/main">
            <a:off x="609600" y="53911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30414D"/>
                </a:solidFill>
                <a:latin typeface="Arial"/>
                <a:ea typeface="Arial"/>
                <a:cs typeface="Arial"/>
              </a:defRPr>
            </a:defPPr>
            <a:lvl1pPr algn="l">
              <a:defRPr sz="2100" b="1">
                <a:solidFill>
                  <a:srgbClr val="30414D"/>
                </a:solidFill>
                <a:latin typeface="Arial"/>
                <a:ea typeface="Arial"/>
                <a:cs typeface="Arial"/>
              </a:defRPr>
            </a:lvl1pPr>
            <a:lvl2pPr algn="l">
              <a:defRPr sz="2100" b="1">
                <a:solidFill>
                  <a:srgbClr val="30414D"/>
                </a:solidFill>
                <a:latin typeface="Arial"/>
                <a:ea typeface="Arial"/>
                <a:cs typeface="Arial"/>
              </a:defRPr>
            </a:lvl2pPr>
            <a:lvl3pPr algn="l">
              <a:defRPr sz="2100" b="1">
                <a:solidFill>
                  <a:srgbClr val="30414D"/>
                </a:solidFill>
                <a:latin typeface="Arial"/>
                <a:ea typeface="Arial"/>
                <a:cs typeface="Arial"/>
              </a:defRPr>
            </a:lvl3pPr>
            <a:lvl4pPr algn="l">
              <a:defRPr sz="2100" b="1">
                <a:solidFill>
                  <a:srgbClr val="30414D"/>
                </a:solidFill>
                <a:latin typeface="Arial"/>
                <a:ea typeface="Arial"/>
                <a:cs typeface="Arial"/>
              </a:defRPr>
            </a:lvl4pPr>
            <a:lvl5pPr algn="l">
              <a:defRPr sz="2100" b="1">
                <a:solidFill>
                  <a:srgbClr val="30414D"/>
                </a:solidFill>
                <a:latin typeface="Arial"/>
                <a:ea typeface="Arial"/>
                <a:cs typeface="Arial"/>
              </a:defRPr>
            </a:lvl5pPr>
            <a:lvl6pPr algn="l">
              <a:defRPr sz="2100" b="1">
                <a:solidFill>
                  <a:srgbClr val="30414D"/>
                </a:solidFill>
                <a:latin typeface="Arial"/>
                <a:ea typeface="Arial"/>
                <a:cs typeface="Arial"/>
              </a:defRPr>
            </a:lvl6pPr>
            <a:lvl7pPr algn="l">
              <a:defRPr sz="2100" b="1">
                <a:solidFill>
                  <a:srgbClr val="30414D"/>
                </a:solidFill>
                <a:latin typeface="Arial"/>
                <a:ea typeface="Arial"/>
                <a:cs typeface="Arial"/>
              </a:defRPr>
            </a:lvl7pPr>
            <a:lvl8pPr algn="l">
              <a:defRPr sz="2100" b="1">
                <a:solidFill>
                  <a:srgbClr val="30414D"/>
                </a:solidFill>
                <a:latin typeface="Arial"/>
                <a:ea typeface="Arial"/>
                <a:cs typeface="Arial"/>
              </a:defRPr>
            </a:lvl8pPr>
            <a:lvl9pPr algn="l">
              <a:defRPr sz="2100" b="1">
                <a:solidFill>
                  <a:srgbClr val="30414D"/>
                </a:solidFill>
                <a:latin typeface="Arial"/>
                <a:ea typeface="Arial"/>
                <a:cs typeface="Arial"/>
              </a:defRPr>
            </a:lvl9pPr>
          </a:lstStyle>
          <a:p xmlns:a="http://schemas.openxmlformats.org/drawingml/2006/main">
            <a:pPr algn="l">
              <a:defRPr sz="2100" b="1">
                <a:solidFill>
                  <a:srgbClr val="30414D"/>
                </a:solidFill>
                <a:latin typeface="Arial"/>
                <a:ea typeface="Arial"/>
                <a:cs typeface="Arial"/>
              </a:defRPr>
            </a:pPr>
            <a:r>
              <a:rPr sz="2100" b="1">
                <a:solidFill>
                  <a:srgbClr val="30414D"/>
                </a:solidFill>
                <a:latin typeface="Arial"/>
                <a:ea typeface="Arial"/>
                <a:cs typeface="Arial"/>
              </a:rPr>
              <a:t>Two-epoch pilot complete. The 200-epoch experiment has started.</a:t>
            </a:r>
          </a:p>
        </p:txBody>
      </p:sp>
      <p:sp>
        <p:nvSpPr>
          <p:cNvPr id="13" name="Abhay Chandra, 23 October 2026">
            <a:extLst xmlns:a="http://schemas.openxmlformats.org/drawingml/2006/main">
              <a:ext uri="{FF2B5EF4-FFF2-40B4-BE49-F238E27FC236}">
                <a16:creationId xmlns:a16="http://schemas.microsoft.com/office/drawing/2014/main" id="{3C9C5C0B-0D94-4F33-BB7A-745D9487C645}"/>
              </a:ext>
            </a:extLst>
          </p:cNvPr>
          <p:cNvSpPr>
            <a:spLocks xmlns:a="http://schemas.openxmlformats.org/drawingml/2006/main" noGrp="1"/>
          </p:cNvSpPr>
          <p:nvPr/>
        </p:nvSpPr>
        <p:spPr>
          <a:xfrm xmlns:a="http://schemas.openxmlformats.org/drawingml/2006/main">
            <a:off x="685800" y="6153150"/>
            <a:ext cx="10668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16A"/>
                </a:solidFill>
                <a:latin typeface="Arial"/>
                <a:ea typeface="Arial"/>
                <a:cs typeface="Arial"/>
              </a:defRPr>
            </a:defPPr>
            <a:lvl1pPr algn="l">
              <a:defRPr sz="1725" b="0">
                <a:solidFill>
                  <a:srgbClr val="53616A"/>
                </a:solidFill>
                <a:latin typeface="Arial"/>
                <a:ea typeface="Arial"/>
                <a:cs typeface="Arial"/>
              </a:defRPr>
            </a:lvl1pPr>
            <a:lvl2pPr algn="l">
              <a:defRPr sz="1725" b="0">
                <a:solidFill>
                  <a:srgbClr val="53616A"/>
                </a:solidFill>
                <a:latin typeface="Arial"/>
                <a:ea typeface="Arial"/>
                <a:cs typeface="Arial"/>
              </a:defRPr>
            </a:lvl2pPr>
            <a:lvl3pPr algn="l">
              <a:defRPr sz="1725" b="0">
                <a:solidFill>
                  <a:srgbClr val="53616A"/>
                </a:solidFill>
                <a:latin typeface="Arial"/>
                <a:ea typeface="Arial"/>
                <a:cs typeface="Arial"/>
              </a:defRPr>
            </a:lvl3pPr>
            <a:lvl4pPr algn="l">
              <a:defRPr sz="1725" b="0">
                <a:solidFill>
                  <a:srgbClr val="53616A"/>
                </a:solidFill>
                <a:latin typeface="Arial"/>
                <a:ea typeface="Arial"/>
                <a:cs typeface="Arial"/>
              </a:defRPr>
            </a:lvl4pPr>
            <a:lvl5pPr algn="l">
              <a:defRPr sz="1725" b="0">
                <a:solidFill>
                  <a:srgbClr val="53616A"/>
                </a:solidFill>
                <a:latin typeface="Arial"/>
                <a:ea typeface="Arial"/>
                <a:cs typeface="Arial"/>
              </a:defRPr>
            </a:lvl5pPr>
            <a:lvl6pPr algn="l">
              <a:defRPr sz="1725" b="0">
                <a:solidFill>
                  <a:srgbClr val="53616A"/>
                </a:solidFill>
                <a:latin typeface="Arial"/>
                <a:ea typeface="Arial"/>
                <a:cs typeface="Arial"/>
              </a:defRPr>
            </a:lvl6pPr>
            <a:lvl7pPr algn="l">
              <a:defRPr sz="1725" b="0">
                <a:solidFill>
                  <a:srgbClr val="53616A"/>
                </a:solidFill>
                <a:latin typeface="Arial"/>
                <a:ea typeface="Arial"/>
                <a:cs typeface="Arial"/>
              </a:defRPr>
            </a:lvl7pPr>
            <a:lvl8pPr algn="l">
              <a:defRPr sz="1725" b="0">
                <a:solidFill>
                  <a:srgbClr val="53616A"/>
                </a:solidFill>
                <a:latin typeface="Arial"/>
                <a:ea typeface="Arial"/>
                <a:cs typeface="Arial"/>
              </a:defRPr>
            </a:lvl8pPr>
            <a:lvl9pPr algn="l">
              <a:defRPr sz="1725" b="0">
                <a:solidFill>
                  <a:srgbClr val="53616A"/>
                </a:solidFill>
                <a:latin typeface="Arial"/>
                <a:ea typeface="Arial"/>
                <a:cs typeface="Arial"/>
              </a:defRPr>
            </a:lvl9pPr>
          </a:lstStyle>
          <a:p xmlns:a="http://schemas.openxmlformats.org/drawingml/2006/main">
            <a:pPr algn="l">
              <a:defRPr sz="1725" b="0">
                <a:solidFill>
                  <a:srgbClr val="53616A"/>
                </a:solidFill>
                <a:latin typeface="Arial"/>
                <a:ea typeface="Arial"/>
                <a:cs typeface="Arial"/>
              </a:defRPr>
            </a:pPr>
            <a:r>
              <a:rPr sz="1725" b="0">
                <a:solidFill>
                  <a:srgbClr val="53616A"/>
                </a:solidFill>
                <a:latin typeface="Arial"/>
                <a:ea typeface="Arial"/>
                <a:cs typeface="Arial"/>
              </a:rPr>
              <a:t>Abhay Chandra, 23 October 2026</a:t>
            </a:r>
          </a:p>
        </p:txBody>
      </p:sp>
    </p:spTree>
    <p:extLst>
      <p:ext uri="{BB962C8B-B14F-4D97-AF65-F5344CB8AC3E}">
        <p14:creationId xmlns:p14="http://schemas.microsoft.com/office/powerpoint/2010/main" val="202679387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Combined data: 17 height pairs, 51 component pairs</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2</a:t>
            </a:r>
          </a:p>
        </p:txBody>
      </p:sp>
      <p:graphicFrame>
        <p:nvGraphicFramePr>
          <p:cNvPr id="9" name="">
            <a:extLst xmlns:a="http://schemas.openxmlformats.org/drawingml/2006/main">
              <a:ext uri="{FF2B5EF4-FFF2-40B4-BE49-F238E27FC236}">
                <a16:creationId xmlns:a16="http://schemas.microsoft.com/office/drawing/2014/main" id="{7B9A7E09-8309-480B-B0E3-9A0917B45832}"/>
              </a:ext>
            </a:extLst>
          </p:cNvPr>
          <p:cNvGraphicFramePr/>
          <p:nvPr/>
        </p:nvGraphicFramePr>
        <p:xfrm>
          <a:off xmlns:a="http://schemas.openxmlformats.org/drawingml/2006/main" x="609600" y="1524000"/>
          <a:ext xmlns:a="http://schemas.openxmlformats.org/drawingml/2006/main" cx="10972800" cy="3619500"/>
        </p:xfrm>
        <a:graphic xmlns:a="http://schemas.openxmlformats.org/drawingml/2006/main">
          <a:graphicData uri="http://schemas.openxmlformats.org/drawingml/2006/table">
            <a:tbl>
              <a:tblPr/>
              <a:tblGrid>
                <a:gridCol w="2238375"/>
                <a:gridCol w="1809750"/>
                <a:gridCol w="2352675"/>
                <a:gridCol w="2000250"/>
                <a:gridCol w="2571750"/>
              </a:tblGrid>
              <a:tr h="723900">
                <a:tc>
                  <a:txBody>
                    <a:bodyPr lIns="95250" tIns="95250" rIns="95250" bIns="95250"/>
                    <a:lstStyle/>
                    <a:p>
                      <a:r>
                        <a:rPr sz="2100" b="1">
                          <a:solidFill>
                            <a:srgbClr val="FFFFFF"/>
                          </a:solidFill>
                          <a:latin typeface="Arial"/>
                          <a:ea typeface="Arial"/>
                          <a:cs typeface="Arial"/>
                        </a:rPr>
                        <a:t>Geometry</a:t>
                      </a:r>
                    </a:p>
                  </a:txBody>
                  <a:tcPr marL="91440" marR="91440" marT="45720" marB="45720" anchor="ctr">
                    <a:lnL w="9525">
                      <a:solidFill>
                        <a:srgbClr val="D5DCE0"/>
                      </a:solidFill>
                      <a:prstDash val="solid"/>
                    </a:lnL>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100" b="1">
                          <a:solidFill>
                            <a:srgbClr val="FFFFFF"/>
                          </a:solidFill>
                          <a:latin typeface="Arial"/>
                          <a:ea typeface="Arial"/>
                          <a:cs typeface="Arial"/>
                        </a:rPr>
                        <a:t>CSV planes</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100" b="1">
                          <a:solidFill>
                            <a:srgbClr val="FFFFFF"/>
                          </a:solidFill>
                          <a:latin typeface="Arial"/>
                          <a:ea typeface="Arial"/>
                          <a:cs typeface="Arial"/>
                        </a:rPr>
                        <a:t>Reference</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100" b="1">
                          <a:solidFill>
                            <a:srgbClr val="FFFFFF"/>
                          </a:solidFill>
                          <a:latin typeface="Arial"/>
                          <a:ea typeface="Arial"/>
                          <a:cs typeface="Arial"/>
                        </a:rPr>
                        <a:t>Height pairs</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100" b="1">
                          <a:solidFill>
                            <a:srgbClr val="FFFFFF"/>
                          </a:solidFill>
                          <a:latin typeface="Arial"/>
                          <a:ea typeface="Arial"/>
                          <a:cs typeface="Arial"/>
                        </a:rPr>
                        <a:t>Component pairs</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r>
              <a:tr h="723900">
                <a:tc>
                  <a:txBody>
                    <a:bodyPr lIns="95250" tIns="95250" rIns="95250" bIns="95250"/>
                    <a:lstStyle/>
                    <a:p>
                      <a:r>
                        <a:rPr sz="2100" b="0">
                          <a:solidFill>
                            <a:srgbClr val="30414D"/>
                          </a:solidFill>
                          <a:latin typeface="Arial"/>
                          <a:ea typeface="Arial"/>
                          <a:cs typeface="Arial"/>
                        </a:rPr>
                        <a:t>L1_C1</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11</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0.5 µm</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10</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30</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723900">
                <a:tc>
                  <a:txBody>
                    <a:bodyPr lIns="95250" tIns="95250" rIns="95250" bIns="95250"/>
                    <a:lstStyle/>
                    <a:p>
                      <a:r>
                        <a:rPr sz="2100" b="0">
                          <a:solidFill>
                            <a:srgbClr val="30414D"/>
                          </a:solidFill>
                          <a:latin typeface="Arial"/>
                          <a:ea typeface="Arial"/>
                          <a:cs typeface="Arial"/>
                        </a:rPr>
                        <a:t>IC_4um</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7</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0.5 µm</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6</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18</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723900">
                <a:tc>
                  <a:txBody>
                    <a:bodyPr lIns="95250" tIns="95250" rIns="95250" bIns="95250"/>
                    <a:lstStyle/>
                    <a:p>
                      <a:r>
                        <a:rPr sz="2100" b="0">
                          <a:solidFill>
                            <a:srgbClr val="30414D"/>
                          </a:solidFill>
                          <a:latin typeface="Arial"/>
                          <a:ea typeface="Arial"/>
                          <a:cs typeface="Arial"/>
                        </a:rPr>
                        <a:t>IC_2um</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2</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1.0 µm</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1</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3</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723900">
                <a:tc>
                  <a:txBody>
                    <a:bodyPr lIns="95250" tIns="95250" rIns="95250" bIns="95250"/>
                    <a:lstStyle/>
                    <a:p>
                      <a:r>
                        <a:rPr sz="2100" b="0">
                          <a:solidFill>
                            <a:srgbClr val="30414D"/>
                          </a:solidFill>
                          <a:latin typeface="Arial"/>
                          <a:ea typeface="Arial"/>
                          <a:cs typeface="Arial"/>
                        </a:rPr>
                        <a:t>Total</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20</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Within geometry</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17</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51</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bl>
          </a:graphicData>
        </a:graphic>
      </p:graphicFrame>
      <p:sp>
        <p:nvSpPr>
          <p:cNvPr id="10" name="Pair each higher plane with its geometry’s lowest plane.">
            <a:extLst xmlns:a="http://schemas.openxmlformats.org/drawingml/2006/main">
              <a:ext uri="{FF2B5EF4-FFF2-40B4-BE49-F238E27FC236}">
                <a16:creationId xmlns:a16="http://schemas.microsoft.com/office/drawing/2014/main" id="{8F5AE2F6-29F6-4D07-8034-16464ABE4362}"/>
              </a:ext>
            </a:extLst>
          </p:cNvPr>
          <p:cNvSpPr>
            <a:spLocks xmlns:a="http://schemas.openxmlformats.org/drawingml/2006/main" noGrp="1"/>
          </p:cNvSpPr>
          <p:nvPr/>
        </p:nvSpPr>
        <p:spPr>
          <a:xfrm xmlns:a="http://schemas.openxmlformats.org/drawingml/2006/main">
            <a:off x="685800" y="548640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Pair each higher plane with its geometry’s lowest plane.</a:t>
            </a:r>
          </a:p>
        </p:txBody>
      </p:sp>
      <p:sp>
        <p:nvSpPr>
          <p:cNvPr id="11" name="17 pairs × (Bx, By, Bz). Full 1400 × 1400 fields, with no crops.">
            <a:extLst xmlns:a="http://schemas.openxmlformats.org/drawingml/2006/main">
              <a:ext uri="{FF2B5EF4-FFF2-40B4-BE49-F238E27FC236}">
                <a16:creationId xmlns:a16="http://schemas.microsoft.com/office/drawing/2014/main" id="{E3890D33-02E2-473C-A96C-1B544D6D983D}"/>
              </a:ext>
            </a:extLst>
          </p:cNvPr>
          <p:cNvSpPr>
            <a:spLocks xmlns:a="http://schemas.openxmlformats.org/drawingml/2006/main" noGrp="1"/>
          </p:cNvSpPr>
          <p:nvPr/>
        </p:nvSpPr>
        <p:spPr>
          <a:xfrm xmlns:a="http://schemas.openxmlformats.org/drawingml/2006/main">
            <a:off x="685800" y="60293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30414D"/>
                </a:solidFill>
                <a:latin typeface="Arial"/>
                <a:ea typeface="Arial"/>
                <a:cs typeface="Arial"/>
              </a:defRPr>
            </a:defPPr>
            <a:lvl1pPr algn="l">
              <a:defRPr sz="2025" b="1">
                <a:solidFill>
                  <a:srgbClr val="30414D"/>
                </a:solidFill>
                <a:latin typeface="Arial"/>
                <a:ea typeface="Arial"/>
                <a:cs typeface="Arial"/>
              </a:defRPr>
            </a:lvl1pPr>
            <a:lvl2pPr algn="l">
              <a:defRPr sz="2025" b="1">
                <a:solidFill>
                  <a:srgbClr val="30414D"/>
                </a:solidFill>
                <a:latin typeface="Arial"/>
                <a:ea typeface="Arial"/>
                <a:cs typeface="Arial"/>
              </a:defRPr>
            </a:lvl2pPr>
            <a:lvl3pPr algn="l">
              <a:defRPr sz="2025" b="1">
                <a:solidFill>
                  <a:srgbClr val="30414D"/>
                </a:solidFill>
                <a:latin typeface="Arial"/>
                <a:ea typeface="Arial"/>
                <a:cs typeface="Arial"/>
              </a:defRPr>
            </a:lvl3pPr>
            <a:lvl4pPr algn="l">
              <a:defRPr sz="2025" b="1">
                <a:solidFill>
                  <a:srgbClr val="30414D"/>
                </a:solidFill>
                <a:latin typeface="Arial"/>
                <a:ea typeface="Arial"/>
                <a:cs typeface="Arial"/>
              </a:defRPr>
            </a:lvl4pPr>
            <a:lvl5pPr algn="l">
              <a:defRPr sz="2025" b="1">
                <a:solidFill>
                  <a:srgbClr val="30414D"/>
                </a:solidFill>
                <a:latin typeface="Arial"/>
                <a:ea typeface="Arial"/>
                <a:cs typeface="Arial"/>
              </a:defRPr>
            </a:lvl5pPr>
            <a:lvl6pPr algn="l">
              <a:defRPr sz="2025" b="1">
                <a:solidFill>
                  <a:srgbClr val="30414D"/>
                </a:solidFill>
                <a:latin typeface="Arial"/>
                <a:ea typeface="Arial"/>
                <a:cs typeface="Arial"/>
              </a:defRPr>
            </a:lvl6pPr>
            <a:lvl7pPr algn="l">
              <a:defRPr sz="2025" b="1">
                <a:solidFill>
                  <a:srgbClr val="30414D"/>
                </a:solidFill>
                <a:latin typeface="Arial"/>
                <a:ea typeface="Arial"/>
                <a:cs typeface="Arial"/>
              </a:defRPr>
            </a:lvl7pPr>
            <a:lvl8pPr algn="l">
              <a:defRPr sz="2025" b="1">
                <a:solidFill>
                  <a:srgbClr val="30414D"/>
                </a:solidFill>
                <a:latin typeface="Arial"/>
                <a:ea typeface="Arial"/>
                <a:cs typeface="Arial"/>
              </a:defRPr>
            </a:lvl8pPr>
            <a:lvl9pPr algn="l">
              <a:defRPr sz="2025" b="1">
                <a:solidFill>
                  <a:srgbClr val="30414D"/>
                </a:solidFill>
                <a:latin typeface="Arial"/>
                <a:ea typeface="Arial"/>
                <a:cs typeface="Arial"/>
              </a:defRPr>
            </a:lvl9pPr>
          </a:lstStyle>
          <a:p xmlns:a="http://schemas.openxmlformats.org/drawingml/2006/main">
            <a:pPr algn="l">
              <a:defRPr sz="2025" b="1">
                <a:solidFill>
                  <a:srgbClr val="30414D"/>
                </a:solidFill>
                <a:latin typeface="Arial"/>
                <a:ea typeface="Arial"/>
                <a:cs typeface="Arial"/>
              </a:defRPr>
            </a:pPr>
            <a:r>
              <a:rPr sz="2025" b="1">
                <a:solidFill>
                  <a:srgbClr val="30414D"/>
                </a:solidFill>
                <a:latin typeface="Arial"/>
                <a:ea typeface="Arial"/>
                <a:cs typeface="Arial"/>
              </a:rPr>
              <a:t>17 pairs × (Bx, By, Bz). Full 1400 × 1400 fields, with no crops.</a:t>
            </a:r>
          </a:p>
        </p:txBody>
      </p:sp>
    </p:spTree>
    <p:extLst>
      <p:ext uri="{BB962C8B-B14F-4D97-AF65-F5344CB8AC3E}">
        <p14:creationId xmlns:p14="http://schemas.microsoft.com/office/powerpoint/2010/main" val="202679387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One shared ConvLISTA across the combined data</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3</a:t>
            </a:r>
          </a:p>
        </p:txBody>
      </p:sp>
      <p:sp>
        <p:nvSpPr>
          <p:cNvPr id="9" name="16 layers, two shared 9 × 9 filters and one scalar: 163 parameters.">
            <a:extLst xmlns:a="http://schemas.openxmlformats.org/drawingml/2006/main">
              <a:ext uri="{FF2B5EF4-FFF2-40B4-BE49-F238E27FC236}">
                <a16:creationId xmlns:a16="http://schemas.microsoft.com/office/drawing/2014/main" id="{3A796092-8B49-4EEF-935C-FFB58B0C8E4F}"/>
              </a:ext>
            </a:extLst>
          </p:cNvPr>
          <p:cNvSpPr>
            <a:spLocks xmlns:a="http://schemas.openxmlformats.org/drawingml/2006/main" noGrp="1"/>
          </p:cNvSpPr>
          <p:nvPr/>
        </p:nvSpPr>
        <p:spPr>
          <a:xfrm xmlns:a="http://schemas.openxmlformats.org/drawingml/2006/main">
            <a:off x="685800" y="142875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16 layers, two shared 9 × 9 filters and one scalar: 163 parameters.</a:t>
            </a:r>
          </a:p>
        </p:txBody>
      </p:sp>
      <p:sp>
        <p:nvSpPr>
          <p:cNvPr id="10" name="Fit and freeze one Fourier operator for each of the 17 height pairs.">
            <a:extLst xmlns:a="http://schemas.openxmlformats.org/drawingml/2006/main">
              <a:ext uri="{FF2B5EF4-FFF2-40B4-BE49-F238E27FC236}">
                <a16:creationId xmlns:a16="http://schemas.microsoft.com/office/drawing/2014/main" id="{3A14D54C-2827-4C3D-98C1-C224FAC4C071}"/>
              </a:ext>
            </a:extLst>
          </p:cNvPr>
          <p:cNvSpPr>
            <a:spLocks xmlns:a="http://schemas.openxmlformats.org/drawingml/2006/main" noGrp="1"/>
          </p:cNvSpPr>
          <p:nvPr/>
        </p:nvSpPr>
        <p:spPr>
          <a:xfrm xmlns:a="http://schemas.openxmlformats.org/drawingml/2006/main">
            <a:off x="685800" y="2333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Fit and freeze one Fourier operator for each of the 17 height pairs.</a:t>
            </a:r>
          </a:p>
        </p:txBody>
      </p:sp>
      <p:sp>
        <p:nvSpPr>
          <p:cNvPr id="11" name="Normalize every input and reference by one global training scale q.">
            <a:extLst xmlns:a="http://schemas.openxmlformats.org/drawingml/2006/main">
              <a:ext uri="{FF2B5EF4-FFF2-40B4-BE49-F238E27FC236}">
                <a16:creationId xmlns:a16="http://schemas.microsoft.com/office/drawing/2014/main" id="{B6CBAFD2-93D4-40A4-95EF-4C39239DBF14}"/>
              </a:ext>
            </a:extLst>
          </p:cNvPr>
          <p:cNvSpPr>
            <a:spLocks xmlns:a="http://schemas.openxmlformats.org/drawingml/2006/main" noGrp="1"/>
          </p:cNvSpPr>
          <p:nvPr/>
        </p:nvSpPr>
        <p:spPr>
          <a:xfrm xmlns:a="http://schemas.openxmlformats.org/drawingml/2006/main">
            <a:off x="685800" y="32385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Normalize every input and reference by one global training scale q.</a:t>
            </a:r>
          </a:p>
        </p:txBody>
      </p:sp>
      <p:sp>
        <p:nvSpPr>
          <p:cNvPr id="12" name="Process one full component at a time, with gradient weight 1/51.">
            <a:extLst xmlns:a="http://schemas.openxmlformats.org/drawingml/2006/main">
              <a:ext uri="{FF2B5EF4-FFF2-40B4-BE49-F238E27FC236}">
                <a16:creationId xmlns:a16="http://schemas.microsoft.com/office/drawing/2014/main" id="{A26C15F8-6701-4AD3-B2A6-5165D129F239}"/>
              </a:ext>
            </a:extLst>
          </p:cNvPr>
          <p:cNvSpPr>
            <a:spLocks xmlns:a="http://schemas.openxmlformats.org/drawingml/2006/main" noGrp="1"/>
          </p:cNvSpPr>
          <p:nvPr/>
        </p:nvSpPr>
        <p:spPr>
          <a:xfrm xmlns:a="http://schemas.openxmlformats.org/drawingml/2006/main">
            <a:off x="685800" y="414337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Process one full component at a time, with gradient weight 1/51.</a:t>
            </a:r>
          </a:p>
        </p:txBody>
      </p:sp>
      <p:sp>
        <p:nvSpPr>
          <p:cNvPr id="13" name="After all 51 examples, take one Adam update and save a checkpoint.">
            <a:extLst xmlns:a="http://schemas.openxmlformats.org/drawingml/2006/main">
              <a:ext uri="{FF2B5EF4-FFF2-40B4-BE49-F238E27FC236}">
                <a16:creationId xmlns:a16="http://schemas.microsoft.com/office/drawing/2014/main" id="{930D7CDD-8281-43A9-AD55-509609872DF4}"/>
              </a:ext>
            </a:extLst>
          </p:cNvPr>
          <p:cNvSpPr>
            <a:spLocks xmlns:a="http://schemas.openxmlformats.org/drawingml/2006/main" noGrp="1"/>
          </p:cNvSpPr>
          <p:nvPr/>
        </p:nvSpPr>
        <p:spPr>
          <a:xfrm xmlns:a="http://schemas.openxmlformats.org/drawingml/2006/main">
            <a:off x="685800" y="504825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After all 51 examples, take one Adam update and save a checkpoint.</a:t>
            </a:r>
          </a:p>
        </p:txBody>
      </p:sp>
    </p:spTree>
    <p:extLst>
      <p:ext uri="{BB962C8B-B14F-4D97-AF65-F5344CB8AC3E}">
        <p14:creationId xmlns:p14="http://schemas.microsoft.com/office/powerpoint/2010/main" val="202679387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Training and comparison protocol</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4</a:t>
            </a:r>
          </a:p>
        </p:txBody>
      </p:sp>
      <p:graphicFrame>
        <p:nvGraphicFramePr>
          <p:cNvPr id="9" name="">
            <a:extLst xmlns:a="http://schemas.openxmlformats.org/drawingml/2006/main">
              <a:ext uri="{FF2B5EF4-FFF2-40B4-BE49-F238E27FC236}">
                <a16:creationId xmlns:a16="http://schemas.microsoft.com/office/drawing/2014/main" id="{A2677AC2-FEFE-405D-970F-FCCE66F51DE8}"/>
              </a:ext>
            </a:extLst>
          </p:cNvPr>
          <p:cNvGraphicFramePr/>
          <p:nvPr/>
        </p:nvGraphicFramePr>
        <p:xfrm>
          <a:off xmlns:a="http://schemas.openxmlformats.org/drawingml/2006/main" x="609600" y="1381125"/>
          <a:ext xmlns:a="http://schemas.openxmlformats.org/drawingml/2006/main" cx="10972800" cy="4143375"/>
        </p:xfrm>
        <a:graphic xmlns:a="http://schemas.openxmlformats.org/drawingml/2006/main">
          <a:graphicData uri="http://schemas.openxmlformats.org/drawingml/2006/table">
            <a:tbl>
              <a:tblPr/>
              <a:tblGrid>
                <a:gridCol w="3810000"/>
                <a:gridCol w="7162800"/>
              </a:tblGrid>
              <a:tr h="591911">
                <a:tc>
                  <a:txBody>
                    <a:bodyPr lIns="95250" tIns="95250" rIns="95250" bIns="95250"/>
                    <a:lstStyle/>
                    <a:p>
                      <a:r>
                        <a:rPr sz="2025" b="1">
                          <a:solidFill>
                            <a:srgbClr val="FFFFFF"/>
                          </a:solidFill>
                          <a:latin typeface="Arial"/>
                          <a:ea typeface="Arial"/>
                          <a:cs typeface="Arial"/>
                        </a:rPr>
                        <a:t>Setting</a:t>
                      </a:r>
                    </a:p>
                  </a:txBody>
                  <a:tcPr marL="91440" marR="91440" marT="45720" marB="45720" anchor="ctr">
                    <a:lnL w="9525">
                      <a:solidFill>
                        <a:srgbClr val="D5DCE0"/>
                      </a:solidFill>
                      <a:prstDash val="solid"/>
                    </a:lnL>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025" b="1">
                          <a:solidFill>
                            <a:srgbClr val="FFFFFF"/>
                          </a:solidFill>
                          <a:latin typeface="Arial"/>
                          <a:ea typeface="Arial"/>
                          <a:cs typeface="Arial"/>
                        </a:rPr>
                        <a:t>Protocol</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r>
              <a:tr h="591911">
                <a:tc>
                  <a:txBody>
                    <a:bodyPr lIns="95250" tIns="95250" rIns="95250" bIns="95250"/>
                    <a:lstStyle/>
                    <a:p>
                      <a:r>
                        <a:rPr sz="2025" b="0">
                          <a:solidFill>
                            <a:srgbClr val="30414D"/>
                          </a:solidFill>
                          <a:latin typeface="Arial"/>
                          <a:ea typeface="Arial"/>
                          <a:cs typeface="Arial"/>
                        </a:rPr>
                        <a:t>Training budget</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025" b="0">
                          <a:solidFill>
                            <a:srgbClr val="30414D"/>
                          </a:solidFill>
                          <a:latin typeface="Arial"/>
                          <a:ea typeface="Arial"/>
                          <a:cs typeface="Arial"/>
                        </a:rPr>
                        <a:t>2-epoch pilot, then 200 epochs</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591911">
                <a:tc>
                  <a:txBody>
                    <a:bodyPr lIns="95250" tIns="95250" rIns="95250" bIns="95250"/>
                    <a:lstStyle/>
                    <a:p>
                      <a:r>
                        <a:rPr sz="2025" b="0">
                          <a:solidFill>
                            <a:srgbClr val="30414D"/>
                          </a:solidFill>
                          <a:latin typeface="Arial"/>
                          <a:ea typeface="Arial"/>
                          <a:cs typeface="Arial"/>
                        </a:rPr>
                        <a:t>Adam / regularization</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025" b="0">
                          <a:solidFill>
                            <a:srgbClr val="30414D"/>
                          </a:solidFill>
                          <a:latin typeface="Arial"/>
                          <a:ea typeface="Arial"/>
                          <a:cs typeface="Arial"/>
                        </a:rPr>
                        <a:t>Learning rate 10⁻⁴, λ = 10⁻⁴ µT</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591911">
                <a:tc>
                  <a:txBody>
                    <a:bodyPr lIns="95250" tIns="95250" rIns="95250" bIns="95250"/>
                    <a:lstStyle/>
                    <a:p>
                      <a:r>
                        <a:rPr sz="2025" b="0">
                          <a:solidFill>
                            <a:srgbClr val="30414D"/>
                          </a:solidFill>
                          <a:latin typeface="Arial"/>
                          <a:ea typeface="Arial"/>
                          <a:cs typeface="Arial"/>
                        </a:rPr>
                        <a:t>Checkpoint selection</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025" b="0">
                          <a:solidFill>
                            <a:srgbClr val="30414D"/>
                          </a:solidFill>
                          <a:latin typeface="Arial"/>
                          <a:ea typeface="Arial"/>
                          <a:cs typeface="Arial"/>
                        </a:rPr>
                        <a:t>Minimum training MSE, including epoch 0</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591911">
                <a:tc>
                  <a:txBody>
                    <a:bodyPr lIns="95250" tIns="95250" rIns="95250" bIns="95250"/>
                    <a:lstStyle/>
                    <a:p>
                      <a:r>
                        <a:rPr sz="2025" b="0">
                          <a:solidFill>
                            <a:srgbClr val="30414D"/>
                          </a:solidFill>
                          <a:latin typeface="Arial"/>
                          <a:ea typeface="Arial"/>
                          <a:cs typeface="Arial"/>
                        </a:rPr>
                        <a:t>Classical comparisons</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025" b="0">
                          <a:solidFill>
                            <a:srgbClr val="30414D"/>
                          </a:solidFill>
                          <a:latin typeface="Arial"/>
                          <a:ea typeface="Arial"/>
                          <a:cs typeface="Arial"/>
                        </a:rPr>
                        <a:t>ISTA / FISTA at 16 updates and to tolerance</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591911">
                <a:tc>
                  <a:txBody>
                    <a:bodyPr lIns="95250" tIns="95250" rIns="95250" bIns="95250"/>
                    <a:lstStyle/>
                    <a:p>
                      <a:r>
                        <a:rPr sz="2025" b="0">
                          <a:solidFill>
                            <a:srgbClr val="30414D"/>
                          </a:solidFill>
                          <a:latin typeface="Arial"/>
                          <a:ea typeface="Arial"/>
                          <a:cs typeface="Arial"/>
                        </a:rPr>
                        <a:t>Stopping rule</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025" b="0">
                          <a:solidFill>
                            <a:srgbClr val="30414D"/>
                          </a:solidFill>
                          <a:latin typeface="Arial"/>
                          <a:ea typeface="Arial"/>
                          <a:cs typeface="Arial"/>
                        </a:rPr>
                        <a:t>Relative PG ≤ 0.001, cap 100,000 updates</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591911">
                <a:tc>
                  <a:txBody>
                    <a:bodyPr lIns="95250" tIns="95250" rIns="95250" bIns="95250"/>
                    <a:lstStyle/>
                    <a:p>
                      <a:r>
                        <a:rPr sz="2025" b="0">
                          <a:solidFill>
                            <a:srgbClr val="30414D"/>
                          </a:solidFill>
                          <a:latin typeface="Arial"/>
                          <a:ea typeface="Arial"/>
                          <a:cs typeface="Arial"/>
                        </a:rPr>
                        <a:t>Inference timing</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025" b="0">
                          <a:solidFill>
                            <a:srgbClr val="30414D"/>
                          </a:solidFill>
                          <a:latin typeface="Arial"/>
                          <a:ea typeface="Arial"/>
                          <a:cs typeface="Arial"/>
                        </a:rPr>
                        <a:t>Warm-up, then median of 3 synchronized repeats</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bl>
          </a:graphicData>
        </a:graphic>
      </p:graphicFrame>
      <p:sp>
        <p:nvSpPr>
          <p:cNvPr id="10" name="Same training fields for evaluation. No independent validation or test spli">
            <a:extLst xmlns:a="http://schemas.openxmlformats.org/drawingml/2006/main">
              <a:ext uri="{FF2B5EF4-FFF2-40B4-BE49-F238E27FC236}">
                <a16:creationId xmlns:a16="http://schemas.microsoft.com/office/drawing/2014/main" id="{0C96901F-B6A8-493C-A0E8-6549E5E2B3EA}"/>
              </a:ext>
            </a:extLst>
          </p:cNvPr>
          <p:cNvSpPr>
            <a:spLocks xmlns:a="http://schemas.openxmlformats.org/drawingml/2006/main" noGrp="1"/>
          </p:cNvSpPr>
          <p:nvPr/>
        </p:nvSpPr>
        <p:spPr>
          <a:xfrm xmlns:a="http://schemas.openxmlformats.org/drawingml/2006/main">
            <a:off x="609600" y="59531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30414D"/>
                </a:solidFill>
                <a:latin typeface="Arial"/>
                <a:ea typeface="Arial"/>
                <a:cs typeface="Arial"/>
              </a:defRPr>
            </a:defPPr>
            <a:lvl1pPr algn="l">
              <a:defRPr sz="1875" b="1">
                <a:solidFill>
                  <a:srgbClr val="30414D"/>
                </a:solidFill>
                <a:latin typeface="Arial"/>
                <a:ea typeface="Arial"/>
                <a:cs typeface="Arial"/>
              </a:defRPr>
            </a:lvl1pPr>
            <a:lvl2pPr algn="l">
              <a:defRPr sz="1875" b="1">
                <a:solidFill>
                  <a:srgbClr val="30414D"/>
                </a:solidFill>
                <a:latin typeface="Arial"/>
                <a:ea typeface="Arial"/>
                <a:cs typeface="Arial"/>
              </a:defRPr>
            </a:lvl2pPr>
            <a:lvl3pPr algn="l">
              <a:defRPr sz="1875" b="1">
                <a:solidFill>
                  <a:srgbClr val="30414D"/>
                </a:solidFill>
                <a:latin typeface="Arial"/>
                <a:ea typeface="Arial"/>
                <a:cs typeface="Arial"/>
              </a:defRPr>
            </a:lvl3pPr>
            <a:lvl4pPr algn="l">
              <a:defRPr sz="1875" b="1">
                <a:solidFill>
                  <a:srgbClr val="30414D"/>
                </a:solidFill>
                <a:latin typeface="Arial"/>
                <a:ea typeface="Arial"/>
                <a:cs typeface="Arial"/>
              </a:defRPr>
            </a:lvl4pPr>
            <a:lvl5pPr algn="l">
              <a:defRPr sz="1875" b="1">
                <a:solidFill>
                  <a:srgbClr val="30414D"/>
                </a:solidFill>
                <a:latin typeface="Arial"/>
                <a:ea typeface="Arial"/>
                <a:cs typeface="Arial"/>
              </a:defRPr>
            </a:lvl5pPr>
            <a:lvl6pPr algn="l">
              <a:defRPr sz="1875" b="1">
                <a:solidFill>
                  <a:srgbClr val="30414D"/>
                </a:solidFill>
                <a:latin typeface="Arial"/>
                <a:ea typeface="Arial"/>
                <a:cs typeface="Arial"/>
              </a:defRPr>
            </a:lvl6pPr>
            <a:lvl7pPr algn="l">
              <a:defRPr sz="1875" b="1">
                <a:solidFill>
                  <a:srgbClr val="30414D"/>
                </a:solidFill>
                <a:latin typeface="Arial"/>
                <a:ea typeface="Arial"/>
                <a:cs typeface="Arial"/>
              </a:defRPr>
            </a:lvl7pPr>
            <a:lvl8pPr algn="l">
              <a:defRPr sz="1875" b="1">
                <a:solidFill>
                  <a:srgbClr val="30414D"/>
                </a:solidFill>
                <a:latin typeface="Arial"/>
                <a:ea typeface="Arial"/>
                <a:cs typeface="Arial"/>
              </a:defRPr>
            </a:lvl8pPr>
            <a:lvl9pPr algn="l">
              <a:defRPr sz="1875" b="1">
                <a:solidFill>
                  <a:srgbClr val="30414D"/>
                </a:solidFill>
                <a:latin typeface="Arial"/>
                <a:ea typeface="Arial"/>
                <a:cs typeface="Arial"/>
              </a:defRPr>
            </a:lvl9pPr>
          </a:lstStyle>
          <a:p xmlns:a="http://schemas.openxmlformats.org/drawingml/2006/main">
            <a:pPr algn="l">
              <a:defRPr sz="1875" b="1">
                <a:solidFill>
                  <a:srgbClr val="30414D"/>
                </a:solidFill>
                <a:latin typeface="Arial"/>
                <a:ea typeface="Arial"/>
                <a:cs typeface="Arial"/>
              </a:defRPr>
            </a:pPr>
            <a:r>
              <a:rPr sz="1875" b="1">
                <a:solidFill>
                  <a:srgbClr val="30414D"/>
                </a:solidFill>
                <a:latin typeface="Arial"/>
                <a:ea typeface="Arial"/>
                <a:cs typeface="Arial"/>
              </a:rPr>
              <a:t>Same training fields for evaluation. No independent validation or test split.</a:t>
            </a:r>
          </a:p>
        </p:txBody>
      </p:sp>
    </p:spTree>
    <p:extLst>
      <p:ext uri="{BB962C8B-B14F-4D97-AF65-F5344CB8AC3E}">
        <p14:creationId xmlns:p14="http://schemas.microsoft.com/office/powerpoint/2010/main" val="202679387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Pilot training loss</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5</a:t>
            </a:r>
          </a:p>
        </p:txBody>
      </p:sp>
      <p:graphicFrame>
        <p:nvGraphicFramePr>
          <p:cNvPr id="9" name="Chart">
            <a:extLst xmlns:a="http://schemas.openxmlformats.org/drawingml/2006/main">
              <a:ext uri="{FF2B5EF4-FFF2-40B4-BE49-F238E27FC236}">
                <a16:creationId xmlns:a16="http://schemas.microsoft.com/office/drawing/2014/main" id="{8CEE2C68-A7D1-4DC0-8B35-AA6B480C89D7}"/>
              </a:ext>
            </a:extLst>
          </p:cNvPr>
          <p:cNvGraphicFramePr/>
          <p:nvPr/>
        </p:nvGraphicFramePr>
        <p:xfrm>
          <a:off xmlns:a="http://schemas.openxmlformats.org/drawingml/2006/main" x="476250" y="1238250"/>
          <a:ext xmlns:a="http://schemas.openxmlformats.org/drawingml/2006/main" cx="11239500" cy="4857750"/>
        </p:xfrm>
        <a:graphic xmlns:a="http://schemas.openxmlformats.org/drawingml/2006/main">
          <a:graphicData uri="http://schemas.openxmlformats.org/drawingml/2006/chart">
            <c:chart xmlns:r="http://schemas.openxmlformats.org/officeDocument/2006/relationships" xmlns:c="http://schemas.openxmlformats.org/drawingml/2006/chart" r:id="Rc6dfae5a8b5a46ff"/>
          </a:graphicData>
        </a:graphic>
      </p:graphicFrame>
      <p:sp>
        <p:nvSpPr>
          <p:cNvPr id="10" name="10.9% lower training MSE after two epochs. Best checkpoint: epoch 2.">
            <a:extLst xmlns:a="http://schemas.openxmlformats.org/drawingml/2006/main">
              <a:ext uri="{FF2B5EF4-FFF2-40B4-BE49-F238E27FC236}">
                <a16:creationId xmlns:a16="http://schemas.microsoft.com/office/drawing/2014/main" id="{A2914097-A981-43C3-A1BC-D157AB2BEB4F}"/>
              </a:ext>
            </a:extLst>
          </p:cNvPr>
          <p:cNvSpPr>
            <a:spLocks xmlns:a="http://schemas.openxmlformats.org/drawingml/2006/main" noGrp="1"/>
          </p:cNvSpPr>
          <p:nvPr/>
        </p:nvSpPr>
        <p:spPr>
          <a:xfrm xmlns:a="http://schemas.openxmlformats.org/drawingml/2006/main">
            <a:off x="609600" y="61912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30414D"/>
                </a:solidFill>
                <a:latin typeface="Arial"/>
                <a:ea typeface="Arial"/>
                <a:cs typeface="Arial"/>
              </a:defRPr>
            </a:defPPr>
            <a:lvl1pPr algn="l">
              <a:defRPr sz="1875" b="1">
                <a:solidFill>
                  <a:srgbClr val="30414D"/>
                </a:solidFill>
                <a:latin typeface="Arial"/>
                <a:ea typeface="Arial"/>
                <a:cs typeface="Arial"/>
              </a:defRPr>
            </a:lvl1pPr>
            <a:lvl2pPr algn="l">
              <a:defRPr sz="1875" b="1">
                <a:solidFill>
                  <a:srgbClr val="30414D"/>
                </a:solidFill>
                <a:latin typeface="Arial"/>
                <a:ea typeface="Arial"/>
                <a:cs typeface="Arial"/>
              </a:defRPr>
            </a:lvl2pPr>
            <a:lvl3pPr algn="l">
              <a:defRPr sz="1875" b="1">
                <a:solidFill>
                  <a:srgbClr val="30414D"/>
                </a:solidFill>
                <a:latin typeface="Arial"/>
                <a:ea typeface="Arial"/>
                <a:cs typeface="Arial"/>
              </a:defRPr>
            </a:lvl3pPr>
            <a:lvl4pPr algn="l">
              <a:defRPr sz="1875" b="1">
                <a:solidFill>
                  <a:srgbClr val="30414D"/>
                </a:solidFill>
                <a:latin typeface="Arial"/>
                <a:ea typeface="Arial"/>
                <a:cs typeface="Arial"/>
              </a:defRPr>
            </a:lvl4pPr>
            <a:lvl5pPr algn="l">
              <a:defRPr sz="1875" b="1">
                <a:solidFill>
                  <a:srgbClr val="30414D"/>
                </a:solidFill>
                <a:latin typeface="Arial"/>
                <a:ea typeface="Arial"/>
                <a:cs typeface="Arial"/>
              </a:defRPr>
            </a:lvl5pPr>
            <a:lvl6pPr algn="l">
              <a:defRPr sz="1875" b="1">
                <a:solidFill>
                  <a:srgbClr val="30414D"/>
                </a:solidFill>
                <a:latin typeface="Arial"/>
                <a:ea typeface="Arial"/>
                <a:cs typeface="Arial"/>
              </a:defRPr>
            </a:lvl6pPr>
            <a:lvl7pPr algn="l">
              <a:defRPr sz="1875" b="1">
                <a:solidFill>
                  <a:srgbClr val="30414D"/>
                </a:solidFill>
                <a:latin typeface="Arial"/>
                <a:ea typeface="Arial"/>
                <a:cs typeface="Arial"/>
              </a:defRPr>
            </a:lvl7pPr>
            <a:lvl8pPr algn="l">
              <a:defRPr sz="1875" b="1">
                <a:solidFill>
                  <a:srgbClr val="30414D"/>
                </a:solidFill>
                <a:latin typeface="Arial"/>
                <a:ea typeface="Arial"/>
                <a:cs typeface="Arial"/>
              </a:defRPr>
            </a:lvl8pPr>
            <a:lvl9pPr algn="l">
              <a:defRPr sz="1875" b="1">
                <a:solidFill>
                  <a:srgbClr val="30414D"/>
                </a:solidFill>
                <a:latin typeface="Arial"/>
                <a:ea typeface="Arial"/>
                <a:cs typeface="Arial"/>
              </a:defRPr>
            </a:lvl9pPr>
          </a:lstStyle>
          <a:p xmlns:a="http://schemas.openxmlformats.org/drawingml/2006/main">
            <a:pPr algn="l">
              <a:defRPr sz="1875" b="1">
                <a:solidFill>
                  <a:srgbClr val="30414D"/>
                </a:solidFill>
                <a:latin typeface="Arial"/>
                <a:ea typeface="Arial"/>
                <a:cs typeface="Arial"/>
              </a:defRPr>
            </a:pPr>
            <a:r>
              <a:rPr sz="1875" b="1">
                <a:solidFill>
                  <a:srgbClr val="30414D"/>
                </a:solidFill>
                <a:latin typeface="Arial"/>
                <a:ea typeface="Arial"/>
                <a:cs typeface="Arial"/>
              </a:rPr>
              <a:t>10.9% lower training MSE after two epochs. Best checkpoint: epoch 2.</a:t>
            </a:r>
          </a:p>
        </p:txBody>
      </p:sp>
    </p:spTree>
    <p:extLst>
      <p:ext uri="{BB962C8B-B14F-4D97-AF65-F5344CB8AC3E}">
        <p14:creationId xmlns:p14="http://schemas.microsoft.com/office/powerpoint/2010/main" val="202679387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Pilot reconstruction error</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6</a:t>
            </a:r>
          </a:p>
        </p:txBody>
      </p:sp>
      <p:sp>
        <p:nvSpPr>
          <p:cNvPr id="9" name="Mean range NRMSE (%) across 51 component pairs. Lower is better.">
            <a:extLst xmlns:a="http://schemas.openxmlformats.org/drawingml/2006/main">
              <a:ext uri="{FF2B5EF4-FFF2-40B4-BE49-F238E27FC236}">
                <a16:creationId xmlns:a16="http://schemas.microsoft.com/office/drawing/2014/main" id="{F7409346-7B5A-4BA0-9EF1-8F13523F2A38}"/>
              </a:ext>
            </a:extLst>
          </p:cNvPr>
          <p:cNvSpPr>
            <a:spLocks xmlns:a="http://schemas.openxmlformats.org/drawingml/2006/main" noGrp="1"/>
          </p:cNvSpPr>
          <p:nvPr/>
        </p:nvSpPr>
        <p:spPr>
          <a:xfrm xmlns:a="http://schemas.openxmlformats.org/drawingml/2006/main">
            <a:off x="609600" y="113347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16A"/>
                </a:solidFill>
                <a:latin typeface="Arial"/>
                <a:ea typeface="Arial"/>
                <a:cs typeface="Arial"/>
              </a:defRPr>
            </a:defPPr>
            <a:lvl1pPr algn="l">
              <a:defRPr sz="1950" b="0">
                <a:solidFill>
                  <a:srgbClr val="53616A"/>
                </a:solidFill>
                <a:latin typeface="Arial"/>
                <a:ea typeface="Arial"/>
                <a:cs typeface="Arial"/>
              </a:defRPr>
            </a:lvl1pPr>
            <a:lvl2pPr algn="l">
              <a:defRPr sz="1950" b="0">
                <a:solidFill>
                  <a:srgbClr val="53616A"/>
                </a:solidFill>
                <a:latin typeface="Arial"/>
                <a:ea typeface="Arial"/>
                <a:cs typeface="Arial"/>
              </a:defRPr>
            </a:lvl2pPr>
            <a:lvl3pPr algn="l">
              <a:defRPr sz="1950" b="0">
                <a:solidFill>
                  <a:srgbClr val="53616A"/>
                </a:solidFill>
                <a:latin typeface="Arial"/>
                <a:ea typeface="Arial"/>
                <a:cs typeface="Arial"/>
              </a:defRPr>
            </a:lvl3pPr>
            <a:lvl4pPr algn="l">
              <a:defRPr sz="1950" b="0">
                <a:solidFill>
                  <a:srgbClr val="53616A"/>
                </a:solidFill>
                <a:latin typeface="Arial"/>
                <a:ea typeface="Arial"/>
                <a:cs typeface="Arial"/>
              </a:defRPr>
            </a:lvl4pPr>
            <a:lvl5pPr algn="l">
              <a:defRPr sz="1950" b="0">
                <a:solidFill>
                  <a:srgbClr val="53616A"/>
                </a:solidFill>
                <a:latin typeface="Arial"/>
                <a:ea typeface="Arial"/>
                <a:cs typeface="Arial"/>
              </a:defRPr>
            </a:lvl5pPr>
            <a:lvl6pPr algn="l">
              <a:defRPr sz="1950" b="0">
                <a:solidFill>
                  <a:srgbClr val="53616A"/>
                </a:solidFill>
                <a:latin typeface="Arial"/>
                <a:ea typeface="Arial"/>
                <a:cs typeface="Arial"/>
              </a:defRPr>
            </a:lvl6pPr>
            <a:lvl7pPr algn="l">
              <a:defRPr sz="1950" b="0">
                <a:solidFill>
                  <a:srgbClr val="53616A"/>
                </a:solidFill>
                <a:latin typeface="Arial"/>
                <a:ea typeface="Arial"/>
                <a:cs typeface="Arial"/>
              </a:defRPr>
            </a:lvl7pPr>
            <a:lvl8pPr algn="l">
              <a:defRPr sz="1950" b="0">
                <a:solidFill>
                  <a:srgbClr val="53616A"/>
                </a:solidFill>
                <a:latin typeface="Arial"/>
                <a:ea typeface="Arial"/>
                <a:cs typeface="Arial"/>
              </a:defRPr>
            </a:lvl8pPr>
            <a:lvl9pPr algn="l">
              <a:defRPr sz="1950" b="0">
                <a:solidFill>
                  <a:srgbClr val="53616A"/>
                </a:solidFill>
                <a:latin typeface="Arial"/>
                <a:ea typeface="Arial"/>
                <a:cs typeface="Arial"/>
              </a:defRPr>
            </a:lvl9pPr>
          </a:lstStyle>
          <a:p xmlns:a="http://schemas.openxmlformats.org/drawingml/2006/main">
            <a:pPr algn="l">
              <a:defRPr sz="1950" b="0">
                <a:solidFill>
                  <a:srgbClr val="53616A"/>
                </a:solidFill>
                <a:latin typeface="Arial"/>
                <a:ea typeface="Arial"/>
                <a:cs typeface="Arial"/>
              </a:defRPr>
            </a:pPr>
            <a:r>
              <a:rPr sz="1950" b="0">
                <a:solidFill>
                  <a:srgbClr val="53616A"/>
                </a:solidFill>
                <a:latin typeface="Arial"/>
                <a:ea typeface="Arial"/>
                <a:cs typeface="Arial"/>
              </a:rPr>
              <a:t>Mean range NRMSE (%) across 51 component pairs. Lower is better.</a:t>
            </a:r>
          </a:p>
        </p:txBody>
      </p:sp>
      <p:graphicFrame>
        <p:nvGraphicFramePr>
          <p:cNvPr id="10" name="Chart">
            <a:extLst xmlns:a="http://schemas.openxmlformats.org/drawingml/2006/main">
              <a:ext uri="{FF2B5EF4-FFF2-40B4-BE49-F238E27FC236}">
                <a16:creationId xmlns:a16="http://schemas.microsoft.com/office/drawing/2014/main" id="{0CC9D216-20E4-48CF-BF0A-491F35C3C7B1}"/>
              </a:ext>
            </a:extLst>
          </p:cNvPr>
          <p:cNvGraphicFramePr/>
          <p:nvPr/>
        </p:nvGraphicFramePr>
        <p:xfrm>
          <a:off xmlns:a="http://schemas.openxmlformats.org/drawingml/2006/main" x="476250" y="1657350"/>
          <a:ext xmlns:a="http://schemas.openxmlformats.org/drawingml/2006/main" cx="11239500" cy="4286250"/>
        </p:xfrm>
        <a:graphic xmlns:a="http://schemas.openxmlformats.org/drawingml/2006/main">
          <a:graphicData uri="http://schemas.openxmlformats.org/drawingml/2006/chart">
            <c:chart xmlns:r="http://schemas.openxmlformats.org/officeDocument/2006/relationships" xmlns:c="http://schemas.openxmlformats.org/drawingml/2006/chart" r:id="R531c8881e9db48ad"/>
          </a:graphicData>
        </a:graphic>
      </p:graphicFrame>
      <p:sp>
        <p:nvSpPr>
          <p:cNvPr id="11" name="ConvLISTA: 2 training epochs. * ISTA adaptive includes 2 capped runs.">
            <a:extLst xmlns:a="http://schemas.openxmlformats.org/drawingml/2006/main">
              <a:ext uri="{FF2B5EF4-FFF2-40B4-BE49-F238E27FC236}">
                <a16:creationId xmlns:a16="http://schemas.microsoft.com/office/drawing/2014/main" id="{6896B0CF-CCC6-4782-A152-3E43169325A6}"/>
              </a:ext>
            </a:extLst>
          </p:cNvPr>
          <p:cNvSpPr>
            <a:spLocks xmlns:a="http://schemas.openxmlformats.org/drawingml/2006/main" noGrp="1"/>
          </p:cNvSpPr>
          <p:nvPr/>
        </p:nvSpPr>
        <p:spPr>
          <a:xfrm xmlns:a="http://schemas.openxmlformats.org/drawingml/2006/main">
            <a:off x="609600" y="61912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30414D"/>
                </a:solidFill>
                <a:latin typeface="Arial"/>
                <a:ea typeface="Arial"/>
                <a:cs typeface="Arial"/>
              </a:defRPr>
            </a:defPPr>
            <a:lvl1pPr algn="l">
              <a:defRPr sz="1875" b="1">
                <a:solidFill>
                  <a:srgbClr val="30414D"/>
                </a:solidFill>
                <a:latin typeface="Arial"/>
                <a:ea typeface="Arial"/>
                <a:cs typeface="Arial"/>
              </a:defRPr>
            </a:lvl1pPr>
            <a:lvl2pPr algn="l">
              <a:defRPr sz="1875" b="1">
                <a:solidFill>
                  <a:srgbClr val="30414D"/>
                </a:solidFill>
                <a:latin typeface="Arial"/>
                <a:ea typeface="Arial"/>
                <a:cs typeface="Arial"/>
              </a:defRPr>
            </a:lvl2pPr>
            <a:lvl3pPr algn="l">
              <a:defRPr sz="1875" b="1">
                <a:solidFill>
                  <a:srgbClr val="30414D"/>
                </a:solidFill>
                <a:latin typeface="Arial"/>
                <a:ea typeface="Arial"/>
                <a:cs typeface="Arial"/>
              </a:defRPr>
            </a:lvl3pPr>
            <a:lvl4pPr algn="l">
              <a:defRPr sz="1875" b="1">
                <a:solidFill>
                  <a:srgbClr val="30414D"/>
                </a:solidFill>
                <a:latin typeface="Arial"/>
                <a:ea typeface="Arial"/>
                <a:cs typeface="Arial"/>
              </a:defRPr>
            </a:lvl4pPr>
            <a:lvl5pPr algn="l">
              <a:defRPr sz="1875" b="1">
                <a:solidFill>
                  <a:srgbClr val="30414D"/>
                </a:solidFill>
                <a:latin typeface="Arial"/>
                <a:ea typeface="Arial"/>
                <a:cs typeface="Arial"/>
              </a:defRPr>
            </a:lvl5pPr>
            <a:lvl6pPr algn="l">
              <a:defRPr sz="1875" b="1">
                <a:solidFill>
                  <a:srgbClr val="30414D"/>
                </a:solidFill>
                <a:latin typeface="Arial"/>
                <a:ea typeface="Arial"/>
                <a:cs typeface="Arial"/>
              </a:defRPr>
            </a:lvl6pPr>
            <a:lvl7pPr algn="l">
              <a:defRPr sz="1875" b="1">
                <a:solidFill>
                  <a:srgbClr val="30414D"/>
                </a:solidFill>
                <a:latin typeface="Arial"/>
                <a:ea typeface="Arial"/>
                <a:cs typeface="Arial"/>
              </a:defRPr>
            </a:lvl7pPr>
            <a:lvl8pPr algn="l">
              <a:defRPr sz="1875" b="1">
                <a:solidFill>
                  <a:srgbClr val="30414D"/>
                </a:solidFill>
                <a:latin typeface="Arial"/>
                <a:ea typeface="Arial"/>
                <a:cs typeface="Arial"/>
              </a:defRPr>
            </a:lvl8pPr>
            <a:lvl9pPr algn="l">
              <a:defRPr sz="1875" b="1">
                <a:solidFill>
                  <a:srgbClr val="30414D"/>
                </a:solidFill>
                <a:latin typeface="Arial"/>
                <a:ea typeface="Arial"/>
                <a:cs typeface="Arial"/>
              </a:defRPr>
            </a:lvl9pPr>
          </a:lstStyle>
          <a:p xmlns:a="http://schemas.openxmlformats.org/drawingml/2006/main">
            <a:pPr algn="l">
              <a:defRPr sz="1875" b="1">
                <a:solidFill>
                  <a:srgbClr val="30414D"/>
                </a:solidFill>
                <a:latin typeface="Arial"/>
                <a:ea typeface="Arial"/>
                <a:cs typeface="Arial"/>
              </a:defRPr>
            </a:pPr>
            <a:r>
              <a:rPr sz="1875" b="1">
                <a:solidFill>
                  <a:srgbClr val="30414D"/>
                </a:solidFill>
                <a:latin typeface="Arial"/>
                <a:ea typeface="Arial"/>
                <a:cs typeface="Arial"/>
              </a:rPr>
              <a:t>ConvLISTA: 2 training epochs. * ISTA adaptive includes 2 capped runs.</a:t>
            </a:r>
          </a:p>
        </p:txBody>
      </p:sp>
    </p:spTree>
    <p:extLst>
      <p:ext uri="{BB962C8B-B14F-4D97-AF65-F5344CB8AC3E}">
        <p14:creationId xmlns:p14="http://schemas.microsoft.com/office/powerpoint/2010/main" val="202679387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Pilot results: error and inference time</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7</a:t>
            </a:r>
          </a:p>
        </p:txBody>
      </p:sp>
      <p:graphicFrame>
        <p:nvGraphicFramePr>
          <p:cNvPr id="9" name="">
            <a:extLst xmlns:a="http://schemas.openxmlformats.org/drawingml/2006/main">
              <a:ext uri="{FF2B5EF4-FFF2-40B4-BE49-F238E27FC236}">
                <a16:creationId xmlns:a16="http://schemas.microsoft.com/office/drawing/2014/main" id="{1728455E-F29A-42A9-94CA-BBEC496E04E8}"/>
              </a:ext>
            </a:extLst>
          </p:cNvPr>
          <p:cNvGraphicFramePr/>
          <p:nvPr/>
        </p:nvGraphicFramePr>
        <p:xfrm>
          <a:off xmlns:a="http://schemas.openxmlformats.org/drawingml/2006/main" x="609600" y="1438275"/>
          <a:ext xmlns:a="http://schemas.openxmlformats.org/drawingml/2006/main" cx="10972800" cy="3886200"/>
        </p:xfrm>
        <a:graphic xmlns:a="http://schemas.openxmlformats.org/drawingml/2006/main">
          <a:graphicData uri="http://schemas.openxmlformats.org/drawingml/2006/table">
            <a:tbl>
              <a:tblPr/>
              <a:tblGrid>
                <a:gridCol w="4286250"/>
                <a:gridCol w="2190750"/>
                <a:gridCol w="2190750"/>
                <a:gridCol w="2305050"/>
              </a:tblGrid>
              <a:tr h="647700">
                <a:tc>
                  <a:txBody>
                    <a:bodyPr lIns="95250" tIns="95250" rIns="95250" bIns="95250"/>
                    <a:lstStyle/>
                    <a:p>
                      <a:r>
                        <a:rPr sz="2100" b="1">
                          <a:solidFill>
                            <a:srgbClr val="FFFFFF"/>
                          </a:solidFill>
                          <a:latin typeface="Arial"/>
                          <a:ea typeface="Arial"/>
                          <a:cs typeface="Arial"/>
                        </a:rPr>
                        <a:t>Method</a:t>
                      </a:r>
                    </a:p>
                  </a:txBody>
                  <a:tcPr marL="91440" marR="91440" marT="45720" marB="45720" anchor="ctr">
                    <a:lnL w="9525">
                      <a:solidFill>
                        <a:srgbClr val="D5DCE0"/>
                      </a:solidFill>
                      <a:prstDash val="solid"/>
                    </a:lnL>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100" b="1">
                          <a:solidFill>
                            <a:srgbClr val="FFFFFF"/>
                          </a:solidFill>
                          <a:latin typeface="Arial"/>
                          <a:ea typeface="Arial"/>
                          <a:cs typeface="Arial"/>
                        </a:rPr>
                        <a:t>NRMSE (%)</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100" b="1">
                          <a:solidFill>
                            <a:srgbClr val="FFFFFF"/>
                          </a:solidFill>
                          <a:latin typeface="Arial"/>
                          <a:ea typeface="Arial"/>
                          <a:cs typeface="Arial"/>
                        </a:rPr>
                        <a:t>RMSE (µT)</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100" b="1">
                          <a:solidFill>
                            <a:srgbClr val="FFFFFF"/>
                          </a:solidFill>
                          <a:latin typeface="Arial"/>
                          <a:ea typeface="Arial"/>
                          <a:cs typeface="Arial"/>
                        </a:rPr>
                        <a:t>Time sum (s)</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r>
              <a:tr h="647700">
                <a:tc>
                  <a:txBody>
                    <a:bodyPr lIns="95250" tIns="95250" rIns="95250" bIns="95250"/>
                    <a:lstStyle/>
                    <a:p>
                      <a:r>
                        <a:rPr sz="2100" b="0">
                          <a:solidFill>
                            <a:srgbClr val="30414D"/>
                          </a:solidFill>
                          <a:latin typeface="Arial"/>
                          <a:ea typeface="Arial"/>
                          <a:cs typeface="Arial"/>
                        </a:rPr>
                        <a:t>ConvLISTA 16, 2 epochs</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3.918</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14.307</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2.264</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647700">
                <a:tc>
                  <a:txBody>
                    <a:bodyPr lIns="95250" tIns="95250" rIns="95250" bIns="95250"/>
                    <a:lstStyle/>
                    <a:p>
                      <a:r>
                        <a:rPr sz="2100" b="0">
                          <a:solidFill>
                            <a:srgbClr val="30414D"/>
                          </a:solidFill>
                          <a:latin typeface="Arial"/>
                          <a:ea typeface="Arial"/>
                          <a:cs typeface="Arial"/>
                        </a:rPr>
                        <a:t>ISTA 16</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4.192</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15.284</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2.052</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647700">
                <a:tc>
                  <a:txBody>
                    <a:bodyPr lIns="95250" tIns="95250" rIns="95250" bIns="95250"/>
                    <a:lstStyle/>
                    <a:p>
                      <a:r>
                        <a:rPr sz="2100" b="0">
                          <a:solidFill>
                            <a:srgbClr val="30414D"/>
                          </a:solidFill>
                          <a:latin typeface="Arial"/>
                          <a:ea typeface="Arial"/>
                          <a:cs typeface="Arial"/>
                        </a:rPr>
                        <a:t>FISTA 16</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3.844</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14.006</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2.133</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647700">
                <a:tc>
                  <a:txBody>
                    <a:bodyPr lIns="95250" tIns="95250" rIns="95250" bIns="95250"/>
                    <a:lstStyle/>
                    <a:p>
                      <a:r>
                        <a:rPr sz="2100" b="0">
                          <a:solidFill>
                            <a:srgbClr val="30414D"/>
                          </a:solidFill>
                          <a:latin typeface="Arial"/>
                          <a:ea typeface="Arial"/>
                          <a:cs typeface="Arial"/>
                        </a:rPr>
                        <a:t>ISTA adaptive*</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2.737</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9.877</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5,384.015</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647700">
                <a:tc>
                  <a:txBody>
                    <a:bodyPr lIns="95250" tIns="95250" rIns="95250" bIns="95250"/>
                    <a:lstStyle/>
                    <a:p>
                      <a:r>
                        <a:rPr sz="2100" b="0">
                          <a:solidFill>
                            <a:srgbClr val="30414D"/>
                          </a:solidFill>
                          <a:latin typeface="Arial"/>
                          <a:ea typeface="Arial"/>
                          <a:cs typeface="Arial"/>
                        </a:rPr>
                        <a:t>FISTA adaptive</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2.960</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10.644</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124.458</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bl>
          </a:graphicData>
        </a:graphic>
      </p:graphicFrame>
      <p:sp>
        <p:nvSpPr>
          <p:cNvPr id="10" name="* Two ISTA runs reached the cap. All adaptive FISTA runs converged.">
            <a:extLst xmlns:a="http://schemas.openxmlformats.org/drawingml/2006/main">
              <a:ext uri="{FF2B5EF4-FFF2-40B4-BE49-F238E27FC236}">
                <a16:creationId xmlns:a16="http://schemas.microsoft.com/office/drawing/2014/main" id="{1577D833-5A4B-4619-A6A2-5A9E3BFB28C5}"/>
              </a:ext>
            </a:extLst>
          </p:cNvPr>
          <p:cNvSpPr>
            <a:spLocks xmlns:a="http://schemas.openxmlformats.org/drawingml/2006/main" noGrp="1"/>
          </p:cNvSpPr>
          <p:nvPr/>
        </p:nvSpPr>
        <p:spPr>
          <a:xfrm xmlns:a="http://schemas.openxmlformats.org/drawingml/2006/main">
            <a:off x="609600" y="5648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5522B"/>
                </a:solidFill>
                <a:latin typeface="Arial"/>
                <a:ea typeface="Arial"/>
                <a:cs typeface="Arial"/>
              </a:defRPr>
            </a:defPPr>
            <a:lvl1pPr algn="l">
              <a:defRPr sz="1875" b="1">
                <a:solidFill>
                  <a:srgbClr val="B5522B"/>
                </a:solidFill>
                <a:latin typeface="Arial"/>
                <a:ea typeface="Arial"/>
                <a:cs typeface="Arial"/>
              </a:defRPr>
            </a:lvl1pPr>
            <a:lvl2pPr algn="l">
              <a:defRPr sz="1875" b="1">
                <a:solidFill>
                  <a:srgbClr val="B5522B"/>
                </a:solidFill>
                <a:latin typeface="Arial"/>
                <a:ea typeface="Arial"/>
                <a:cs typeface="Arial"/>
              </a:defRPr>
            </a:lvl2pPr>
            <a:lvl3pPr algn="l">
              <a:defRPr sz="1875" b="1">
                <a:solidFill>
                  <a:srgbClr val="B5522B"/>
                </a:solidFill>
                <a:latin typeface="Arial"/>
                <a:ea typeface="Arial"/>
                <a:cs typeface="Arial"/>
              </a:defRPr>
            </a:lvl3pPr>
            <a:lvl4pPr algn="l">
              <a:defRPr sz="1875" b="1">
                <a:solidFill>
                  <a:srgbClr val="B5522B"/>
                </a:solidFill>
                <a:latin typeface="Arial"/>
                <a:ea typeface="Arial"/>
                <a:cs typeface="Arial"/>
              </a:defRPr>
            </a:lvl4pPr>
            <a:lvl5pPr algn="l">
              <a:defRPr sz="1875" b="1">
                <a:solidFill>
                  <a:srgbClr val="B5522B"/>
                </a:solidFill>
                <a:latin typeface="Arial"/>
                <a:ea typeface="Arial"/>
                <a:cs typeface="Arial"/>
              </a:defRPr>
            </a:lvl5pPr>
            <a:lvl6pPr algn="l">
              <a:defRPr sz="1875" b="1">
                <a:solidFill>
                  <a:srgbClr val="B5522B"/>
                </a:solidFill>
                <a:latin typeface="Arial"/>
                <a:ea typeface="Arial"/>
                <a:cs typeface="Arial"/>
              </a:defRPr>
            </a:lvl6pPr>
            <a:lvl7pPr algn="l">
              <a:defRPr sz="1875" b="1">
                <a:solidFill>
                  <a:srgbClr val="B5522B"/>
                </a:solidFill>
                <a:latin typeface="Arial"/>
                <a:ea typeface="Arial"/>
                <a:cs typeface="Arial"/>
              </a:defRPr>
            </a:lvl7pPr>
            <a:lvl8pPr algn="l">
              <a:defRPr sz="1875" b="1">
                <a:solidFill>
                  <a:srgbClr val="B5522B"/>
                </a:solidFill>
                <a:latin typeface="Arial"/>
                <a:ea typeface="Arial"/>
                <a:cs typeface="Arial"/>
              </a:defRPr>
            </a:lvl8pPr>
            <a:lvl9pPr algn="l">
              <a:defRPr sz="1875" b="1">
                <a:solidFill>
                  <a:srgbClr val="B5522B"/>
                </a:solidFill>
                <a:latin typeface="Arial"/>
                <a:ea typeface="Arial"/>
                <a:cs typeface="Arial"/>
              </a:defRPr>
            </a:lvl9pPr>
          </a:lstStyle>
          <a:p xmlns:a="http://schemas.openxmlformats.org/drawingml/2006/main">
            <a:pPr algn="l">
              <a:defRPr sz="1875" b="1">
                <a:solidFill>
                  <a:srgbClr val="B5522B"/>
                </a:solidFill>
                <a:latin typeface="Arial"/>
                <a:ea typeface="Arial"/>
                <a:cs typeface="Arial"/>
              </a:defRPr>
            </a:pPr>
            <a:r>
              <a:rPr sz="1875" b="1">
                <a:solidFill>
                  <a:srgbClr val="B5522B"/>
                </a:solidFill>
                <a:latin typeface="Arial"/>
                <a:ea typeface="Arial"/>
                <a:cs typeface="Arial"/>
              </a:rPr>
              <a:t>* Two ISTA runs reached the cap. All adaptive FISTA runs converged.</a:t>
            </a:r>
          </a:p>
        </p:txBody>
      </p:sp>
      <p:sp>
        <p:nvSpPr>
          <p:cNvPr id="11" name="Time sum = sum of batch medians, excluding setup and file I/O.">
            <a:extLst xmlns:a="http://schemas.openxmlformats.org/drawingml/2006/main">
              <a:ext uri="{FF2B5EF4-FFF2-40B4-BE49-F238E27FC236}">
                <a16:creationId xmlns:a16="http://schemas.microsoft.com/office/drawing/2014/main" id="{BAA62F06-18DA-4F7E-9066-6EB0BBE1353E}"/>
              </a:ext>
            </a:extLst>
          </p:cNvPr>
          <p:cNvSpPr>
            <a:spLocks xmlns:a="http://schemas.openxmlformats.org/drawingml/2006/main" noGrp="1"/>
          </p:cNvSpPr>
          <p:nvPr/>
        </p:nvSpPr>
        <p:spPr>
          <a:xfrm xmlns:a="http://schemas.openxmlformats.org/drawingml/2006/main">
            <a:off x="609600" y="61626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16A"/>
                </a:solidFill>
                <a:latin typeface="Arial"/>
                <a:ea typeface="Arial"/>
                <a:cs typeface="Arial"/>
              </a:defRPr>
            </a:defPPr>
            <a:lvl1pPr algn="l">
              <a:defRPr sz="1800" b="0">
                <a:solidFill>
                  <a:srgbClr val="53616A"/>
                </a:solidFill>
                <a:latin typeface="Arial"/>
                <a:ea typeface="Arial"/>
                <a:cs typeface="Arial"/>
              </a:defRPr>
            </a:lvl1pPr>
            <a:lvl2pPr algn="l">
              <a:defRPr sz="1800" b="0">
                <a:solidFill>
                  <a:srgbClr val="53616A"/>
                </a:solidFill>
                <a:latin typeface="Arial"/>
                <a:ea typeface="Arial"/>
                <a:cs typeface="Arial"/>
              </a:defRPr>
            </a:lvl2pPr>
            <a:lvl3pPr algn="l">
              <a:defRPr sz="1800" b="0">
                <a:solidFill>
                  <a:srgbClr val="53616A"/>
                </a:solidFill>
                <a:latin typeface="Arial"/>
                <a:ea typeface="Arial"/>
                <a:cs typeface="Arial"/>
              </a:defRPr>
            </a:lvl3pPr>
            <a:lvl4pPr algn="l">
              <a:defRPr sz="1800" b="0">
                <a:solidFill>
                  <a:srgbClr val="53616A"/>
                </a:solidFill>
                <a:latin typeface="Arial"/>
                <a:ea typeface="Arial"/>
                <a:cs typeface="Arial"/>
              </a:defRPr>
            </a:lvl4pPr>
            <a:lvl5pPr algn="l">
              <a:defRPr sz="1800" b="0">
                <a:solidFill>
                  <a:srgbClr val="53616A"/>
                </a:solidFill>
                <a:latin typeface="Arial"/>
                <a:ea typeface="Arial"/>
                <a:cs typeface="Arial"/>
              </a:defRPr>
            </a:lvl5pPr>
            <a:lvl6pPr algn="l">
              <a:defRPr sz="1800" b="0">
                <a:solidFill>
                  <a:srgbClr val="53616A"/>
                </a:solidFill>
                <a:latin typeface="Arial"/>
                <a:ea typeface="Arial"/>
                <a:cs typeface="Arial"/>
              </a:defRPr>
            </a:lvl6pPr>
            <a:lvl7pPr algn="l">
              <a:defRPr sz="1800" b="0">
                <a:solidFill>
                  <a:srgbClr val="53616A"/>
                </a:solidFill>
                <a:latin typeface="Arial"/>
                <a:ea typeface="Arial"/>
                <a:cs typeface="Arial"/>
              </a:defRPr>
            </a:lvl7pPr>
            <a:lvl8pPr algn="l">
              <a:defRPr sz="1800" b="0">
                <a:solidFill>
                  <a:srgbClr val="53616A"/>
                </a:solidFill>
                <a:latin typeface="Arial"/>
                <a:ea typeface="Arial"/>
                <a:cs typeface="Arial"/>
              </a:defRPr>
            </a:lvl8pPr>
            <a:lvl9pPr algn="l">
              <a:defRPr sz="1800" b="0">
                <a:solidFill>
                  <a:srgbClr val="53616A"/>
                </a:solidFill>
                <a:latin typeface="Arial"/>
                <a:ea typeface="Arial"/>
                <a:cs typeface="Arial"/>
              </a:defRPr>
            </a:lvl9pPr>
          </a:lstStyle>
          <a:p xmlns:a="http://schemas.openxmlformats.org/drawingml/2006/main">
            <a:pPr algn="l">
              <a:defRPr sz="1800" b="0">
                <a:solidFill>
                  <a:srgbClr val="53616A"/>
                </a:solidFill>
                <a:latin typeface="Arial"/>
                <a:ea typeface="Arial"/>
                <a:cs typeface="Arial"/>
              </a:defRPr>
            </a:pPr>
            <a:r>
              <a:rPr sz="1800" b="0">
                <a:solidFill>
                  <a:srgbClr val="53616A"/>
                </a:solidFill>
                <a:latin typeface="Arial"/>
                <a:ea typeface="Arial"/>
                <a:cs typeface="Arial"/>
              </a:rPr>
              <a:t>Time sum = sum of batch medians, excluding setup and file I/O.</a:t>
            </a:r>
          </a:p>
        </p:txBody>
      </p:sp>
    </p:spTree>
    <p:extLst>
      <p:ext uri="{BB962C8B-B14F-4D97-AF65-F5344CB8AC3E}">
        <p14:creationId xmlns:p14="http://schemas.microsoft.com/office/powerpoint/2010/main" val="202679387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ISTA stopping results for IC_2um</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8</a:t>
            </a:r>
          </a:p>
        </p:txBody>
      </p:sp>
      <p:sp>
        <p:nvSpPr>
          <p:cNvPr id="9" name="Input 2 µm, reference 1 µm. Convergence requires relative PG ≤ 0.001.">
            <a:extLst xmlns:a="http://schemas.openxmlformats.org/drawingml/2006/main">
              <a:ext uri="{FF2B5EF4-FFF2-40B4-BE49-F238E27FC236}">
                <a16:creationId xmlns:a16="http://schemas.microsoft.com/office/drawing/2014/main" id="{16A6E8EC-B4E5-4E6F-90AF-00D39B97914D}"/>
              </a:ext>
            </a:extLst>
          </p:cNvPr>
          <p:cNvSpPr>
            <a:spLocks xmlns:a="http://schemas.openxmlformats.org/drawingml/2006/main" noGrp="1"/>
          </p:cNvSpPr>
          <p:nvPr/>
        </p:nvSpPr>
        <p:spPr>
          <a:xfrm xmlns:a="http://schemas.openxmlformats.org/drawingml/2006/main">
            <a:off x="609600" y="13144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0414D"/>
                </a:solidFill>
                <a:latin typeface="Arial"/>
                <a:ea typeface="Arial"/>
                <a:cs typeface="Arial"/>
              </a:defRPr>
            </a:defPPr>
            <a:lvl1pPr algn="l">
              <a:defRPr sz="2100" b="0">
                <a:solidFill>
                  <a:srgbClr val="30414D"/>
                </a:solidFill>
                <a:latin typeface="Arial"/>
                <a:ea typeface="Arial"/>
                <a:cs typeface="Arial"/>
              </a:defRPr>
            </a:lvl1pPr>
            <a:lvl2pPr algn="l">
              <a:defRPr sz="2100" b="0">
                <a:solidFill>
                  <a:srgbClr val="30414D"/>
                </a:solidFill>
                <a:latin typeface="Arial"/>
                <a:ea typeface="Arial"/>
                <a:cs typeface="Arial"/>
              </a:defRPr>
            </a:lvl2pPr>
            <a:lvl3pPr algn="l">
              <a:defRPr sz="2100" b="0">
                <a:solidFill>
                  <a:srgbClr val="30414D"/>
                </a:solidFill>
                <a:latin typeface="Arial"/>
                <a:ea typeface="Arial"/>
                <a:cs typeface="Arial"/>
              </a:defRPr>
            </a:lvl3pPr>
            <a:lvl4pPr algn="l">
              <a:defRPr sz="2100" b="0">
                <a:solidFill>
                  <a:srgbClr val="30414D"/>
                </a:solidFill>
                <a:latin typeface="Arial"/>
                <a:ea typeface="Arial"/>
                <a:cs typeface="Arial"/>
              </a:defRPr>
            </a:lvl4pPr>
            <a:lvl5pPr algn="l">
              <a:defRPr sz="2100" b="0">
                <a:solidFill>
                  <a:srgbClr val="30414D"/>
                </a:solidFill>
                <a:latin typeface="Arial"/>
                <a:ea typeface="Arial"/>
                <a:cs typeface="Arial"/>
              </a:defRPr>
            </a:lvl5pPr>
            <a:lvl6pPr algn="l">
              <a:defRPr sz="2100" b="0">
                <a:solidFill>
                  <a:srgbClr val="30414D"/>
                </a:solidFill>
                <a:latin typeface="Arial"/>
                <a:ea typeface="Arial"/>
                <a:cs typeface="Arial"/>
              </a:defRPr>
            </a:lvl6pPr>
            <a:lvl7pPr algn="l">
              <a:defRPr sz="2100" b="0">
                <a:solidFill>
                  <a:srgbClr val="30414D"/>
                </a:solidFill>
                <a:latin typeface="Arial"/>
                <a:ea typeface="Arial"/>
                <a:cs typeface="Arial"/>
              </a:defRPr>
            </a:lvl7pPr>
            <a:lvl8pPr algn="l">
              <a:defRPr sz="2100" b="0">
                <a:solidFill>
                  <a:srgbClr val="30414D"/>
                </a:solidFill>
                <a:latin typeface="Arial"/>
                <a:ea typeface="Arial"/>
                <a:cs typeface="Arial"/>
              </a:defRPr>
            </a:lvl8pPr>
            <a:lvl9pPr algn="l">
              <a:defRPr sz="2100" b="0">
                <a:solidFill>
                  <a:srgbClr val="30414D"/>
                </a:solidFill>
                <a:latin typeface="Arial"/>
                <a:ea typeface="Arial"/>
                <a:cs typeface="Arial"/>
              </a:defRPr>
            </a:lvl9pPr>
          </a:lstStyle>
          <a:p xmlns:a="http://schemas.openxmlformats.org/drawingml/2006/main">
            <a:pPr algn="l">
              <a:defRPr sz="2100" b="0">
                <a:solidFill>
                  <a:srgbClr val="30414D"/>
                </a:solidFill>
                <a:latin typeface="Arial"/>
                <a:ea typeface="Arial"/>
                <a:cs typeface="Arial"/>
              </a:defRPr>
            </a:pPr>
            <a:r>
              <a:rPr sz="2100" b="0">
                <a:solidFill>
                  <a:srgbClr val="30414D"/>
                </a:solidFill>
                <a:latin typeface="Arial"/>
                <a:ea typeface="Arial"/>
                <a:cs typeface="Arial"/>
              </a:rPr>
              <a:t>Input 2 µm, reference 1 µm. Convergence requires relative PG ≤ 0.001.</a:t>
            </a:r>
          </a:p>
        </p:txBody>
      </p:sp>
      <p:graphicFrame>
        <p:nvGraphicFramePr>
          <p:cNvPr id="10" name="">
            <a:extLst xmlns:a="http://schemas.openxmlformats.org/drawingml/2006/main">
              <a:ext uri="{FF2B5EF4-FFF2-40B4-BE49-F238E27FC236}">
                <a16:creationId xmlns:a16="http://schemas.microsoft.com/office/drawing/2014/main" id="{0E278971-5A47-4836-AC45-1D08CC01EA4C}"/>
              </a:ext>
            </a:extLst>
          </p:cNvPr>
          <p:cNvGraphicFramePr/>
          <p:nvPr/>
        </p:nvGraphicFramePr>
        <p:xfrm>
          <a:off xmlns:a="http://schemas.openxmlformats.org/drawingml/2006/main" x="609600" y="2190750"/>
          <a:ext xmlns:a="http://schemas.openxmlformats.org/drawingml/2006/main" cx="10972800" cy="3048000"/>
        </p:xfrm>
        <a:graphic xmlns:a="http://schemas.openxmlformats.org/drawingml/2006/main">
          <a:graphicData uri="http://schemas.openxmlformats.org/drawingml/2006/table">
            <a:tbl>
              <a:tblPr/>
              <a:tblGrid>
                <a:gridCol w="2190750"/>
                <a:gridCol w="2238375"/>
                <a:gridCol w="3286125"/>
                <a:gridCol w="3257550"/>
              </a:tblGrid>
              <a:tr h="762000">
                <a:tc>
                  <a:txBody>
                    <a:bodyPr lIns="95250" tIns="95250" rIns="95250" bIns="95250"/>
                    <a:lstStyle/>
                    <a:p>
                      <a:r>
                        <a:rPr sz="2175" b="1">
                          <a:solidFill>
                            <a:srgbClr val="FFFFFF"/>
                          </a:solidFill>
                          <a:latin typeface="Arial"/>
                          <a:ea typeface="Arial"/>
                          <a:cs typeface="Arial"/>
                        </a:rPr>
                        <a:t>Component</a:t>
                      </a:r>
                    </a:p>
                  </a:txBody>
                  <a:tcPr marL="91440" marR="91440" marT="45720" marB="45720" anchor="ctr">
                    <a:lnL w="9525">
                      <a:solidFill>
                        <a:srgbClr val="D5DCE0"/>
                      </a:solidFill>
                      <a:prstDash val="solid"/>
                    </a:lnL>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175" b="1">
                          <a:solidFill>
                            <a:srgbClr val="FFFFFF"/>
                          </a:solidFill>
                          <a:latin typeface="Arial"/>
                          <a:ea typeface="Arial"/>
                          <a:cs typeface="Arial"/>
                        </a:rPr>
                        <a:t>Updates</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175" b="1">
                          <a:solidFill>
                            <a:srgbClr val="FFFFFF"/>
                          </a:solidFill>
                          <a:latin typeface="Arial"/>
                          <a:ea typeface="Arial"/>
                          <a:cs typeface="Arial"/>
                        </a:rPr>
                        <a:t>Final relative PG</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175" b="1">
                          <a:solidFill>
                            <a:srgbClr val="FFFFFF"/>
                          </a:solidFill>
                          <a:latin typeface="Arial"/>
                          <a:ea typeface="Arial"/>
                          <a:cs typeface="Arial"/>
                        </a:rPr>
                        <a:t>Outcome</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r>
              <a:tr h="762000">
                <a:tc>
                  <a:txBody>
                    <a:bodyPr lIns="95250" tIns="95250" rIns="95250" bIns="95250"/>
                    <a:lstStyle/>
                    <a:p>
                      <a:r>
                        <a:rPr sz="2175" b="0">
                          <a:solidFill>
                            <a:srgbClr val="30414D"/>
                          </a:solidFill>
                          <a:latin typeface="Arial"/>
                          <a:ea typeface="Arial"/>
                          <a:cs typeface="Arial"/>
                        </a:rPr>
                        <a:t>Bx</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75" b="0">
                          <a:solidFill>
                            <a:srgbClr val="30414D"/>
                          </a:solidFill>
                          <a:latin typeface="Arial"/>
                          <a:ea typeface="Arial"/>
                          <a:cs typeface="Arial"/>
                        </a:rPr>
                        <a:t>100,000</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75" b="0">
                          <a:solidFill>
                            <a:srgbClr val="30414D"/>
                          </a:solidFill>
                          <a:latin typeface="Arial"/>
                          <a:ea typeface="Arial"/>
                          <a:cs typeface="Arial"/>
                        </a:rPr>
                        <a:t>0.001398277</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75" b="0">
                          <a:solidFill>
                            <a:srgbClr val="30414D"/>
                          </a:solidFill>
                          <a:latin typeface="Arial"/>
                          <a:ea typeface="Arial"/>
                          <a:cs typeface="Arial"/>
                        </a:rPr>
                        <a:t>Iteration cap</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762000">
                <a:tc>
                  <a:txBody>
                    <a:bodyPr lIns="95250" tIns="95250" rIns="95250" bIns="95250"/>
                    <a:lstStyle/>
                    <a:p>
                      <a:r>
                        <a:rPr sz="2175" b="0">
                          <a:solidFill>
                            <a:srgbClr val="30414D"/>
                          </a:solidFill>
                          <a:latin typeface="Arial"/>
                          <a:ea typeface="Arial"/>
                          <a:cs typeface="Arial"/>
                        </a:rPr>
                        <a:t>By</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75" b="0">
                          <a:solidFill>
                            <a:srgbClr val="30414D"/>
                          </a:solidFill>
                          <a:latin typeface="Arial"/>
                          <a:ea typeface="Arial"/>
                          <a:cs typeface="Arial"/>
                        </a:rPr>
                        <a:t>100,000</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75" b="0">
                          <a:solidFill>
                            <a:srgbClr val="30414D"/>
                          </a:solidFill>
                          <a:latin typeface="Arial"/>
                          <a:ea typeface="Arial"/>
                          <a:cs typeface="Arial"/>
                        </a:rPr>
                        <a:t>0.001183943</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75" b="0">
                          <a:solidFill>
                            <a:srgbClr val="30414D"/>
                          </a:solidFill>
                          <a:latin typeface="Arial"/>
                          <a:ea typeface="Arial"/>
                          <a:cs typeface="Arial"/>
                        </a:rPr>
                        <a:t>Iteration cap</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762000">
                <a:tc>
                  <a:txBody>
                    <a:bodyPr lIns="95250" tIns="95250" rIns="95250" bIns="95250"/>
                    <a:lstStyle/>
                    <a:p>
                      <a:r>
                        <a:rPr sz="2175" b="0">
                          <a:solidFill>
                            <a:srgbClr val="30414D"/>
                          </a:solidFill>
                          <a:latin typeface="Arial"/>
                          <a:ea typeface="Arial"/>
                          <a:cs typeface="Arial"/>
                        </a:rPr>
                        <a:t>Bz</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75" b="0">
                          <a:solidFill>
                            <a:srgbClr val="30414D"/>
                          </a:solidFill>
                          <a:latin typeface="Arial"/>
                          <a:ea typeface="Arial"/>
                          <a:cs typeface="Arial"/>
                        </a:rPr>
                        <a:t>79,425</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75" b="0">
                          <a:solidFill>
                            <a:srgbClr val="30414D"/>
                          </a:solidFill>
                          <a:latin typeface="Arial"/>
                          <a:ea typeface="Arial"/>
                          <a:cs typeface="Arial"/>
                        </a:rPr>
                        <a:t>0.000999994</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75" b="0">
                          <a:solidFill>
                            <a:srgbClr val="30414D"/>
                          </a:solidFill>
                          <a:latin typeface="Arial"/>
                          <a:ea typeface="Arial"/>
                          <a:cs typeface="Arial"/>
                        </a:rPr>
                        <a:t>Converged</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bl>
          </a:graphicData>
        </a:graphic>
      </p:graphicFrame>
      <p:sp>
        <p:nvSpPr>
          <p:cNvPr id="11" name="Relative PG compares the remaining solver correction with its initial value">
            <a:extLst xmlns:a="http://schemas.openxmlformats.org/drawingml/2006/main">
              <a:ext uri="{FF2B5EF4-FFF2-40B4-BE49-F238E27FC236}">
                <a16:creationId xmlns:a16="http://schemas.microsoft.com/office/drawing/2014/main" id="{5C595874-8B91-49BB-92E4-BB3CD3796E9F}"/>
              </a:ext>
            </a:extLst>
          </p:cNvPr>
          <p:cNvSpPr>
            <a:spLocks xmlns:a="http://schemas.openxmlformats.org/drawingml/2006/main" noGrp="1"/>
          </p:cNvSpPr>
          <p:nvPr/>
        </p:nvSpPr>
        <p:spPr>
          <a:xfrm xmlns:a="http://schemas.openxmlformats.org/drawingml/2006/main">
            <a:off x="609600" y="55816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0414D"/>
                </a:solidFill>
                <a:latin typeface="Arial"/>
                <a:ea typeface="Arial"/>
                <a:cs typeface="Arial"/>
              </a:defRPr>
            </a:defPPr>
            <a:lvl1pPr algn="l">
              <a:defRPr sz="1950" b="0">
                <a:solidFill>
                  <a:srgbClr val="30414D"/>
                </a:solidFill>
                <a:latin typeface="Arial"/>
                <a:ea typeface="Arial"/>
                <a:cs typeface="Arial"/>
              </a:defRPr>
            </a:lvl1pPr>
            <a:lvl2pPr algn="l">
              <a:defRPr sz="1950" b="0">
                <a:solidFill>
                  <a:srgbClr val="30414D"/>
                </a:solidFill>
                <a:latin typeface="Arial"/>
                <a:ea typeface="Arial"/>
                <a:cs typeface="Arial"/>
              </a:defRPr>
            </a:lvl2pPr>
            <a:lvl3pPr algn="l">
              <a:defRPr sz="1950" b="0">
                <a:solidFill>
                  <a:srgbClr val="30414D"/>
                </a:solidFill>
                <a:latin typeface="Arial"/>
                <a:ea typeface="Arial"/>
                <a:cs typeface="Arial"/>
              </a:defRPr>
            </a:lvl3pPr>
            <a:lvl4pPr algn="l">
              <a:defRPr sz="1950" b="0">
                <a:solidFill>
                  <a:srgbClr val="30414D"/>
                </a:solidFill>
                <a:latin typeface="Arial"/>
                <a:ea typeface="Arial"/>
                <a:cs typeface="Arial"/>
              </a:defRPr>
            </a:lvl4pPr>
            <a:lvl5pPr algn="l">
              <a:defRPr sz="1950" b="0">
                <a:solidFill>
                  <a:srgbClr val="30414D"/>
                </a:solidFill>
                <a:latin typeface="Arial"/>
                <a:ea typeface="Arial"/>
                <a:cs typeface="Arial"/>
              </a:defRPr>
            </a:lvl5pPr>
            <a:lvl6pPr algn="l">
              <a:defRPr sz="1950" b="0">
                <a:solidFill>
                  <a:srgbClr val="30414D"/>
                </a:solidFill>
                <a:latin typeface="Arial"/>
                <a:ea typeface="Arial"/>
                <a:cs typeface="Arial"/>
              </a:defRPr>
            </a:lvl6pPr>
            <a:lvl7pPr algn="l">
              <a:defRPr sz="1950" b="0">
                <a:solidFill>
                  <a:srgbClr val="30414D"/>
                </a:solidFill>
                <a:latin typeface="Arial"/>
                <a:ea typeface="Arial"/>
                <a:cs typeface="Arial"/>
              </a:defRPr>
            </a:lvl7pPr>
            <a:lvl8pPr algn="l">
              <a:defRPr sz="1950" b="0">
                <a:solidFill>
                  <a:srgbClr val="30414D"/>
                </a:solidFill>
                <a:latin typeface="Arial"/>
                <a:ea typeface="Arial"/>
                <a:cs typeface="Arial"/>
              </a:defRPr>
            </a:lvl8pPr>
            <a:lvl9pPr algn="l">
              <a:defRPr sz="1950" b="0">
                <a:solidFill>
                  <a:srgbClr val="30414D"/>
                </a:solidFill>
                <a:latin typeface="Arial"/>
                <a:ea typeface="Arial"/>
                <a:cs typeface="Arial"/>
              </a:defRPr>
            </a:lvl9pPr>
          </a:lstStyle>
          <a:p xmlns:a="http://schemas.openxmlformats.org/drawingml/2006/main">
            <a:pPr algn="l">
              <a:defRPr sz="1950" b="0">
                <a:solidFill>
                  <a:srgbClr val="30414D"/>
                </a:solidFill>
                <a:latin typeface="Arial"/>
                <a:ea typeface="Arial"/>
                <a:cs typeface="Arial"/>
              </a:defRPr>
            </a:pPr>
            <a:r>
              <a:rPr sz="1950" b="0">
                <a:solidFill>
                  <a:srgbClr val="30414D"/>
                </a:solidFill>
                <a:latin typeface="Arial"/>
                <a:ea typeface="Arial"/>
                <a:cs typeface="Arial"/>
              </a:rPr>
              <a:t>Relative PG compares the remaining solver correction with its initial value.</a:t>
            </a:r>
          </a:p>
        </p:txBody>
      </p:sp>
    </p:spTree>
    <p:extLst>
      <p:ext uri="{BB962C8B-B14F-4D97-AF65-F5344CB8AC3E}">
        <p14:creationId xmlns:p14="http://schemas.microsoft.com/office/powerpoint/2010/main" val="20267938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The 200-epoch run and the next update</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9</a:t>
            </a:r>
          </a:p>
        </p:txBody>
      </p:sp>
      <p:sp>
        <p:nvSpPr>
          <p:cNvPr id="9" name="Fresh 200-epoch training has started on the same combined dataset.">
            <a:extLst xmlns:a="http://schemas.openxmlformats.org/drawingml/2006/main">
              <a:ext uri="{FF2B5EF4-FFF2-40B4-BE49-F238E27FC236}">
                <a16:creationId xmlns:a16="http://schemas.microsoft.com/office/drawing/2014/main" id="{A1F84DEA-4ED5-4C32-A5BA-1C440A6AC777}"/>
              </a:ext>
            </a:extLst>
          </p:cNvPr>
          <p:cNvSpPr>
            <a:spLocks xmlns:a="http://schemas.openxmlformats.org/drawingml/2006/main" noGrp="1"/>
          </p:cNvSpPr>
          <p:nvPr/>
        </p:nvSpPr>
        <p:spPr>
          <a:xfrm xmlns:a="http://schemas.openxmlformats.org/drawingml/2006/main">
            <a:off x="685800" y="16668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0414D"/>
                </a:solidFill>
                <a:latin typeface="Arial"/>
                <a:ea typeface="Arial"/>
                <a:cs typeface="Arial"/>
              </a:defRPr>
            </a:defPPr>
            <a:lvl1pPr algn="l">
              <a:defRPr sz="2325" b="0">
                <a:solidFill>
                  <a:srgbClr val="30414D"/>
                </a:solidFill>
                <a:latin typeface="Arial"/>
                <a:ea typeface="Arial"/>
                <a:cs typeface="Arial"/>
              </a:defRPr>
            </a:lvl1pPr>
            <a:lvl2pPr algn="l">
              <a:defRPr sz="2325" b="0">
                <a:solidFill>
                  <a:srgbClr val="30414D"/>
                </a:solidFill>
                <a:latin typeface="Arial"/>
                <a:ea typeface="Arial"/>
                <a:cs typeface="Arial"/>
              </a:defRPr>
            </a:lvl2pPr>
            <a:lvl3pPr algn="l">
              <a:defRPr sz="2325" b="0">
                <a:solidFill>
                  <a:srgbClr val="30414D"/>
                </a:solidFill>
                <a:latin typeface="Arial"/>
                <a:ea typeface="Arial"/>
                <a:cs typeface="Arial"/>
              </a:defRPr>
            </a:lvl3pPr>
            <a:lvl4pPr algn="l">
              <a:defRPr sz="2325" b="0">
                <a:solidFill>
                  <a:srgbClr val="30414D"/>
                </a:solidFill>
                <a:latin typeface="Arial"/>
                <a:ea typeface="Arial"/>
                <a:cs typeface="Arial"/>
              </a:defRPr>
            </a:lvl4pPr>
            <a:lvl5pPr algn="l">
              <a:defRPr sz="2325" b="0">
                <a:solidFill>
                  <a:srgbClr val="30414D"/>
                </a:solidFill>
                <a:latin typeface="Arial"/>
                <a:ea typeface="Arial"/>
                <a:cs typeface="Arial"/>
              </a:defRPr>
            </a:lvl5pPr>
            <a:lvl6pPr algn="l">
              <a:defRPr sz="2325" b="0">
                <a:solidFill>
                  <a:srgbClr val="30414D"/>
                </a:solidFill>
                <a:latin typeface="Arial"/>
                <a:ea typeface="Arial"/>
                <a:cs typeface="Arial"/>
              </a:defRPr>
            </a:lvl6pPr>
            <a:lvl7pPr algn="l">
              <a:defRPr sz="2325" b="0">
                <a:solidFill>
                  <a:srgbClr val="30414D"/>
                </a:solidFill>
                <a:latin typeface="Arial"/>
                <a:ea typeface="Arial"/>
                <a:cs typeface="Arial"/>
              </a:defRPr>
            </a:lvl7pPr>
            <a:lvl8pPr algn="l">
              <a:defRPr sz="2325" b="0">
                <a:solidFill>
                  <a:srgbClr val="30414D"/>
                </a:solidFill>
                <a:latin typeface="Arial"/>
                <a:ea typeface="Arial"/>
                <a:cs typeface="Arial"/>
              </a:defRPr>
            </a:lvl8pPr>
            <a:lvl9pPr algn="l">
              <a:defRPr sz="2325" b="0">
                <a:solidFill>
                  <a:srgbClr val="30414D"/>
                </a:solidFill>
                <a:latin typeface="Arial"/>
                <a:ea typeface="Arial"/>
                <a:cs typeface="Arial"/>
              </a:defRPr>
            </a:lvl9pPr>
          </a:lstStyle>
          <a:p xmlns:a="http://schemas.openxmlformats.org/drawingml/2006/main">
            <a:pPr algn="l">
              <a:defRPr sz="2325" b="0">
                <a:solidFill>
                  <a:srgbClr val="30414D"/>
                </a:solidFill>
                <a:latin typeface="Arial"/>
                <a:ea typeface="Arial"/>
                <a:cs typeface="Arial"/>
              </a:defRPr>
            </a:pPr>
            <a:r>
              <a:rPr sz="2325" b="0">
                <a:solidFill>
                  <a:srgbClr val="30414D"/>
                </a:solidFill>
                <a:latin typeface="Arial"/>
                <a:ea typeface="Arial"/>
                <a:cs typeface="Arial"/>
              </a:rPr>
              <a:t>Fresh 200-epoch training has started on the same combined dataset.</a:t>
            </a:r>
          </a:p>
        </p:txBody>
      </p:sp>
      <p:sp>
        <p:nvSpPr>
          <p:cNvPr id="10" name="Verified pilot baselines are reused, including both capped ISTA flags.">
            <a:extLst xmlns:a="http://schemas.openxmlformats.org/drawingml/2006/main">
              <a:ext uri="{FF2B5EF4-FFF2-40B4-BE49-F238E27FC236}">
                <a16:creationId xmlns:a16="http://schemas.microsoft.com/office/drawing/2014/main" id="{74D4409A-F07C-4873-80D5-D8264DA79ACA}"/>
              </a:ext>
            </a:extLst>
          </p:cNvPr>
          <p:cNvSpPr>
            <a:spLocks xmlns:a="http://schemas.openxmlformats.org/drawingml/2006/main" noGrp="1"/>
          </p:cNvSpPr>
          <p:nvPr/>
        </p:nvSpPr>
        <p:spPr>
          <a:xfrm xmlns:a="http://schemas.openxmlformats.org/drawingml/2006/main">
            <a:off x="685800" y="27336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0414D"/>
                </a:solidFill>
                <a:latin typeface="Arial"/>
                <a:ea typeface="Arial"/>
                <a:cs typeface="Arial"/>
              </a:defRPr>
            </a:defPPr>
            <a:lvl1pPr algn="l">
              <a:defRPr sz="2325" b="0">
                <a:solidFill>
                  <a:srgbClr val="30414D"/>
                </a:solidFill>
                <a:latin typeface="Arial"/>
                <a:ea typeface="Arial"/>
                <a:cs typeface="Arial"/>
              </a:defRPr>
            </a:lvl1pPr>
            <a:lvl2pPr algn="l">
              <a:defRPr sz="2325" b="0">
                <a:solidFill>
                  <a:srgbClr val="30414D"/>
                </a:solidFill>
                <a:latin typeface="Arial"/>
                <a:ea typeface="Arial"/>
                <a:cs typeface="Arial"/>
              </a:defRPr>
            </a:lvl2pPr>
            <a:lvl3pPr algn="l">
              <a:defRPr sz="2325" b="0">
                <a:solidFill>
                  <a:srgbClr val="30414D"/>
                </a:solidFill>
                <a:latin typeface="Arial"/>
                <a:ea typeface="Arial"/>
                <a:cs typeface="Arial"/>
              </a:defRPr>
            </a:lvl3pPr>
            <a:lvl4pPr algn="l">
              <a:defRPr sz="2325" b="0">
                <a:solidFill>
                  <a:srgbClr val="30414D"/>
                </a:solidFill>
                <a:latin typeface="Arial"/>
                <a:ea typeface="Arial"/>
                <a:cs typeface="Arial"/>
              </a:defRPr>
            </a:lvl4pPr>
            <a:lvl5pPr algn="l">
              <a:defRPr sz="2325" b="0">
                <a:solidFill>
                  <a:srgbClr val="30414D"/>
                </a:solidFill>
                <a:latin typeface="Arial"/>
                <a:ea typeface="Arial"/>
                <a:cs typeface="Arial"/>
              </a:defRPr>
            </a:lvl5pPr>
            <a:lvl6pPr algn="l">
              <a:defRPr sz="2325" b="0">
                <a:solidFill>
                  <a:srgbClr val="30414D"/>
                </a:solidFill>
                <a:latin typeface="Arial"/>
                <a:ea typeface="Arial"/>
                <a:cs typeface="Arial"/>
              </a:defRPr>
            </a:lvl6pPr>
            <a:lvl7pPr algn="l">
              <a:defRPr sz="2325" b="0">
                <a:solidFill>
                  <a:srgbClr val="30414D"/>
                </a:solidFill>
                <a:latin typeface="Arial"/>
                <a:ea typeface="Arial"/>
                <a:cs typeface="Arial"/>
              </a:defRPr>
            </a:lvl7pPr>
            <a:lvl8pPr algn="l">
              <a:defRPr sz="2325" b="0">
                <a:solidFill>
                  <a:srgbClr val="30414D"/>
                </a:solidFill>
                <a:latin typeface="Arial"/>
                <a:ea typeface="Arial"/>
                <a:cs typeface="Arial"/>
              </a:defRPr>
            </a:lvl8pPr>
            <a:lvl9pPr algn="l">
              <a:defRPr sz="2325" b="0">
                <a:solidFill>
                  <a:srgbClr val="30414D"/>
                </a:solidFill>
                <a:latin typeface="Arial"/>
                <a:ea typeface="Arial"/>
                <a:cs typeface="Arial"/>
              </a:defRPr>
            </a:lvl9pPr>
          </a:lstStyle>
          <a:p xmlns:a="http://schemas.openxmlformats.org/drawingml/2006/main">
            <a:pPr algn="l">
              <a:defRPr sz="2325" b="0">
                <a:solidFill>
                  <a:srgbClr val="30414D"/>
                </a:solidFill>
                <a:latin typeface="Arial"/>
                <a:ea typeface="Arial"/>
                <a:cs typeface="Arial"/>
              </a:defRPr>
            </a:pPr>
            <a:r>
              <a:rPr sz="2325" b="0">
                <a:solidFill>
                  <a:srgbClr val="30414D"/>
                </a:solidFill>
                <a:latin typeface="Arial"/>
                <a:ea typeface="Arial"/>
                <a:cs typeface="Arial"/>
              </a:rPr>
              <a:t>Verified pilot baselines are reused, including both capped ISTA flags.</a:t>
            </a:r>
          </a:p>
        </p:txBody>
      </p:sp>
      <p:sp>
        <p:nvSpPr>
          <p:cNvPr id="11" name="Final ConvLISTA scores and reconstruction figures are pending.">
            <a:extLst xmlns:a="http://schemas.openxmlformats.org/drawingml/2006/main">
              <a:ext uri="{FF2B5EF4-FFF2-40B4-BE49-F238E27FC236}">
                <a16:creationId xmlns:a16="http://schemas.microsoft.com/office/drawing/2014/main" id="{D4225DA9-5B27-4855-A59F-0A7AA72BA6BE}"/>
              </a:ext>
            </a:extLst>
          </p:cNvPr>
          <p:cNvSpPr>
            <a:spLocks xmlns:a="http://schemas.openxmlformats.org/drawingml/2006/main" noGrp="1"/>
          </p:cNvSpPr>
          <p:nvPr/>
        </p:nvSpPr>
        <p:spPr>
          <a:xfrm xmlns:a="http://schemas.openxmlformats.org/drawingml/2006/main">
            <a:off x="685800" y="38004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0414D"/>
                </a:solidFill>
                <a:latin typeface="Arial"/>
                <a:ea typeface="Arial"/>
                <a:cs typeface="Arial"/>
              </a:defRPr>
            </a:defPPr>
            <a:lvl1pPr algn="l">
              <a:defRPr sz="2325" b="0">
                <a:solidFill>
                  <a:srgbClr val="30414D"/>
                </a:solidFill>
                <a:latin typeface="Arial"/>
                <a:ea typeface="Arial"/>
                <a:cs typeface="Arial"/>
              </a:defRPr>
            </a:lvl1pPr>
            <a:lvl2pPr algn="l">
              <a:defRPr sz="2325" b="0">
                <a:solidFill>
                  <a:srgbClr val="30414D"/>
                </a:solidFill>
                <a:latin typeface="Arial"/>
                <a:ea typeface="Arial"/>
                <a:cs typeface="Arial"/>
              </a:defRPr>
            </a:lvl2pPr>
            <a:lvl3pPr algn="l">
              <a:defRPr sz="2325" b="0">
                <a:solidFill>
                  <a:srgbClr val="30414D"/>
                </a:solidFill>
                <a:latin typeface="Arial"/>
                <a:ea typeface="Arial"/>
                <a:cs typeface="Arial"/>
              </a:defRPr>
            </a:lvl3pPr>
            <a:lvl4pPr algn="l">
              <a:defRPr sz="2325" b="0">
                <a:solidFill>
                  <a:srgbClr val="30414D"/>
                </a:solidFill>
                <a:latin typeface="Arial"/>
                <a:ea typeface="Arial"/>
                <a:cs typeface="Arial"/>
              </a:defRPr>
            </a:lvl4pPr>
            <a:lvl5pPr algn="l">
              <a:defRPr sz="2325" b="0">
                <a:solidFill>
                  <a:srgbClr val="30414D"/>
                </a:solidFill>
                <a:latin typeface="Arial"/>
                <a:ea typeface="Arial"/>
                <a:cs typeface="Arial"/>
              </a:defRPr>
            </a:lvl5pPr>
            <a:lvl6pPr algn="l">
              <a:defRPr sz="2325" b="0">
                <a:solidFill>
                  <a:srgbClr val="30414D"/>
                </a:solidFill>
                <a:latin typeface="Arial"/>
                <a:ea typeface="Arial"/>
                <a:cs typeface="Arial"/>
              </a:defRPr>
            </a:lvl6pPr>
            <a:lvl7pPr algn="l">
              <a:defRPr sz="2325" b="0">
                <a:solidFill>
                  <a:srgbClr val="30414D"/>
                </a:solidFill>
                <a:latin typeface="Arial"/>
                <a:ea typeface="Arial"/>
                <a:cs typeface="Arial"/>
              </a:defRPr>
            </a:lvl7pPr>
            <a:lvl8pPr algn="l">
              <a:defRPr sz="2325" b="0">
                <a:solidFill>
                  <a:srgbClr val="30414D"/>
                </a:solidFill>
                <a:latin typeface="Arial"/>
                <a:ea typeface="Arial"/>
                <a:cs typeface="Arial"/>
              </a:defRPr>
            </a:lvl8pPr>
            <a:lvl9pPr algn="l">
              <a:defRPr sz="2325" b="0">
                <a:solidFill>
                  <a:srgbClr val="30414D"/>
                </a:solidFill>
                <a:latin typeface="Arial"/>
                <a:ea typeface="Arial"/>
                <a:cs typeface="Arial"/>
              </a:defRPr>
            </a:lvl9pPr>
          </a:lstStyle>
          <a:p xmlns:a="http://schemas.openxmlformats.org/drawingml/2006/main">
            <a:pPr algn="l">
              <a:defRPr sz="2325" b="0">
                <a:solidFill>
                  <a:srgbClr val="30414D"/>
                </a:solidFill>
                <a:latin typeface="Arial"/>
                <a:ea typeface="Arial"/>
                <a:cs typeface="Arial"/>
              </a:defRPr>
            </a:pPr>
            <a:r>
              <a:rPr sz="2325" b="0">
                <a:solidFill>
                  <a:srgbClr val="30414D"/>
                </a:solidFill>
                <a:latin typeface="Arial"/>
                <a:ea typeface="Arial"/>
                <a:cs typeface="Arial"/>
              </a:rPr>
              <a:t>Final ConvLISTA scores and reconstruction figures are pending.</a:t>
            </a:r>
          </a:p>
        </p:txBody>
      </p:sp>
      <p:sp>
        <p:nvSpPr>
          <p:cNvPr id="12" name="Next update: best epoch, final errors, inference time and full-field figure">
            <a:extLst xmlns:a="http://schemas.openxmlformats.org/drawingml/2006/main">
              <a:ext uri="{FF2B5EF4-FFF2-40B4-BE49-F238E27FC236}">
                <a16:creationId xmlns:a16="http://schemas.microsoft.com/office/drawing/2014/main" id="{5F93E69B-D201-4DA4-8DAB-8012989CCE15}"/>
              </a:ext>
            </a:extLst>
          </p:cNvPr>
          <p:cNvSpPr>
            <a:spLocks xmlns:a="http://schemas.openxmlformats.org/drawingml/2006/main" noGrp="1"/>
          </p:cNvSpPr>
          <p:nvPr/>
        </p:nvSpPr>
        <p:spPr>
          <a:xfrm xmlns:a="http://schemas.openxmlformats.org/drawingml/2006/main">
            <a:off x="609600" y="52578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30414D"/>
                </a:solidFill>
                <a:latin typeface="Arial"/>
                <a:ea typeface="Arial"/>
                <a:cs typeface="Arial"/>
              </a:defRPr>
            </a:defPPr>
            <a:lvl1pPr algn="l">
              <a:defRPr sz="2100" b="1">
                <a:solidFill>
                  <a:srgbClr val="30414D"/>
                </a:solidFill>
                <a:latin typeface="Arial"/>
                <a:ea typeface="Arial"/>
                <a:cs typeface="Arial"/>
              </a:defRPr>
            </a:lvl1pPr>
            <a:lvl2pPr algn="l">
              <a:defRPr sz="2100" b="1">
                <a:solidFill>
                  <a:srgbClr val="30414D"/>
                </a:solidFill>
                <a:latin typeface="Arial"/>
                <a:ea typeface="Arial"/>
                <a:cs typeface="Arial"/>
              </a:defRPr>
            </a:lvl2pPr>
            <a:lvl3pPr algn="l">
              <a:defRPr sz="2100" b="1">
                <a:solidFill>
                  <a:srgbClr val="30414D"/>
                </a:solidFill>
                <a:latin typeface="Arial"/>
                <a:ea typeface="Arial"/>
                <a:cs typeface="Arial"/>
              </a:defRPr>
            </a:lvl3pPr>
            <a:lvl4pPr algn="l">
              <a:defRPr sz="2100" b="1">
                <a:solidFill>
                  <a:srgbClr val="30414D"/>
                </a:solidFill>
                <a:latin typeface="Arial"/>
                <a:ea typeface="Arial"/>
                <a:cs typeface="Arial"/>
              </a:defRPr>
            </a:lvl4pPr>
            <a:lvl5pPr algn="l">
              <a:defRPr sz="2100" b="1">
                <a:solidFill>
                  <a:srgbClr val="30414D"/>
                </a:solidFill>
                <a:latin typeface="Arial"/>
                <a:ea typeface="Arial"/>
                <a:cs typeface="Arial"/>
              </a:defRPr>
            </a:lvl5pPr>
            <a:lvl6pPr algn="l">
              <a:defRPr sz="2100" b="1">
                <a:solidFill>
                  <a:srgbClr val="30414D"/>
                </a:solidFill>
                <a:latin typeface="Arial"/>
                <a:ea typeface="Arial"/>
                <a:cs typeface="Arial"/>
              </a:defRPr>
            </a:lvl6pPr>
            <a:lvl7pPr algn="l">
              <a:defRPr sz="2100" b="1">
                <a:solidFill>
                  <a:srgbClr val="30414D"/>
                </a:solidFill>
                <a:latin typeface="Arial"/>
                <a:ea typeface="Arial"/>
                <a:cs typeface="Arial"/>
              </a:defRPr>
            </a:lvl7pPr>
            <a:lvl8pPr algn="l">
              <a:defRPr sz="2100" b="1">
                <a:solidFill>
                  <a:srgbClr val="30414D"/>
                </a:solidFill>
                <a:latin typeface="Arial"/>
                <a:ea typeface="Arial"/>
                <a:cs typeface="Arial"/>
              </a:defRPr>
            </a:lvl8pPr>
            <a:lvl9pPr algn="l">
              <a:defRPr sz="2100" b="1">
                <a:solidFill>
                  <a:srgbClr val="30414D"/>
                </a:solidFill>
                <a:latin typeface="Arial"/>
                <a:ea typeface="Arial"/>
                <a:cs typeface="Arial"/>
              </a:defRPr>
            </a:lvl9pPr>
          </a:lstStyle>
          <a:p xmlns:a="http://schemas.openxmlformats.org/drawingml/2006/main">
            <a:pPr algn="l">
              <a:defRPr sz="2100" b="1">
                <a:solidFill>
                  <a:srgbClr val="30414D"/>
                </a:solidFill>
                <a:latin typeface="Arial"/>
                <a:ea typeface="Arial"/>
                <a:cs typeface="Arial"/>
              </a:defRPr>
            </a:pPr>
            <a:r>
              <a:rPr sz="2100" b="1">
                <a:solidFill>
                  <a:srgbClr val="30414D"/>
                </a:solidFill>
                <a:latin typeface="Arial"/>
                <a:ea typeface="Arial"/>
                <a:cs typeface="Arial"/>
              </a:rPr>
              <a:t>Next update: best epoch, final errors, inference time and full-field figures.</a:t>
            </a:r>
          </a:p>
        </p:txBody>
      </p:sp>
      <p:sp>
        <p:nvSpPr>
          <p:cNvPr id="13" name="Current evaluation remains on the training fields.">
            <a:extLst xmlns:a="http://schemas.openxmlformats.org/drawingml/2006/main">
              <a:ext uri="{FF2B5EF4-FFF2-40B4-BE49-F238E27FC236}">
                <a16:creationId xmlns:a16="http://schemas.microsoft.com/office/drawing/2014/main" id="{33FAFF42-197B-4AB1-8B98-0E3DF152B90A}"/>
              </a:ext>
            </a:extLst>
          </p:cNvPr>
          <p:cNvSpPr>
            <a:spLocks xmlns:a="http://schemas.openxmlformats.org/drawingml/2006/main" noGrp="1"/>
          </p:cNvSpPr>
          <p:nvPr/>
        </p:nvSpPr>
        <p:spPr>
          <a:xfrm xmlns:a="http://schemas.openxmlformats.org/drawingml/2006/main">
            <a:off x="609600" y="60960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16A"/>
                </a:solidFill>
                <a:latin typeface="Arial"/>
                <a:ea typeface="Arial"/>
                <a:cs typeface="Arial"/>
              </a:defRPr>
            </a:defPPr>
            <a:lvl1pPr algn="l">
              <a:defRPr sz="1875" b="0">
                <a:solidFill>
                  <a:srgbClr val="53616A"/>
                </a:solidFill>
                <a:latin typeface="Arial"/>
                <a:ea typeface="Arial"/>
                <a:cs typeface="Arial"/>
              </a:defRPr>
            </a:lvl1pPr>
            <a:lvl2pPr algn="l">
              <a:defRPr sz="1875" b="0">
                <a:solidFill>
                  <a:srgbClr val="53616A"/>
                </a:solidFill>
                <a:latin typeface="Arial"/>
                <a:ea typeface="Arial"/>
                <a:cs typeface="Arial"/>
              </a:defRPr>
            </a:lvl2pPr>
            <a:lvl3pPr algn="l">
              <a:defRPr sz="1875" b="0">
                <a:solidFill>
                  <a:srgbClr val="53616A"/>
                </a:solidFill>
                <a:latin typeface="Arial"/>
                <a:ea typeface="Arial"/>
                <a:cs typeface="Arial"/>
              </a:defRPr>
            </a:lvl3pPr>
            <a:lvl4pPr algn="l">
              <a:defRPr sz="1875" b="0">
                <a:solidFill>
                  <a:srgbClr val="53616A"/>
                </a:solidFill>
                <a:latin typeface="Arial"/>
                <a:ea typeface="Arial"/>
                <a:cs typeface="Arial"/>
              </a:defRPr>
            </a:lvl4pPr>
            <a:lvl5pPr algn="l">
              <a:defRPr sz="1875" b="0">
                <a:solidFill>
                  <a:srgbClr val="53616A"/>
                </a:solidFill>
                <a:latin typeface="Arial"/>
                <a:ea typeface="Arial"/>
                <a:cs typeface="Arial"/>
              </a:defRPr>
            </a:lvl5pPr>
            <a:lvl6pPr algn="l">
              <a:defRPr sz="1875" b="0">
                <a:solidFill>
                  <a:srgbClr val="53616A"/>
                </a:solidFill>
                <a:latin typeface="Arial"/>
                <a:ea typeface="Arial"/>
                <a:cs typeface="Arial"/>
              </a:defRPr>
            </a:lvl6pPr>
            <a:lvl7pPr algn="l">
              <a:defRPr sz="1875" b="0">
                <a:solidFill>
                  <a:srgbClr val="53616A"/>
                </a:solidFill>
                <a:latin typeface="Arial"/>
                <a:ea typeface="Arial"/>
                <a:cs typeface="Arial"/>
              </a:defRPr>
            </a:lvl7pPr>
            <a:lvl8pPr algn="l">
              <a:defRPr sz="1875" b="0">
                <a:solidFill>
                  <a:srgbClr val="53616A"/>
                </a:solidFill>
                <a:latin typeface="Arial"/>
                <a:ea typeface="Arial"/>
                <a:cs typeface="Arial"/>
              </a:defRPr>
            </a:lvl8pPr>
            <a:lvl9pPr algn="l">
              <a:defRPr sz="1875" b="0">
                <a:solidFill>
                  <a:srgbClr val="53616A"/>
                </a:solidFill>
                <a:latin typeface="Arial"/>
                <a:ea typeface="Arial"/>
                <a:cs typeface="Arial"/>
              </a:defRPr>
            </a:lvl9pPr>
          </a:lstStyle>
          <a:p xmlns:a="http://schemas.openxmlformats.org/drawingml/2006/main">
            <a:pPr algn="l">
              <a:defRPr sz="1875" b="0">
                <a:solidFill>
                  <a:srgbClr val="53616A"/>
                </a:solidFill>
                <a:latin typeface="Arial"/>
                <a:ea typeface="Arial"/>
                <a:cs typeface="Arial"/>
              </a:defRPr>
            </a:pPr>
            <a:r>
              <a:rPr sz="1875" b="0">
                <a:solidFill>
                  <a:srgbClr val="53616A"/>
                </a:solidFill>
                <a:latin typeface="Arial"/>
                <a:ea typeface="Arial"/>
                <a:cs typeface="Arial"/>
              </a:rPr>
              <a:t>Current evaluation remains on the training fields.</a:t>
            </a:r>
          </a:p>
        </p:txBody>
      </p:sp>
    </p:spTree>
    <p:extLst>
      <p:ext uri="{BB962C8B-B14F-4D97-AF65-F5344CB8AC3E}">
        <p14:creationId xmlns:p14="http://schemas.microsoft.com/office/powerpoint/2010/main" val="20267938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2026-10-23T11:17:46.9530000Z</dcterms:created>
  <dcterms:modified xsi:type="dcterms:W3CDTF">2026-10-23T11:17:46.9530000Z</dcterms:modified>
</coreProperties>
</file>