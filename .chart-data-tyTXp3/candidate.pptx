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088c9d18b04377" /><Relationship Type="http://schemas.openxmlformats.org/officeDocument/2006/relationships/extended-properties" Target="/docProps/app.xml" Id="R48e331a44bc14067" /><Relationship Type="http://schemas.openxmlformats.org/officeDocument/2006/relationships/officeDocument" Target="/ppt/presentation.xml" Id="R27c98326b7b94dca" /></Relationships>
</file>

<file path=ppt/presentation.xml><?xml version="1.0" encoding="utf-8"?>
<p:presentation xmlns:p="http://schemas.openxmlformats.org/presentationml/2006/main">
  <p:sldMasterIdLst>
    <p:sldMasterId xmlns:r="http://schemas.openxmlformats.org/officeDocument/2006/relationships" id="2147483648" r:id="R082418b97342499f"/>
  </p:sldMasterIdLst>
  <p:notesMasterIdLst>
    <p:notesMasterId xmlns:r="http://schemas.openxmlformats.org/officeDocument/2006/relationships" r:id="Rd3e03c9da77b454a"/>
  </p:notesMasterIdLst>
  <p:sldIdLst>
    <p:sldId xmlns:r="http://schemas.openxmlformats.org/officeDocument/2006/relationships" id="256" r:id="R8411656d2639405d"/>
    <p:sldId xmlns:r="http://schemas.openxmlformats.org/officeDocument/2006/relationships" id="257" r:id="R9f6cbbaa3f744ff9"/>
    <p:sldId xmlns:r="http://schemas.openxmlformats.org/officeDocument/2006/relationships" id="258" r:id="R84f3373a2fb84e22"/>
    <p:sldId xmlns:r="http://schemas.openxmlformats.org/officeDocument/2006/relationships" id="259" r:id="R6072a3e92a47498f"/>
    <p:sldId xmlns:r="http://schemas.openxmlformats.org/officeDocument/2006/relationships" id="260" r:id="R44008aa3f4f94f42"/>
    <p:sldId xmlns:r="http://schemas.openxmlformats.org/officeDocument/2006/relationships" id="261" r:id="Rc96ee15fb1754c54"/>
    <p:sldId xmlns:r="http://schemas.openxmlformats.org/officeDocument/2006/relationships" id="262" r:id="Rb909926222864d09"/>
    <p:sldId xmlns:r="http://schemas.openxmlformats.org/officeDocument/2006/relationships" id="263" r:id="R760ad2221f9a4ca5"/>
    <p:sldId xmlns:r="http://schemas.openxmlformats.org/officeDocument/2006/relationships" id="264" r:id="Rcba70fc3defb43ba"/>
    <p:sldId xmlns:r="http://schemas.openxmlformats.org/officeDocument/2006/relationships" id="265" r:id="R2d6727e28a2b4729"/>
    <p:sldId xmlns:r="http://schemas.openxmlformats.org/officeDocument/2006/relationships" id="266" r:id="Red92b08fab3a4413"/>
    <p:sldId xmlns:r="http://schemas.openxmlformats.org/officeDocument/2006/relationships" id="267" r:id="Re3b485ce035649e9"/>
    <p:sldId xmlns:r="http://schemas.openxmlformats.org/officeDocument/2006/relationships" id="268" r:id="R0be0d914d89a423c"/>
    <p:sldId xmlns:r="http://schemas.openxmlformats.org/officeDocument/2006/relationships" id="269" r:id="R4938b4b3b2d540ab"/>
    <p:sldId xmlns:r="http://schemas.openxmlformats.org/officeDocument/2006/relationships" id="270" r:id="Rfa79f8e90e55441a"/>
    <p:sldId xmlns:r="http://schemas.openxmlformats.org/officeDocument/2006/relationships" id="271" r:id="R7c4d7e051ba24ee5"/>
    <p:sldId xmlns:r="http://schemas.openxmlformats.org/officeDocument/2006/relationships" id="272" r:id="Rc0eada9508d14665"/>
    <p:sldId xmlns:r="http://schemas.openxmlformats.org/officeDocument/2006/relationships" id="273" r:id="R7133e40b112c441c"/>
    <p:sldId xmlns:r="http://schemas.openxmlformats.org/officeDocument/2006/relationships" id="274" r:id="R12f4df296d0f419d"/>
    <p:sldId xmlns:r="http://schemas.openxmlformats.org/officeDocument/2006/relationships" id="275" r:id="Rdee40f90a4d646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df497d20894a1e" /><Relationship Type="http://schemas.openxmlformats.org/officeDocument/2006/relationships/slideMaster" Target="/ppt/slideMasters/slideMaster1.xml" Id="R082418b97342499f" /><Relationship Type="http://schemas.openxmlformats.org/officeDocument/2006/relationships/notesMaster" Target="/ppt/notesMasters/notesMaster1.xml" Id="Rd3e03c9da77b454a" /><Relationship Type="http://schemas.openxmlformats.org/officeDocument/2006/relationships/presProps" Target="/ppt/presProps.xml" Id="Rf2d0b9b482e042f4" /><Relationship Type="http://schemas.openxmlformats.org/officeDocument/2006/relationships/tableStyles" Target="/ppt/tableStyles.xml" Id="Ra441efca4aa64a5d" /><Relationship Type="http://schemas.openxmlformats.org/officeDocument/2006/relationships/slide" Target="/ppt/slides/slide1.xml" Id="R8411656d2639405d" /><Relationship Type="http://schemas.openxmlformats.org/officeDocument/2006/relationships/slide" Target="/ppt/slides/slide2.xml" Id="R9f6cbbaa3f744ff9" /><Relationship Type="http://schemas.openxmlformats.org/officeDocument/2006/relationships/slide" Target="/ppt/slides/slide3.xml" Id="R84f3373a2fb84e22" /><Relationship Type="http://schemas.openxmlformats.org/officeDocument/2006/relationships/slide" Target="/ppt/slides/slide4.xml" Id="R6072a3e92a47498f" /><Relationship Type="http://schemas.openxmlformats.org/officeDocument/2006/relationships/slide" Target="/ppt/slides/slide5.xml" Id="R44008aa3f4f94f42" /><Relationship Type="http://schemas.openxmlformats.org/officeDocument/2006/relationships/slide" Target="/ppt/slides/slide6.xml" Id="Rc96ee15fb1754c54" /><Relationship Type="http://schemas.openxmlformats.org/officeDocument/2006/relationships/slide" Target="/ppt/slides/slide7.xml" Id="Rb909926222864d09" /><Relationship Type="http://schemas.openxmlformats.org/officeDocument/2006/relationships/slide" Target="/ppt/slides/slide8.xml" Id="R760ad2221f9a4ca5" /><Relationship Type="http://schemas.openxmlformats.org/officeDocument/2006/relationships/slide" Target="/ppt/slides/slide9.xml" Id="Rcba70fc3defb43ba" /><Relationship Type="http://schemas.openxmlformats.org/officeDocument/2006/relationships/slide" Target="/ppt/slides/slide10.xml" Id="R2d6727e28a2b4729" /><Relationship Type="http://schemas.openxmlformats.org/officeDocument/2006/relationships/slide" Target="/ppt/slides/slide11.xml" Id="Red92b08fab3a4413" /><Relationship Type="http://schemas.openxmlformats.org/officeDocument/2006/relationships/slide" Target="/ppt/slides/slide12.xml" Id="Re3b485ce035649e9" /><Relationship Type="http://schemas.openxmlformats.org/officeDocument/2006/relationships/slide" Target="/ppt/slides/slide13.xml" Id="R0be0d914d89a423c" /><Relationship Type="http://schemas.openxmlformats.org/officeDocument/2006/relationships/slide" Target="/ppt/slides/slide14.xml" Id="R4938b4b3b2d540ab" /><Relationship Type="http://schemas.openxmlformats.org/officeDocument/2006/relationships/slide" Target="/ppt/slides/slide15.xml" Id="Rfa79f8e90e55441a" /><Relationship Type="http://schemas.openxmlformats.org/officeDocument/2006/relationships/slide" Target="/ppt/slides/slide16.xml" Id="R7c4d7e051ba24ee5" /><Relationship Type="http://schemas.openxmlformats.org/officeDocument/2006/relationships/slide" Target="/ppt/slides/slide17.xml" Id="Rc0eada9508d14665" /><Relationship Type="http://schemas.openxmlformats.org/officeDocument/2006/relationships/slide" Target="/ppt/slides/slide18.xml" Id="R7133e40b112c441c" /><Relationship Type="http://schemas.openxmlformats.org/officeDocument/2006/relationships/slide" Target="/ppt/slides/slide19.xml" Id="R12f4df296d0f419d" /><Relationship Type="http://schemas.openxmlformats.org/officeDocument/2006/relationships/slide" Target="/ppt/slides/slide20.xml" Id="Rdee40f90a4d646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0196aed6024a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4c7af3d0ac4a2f" /><Relationship Type="http://schemas.openxmlformats.org/officeDocument/2006/relationships/notesMaster" Target="/ppt/notesMasters/notesMaster1.xml" Id="R4cef998f37c040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7bab14c8c74fa1" /><Relationship Type="http://schemas.openxmlformats.org/officeDocument/2006/relationships/notesMaster" Target="/ppt/notesMasters/notesMaster1.xml" Id="R4e2fed956e4e46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14f6c880b048c3" /><Relationship Type="http://schemas.openxmlformats.org/officeDocument/2006/relationships/notesMaster" Target="/ppt/notesMasters/notesMaster1.xml" Id="Rf8043e3d6f6543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b7f83fa2474033" /><Relationship Type="http://schemas.openxmlformats.org/officeDocument/2006/relationships/notesMaster" Target="/ppt/notesMasters/notesMaster1.xml" Id="R695aded0bc0448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7b759703ad4fcb" /><Relationship Type="http://schemas.openxmlformats.org/officeDocument/2006/relationships/notesMaster" Target="/ppt/notesMasters/notesMaster1.xml" Id="Ra0819c5e3b2743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c7b9de891e4f9f" /><Relationship Type="http://schemas.openxmlformats.org/officeDocument/2006/relationships/notesMaster" Target="/ppt/notesMasters/notesMaster1.xml" Id="R71c388da535a46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d30c5da3624a97" /><Relationship Type="http://schemas.openxmlformats.org/officeDocument/2006/relationships/notesMaster" Target="/ppt/notesMasters/notesMaster1.xml" Id="R39d47854eee340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eadc6a36534825" /><Relationship Type="http://schemas.openxmlformats.org/officeDocument/2006/relationships/notesMaster" Target="/ppt/notesMasters/notesMaster1.xml" Id="R4484458bd1df4f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8a9cb008c944f3" /><Relationship Type="http://schemas.openxmlformats.org/officeDocument/2006/relationships/notesMaster" Target="/ppt/notesMasters/notesMaster1.xml" Id="R4bfe645c608843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b43de2b16d4663" /><Relationship Type="http://schemas.openxmlformats.org/officeDocument/2006/relationships/notesMaster" Target="/ppt/notesMasters/notesMaster1.xml" Id="R460176286e0e49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68b36184064a0f" /><Relationship Type="http://schemas.openxmlformats.org/officeDocument/2006/relationships/notesMaster" Target="/ppt/notesMasters/notesMaster1.xml" Id="R14d8512f706f4d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19e14d5eec41c4" /><Relationship Type="http://schemas.openxmlformats.org/officeDocument/2006/relationships/notesMaster" Target="/ppt/notesMasters/notesMaster1.xml" Id="R686454abfcba42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ebecda439142ef" /><Relationship Type="http://schemas.openxmlformats.org/officeDocument/2006/relationships/notesMaster" Target="/ppt/notesMasters/notesMaster1.xml" Id="R7e8ebe01a03847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a79446817745c7" /><Relationship Type="http://schemas.openxmlformats.org/officeDocument/2006/relationships/notesMaster" Target="/ppt/notesMasters/notesMaster1.xml" Id="Rd48c11a5e1664c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1f9d6a13954566" /><Relationship Type="http://schemas.openxmlformats.org/officeDocument/2006/relationships/notesMaster" Target="/ppt/notesMasters/notesMaster1.xml" Id="R6ab948c32d3046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810a2a3f2b4394" /><Relationship Type="http://schemas.openxmlformats.org/officeDocument/2006/relationships/notesMaster" Target="/ppt/notesMasters/notesMaster1.xml" Id="R3fa008eca9b34e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92158df1404e6f" /><Relationship Type="http://schemas.openxmlformats.org/officeDocument/2006/relationships/notesMaster" Target="/ppt/notesMasters/notesMaster1.xml" Id="R2a22abbd23c541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31b46f80f440ee" /><Relationship Type="http://schemas.openxmlformats.org/officeDocument/2006/relationships/notesMaster" Target="/ppt/notesMasters/notesMaster1.xml" Id="R4ba791f6a832435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dcde093b6f479f" /><Relationship Type="http://schemas.openxmlformats.org/officeDocument/2006/relationships/notesMaster" Target="/ppt/notesMasters/notesMaster1.xml" Id="R94a09b3c867d4e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d4cca1369040dc" /><Relationship Type="http://schemas.openxmlformats.org/officeDocument/2006/relationships/notesMaster" Target="/ppt/notesMasters/notesMaster1.xml" Id="Rdceef7b52b3f47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 starts with moving the existing code and both COMSOL datasets to remote compute. Prajna setup succeeded but the GPU check job remained queued, and an additional submission encountered an association submit-job limit. The professor’s server became the execution platform for the combined experiment. Do not claim the experiment ran on Prajna. The server has one RTX A6000 with about 48 GB VRAM. The successful transfer reported about 4.698 GB of raw data. Use the runtime CUDA version 12.4, not the driver’s displayed maximum CUDA capability 13.1. This is the experiment snapshot supplied on 23 October 2026.</a:t>
            </a:r>
          </a:p>
          <a:p xmlns:a="http://schemas.openxmlformats.org/drawingml/2006/main">
            <a:r>
              <a:t/>
            </a:r>
          </a:p>
          <a:p xmlns:a="http://schemas.openxmlformats.org/drawingml/2006/main">
            <a:r>
              <a:t>Sources</a:t>
            </a:r>
          </a:p>
          <a:p xmlns:a="http://schemas.openxmlformats.org/drawingml/2006/main">
            <a:r>
              <a:t>User-supplied Prajna squeue and submission errors, transfer logs, professor-server nvidia-smi, package installation and CUDA FFT/autograd check outputs in this conversation.</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 work established a fitted padded Fourier operator, ISTA/FISTA baselines and a 163-parameter convolutional LISTA block on the original geometry and selected height pair. The earlier crop experiments did not create independent magnetic measurements and exposed boundary artifacts. The ALISTA guide describes a separate dense synthetic sparse-recovery benchmark, not a magnetic-field result. This talk extends the ConvLISTA magnetic-field experiment only.</a:t>
            </a:r>
          </a:p>
          <a:p xmlns:a="http://schemas.openxmlformats.org/drawingml/2006/main">
            <a:r>
              <a:t/>
            </a:r>
          </a:p>
          <a:p xmlns:a="http://schemas.openxmlformats.org/drawingml/2006/main">
            <a:r>
              <a:t>Sources</a:t>
            </a:r>
          </a:p>
          <a:p xmlns:a="http://schemas.openxmlformats.org/drawingml/2006/main">
            <a:r>
              <a:t>/Users/abhay/Desktop/bsp/learning_ker/presentations/LISTA_ALISTA_Thesis_Presentation.pptx; /Users/abhay/Desktop/bsp/learning_ker/presentations/biweekly_update/QDM_BTP_Biweekly_07_Oct_2026_Crop_Hypothesis_Final.pptx</a:t>
            </a:r>
          </a:p>
          <a:p xmlns:a="http://schemas.openxmlformats.org/drawingml/2006/main">
            <a:r>
              <a:t>/Users/abhay/Desktop/bsp/learning_ker/ALISTA.md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old selected-height experiment typically reconstructed 0.5 µm fields from 3 µm observations. The new anchor dataset uses all available higher planes with each geometry’s lowest plane as its reference. One network serves all 17 inverse problems, using a separate frozen pair operator. The number of trainable parameters is unchanged. Global normalization and operator-dependent threshold scaling are real changes. The evaluation remains same-sample reconstruction.</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/Users/abhay/Desktop/bsp/learning_ker/scripts/combined_lista.py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Inventory was verified by the actual CSV conversion and user-supplied server output. L1_C1 has 11 planes, IC_4um has 7, and IC_2um has 2. Anchor pairing gives 10+6+1=17 height pairs and 30+18+3=51 signed-component pairs. The raw folders remain separate in the manifest and each plane is cached once. All geometries have 1400 by 1400 grids at approximately 0.1 µm spacing. IC_2um’s reference is 1 µm.</a:t>
            </a:r>
          </a:p>
          <a:p xmlns:a="http://schemas.openxmlformats.org/drawingml/2006/main">
            <a:r>
              <a:t/>
            </a:r>
          </a:p>
          <a:p xmlns:a="http://schemas.openxmlformats.org/drawingml/2006/main">
            <a:r>
              <a:t>Sources</a:t>
            </a:r>
          </a:p>
          <a:p xmlns:a="http://schemas.openxmlformats.org/drawingml/2006/main">
            <a:r>
              <a:t>/Users/abhay/Desktop/bsp/learning_ker/hpc/combined_dataset_inventory.json</a:t>
            </a:r>
          </a:p>
          <a:p xmlns:a="http://schemas.openxmlformats.org/drawingml/2006/main">
            <a:r>
              <a:t>/Users/abhay/Desktop/bsp/learning_ker/scripts/combined_data.py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L1_C1, inputs are z=1,2,3,4,5,6,7,8,9,10 µm and every reference is z=0.5 µm. For IC_4um, inputs are z=3,4,5,6,7,10 µm and reference z=0.5 µm. For IC_2um the only pair is input z=2 µm with reference z=1 µm. Each input/reference pair yields Bx-to-Bx, By-to-By and Bz-to-Bz examples. Reference planes are reused within geometries. The examples are correlated and do not constitute 51 independent geometries. This run uses full fields, not cropped patches.</a:t>
            </a:r>
          </a:p>
          <a:p xmlns:a="http://schemas.openxmlformats.org/drawingml/2006/main">
            <a:r>
              <a:t/>
            </a:r>
          </a:p>
          <a:p xmlns:a="http://schemas.openxmlformats.org/drawingml/2006/main">
            <a:r>
              <a:t>Sources</a:t>
            </a:r>
          </a:p>
          <a:p xmlns:a="http://schemas.openxmlformats.org/drawingml/2006/main">
            <a:r>
              <a:t>/Users/abhay/Desktop/bsp/learning_ker/hpc/combined_dataset_inventory.json</a:t>
            </a:r>
          </a:p>
          <a:p xmlns:a="http://schemas.openxmlformats.org/drawingml/2006/main">
            <a:r>
              <a:t>/Users/abhay/Desktop/bsp/learning_ker/scripts/combined_data.py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loader checks field units, finite values, raster completeness and coordinate consistency within each geometry. It excludes the magnitude field because the linear component operator applies to signed fields. It saves float32 component arrays in µT, distinct from the older tesla cache, and records raw and prepared hashes. Geometries remain separate in the manifest. The server inventory and tests passed before the pilot launch.</a:t>
            </a:r>
          </a:p>
          <a:p xmlns:a="http://schemas.openxmlformats.org/drawingml/2006/main">
            <a:r>
              <a:t/>
            </a:r>
          </a:p>
          <a:p xmlns:a="http://schemas.openxmlformats.org/drawingml/2006/main">
            <a:r>
              <a:t>Sources</a:t>
            </a:r>
          </a:p>
          <a:p xmlns:a="http://schemas.openxmlformats.org/drawingml/2006/main">
            <a:r>
              <a:t>/Users/abhay/Desktop/bsp/learning_ker/scripts/combined_data.py</a:t>
            </a:r>
          </a:p>
          <a:p xmlns:a="http://schemas.openxmlformats.org/drawingml/2006/main">
            <a:r>
              <a:t>/Users/abhay/Desktop/bsp/learning_ker/hpc/combined_dataset_inventory.json</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is the maximum absolute field value across every input and reference plane in the training split. Both sides of every pair use the same q, preserving their relative amplitudes. There is no per-image min-max normalization or mean subtraction. The normalized L1 coefficient is lambda_uT/q, and the final predictions are multiplied by q for physical-unit scores. In this default experiment all pairs belong to training. An optional holdout implementation would compute q using only training geometries, but that mode was not used here.</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/Users/abhay/Desktop/bsp/learning_ker/scripts/compare_combined.py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A_p is the fixed padded convolution operator for pair p. Each transfer H_p is fitted jointly to the pair’s Bx/By/Bz fields before training and held fixed thereafter. Padding is 32 pixels and the implementation crops after each application. The adjoint uses the complex-conjugate Fourier transfer with the corresponding pad/crop boundaries. The baseline objective is 0.5||A_p x-b||² + lambda||x||1. The safe step is 0.99/max|H_p|². Because the references enter kernel fitting, this is reference-assisted same-sample evaluation.</a:t>
            </a:r>
          </a:p>
          <a:p xmlns:a="http://schemas.openxmlformats.org/drawingml/2006/main">
            <a:r>
              <a:t/>
            </a:r>
          </a:p>
          <a:p xmlns:a="http://schemas.openxmlformats.org/drawingml/2006/main">
            <a:r>
              <a:t>Sources</a:t>
            </a:r>
          </a:p>
          <a:p xmlns:a="http://schemas.openxmlformats.org/drawingml/2006/main">
            <a:r>
              <a:t>/Users/abhay/Desktop/bsp/learning_ker/scripts/torch_inverse.py and scripts/deblur.py</a:t>
            </a:r>
          </a:p>
          <a:p xmlns:a="http://schemas.openxmlformats.org/drawingml/2006/main">
            <a:r>
              <a:t>/Users/abhay/Desktop/bsp/learning_ker/scripts/compare_combined.py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implemented normalized-field update. There are two shared bias-free 9x9 filters and one nonnegative learned scalar, totalling 163 parameters. The correction filters and threshold coefficient are tied across layers, components and pairs. The step s_p=0.99/max|H_p|² depends on the pair operator. Unlike the previous single-operator model’s direct shrinkage threshold, the shared theta is multiplied by s_p. Zero correction filters and theta=lambda_normalized exactly reproduce ISTA for every pair. The model uses a blurred-field warm start x0=b and 16 layers. No convergence guarantee is asserted for additional learned iterations.</a:t>
            </a:r>
          </a:p>
          <a:p xmlns:a="http://schemas.openxmlformats.org/drawingml/2006/main">
            <a:r>
              <a:t/>
            </a:r>
          </a:p>
          <a:p xmlns:a="http://schemas.openxmlformats.org/drawingml/2006/main">
            <a:r>
              <a:t>Sources</a:t>
            </a:r>
          </a:p>
          <a:p xmlns:a="http://schemas.openxmlformats.org/drawingml/2006/main">
            <a:r>
              <a:t>/Users/abhay/Desktop/bsp/learning_ker/scripts/combined_lista.py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Batch size one means one whole component image, not one spatial crop. One epoch iterates over the 17 pairs and their three signed components. Each component has weight 1/51 in the normalized MSE. Gradients accumulate before one clip and Adam step. This equals the intended equal-component objective, up to floating-point summation order. The implementation clips gradient norm to one and projects theta nonnegative. Activation checkpointing recomputes intermediate layers during backward to reduce activation storage. L1_C1 contributes 30/51 examples, IC_4um 18/51 and IC_2um 3/51.</a:t>
            </a:r>
          </a:p>
          <a:p xmlns:a="http://schemas.openxmlformats.org/drawingml/2006/main">
            <a:r>
              <a:t/>
            </a:r>
          </a:p>
          <a:p xmlns:a="http://schemas.openxmlformats.org/drawingml/2006/main">
            <a:r>
              <a:t>Sources</a:t>
            </a:r>
          </a:p>
          <a:p xmlns:a="http://schemas.openxmlformats.org/drawingml/2006/main">
            <a:r>
              <a:t>/Users/abhay/Desktop/bsp/learning_ker/scripts/compare_combined.py</a:t>
            </a:r>
          </a:p>
          <a:p xmlns:a="http://schemas.openxmlformats.org/drawingml/2006/main">
            <a:r>
              <a:t>/Users/abhay/Desktop/bsp/learning_ker/scripts/combined_lista.py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pilot used two training epochs to verify the full pipeline. The main run uses 200 epochs with the same settings and original initialization. Model selection uses minimum post-update training MSE, including epoch zero. There is no independent validation set in this run. A single component batch keeps the classical stopping decision independent per component. Lambda is in the physical µT field-unit convention before normalization.</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/Users/abhay/Desktop/bsp/learning_ker/scripts/compare_combined.py</a:t>
            </a:r>
          </a:p>
          <a:p xmlns:a="http://schemas.openxmlformats.org/drawingml/2006/main">
            <a:r>
              <a:t>User-supplied combined-full-200.log on 23 October 2026: baseline validation passed, epoch 0/200 and epoch 1/200 completed, epoch 2 training started. No final 200-epoch result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Range NRMSE is RMSE divided by the reference’s maximum-minus-minimum, reported as a percentage. The summary averages the 51 component/pair ratios without geometry reweighting. RMSE is also reported in µT. These are same-sample results because training and joint operator fitting use the references. They do not show unseen-geometry performance. Timing uses a warm-up then the median of three synchronized repeated inference calls for each component batch. Summary time sums batch medians and excludes kernel fitting, field I/O and plotting. Adaptive timing includes stopping checks.</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/Users/abhay/Desktop/bsp/learning_ker/scripts/compare_combined.py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normalized training MSE values from the user-supplied pilot log, including epoch zero before any optimization. The fall from 0.005756863 to 0.0051312871 is approximately 10.87%. The chart connects only the three observed values and must not be read as a long-run learning curve. The same initial and first-epoch values appeared in the new 200-epoch log. Validation was None throughout. Best pilot epoch was 2.</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User-supplied combined-full-200.log on 23 October 2026: baseline validation passed, epoch 0/200 and epoch 1/200 completed, epoch 2 training started. No final 200-epoch result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values come from the user-pasted combined_pilot/summary.csv. Full precision: LISTA NRMSE 3.9175267933922653%, RMSE 14.306568332746917 µT, time 2.264154680771753 s. ISTA16: 4.191692027391172%, 15.28417719111723, 2.0517854802310467 s. FISTA16: 3.8442948979197764%, 14.00598508236455, 2.1327676869696006 s. Adaptive ISTA: 2.736754540134879%, 9.877381577211267, 5384.015242033638 s, with two nonconverged rows. Adaptive FISTA: 2.9598749845343475%, 10.644170686310412, 124.4583948701038 s, all converged. These are mean range-normalized RMSE percentages, not relative L2 or ALISTA NMSE dB. Times sum batch medians, not total job walltime.</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IC_2um input z=2 µm to reference z=1 µm had nonconverged adaptive ISTA results. Bx and By hit safety_limit at 100000 iterations. Bz converged at 79425. The relative PG is the RMS proximal-gradient mapping divided by its initial value. It is a stationarity measure, not reconstruction error. Bx and By ended about 39.8% and 18.4% above the tolerance, but this does not estimate the extra iterations required. All adaptive FISTA runs converged. Keep epsilon=0.001 and the two unconverged flags in any reused baseline results.</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/Users/abhay/Desktop/bsp/learning_ker/scripts/torch_inverse.py and scripts/deblur.py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pilot demonstrates that the pipeline can train one model over all 51 examples and save full comparison artifacts on the professor’s GPU server. Two epochs are not a mature trained-model comparison. Mean LISTA error is below ISTA16 but slightly above FISTA16. The measured summed LISTA inference time is also slightly above both fixed-depth solvers. Longer solvers attain lower average reference error, with the two ISTA stopping caveats. Minimizing the L1 objective is distinct from minimizing sharp-field MSE. No held-out generalization or super-resolution claim follows from this run.</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is based only on the latest supplied log, not a live query. Baseline validation completed in 2.4 seconds. Initial evaluation completed and epoch 1 training/evaluation took 13.4/3.7 seconds. Epoch 2 training had started. This is a fresh run in combined_full_200, not a continuation of the pilot optimizer. It uses the same initialization and training settings and verifies baseline compatibility before training. Classical metrics, timings, reconstructions and nonconverged flags are reused from the pilot. LISTA inference and comparisons will be measured again after selecting the best model. No final full-run scores exist in the supplied evidence.</a:t>
            </a:r>
          </a:p>
          <a:p xmlns:a="http://schemas.openxmlformats.org/drawingml/2006/main">
            <a:r>
              <a:t/>
            </a:r>
          </a:p>
          <a:p xmlns:a="http://schemas.openxmlformats.org/drawingml/2006/main">
            <a:r>
              <a:t>Sources</a:t>
            </a:r>
          </a:p>
          <a:p xmlns:a="http://schemas.openxmlformats.org/drawingml/2006/main">
            <a:r>
              <a:t>User-supplied combined-full-200.log on 23 October 2026: baseline validation passed, epoch 0/200 and epoch 1/200 completed, epoch 2 training started. No final 200-epoch result was supplied.</a:t>
            </a:r>
          </a:p>
          <a:p xmlns:a="http://schemas.openxmlformats.org/drawingml/2006/main">
            <a:r>
              <a:t>/Users/abhay/Desktop/bsp/learning_ker/scripts/compare_combined.py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table deliberately distinguishes observed pilot values from missing full-run values. Pending is not zero and does not imply any expected gain. Replace the pending cells using combined_full_200/status.json, training.json, summary.csv and metrics.json after completion. Classical rows will remain inherited from the pilot unless explicitly rerun under a separate protocol. Add geometry-level errors and representative field reconstructions from the saved per-pair outputs when available. No remote reconstruction image was supplied for this deck.</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User-supplied combined-full-200.log on 23 October 2026: baseline validation passed, epoch 0/200 and epoch 1/200 completed, epoch 2 training started. No final 200-epoch result was supplied.</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expanded dataset contains three geometry groups, with repeated references and three physically related signed components. It does not provide 51 independent observations of new geometries. Current kernels are jointly fitted using target fields and all pairs train the network, so claims remain same-sample. The optional analytic-operator geometry holdout is a distinct future protocol, not evidence obtained here. Old single-pair scores use a different dataset and hardware, so directly comparing their aggregate errors or times against this dataset would be misleading. Dense ALISTA synthetic results have another metric and task and are outside this comparison.</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/Users/abhay/Desktop/bsp/learning_ker/ALISTA.md</a:t>
            </a:r>
          </a:p>
          <a:p xmlns:a="http://schemas.openxmlformats.org/drawingml/2006/main">
            <a:r>
              <a:t>/Users/abhay/Desktop/bsp/learning_ker/presentations/LISTA_ALISTA_Thesis_Presentation.pptx; /Users/abhay/Desktop/bsp/learning_ker/presentations/biweekly_update/QDM_BTP_Biweekly_07_Oct_2026_Crop_Hypothesis_Final.pptx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repository-relative or server-project-relative records for the experiment. Pilot numbers in this deck were supplied by the user in terminal output. The saved source scripts and README document implementation details, default settings and reuse checks. When final results arrive, update the full-run slides and retain the pilot identification. The original reference decks are unchanged.</a:t>
            </a:r>
          </a:p>
          <a:p xmlns:a="http://schemas.openxmlformats.org/drawingml/2006/main">
            <a:r>
              <a:t/>
            </a:r>
          </a:p>
          <a:p xmlns:a="http://schemas.openxmlformats.org/drawingml/2006/main">
            <a:r>
              <a:t>Sources</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/Users/abhay/Desktop/bsp/learning_ker/hpc/combined_dataset_inventory.json</a:t>
            </a:r>
          </a:p>
          <a:p xmlns:a="http://schemas.openxmlformats.org/drawingml/2006/main">
            <a:r>
              <a:t>/Users/abhay/Desktop/bsp/learning_ker/scripts/compare_combined.py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User-supplied combined-full-200.log on 23 October 2026: baseline validation passed, epoch 0/200 and epoch 1/200 completed, epoch 2 training started. No final 200-epoch result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8a71df35e144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b39e188f104ad0" /><Relationship Type="http://schemas.openxmlformats.org/officeDocument/2006/relationships/slideLayout" Target="/ppt/slideLayouts/slideLayout1.xml" Id="R883c39773c7f4a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3c39773c7f4a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3850bd57cc49c9" /><Relationship Type="http://schemas.openxmlformats.org/officeDocument/2006/relationships/notesSlide" Target="/ppt/notesSlides/notesSlide1.xml" Id="Rebcb28d1179741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791c04a0e44079" /><Relationship Type="http://schemas.openxmlformats.org/officeDocument/2006/relationships/notesSlide" Target="/ppt/notesSlides/notesSlide2.xml" Id="R0106532d88db4c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b2096727bc48d5" /><Relationship Type="http://schemas.openxmlformats.org/officeDocument/2006/relationships/notesSlide" Target="/ppt/notesSlides/notesSlide3.xml" Id="Reca6391bc0b340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cb7fec1e3d417f" /><Relationship Type="http://schemas.openxmlformats.org/officeDocument/2006/relationships/notesSlide" Target="/ppt/notesSlides/notesSlide4.xml" Id="Rc496207b1b714a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70e418a2074f0b" /><Relationship Type="http://schemas.openxmlformats.org/officeDocument/2006/relationships/notesSlide" Target="/ppt/notesSlides/notesSlide5.xml" Id="Rdc9b0cf6d24e4a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bb8bfc84544ce3" /><Relationship Type="http://schemas.openxmlformats.org/officeDocument/2006/relationships/notesSlide" Target="/ppt/notesSlides/notesSlide6.xml" Id="Rb4255caeaffc43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ced48c905349e3" /><Relationship Type="http://schemas.openxmlformats.org/officeDocument/2006/relationships/notesSlide" Target="/ppt/notesSlides/notesSlide7.xml" Id="Rfa9ae5b0321640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4df6d4b1bf4a32" /><Relationship Type="http://schemas.openxmlformats.org/officeDocument/2006/relationships/notesSlide" Target="/ppt/notesSlides/notesSlide8.xml" Id="R553859fe834c44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e83d9a15ff45ec" /><Relationship Type="http://schemas.openxmlformats.org/officeDocument/2006/relationships/notesSlide" Target="/ppt/notesSlides/notesSlide9.xml" Id="R6c9c0193e60949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ab0edf52304cfc" /><Relationship Type="http://schemas.openxmlformats.org/officeDocument/2006/relationships/notesSlide" Target="/ppt/notesSlides/notesSlide10.xml" Id="Rbceb742e2ff742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49157eb151a46b9" /><Relationship Type="http://schemas.openxmlformats.org/officeDocument/2006/relationships/notesSlide" Target="/ppt/notesSlides/notesSlide11.xml" Id="R3e7596985ab540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46687864b14ecd" /><Relationship Type="http://schemas.openxmlformats.org/officeDocument/2006/relationships/notesSlide" Target="/ppt/notesSlides/notesSlide12.xml" Id="R22ab9cf41f134b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66e209dcbb84096" /><Relationship Type="http://schemas.openxmlformats.org/officeDocument/2006/relationships/chart" Target="/ppt/slides/charts/chart1.xml" Id="R8a88ce139d9c41da" /><Relationship Type="http://schemas.openxmlformats.org/officeDocument/2006/relationships/notesSlide" Target="/ppt/notesSlides/notesSlide13.xml" Id="R7465215234c248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f0ee6b784004411" /><Relationship Type="http://schemas.openxmlformats.org/officeDocument/2006/relationships/notesSlide" Target="/ppt/notesSlides/notesSlide14.xml" Id="R49f79aff166b43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2242a26a3f4eca" /><Relationship Type="http://schemas.openxmlformats.org/officeDocument/2006/relationships/notesSlide" Target="/ppt/notesSlides/notesSlide15.xml" Id="R59801939464b4b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3680c924b554fc1" /><Relationship Type="http://schemas.openxmlformats.org/officeDocument/2006/relationships/notesSlide" Target="/ppt/notesSlides/notesSlide16.xml" Id="Rad4c6cc6748648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6ba84a627c427c" /><Relationship Type="http://schemas.openxmlformats.org/officeDocument/2006/relationships/notesSlide" Target="/ppt/notesSlides/notesSlide17.xml" Id="R6ddd1a53a2b046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8dbeacb33214b69" /><Relationship Type="http://schemas.openxmlformats.org/officeDocument/2006/relationships/notesSlide" Target="/ppt/notesSlides/notesSlide18.xml" Id="Rdbb79ecc9a1b40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22b5f8eea8647f0" /><Relationship Type="http://schemas.openxmlformats.org/officeDocument/2006/relationships/notesSlide" Target="/ppt/notesSlides/notesSlide19.xml" Id="Rc2f55e043beb43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f32d052c04a47b3" /><Relationship Type="http://schemas.openxmlformats.org/officeDocument/2006/relationships/notesSlide" Target="/ppt/notesSlides/notesSlide20.xml" Id="Rf7ecc6a32f2a490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Normalized training MSE</c:v>
          </c:tx>
          <c:spPr>
            <a:ln xmlns:a="http://schemas.openxmlformats.org/drawingml/2006/main" w="28575">
              <a:solidFill>
                <a:srgbClr val="2872A2"/>
              </a:solidFill>
            </a:ln>
          </c:spPr>
          <c:marker>
            <c:symbol val="circle"/>
            <c:size val="8"/>
            <c:spPr>
              <a:solidFill xmlns:a="http://schemas.openxmlformats.org/drawingml/2006/main">
                <a:srgbClr val="2872A2"/>
              </a:solidFill>
            </c:spPr>
          </c:marker>
          <c:cat>
            <c:strRef>
              <c:f>'Chart Data'!$A$2:$A$4</c:f>
              <c:strCache>
                <c:ptCount val="3"/>
                <c:pt idx="0">
                  <c:v>Epoch 0</c:v>
                </c:pt>
                <c:pt idx="1">
                  <c:v>Epoch 1</c:v>
                </c:pt>
                <c:pt idx="2">
                  <c:v>Epoch 2</c:v>
                </c:pt>
              </c:strCache>
            </c:strRef>
          </c:cat>
          <c:val>
            <c:numRef>
              <c:f>'Chart Data'!$B$2:$B$4</c:f>
              <c:numCache>
                <c:formatCode>0.0000</c:formatCode>
                <c:ptCount val="3"/>
                <c:pt idx="0">
                  <c:v>0.005756863</c:v>
                </c:pt>
                <c:pt idx="1">
                  <c:v>0.0053842191</c:v>
                </c:pt>
                <c:pt idx="2">
                  <c:v>0.0051312871</c:v>
                </c:pt>
              </c:numCache>
            </c:numRef>
          </c:val>
          <c:smooth val="0"/>
        </c:ser>
        <c:dLbls>
          <c:numFmt formatCode="0.000000" sourceLinked="0"/>
          <c:txPr>
            <a:bodyPr xmlns:a="http://schemas.openxmlformats.org/drawingml/2006/main" anchorCtr="1"/>
            <a:lstStyle xmlns:a="http://schemas.openxmlformats.org/drawingml/2006/main"/>
            <a:p xmlns:a="http://schemas.openxmlformats.org/drawingml/2006/main">
              <a:pPr>
                <a:defRPr sz="1725">
                  <a:solidFill>
                    <a:srgbClr val="30414D"/>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53616A"/>
            </a:solidFill>
          </a:ln>
        </c:spPr>
        <c:txPr>
          <a:bodyPr xmlns:a="http://schemas.openxmlformats.org/drawingml/2006/main" anchorCtr="1"/>
          <a:lstStyle xmlns:a="http://schemas.openxmlformats.org/drawingml/2006/main"/>
          <a:p xmlns:a="http://schemas.openxmlformats.org/drawingml/2006/main">
            <a:pPr>
              <a:defRPr sz="1725">
                <a:solidFill>
                  <a:srgbClr val="30414D"/>
                </a:solidFill>
                <a:latin typeface="Arial"/>
                <a:ea typeface="Arial"/>
                <a:cs typeface="Arial"/>
              </a:defRPr>
            </a:pPr>
          </a:p>
        </c:txPr>
        <c:crossAx val="48672768"/>
      </c:catAx>
      <c:valAx>
        <c:axId val="48672768"/>
        <c:scaling>
          <c:orientation val="minMax"/>
          <c:max val="0.006"/>
          <c:min val="0.0048"/>
        </c:scaling>
        <c:delete val="0"/>
        <c:axPos val="l"/>
        <c:majorGridlines>
          <c:spPr>
            <a:ln xmlns:a="http://schemas.openxmlformats.org/drawingml/2006/main" w="9525">
              <a:solidFill>
                <a:srgbClr val="D5DCE0"/>
              </a:solidFill>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16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Transfer to HPC and GPU execution</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a:t>
            </a:r>
          </a:p>
        </p:txBody>
      </p:sp>
      <p:sp>
        <p:nvSpPr>
          <p:cNvPr id="9" name="Prajna: configured the environment, but GPU queue limits delayed access.">
            <a:extLst xmlns:a="http://schemas.openxmlformats.org/drawingml/2006/main">
              <a:ext uri="{FF2B5EF4-FFF2-40B4-BE49-F238E27FC236}">
                <a16:creationId xmlns:a16="http://schemas.microsoft.com/office/drawing/2014/main" id="{9B97FD0B-37EE-4CA2-977F-0830FC4DC494}"/>
              </a:ext>
            </a:extLst>
          </p:cNvPr>
          <p:cNvSpPr>
            <a:spLocks xmlns:a="http://schemas.openxmlformats.org/drawingml/2006/main" noGrp="1"/>
          </p:cNvSpPr>
          <p:nvPr/>
        </p:nvSpPr>
        <p:spPr>
          <a:xfrm xmlns:a="http://schemas.openxmlformats.org/drawingml/2006/main">
            <a:off x="685800" y="15049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Prajna: configured the environment, but GPU queue limits delayed access.</a:t>
            </a:r>
          </a:p>
        </p:txBody>
      </p:sp>
      <p:sp>
        <p:nvSpPr>
          <p:cNvPr id="10" name="Professor’s server: transferred the code and both COMSOL datasets.">
            <a:extLst xmlns:a="http://schemas.openxmlformats.org/drawingml/2006/main">
              <a:ext uri="{FF2B5EF4-FFF2-40B4-BE49-F238E27FC236}">
                <a16:creationId xmlns:a16="http://schemas.microsoft.com/office/drawing/2014/main" id="{1066821D-717B-467D-855B-591A3C2B8367}"/>
              </a:ext>
            </a:extLst>
          </p:cNvPr>
          <p:cNvSpPr>
            <a:spLocks xmlns:a="http://schemas.openxmlformats.org/drawingml/2006/main" noGrp="1"/>
          </p:cNvSpPr>
          <p:nvPr/>
        </p:nvSpPr>
        <p:spPr>
          <a:xfrm xmlns:a="http://schemas.openxmlformats.org/drawingml/2006/main">
            <a:off x="685800" y="24955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Professor’s server: transferred the code and both COMSOL datasets.</a:t>
            </a:r>
          </a:p>
        </p:txBody>
      </p:sp>
      <p:sp>
        <p:nvSpPr>
          <p:cNvPr id="11" name="GPU: NVIDIA RTX A6000 with 48 GB memory.">
            <a:extLst xmlns:a="http://schemas.openxmlformats.org/drawingml/2006/main">
              <a:ext uri="{FF2B5EF4-FFF2-40B4-BE49-F238E27FC236}">
                <a16:creationId xmlns:a16="http://schemas.microsoft.com/office/drawing/2014/main" id="{53DEAC03-326D-49B3-925D-F4DC8BCE2ED3}"/>
              </a:ext>
            </a:extLst>
          </p:cNvPr>
          <p:cNvSpPr>
            <a:spLocks xmlns:a="http://schemas.openxmlformats.org/drawingml/2006/main" noGrp="1"/>
          </p:cNvSpPr>
          <p:nvPr/>
        </p:nvSpPr>
        <p:spPr>
          <a:xfrm xmlns:a="http://schemas.openxmlformats.org/drawingml/2006/main">
            <a:off x="685800" y="34861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GPU: NVIDIA RTX A6000 with 48 GB memory.</a:t>
            </a:r>
          </a:p>
        </p:txBody>
      </p:sp>
      <p:sp>
        <p:nvSpPr>
          <p:cNvPr id="12" name="Python 3.11 and PyTorch 2.6 with CUDA 12.4 passed the GPU check.">
            <a:extLst xmlns:a="http://schemas.openxmlformats.org/drawingml/2006/main">
              <a:ext uri="{FF2B5EF4-FFF2-40B4-BE49-F238E27FC236}">
                <a16:creationId xmlns:a16="http://schemas.microsoft.com/office/drawing/2014/main" id="{705AD2D9-BE7D-4A14-963B-02290E4B4B0A}"/>
              </a:ext>
            </a:extLst>
          </p:cNvPr>
          <p:cNvSpPr>
            <a:spLocks xmlns:a="http://schemas.openxmlformats.org/drawingml/2006/main" noGrp="1"/>
          </p:cNvSpPr>
          <p:nvPr/>
        </p:nvSpPr>
        <p:spPr>
          <a:xfrm xmlns:a="http://schemas.openxmlformats.org/drawingml/2006/main">
            <a:off x="685800" y="44767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Python 3.11 and PyTorch 2.6 with CUDA 12.4 passed the GPU check.</a:t>
            </a:r>
          </a:p>
        </p:txBody>
      </p:sp>
      <p:sp>
        <p:nvSpPr>
          <p:cNvPr id="13" name="Abhay Chandra&#10;Combined-data experiment update, 23 October 2026">
            <a:extLst xmlns:a="http://schemas.openxmlformats.org/drawingml/2006/main">
              <a:ext uri="{FF2B5EF4-FFF2-40B4-BE49-F238E27FC236}">
                <a16:creationId xmlns:a16="http://schemas.microsoft.com/office/drawing/2014/main" id="{D75347DC-B820-48EB-BCDD-0B27731817C3}"/>
              </a:ext>
            </a:extLst>
          </p:cNvPr>
          <p:cNvSpPr>
            <a:spLocks xmlns:a="http://schemas.openxmlformats.org/drawingml/2006/main" noGrp="1"/>
          </p:cNvSpPr>
          <p:nvPr/>
        </p:nvSpPr>
        <p:spPr>
          <a:xfrm xmlns:a="http://schemas.openxmlformats.org/drawingml/2006/main">
            <a:off x="685800" y="57245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16A"/>
                </a:solidFill>
                <a:latin typeface="Arial"/>
                <a:ea typeface="Arial"/>
                <a:cs typeface="Arial"/>
              </a:defRPr>
            </a:defPPr>
            <a:lvl1pPr algn="l">
              <a:defRPr sz="1725" b="0">
                <a:solidFill>
                  <a:srgbClr val="53616A"/>
                </a:solidFill>
                <a:latin typeface="Arial"/>
                <a:ea typeface="Arial"/>
                <a:cs typeface="Arial"/>
              </a:defRPr>
            </a:lvl1pPr>
            <a:lvl2pPr algn="l">
              <a:defRPr sz="1725" b="0">
                <a:solidFill>
                  <a:srgbClr val="53616A"/>
                </a:solidFill>
                <a:latin typeface="Arial"/>
                <a:ea typeface="Arial"/>
                <a:cs typeface="Arial"/>
              </a:defRPr>
            </a:lvl2pPr>
            <a:lvl3pPr algn="l">
              <a:defRPr sz="1725" b="0">
                <a:solidFill>
                  <a:srgbClr val="53616A"/>
                </a:solidFill>
                <a:latin typeface="Arial"/>
                <a:ea typeface="Arial"/>
                <a:cs typeface="Arial"/>
              </a:defRPr>
            </a:lvl3pPr>
            <a:lvl4pPr algn="l">
              <a:defRPr sz="1725" b="0">
                <a:solidFill>
                  <a:srgbClr val="53616A"/>
                </a:solidFill>
                <a:latin typeface="Arial"/>
                <a:ea typeface="Arial"/>
                <a:cs typeface="Arial"/>
              </a:defRPr>
            </a:lvl4pPr>
            <a:lvl5pPr algn="l">
              <a:defRPr sz="1725" b="0">
                <a:solidFill>
                  <a:srgbClr val="53616A"/>
                </a:solidFill>
                <a:latin typeface="Arial"/>
                <a:ea typeface="Arial"/>
                <a:cs typeface="Arial"/>
              </a:defRPr>
            </a:lvl5pPr>
            <a:lvl6pPr algn="l">
              <a:defRPr sz="1725" b="0">
                <a:solidFill>
                  <a:srgbClr val="53616A"/>
                </a:solidFill>
                <a:latin typeface="Arial"/>
                <a:ea typeface="Arial"/>
                <a:cs typeface="Arial"/>
              </a:defRPr>
            </a:lvl6pPr>
            <a:lvl7pPr algn="l">
              <a:defRPr sz="1725" b="0">
                <a:solidFill>
                  <a:srgbClr val="53616A"/>
                </a:solidFill>
                <a:latin typeface="Arial"/>
                <a:ea typeface="Arial"/>
                <a:cs typeface="Arial"/>
              </a:defRPr>
            </a:lvl7pPr>
            <a:lvl8pPr algn="l">
              <a:defRPr sz="1725" b="0">
                <a:solidFill>
                  <a:srgbClr val="53616A"/>
                </a:solidFill>
                <a:latin typeface="Arial"/>
                <a:ea typeface="Arial"/>
                <a:cs typeface="Arial"/>
              </a:defRPr>
            </a:lvl8pPr>
            <a:lvl9pPr algn="l">
              <a:defRPr sz="1725" b="0">
                <a:solidFill>
                  <a:srgbClr val="53616A"/>
                </a:solidFill>
                <a:latin typeface="Arial"/>
                <a:ea typeface="Arial"/>
                <a:cs typeface="Arial"/>
              </a:defRPr>
            </a:lvl9pPr>
          </a:lstStyle>
          <a:p xmlns:a="http://schemas.openxmlformats.org/drawingml/2006/main">
            <a:pPr algn="l">
              <a:defRPr sz="1725" b="0">
                <a:solidFill>
                  <a:srgbClr val="53616A"/>
                </a:solidFill>
                <a:latin typeface="Arial"/>
                <a:ea typeface="Arial"/>
                <a:cs typeface="Arial"/>
              </a:defRPr>
            </a:pPr>
            <a:r>
              <a:rPr sz="1725" b="0">
                <a:solidFill>
                  <a:srgbClr val="53616A"/>
                </a:solidFill>
                <a:latin typeface="Arial"/>
                <a:ea typeface="Arial"/>
                <a:cs typeface="Arial"/>
              </a:rPr>
              <a:t>Abhay Chandra</a:t>
            </a:r>
          </a:p>
          <a:p xmlns:a="http://schemas.openxmlformats.org/drawingml/2006/main">
            <a:pPr algn="l">
              <a:defRPr sz="1725" b="0">
                <a:solidFill>
                  <a:srgbClr val="53616A"/>
                </a:solidFill>
                <a:latin typeface="Arial"/>
                <a:ea typeface="Arial"/>
                <a:cs typeface="Arial"/>
              </a:defRPr>
            </a:pPr>
            <a:r>
              <a:rPr sz="1725" b="0">
                <a:solidFill>
                  <a:srgbClr val="53616A"/>
                </a:solidFill>
                <a:latin typeface="Arial"/>
                <a:ea typeface="Arial"/>
                <a:cs typeface="Arial"/>
              </a:rPr>
              <a:t>Combined-data experiment update, 23 October 2026</a:t>
            </a:r>
          </a:p>
        </p:txBody>
      </p:sp>
    </p:spTree>
    <p:extLst>
      <p:ext uri="{BB962C8B-B14F-4D97-AF65-F5344CB8AC3E}">
        <p14:creationId xmlns:p14="http://schemas.microsoft.com/office/powerpoint/2010/main" val="20267938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Work completed before this experiment</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2</a:t>
            </a:r>
          </a:p>
        </p:txBody>
      </p:sp>
      <p:sp>
        <p:nvSpPr>
          <p:cNvPr id="9" name="Fitted one blur operator jointly from Bx, By and Bz.">
            <a:extLst xmlns:a="http://schemas.openxmlformats.org/drawingml/2006/main">
              <a:ext uri="{FF2B5EF4-FFF2-40B4-BE49-F238E27FC236}">
                <a16:creationId xmlns:a16="http://schemas.microsoft.com/office/drawing/2014/main" id="{9724D370-4FDE-4CE1-B6E3-90FEE0603569}"/>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Fitted one blur operator jointly from Bx, By and Bz.</a:t>
            </a:r>
          </a:p>
        </p:txBody>
      </p:sp>
      <p:sp>
        <p:nvSpPr>
          <p:cNvPr id="10" name="Compared ISTA, FISTA and ConvLISTA on the original coil fields.">
            <a:extLst xmlns:a="http://schemas.openxmlformats.org/drawingml/2006/main">
              <a:ext uri="{FF2B5EF4-FFF2-40B4-BE49-F238E27FC236}">
                <a16:creationId xmlns:a16="http://schemas.microsoft.com/office/drawing/2014/main" id="{396502D4-F54B-4397-8417-2AADBF0E9BBC}"/>
              </a:ext>
            </a:extLst>
          </p:cNvPr>
          <p:cNvSpPr>
            <a:spLocks xmlns:a="http://schemas.openxmlformats.org/drawingml/2006/main" noGrp="1"/>
          </p:cNvSpPr>
          <p:nvPr/>
        </p:nvSpPr>
        <p:spPr>
          <a:xfrm xmlns:a="http://schemas.openxmlformats.org/drawingml/2006/main">
            <a:off x="685800" y="2514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Compared ISTA, FISTA and ConvLISTA on the original coil fields.</a:t>
            </a:r>
          </a:p>
        </p:txBody>
      </p:sp>
      <p:sp>
        <p:nvSpPr>
          <p:cNvPr id="11" name="Examined stopping criteria and the limits of direct crop pairing.">
            <a:extLst xmlns:a="http://schemas.openxmlformats.org/drawingml/2006/main">
              <a:ext uri="{FF2B5EF4-FFF2-40B4-BE49-F238E27FC236}">
                <a16:creationId xmlns:a16="http://schemas.microsoft.com/office/drawing/2014/main" id="{0735429E-4F84-40DA-B036-ED90E00E1A2E}"/>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Examined stopping criteria and the limits of direct crop pairing.</a:t>
            </a:r>
          </a:p>
        </p:txBody>
      </p:sp>
      <p:sp>
        <p:nvSpPr>
          <p:cNvPr id="12" name="Implemented ALISTA separately for synthetic sparse recovery.">
            <a:extLst xmlns:a="http://schemas.openxmlformats.org/drawingml/2006/main">
              <a:ext uri="{FF2B5EF4-FFF2-40B4-BE49-F238E27FC236}">
                <a16:creationId xmlns:a16="http://schemas.microsoft.com/office/drawing/2014/main" id="{0C8B9314-821A-495C-93AA-4FCC27E7F7E4}"/>
              </a:ext>
            </a:extLst>
          </p:cNvPr>
          <p:cNvSpPr>
            <a:spLocks xmlns:a="http://schemas.openxmlformats.org/drawingml/2006/main" noGrp="1"/>
          </p:cNvSpPr>
          <p:nvPr/>
        </p:nvSpPr>
        <p:spPr>
          <a:xfrm xmlns:a="http://schemas.openxmlformats.org/drawingml/2006/main">
            <a:off x="685800" y="4495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Implemented ALISTA separately for synthetic sparse recovery.</a:t>
            </a:r>
          </a:p>
        </p:txBody>
      </p:sp>
      <p:sp>
        <p:nvSpPr>
          <p:cNvPr id="13" name="This update expands the full-field ConvLISTA comparison.">
            <a:extLst xmlns:a="http://schemas.openxmlformats.org/drawingml/2006/main">
              <a:ext uri="{FF2B5EF4-FFF2-40B4-BE49-F238E27FC236}">
                <a16:creationId xmlns:a16="http://schemas.microsoft.com/office/drawing/2014/main" id="{71390D30-2592-48DE-9B5A-80F7A4AF6EAE}"/>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This update expands the full-field ConvLISTA comparison.</a:t>
            </a:r>
          </a:p>
        </p:txBody>
      </p:sp>
    </p:spTree>
    <p:extLst>
      <p:ext uri="{BB962C8B-B14F-4D97-AF65-F5344CB8AC3E}">
        <p14:creationId xmlns:p14="http://schemas.microsoft.com/office/powerpoint/2010/main" val="20267938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What changes in the combined experiment</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3</a:t>
            </a:r>
          </a:p>
        </p:txBody>
      </p:sp>
      <p:graphicFrame>
        <p:nvGraphicFramePr>
          <p:cNvPr id="9" name="">
            <a:extLst xmlns:a="http://schemas.openxmlformats.org/drawingml/2006/main">
              <a:ext uri="{FF2B5EF4-FFF2-40B4-BE49-F238E27FC236}">
                <a16:creationId xmlns:a16="http://schemas.microsoft.com/office/drawing/2014/main" id="{214601B9-E5F0-4DDE-89DA-0B6B3FF80839}"/>
              </a:ext>
            </a:extLst>
          </p:cNvPr>
          <p:cNvGraphicFramePr/>
          <p:nvPr/>
        </p:nvGraphicFramePr>
        <p:xfrm>
          <a:off xmlns:a="http://schemas.openxmlformats.org/drawingml/2006/main" x="609600" y="1524000"/>
          <a:ext xmlns:a="http://schemas.openxmlformats.org/drawingml/2006/main" cx="10972800" cy="3790950"/>
        </p:xfrm>
        <a:graphic xmlns:a="http://schemas.openxmlformats.org/drawingml/2006/main">
          <a:graphicData uri="http://schemas.openxmlformats.org/drawingml/2006/table">
            <a:tbl>
              <a:tblPr/>
              <a:tblGrid>
                <a:gridCol w="3714750"/>
                <a:gridCol w="3143250"/>
                <a:gridCol w="4114800"/>
              </a:tblGrid>
              <a:tr h="631825">
                <a:tc>
                  <a:txBody>
                    <a:bodyPr lIns="95250" tIns="95250" rIns="95250" bIns="95250"/>
                    <a:lstStyle/>
                    <a:p>
                      <a:r>
                        <a:rPr sz="1875" b="1">
                          <a:solidFill>
                            <a:srgbClr val="FFFFFF"/>
                          </a:solidFill>
                          <a:latin typeface="Arial"/>
                          <a:ea typeface="Arial"/>
                          <a:cs typeface="Arial"/>
                        </a:rPr>
                        <a:t>Setting</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Previous experiment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Combined experiment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31825">
                <a:tc>
                  <a:txBody>
                    <a:bodyPr lIns="95250" tIns="95250" rIns="95250" bIns="95250"/>
                    <a:lstStyle/>
                    <a:p>
                      <a:r>
                        <a:rPr sz="1875" b="0">
                          <a:solidFill>
                            <a:srgbClr val="30414D"/>
                          </a:solidFill>
                          <a:latin typeface="Arial"/>
                          <a:ea typeface="Arial"/>
                          <a:cs typeface="Arial"/>
                        </a:rPr>
                        <a:t>Supervised component pairs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3</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51</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31825">
                <a:tc>
                  <a:txBody>
                    <a:bodyPr lIns="95250" tIns="95250" rIns="95250" bIns="95250"/>
                    <a:lstStyle/>
                    <a:p>
                      <a:r>
                        <a:rPr sz="1875" b="0">
                          <a:solidFill>
                            <a:srgbClr val="30414D"/>
                          </a:solidFill>
                          <a:latin typeface="Arial"/>
                          <a:ea typeface="Arial"/>
                          <a:cs typeface="Arial"/>
                        </a:rPr>
                        <a:t>Geometry and height coverage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One selected height pair</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17 pairs, 3 geometries</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31825">
                <a:tc>
                  <a:txBody>
                    <a:bodyPr lIns="95250" tIns="95250" rIns="95250" bIns="95250"/>
                    <a:lstStyle/>
                    <a:p>
                      <a:r>
                        <a:rPr sz="1875" b="0">
                          <a:solidFill>
                            <a:srgbClr val="30414D"/>
                          </a:solidFill>
                          <a:latin typeface="Arial"/>
                          <a:ea typeface="Arial"/>
                          <a:cs typeface="Arial"/>
                        </a:rPr>
                        <a:t>Learned parameters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163</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163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31825">
                <a:tc>
                  <a:txBody>
                    <a:bodyPr lIns="95250" tIns="95250" rIns="95250" bIns="95250"/>
                    <a:lstStyle/>
                    <a:p>
                      <a:r>
                        <a:rPr sz="1875" b="0">
                          <a:solidFill>
                            <a:srgbClr val="30414D"/>
                          </a:solidFill>
                          <a:latin typeface="Arial"/>
                          <a:ea typeface="Arial"/>
                          <a:cs typeface="Arial"/>
                        </a:rPr>
                        <a:t>Frozen Fourier operator</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One per selected pair</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One per pair, 17 total</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31825">
                <a:tc>
                  <a:txBody>
                    <a:bodyPr lIns="95250" tIns="95250" rIns="95250" bIns="95250"/>
                    <a:lstStyle/>
                    <a:p>
                      <a:r>
                        <a:rPr sz="1875" b="0">
                          <a:solidFill>
                            <a:srgbClr val="30414D"/>
                          </a:solidFill>
                          <a:latin typeface="Arial"/>
                          <a:ea typeface="Arial"/>
                          <a:cs typeface="Arial"/>
                        </a:rPr>
                        <a:t>Training scale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Within one pair</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One scale across all training fields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0" name="One shared model learns across all geometries, heights and components.">
            <a:extLst xmlns:a="http://schemas.openxmlformats.org/drawingml/2006/main">
              <a:ext uri="{FF2B5EF4-FFF2-40B4-BE49-F238E27FC236}">
                <a16:creationId xmlns:a16="http://schemas.microsoft.com/office/drawing/2014/main" id="{34560327-FE18-4C2A-BB7B-75E62AF4D06F}"/>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One shared model learns across all geometries, heights and components.</a:t>
            </a:r>
          </a:p>
        </p:txBody>
      </p:sp>
    </p:spTree>
    <p:extLst>
      <p:ext uri="{BB962C8B-B14F-4D97-AF65-F5344CB8AC3E}">
        <p14:creationId xmlns:p14="http://schemas.microsoft.com/office/powerpoint/2010/main" val="20267938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Dataset inventory</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4</a:t>
            </a:r>
          </a:p>
        </p:txBody>
      </p:sp>
      <p:graphicFrame>
        <p:nvGraphicFramePr>
          <p:cNvPr id="9" name="">
            <a:extLst xmlns:a="http://schemas.openxmlformats.org/drawingml/2006/main">
              <a:ext uri="{FF2B5EF4-FFF2-40B4-BE49-F238E27FC236}">
                <a16:creationId xmlns:a16="http://schemas.microsoft.com/office/drawing/2014/main" id="{727E80A4-C3F7-4598-AB98-B2C96385337A}"/>
              </a:ext>
            </a:extLst>
          </p:cNvPr>
          <p:cNvGraphicFramePr/>
          <p:nvPr/>
        </p:nvGraphicFramePr>
        <p:xfrm>
          <a:off xmlns:a="http://schemas.openxmlformats.org/drawingml/2006/main" x="609600" y="1571625"/>
          <a:ext xmlns:a="http://schemas.openxmlformats.org/drawingml/2006/main" cx="10972800" cy="3371850"/>
        </p:xfrm>
        <a:graphic xmlns:a="http://schemas.openxmlformats.org/drawingml/2006/main">
          <a:graphicData uri="http://schemas.openxmlformats.org/drawingml/2006/table">
            <a:tbl>
              <a:tblPr/>
              <a:tblGrid>
                <a:gridCol w="2286000"/>
                <a:gridCol w="1333500"/>
                <a:gridCol w="2781300"/>
                <a:gridCol w="2095500"/>
                <a:gridCol w="2476500"/>
              </a:tblGrid>
              <a:tr h="674370">
                <a:tc>
                  <a:txBody>
                    <a:bodyPr lIns="95250" tIns="95250" rIns="95250" bIns="95250"/>
                    <a:lstStyle/>
                    <a:p>
                      <a:r>
                        <a:rPr sz="1950" b="1">
                          <a:solidFill>
                            <a:srgbClr val="FFFFFF"/>
                          </a:solidFill>
                          <a:latin typeface="Arial"/>
                          <a:ea typeface="Arial"/>
                          <a:cs typeface="Arial"/>
                        </a:rPr>
                        <a:t>Geometry</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950" b="1">
                          <a:solidFill>
                            <a:srgbClr val="FFFFFF"/>
                          </a:solidFill>
                          <a:latin typeface="Arial"/>
                          <a:ea typeface="Arial"/>
                          <a:cs typeface="Arial"/>
                        </a:rPr>
                        <a:t>Planes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950" b="1">
                          <a:solidFill>
                            <a:srgbClr val="FFFFFF"/>
                          </a:solidFill>
                          <a:latin typeface="Arial"/>
                          <a:ea typeface="Arial"/>
                          <a:cs typeface="Arial"/>
                        </a:rPr>
                        <a:t>Reference height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950" b="1">
                          <a:solidFill>
                            <a:srgbClr val="FFFFFF"/>
                          </a:solidFill>
                          <a:latin typeface="Arial"/>
                          <a:ea typeface="Arial"/>
                          <a:cs typeface="Arial"/>
                        </a:rPr>
                        <a:t>Height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950" b="1">
                          <a:solidFill>
                            <a:srgbClr val="FFFFFF"/>
                          </a:solidFill>
                          <a:latin typeface="Arial"/>
                          <a:ea typeface="Arial"/>
                          <a:cs typeface="Arial"/>
                        </a:rPr>
                        <a:t>Component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74370">
                <a:tc>
                  <a:txBody>
                    <a:bodyPr lIns="95250" tIns="95250" rIns="95250" bIns="95250"/>
                    <a:lstStyle/>
                    <a:p>
                      <a:r>
                        <a:rPr sz="1950" b="0">
                          <a:solidFill>
                            <a:srgbClr val="30414D"/>
                          </a:solidFill>
                          <a:latin typeface="Arial"/>
                          <a:ea typeface="Arial"/>
                          <a:cs typeface="Arial"/>
                        </a:rPr>
                        <a:t>L1_C1</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11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10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30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74370">
                <a:tc>
                  <a:txBody>
                    <a:bodyPr lIns="95250" tIns="95250" rIns="95250" bIns="95250"/>
                    <a:lstStyle/>
                    <a:p>
                      <a:r>
                        <a:rPr sz="1950" b="0">
                          <a:solidFill>
                            <a:srgbClr val="30414D"/>
                          </a:solidFill>
                          <a:latin typeface="Arial"/>
                          <a:ea typeface="Arial"/>
                          <a:cs typeface="Arial"/>
                        </a:rPr>
                        <a:t>IC_4um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6</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18</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74370">
                <a:tc>
                  <a:txBody>
                    <a:bodyPr lIns="95250" tIns="95250" rIns="95250" bIns="95250"/>
                    <a:lstStyle/>
                    <a:p>
                      <a:r>
                        <a:rPr sz="1950" b="0">
                          <a:solidFill>
                            <a:srgbClr val="30414D"/>
                          </a:solidFill>
                          <a:latin typeface="Arial"/>
                          <a:ea typeface="Arial"/>
                          <a:cs typeface="Arial"/>
                        </a:rPr>
                        <a:t>IC_2um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1.0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950" b="0">
                          <a:solidFill>
                            <a:srgbClr val="30414D"/>
                          </a:solidFill>
                          <a:latin typeface="Arial"/>
                          <a:ea typeface="Arial"/>
                          <a:cs typeface="Arial"/>
                        </a:rPr>
                        <a:t>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74370">
                <a:tc>
                  <a:txBody>
                    <a:bodyPr lIns="95250" tIns="95250" rIns="95250" bIns="95250"/>
                    <a:lstStyle/>
                    <a:p>
                      <a:r>
                        <a:rPr sz="1950" b="0">
                          <a:solidFill>
                            <a:srgbClr val="30414D"/>
                          </a:solidFill>
                          <a:latin typeface="Arial"/>
                          <a:ea typeface="Arial"/>
                          <a:cs typeface="Arial"/>
                        </a:rPr>
                        <a:t>Total</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20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Within each geometry</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17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950" b="0">
                          <a:solidFill>
                            <a:srgbClr val="30414D"/>
                          </a:solidFill>
                          <a:latin typeface="Arial"/>
                          <a:ea typeface="Arial"/>
                          <a:cs typeface="Arial"/>
                        </a:rPr>
                        <a:t>51</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17 height pairs × 3 signed components = 51 supervised examples">
            <a:extLst xmlns:a="http://schemas.openxmlformats.org/drawingml/2006/main">
              <a:ext uri="{FF2B5EF4-FFF2-40B4-BE49-F238E27FC236}">
                <a16:creationId xmlns:a16="http://schemas.microsoft.com/office/drawing/2014/main" id="{E02EC0E8-FB1D-4C02-84A8-C290B43B280F}"/>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17 height pairs × 3 signed components = 51 supervised examples</a:t>
            </a:r>
          </a:p>
        </p:txBody>
      </p:sp>
    </p:spTree>
    <p:extLst>
      <p:ext uri="{BB962C8B-B14F-4D97-AF65-F5344CB8AC3E}">
        <p14:creationId xmlns:p14="http://schemas.microsoft.com/office/powerpoint/2010/main" val="20267938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How we construct the pairs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5</a:t>
            </a:r>
          </a:p>
        </p:txBody>
      </p:sp>
      <p:sp>
        <p:nvSpPr>
          <p:cNvPr id="9" name="Choose the lowest available plane as the reference for each geometry.">
            <a:extLst xmlns:a="http://schemas.openxmlformats.org/drawingml/2006/main">
              <a:ext uri="{FF2B5EF4-FFF2-40B4-BE49-F238E27FC236}">
                <a16:creationId xmlns:a16="http://schemas.microsoft.com/office/drawing/2014/main" id="{6A1D0940-B7E0-40C9-A767-35BC5E6A555F}"/>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Choose the lowest available plane as the reference for each geometry.</a:t>
            </a:r>
          </a:p>
        </p:txBody>
      </p:sp>
      <p:sp>
        <p:nvSpPr>
          <p:cNvPr id="10" name="Pair every higher plane with that reference, within the same geometry.">
            <a:extLst xmlns:a="http://schemas.openxmlformats.org/drawingml/2006/main">
              <a:ext uri="{FF2B5EF4-FFF2-40B4-BE49-F238E27FC236}">
                <a16:creationId xmlns:a16="http://schemas.microsoft.com/office/drawing/2014/main" id="{4CC09E74-28F6-4DAD-931F-52CA650EF222}"/>
              </a:ext>
            </a:extLst>
          </p:cNvPr>
          <p:cNvSpPr>
            <a:spLocks xmlns:a="http://schemas.openxmlformats.org/drawingml/2006/main" noGrp="1"/>
          </p:cNvSpPr>
          <p:nvPr/>
        </p:nvSpPr>
        <p:spPr>
          <a:xfrm xmlns:a="http://schemas.openxmlformats.org/drawingml/2006/main">
            <a:off x="685800" y="25241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Pair every higher plane with that reference, within the same geometry.</a:t>
            </a:r>
          </a:p>
        </p:txBody>
      </p:sp>
      <p:sp>
        <p:nvSpPr>
          <p:cNvPr id="11" name="For each height pair, match Bx with Bx, By with By and Bz with Bz.">
            <a:extLst xmlns:a="http://schemas.openxmlformats.org/drawingml/2006/main">
              <a:ext uri="{FF2B5EF4-FFF2-40B4-BE49-F238E27FC236}">
                <a16:creationId xmlns:a16="http://schemas.microsoft.com/office/drawing/2014/main" id="{246E4DDA-9121-4D00-AFDB-E9B62E6DB08B}"/>
              </a:ext>
            </a:extLst>
          </p:cNvPr>
          <p:cNvSpPr>
            <a:spLocks xmlns:a="http://schemas.openxmlformats.org/drawingml/2006/main" noGrp="1"/>
          </p:cNvSpPr>
          <p:nvPr/>
        </p:nvSpPr>
        <p:spPr>
          <a:xfrm xmlns:a="http://schemas.openxmlformats.org/drawingml/2006/main">
            <a:off x="685800" y="3524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For each height pair, match Bx with Bx, By with By and Bz with Bz.</a:t>
            </a:r>
          </a:p>
        </p:txBody>
      </p:sp>
      <p:sp>
        <p:nvSpPr>
          <p:cNvPr id="12" name="Keep every example at the full 1400 × 1400 resolution.">
            <a:extLst xmlns:a="http://schemas.openxmlformats.org/drawingml/2006/main">
              <a:ext uri="{FF2B5EF4-FFF2-40B4-BE49-F238E27FC236}">
                <a16:creationId xmlns:a16="http://schemas.microsoft.com/office/drawing/2014/main" id="{BE7AAB3F-D6EC-4C4B-AFE8-6B1512847C57}"/>
              </a:ext>
            </a:extLst>
          </p:cNvPr>
          <p:cNvSpPr>
            <a:spLocks xmlns:a="http://schemas.openxmlformats.org/drawingml/2006/main" noGrp="1"/>
          </p:cNvSpPr>
          <p:nvPr/>
        </p:nvSpPr>
        <p:spPr>
          <a:xfrm xmlns:a="http://schemas.openxmlformats.org/drawingml/2006/main">
            <a:off x="685800" y="45243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Keep every example at the full 1400 × 1400 resolution.</a:t>
            </a:r>
          </a:p>
        </p:txBody>
      </p:sp>
      <p:sp>
        <p:nvSpPr>
          <p:cNvPr id="13" name="Example: IC_2um uses the 2 µm input and the 1 µm reference.">
            <a:extLst xmlns:a="http://schemas.openxmlformats.org/drawingml/2006/main">
              <a:ext uri="{FF2B5EF4-FFF2-40B4-BE49-F238E27FC236}">
                <a16:creationId xmlns:a16="http://schemas.microsoft.com/office/drawing/2014/main" id="{58BDB32F-1B5E-453D-999E-3D3876BBAA92}"/>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Example: IC_2um uses the 2 µm input and the 1 µm reference.</a:t>
            </a:r>
          </a:p>
        </p:txBody>
      </p:sp>
    </p:spTree>
    <p:extLst>
      <p:ext uri="{BB962C8B-B14F-4D97-AF65-F5344CB8AC3E}">
        <p14:creationId xmlns:p14="http://schemas.microsoft.com/office/powerpoint/2010/main" val="20267938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Data preparation and validation</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6</a:t>
            </a:r>
          </a:p>
        </p:txBody>
      </p:sp>
      <p:sp>
        <p:nvSpPr>
          <p:cNvPr id="9" name="Validate units, finite values and complete uniform grids.">
            <a:extLst xmlns:a="http://schemas.openxmlformats.org/drawingml/2006/main">
              <a:ext uri="{FF2B5EF4-FFF2-40B4-BE49-F238E27FC236}">
                <a16:creationId xmlns:a16="http://schemas.microsoft.com/office/drawing/2014/main" id="{871FF9A1-6DE7-437A-9D63-EA6B664A9F4C}"/>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Validate units, finite values and complete uniform grids.</a:t>
            </a:r>
          </a:p>
        </p:txBody>
      </p:sp>
      <p:sp>
        <p:nvSpPr>
          <p:cNvPr id="10" name="Check matching coordinates across heights within each geometry.">
            <a:extLst xmlns:a="http://schemas.openxmlformats.org/drawingml/2006/main">
              <a:ext uri="{FF2B5EF4-FFF2-40B4-BE49-F238E27FC236}">
                <a16:creationId xmlns:a16="http://schemas.microsoft.com/office/drawing/2014/main" id="{CABE2CA8-FE7A-4703-87CB-AC74C59C605D}"/>
              </a:ext>
            </a:extLst>
          </p:cNvPr>
          <p:cNvSpPr>
            <a:spLocks xmlns:a="http://schemas.openxmlformats.org/drawingml/2006/main" noGrp="1"/>
          </p:cNvSpPr>
          <p:nvPr/>
        </p:nvSpPr>
        <p:spPr>
          <a:xfrm xmlns:a="http://schemas.openxmlformats.org/drawingml/2006/main">
            <a:off x="685800" y="25241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Check matching coordinates across heights within each geometry.</a:t>
            </a:r>
          </a:p>
        </p:txBody>
      </p:sp>
      <p:sp>
        <p:nvSpPr>
          <p:cNvPr id="11" name="Convert signed Bx, By and Bz fields to float32 arrays in µT.">
            <a:extLst xmlns:a="http://schemas.openxmlformats.org/drawingml/2006/main">
              <a:ext uri="{FF2B5EF4-FFF2-40B4-BE49-F238E27FC236}">
                <a16:creationId xmlns:a16="http://schemas.microsoft.com/office/drawing/2014/main" id="{0E952D8E-F42D-44D4-A097-FC817BC9C9F4}"/>
              </a:ext>
            </a:extLst>
          </p:cNvPr>
          <p:cNvSpPr>
            <a:spLocks xmlns:a="http://schemas.openxmlformats.org/drawingml/2006/main" noGrp="1"/>
          </p:cNvSpPr>
          <p:nvPr/>
        </p:nvSpPr>
        <p:spPr>
          <a:xfrm xmlns:a="http://schemas.openxmlformats.org/drawingml/2006/main">
            <a:off x="685800" y="3524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Convert signed Bx, By and Bz fields to float32 arrays in µT.</a:t>
            </a:r>
          </a:p>
        </p:txBody>
      </p:sp>
      <p:sp>
        <p:nvSpPr>
          <p:cNvPr id="12" name="Save a geometry-aware manifest with source and cache checksums.">
            <a:extLst xmlns:a="http://schemas.openxmlformats.org/drawingml/2006/main">
              <a:ext uri="{FF2B5EF4-FFF2-40B4-BE49-F238E27FC236}">
                <a16:creationId xmlns:a16="http://schemas.microsoft.com/office/drawing/2014/main" id="{31EE1F2C-90F8-49CE-A6FB-F5AC1BAAD8D8}"/>
              </a:ext>
            </a:extLst>
          </p:cNvPr>
          <p:cNvSpPr>
            <a:spLocks xmlns:a="http://schemas.openxmlformats.org/drawingml/2006/main" noGrp="1"/>
          </p:cNvSpPr>
          <p:nvPr/>
        </p:nvSpPr>
        <p:spPr>
          <a:xfrm xmlns:a="http://schemas.openxmlformats.org/drawingml/2006/main">
            <a:off x="685800" y="45243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Save a geometry-aware manifest with source and cache checksums.</a:t>
            </a:r>
          </a:p>
        </p:txBody>
      </p:sp>
      <p:sp>
        <p:nvSpPr>
          <p:cNvPr id="13" name="The magnitude field |B| does not enter the linear reconstruction.">
            <a:extLst xmlns:a="http://schemas.openxmlformats.org/drawingml/2006/main">
              <a:ext uri="{FF2B5EF4-FFF2-40B4-BE49-F238E27FC236}">
                <a16:creationId xmlns:a16="http://schemas.microsoft.com/office/drawing/2014/main" id="{BF237582-317E-49D7-81D8-6A145E49FB4A}"/>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The magnitude field |B| does not enter the linear reconstruction.</a:t>
            </a:r>
          </a:p>
        </p:txBody>
      </p:sp>
    </p:spTree>
    <p:extLst>
      <p:ext uri="{BB962C8B-B14F-4D97-AF65-F5344CB8AC3E}">
        <p14:creationId xmlns:p14="http://schemas.microsoft.com/office/powerpoint/2010/main" val="20267938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One normalization scale for all training fields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7</a:t>
            </a:r>
          </a:p>
        </p:txBody>
      </p:sp>
      <p:sp>
        <p:nvSpPr>
          <p:cNvPr id="9" name="q = max |B| across the training input and reference fields">
            <a:extLst xmlns:a="http://schemas.openxmlformats.org/drawingml/2006/main">
              <a:ext uri="{FF2B5EF4-FFF2-40B4-BE49-F238E27FC236}">
                <a16:creationId xmlns:a16="http://schemas.microsoft.com/office/drawing/2014/main" id="{3B5FB2C9-C5E9-463F-8B46-609C8ECC718E}"/>
              </a:ext>
            </a:extLst>
          </p:cNvPr>
          <p:cNvSpPr>
            <a:spLocks xmlns:a="http://schemas.openxmlformats.org/drawingml/2006/main" noGrp="1"/>
          </p:cNvSpPr>
          <p:nvPr/>
        </p:nvSpPr>
        <p:spPr>
          <a:xfrm xmlns:a="http://schemas.openxmlformats.org/drawingml/2006/main">
            <a:off x="685800" y="1657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872A2"/>
                </a:solidFill>
                <a:latin typeface="Arial"/>
                <a:ea typeface="Arial"/>
                <a:cs typeface="Arial"/>
              </a:defRPr>
            </a:defPPr>
            <a:lvl1pPr algn="l">
              <a:defRPr sz="2550" b="1">
                <a:solidFill>
                  <a:srgbClr val="2872A2"/>
                </a:solidFill>
                <a:latin typeface="Arial"/>
                <a:ea typeface="Arial"/>
                <a:cs typeface="Arial"/>
              </a:defRPr>
            </a:lvl1pPr>
            <a:lvl2pPr algn="l">
              <a:defRPr sz="2550" b="1">
                <a:solidFill>
                  <a:srgbClr val="2872A2"/>
                </a:solidFill>
                <a:latin typeface="Arial"/>
                <a:ea typeface="Arial"/>
                <a:cs typeface="Arial"/>
              </a:defRPr>
            </a:lvl2pPr>
            <a:lvl3pPr algn="l">
              <a:defRPr sz="2550" b="1">
                <a:solidFill>
                  <a:srgbClr val="2872A2"/>
                </a:solidFill>
                <a:latin typeface="Arial"/>
                <a:ea typeface="Arial"/>
                <a:cs typeface="Arial"/>
              </a:defRPr>
            </a:lvl3pPr>
            <a:lvl4pPr algn="l">
              <a:defRPr sz="2550" b="1">
                <a:solidFill>
                  <a:srgbClr val="2872A2"/>
                </a:solidFill>
                <a:latin typeface="Arial"/>
                <a:ea typeface="Arial"/>
                <a:cs typeface="Arial"/>
              </a:defRPr>
            </a:lvl4pPr>
            <a:lvl5pPr algn="l">
              <a:defRPr sz="2550" b="1">
                <a:solidFill>
                  <a:srgbClr val="2872A2"/>
                </a:solidFill>
                <a:latin typeface="Arial"/>
                <a:ea typeface="Arial"/>
                <a:cs typeface="Arial"/>
              </a:defRPr>
            </a:lvl5pPr>
            <a:lvl6pPr algn="l">
              <a:defRPr sz="2550" b="1">
                <a:solidFill>
                  <a:srgbClr val="2872A2"/>
                </a:solidFill>
                <a:latin typeface="Arial"/>
                <a:ea typeface="Arial"/>
                <a:cs typeface="Arial"/>
              </a:defRPr>
            </a:lvl6pPr>
            <a:lvl7pPr algn="l">
              <a:defRPr sz="2550" b="1">
                <a:solidFill>
                  <a:srgbClr val="2872A2"/>
                </a:solidFill>
                <a:latin typeface="Arial"/>
                <a:ea typeface="Arial"/>
                <a:cs typeface="Arial"/>
              </a:defRPr>
            </a:lvl7pPr>
            <a:lvl8pPr algn="l">
              <a:defRPr sz="2550" b="1">
                <a:solidFill>
                  <a:srgbClr val="2872A2"/>
                </a:solidFill>
                <a:latin typeface="Arial"/>
                <a:ea typeface="Arial"/>
                <a:cs typeface="Arial"/>
              </a:defRPr>
            </a:lvl8pPr>
            <a:lvl9pPr algn="l">
              <a:defRPr sz="2550" b="1">
                <a:solidFill>
                  <a:srgbClr val="2872A2"/>
                </a:solidFill>
                <a:latin typeface="Arial"/>
                <a:ea typeface="Arial"/>
                <a:cs typeface="Arial"/>
              </a:defRPr>
            </a:lvl9pPr>
          </a:lstStyle>
          <a:p xmlns:a="http://schemas.openxmlformats.org/drawingml/2006/main">
            <a:pPr algn="l">
              <a:defRPr sz="2550" b="1">
                <a:solidFill>
                  <a:srgbClr val="2872A2"/>
                </a:solidFill>
                <a:latin typeface="Arial"/>
                <a:ea typeface="Arial"/>
                <a:cs typeface="Arial"/>
              </a:defRPr>
            </a:pPr>
            <a:r>
              <a:rPr sz="2550" b="1">
                <a:solidFill>
                  <a:srgbClr val="2872A2"/>
                </a:solidFill>
                <a:latin typeface="Arial"/>
                <a:ea typeface="Arial"/>
                <a:cs typeface="Arial"/>
              </a:rPr>
              <a:t>q = max |B| across the training input and reference fields</a:t>
            </a:r>
          </a:p>
        </p:txBody>
      </p:sp>
      <p:sp>
        <p:nvSpPr>
          <p:cNvPr id="10" name="b̃ = b / q       x̃ref = xref / q       λ̃ = λ / q">
            <a:extLst xmlns:a="http://schemas.openxmlformats.org/drawingml/2006/main">
              <a:ext uri="{FF2B5EF4-FFF2-40B4-BE49-F238E27FC236}">
                <a16:creationId xmlns:a16="http://schemas.microsoft.com/office/drawing/2014/main" id="{3F2FBABD-4B04-4881-98EC-B39CA17D474B}"/>
              </a:ext>
            </a:extLst>
          </p:cNvPr>
          <p:cNvSpPr>
            <a:spLocks xmlns:a="http://schemas.openxmlformats.org/drawingml/2006/main" noGrp="1"/>
          </p:cNvSpPr>
          <p:nvPr/>
        </p:nvSpPr>
        <p:spPr>
          <a:xfrm xmlns:a="http://schemas.openxmlformats.org/drawingml/2006/main">
            <a:off x="685800" y="2705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872A2"/>
                </a:solidFill>
                <a:latin typeface="Arial"/>
                <a:ea typeface="Arial"/>
                <a:cs typeface="Arial"/>
              </a:defRPr>
            </a:defPPr>
            <a:lvl1pPr algn="l">
              <a:defRPr sz="2550" b="1">
                <a:solidFill>
                  <a:srgbClr val="2872A2"/>
                </a:solidFill>
                <a:latin typeface="Arial"/>
                <a:ea typeface="Arial"/>
                <a:cs typeface="Arial"/>
              </a:defRPr>
            </a:lvl1pPr>
            <a:lvl2pPr algn="l">
              <a:defRPr sz="2550" b="1">
                <a:solidFill>
                  <a:srgbClr val="2872A2"/>
                </a:solidFill>
                <a:latin typeface="Arial"/>
                <a:ea typeface="Arial"/>
                <a:cs typeface="Arial"/>
              </a:defRPr>
            </a:lvl2pPr>
            <a:lvl3pPr algn="l">
              <a:defRPr sz="2550" b="1">
                <a:solidFill>
                  <a:srgbClr val="2872A2"/>
                </a:solidFill>
                <a:latin typeface="Arial"/>
                <a:ea typeface="Arial"/>
                <a:cs typeface="Arial"/>
              </a:defRPr>
            </a:lvl3pPr>
            <a:lvl4pPr algn="l">
              <a:defRPr sz="2550" b="1">
                <a:solidFill>
                  <a:srgbClr val="2872A2"/>
                </a:solidFill>
                <a:latin typeface="Arial"/>
                <a:ea typeface="Arial"/>
                <a:cs typeface="Arial"/>
              </a:defRPr>
            </a:lvl4pPr>
            <a:lvl5pPr algn="l">
              <a:defRPr sz="2550" b="1">
                <a:solidFill>
                  <a:srgbClr val="2872A2"/>
                </a:solidFill>
                <a:latin typeface="Arial"/>
                <a:ea typeface="Arial"/>
                <a:cs typeface="Arial"/>
              </a:defRPr>
            </a:lvl5pPr>
            <a:lvl6pPr algn="l">
              <a:defRPr sz="2550" b="1">
                <a:solidFill>
                  <a:srgbClr val="2872A2"/>
                </a:solidFill>
                <a:latin typeface="Arial"/>
                <a:ea typeface="Arial"/>
                <a:cs typeface="Arial"/>
              </a:defRPr>
            </a:lvl6pPr>
            <a:lvl7pPr algn="l">
              <a:defRPr sz="2550" b="1">
                <a:solidFill>
                  <a:srgbClr val="2872A2"/>
                </a:solidFill>
                <a:latin typeface="Arial"/>
                <a:ea typeface="Arial"/>
                <a:cs typeface="Arial"/>
              </a:defRPr>
            </a:lvl7pPr>
            <a:lvl8pPr algn="l">
              <a:defRPr sz="2550" b="1">
                <a:solidFill>
                  <a:srgbClr val="2872A2"/>
                </a:solidFill>
                <a:latin typeface="Arial"/>
                <a:ea typeface="Arial"/>
                <a:cs typeface="Arial"/>
              </a:defRPr>
            </a:lvl8pPr>
            <a:lvl9pPr algn="l">
              <a:defRPr sz="2550" b="1">
                <a:solidFill>
                  <a:srgbClr val="2872A2"/>
                </a:solidFill>
                <a:latin typeface="Arial"/>
                <a:ea typeface="Arial"/>
                <a:cs typeface="Arial"/>
              </a:defRPr>
            </a:lvl9pPr>
          </a:lstStyle>
          <a:p xmlns:a="http://schemas.openxmlformats.org/drawingml/2006/main">
            <a:pPr algn="l">
              <a:defRPr sz="2550" b="1">
                <a:solidFill>
                  <a:srgbClr val="2872A2"/>
                </a:solidFill>
                <a:latin typeface="Arial"/>
                <a:ea typeface="Arial"/>
                <a:cs typeface="Arial"/>
              </a:defRPr>
            </a:pPr>
            <a:r>
              <a:rPr sz="2550" b="1">
                <a:solidFill>
                  <a:srgbClr val="2872A2"/>
                </a:solidFill>
                <a:latin typeface="Arial"/>
                <a:ea typeface="Arial"/>
                <a:cs typeface="Arial"/>
              </a:rPr>
              <a:t>b̃ = b / q       x̃ref = xref / q       λ̃ = λ / q</a:t>
            </a:r>
          </a:p>
        </p:txBody>
      </p:sp>
      <p:sp>
        <p:nvSpPr>
          <p:cNvPr id="11" name="Every geometry and component uses this same scale.">
            <a:extLst xmlns:a="http://schemas.openxmlformats.org/drawingml/2006/main">
              <a:ext uri="{FF2B5EF4-FFF2-40B4-BE49-F238E27FC236}">
                <a16:creationId xmlns:a16="http://schemas.microsoft.com/office/drawing/2014/main" id="{311A603A-0D97-477B-BC58-29D2518F4B62}"/>
              </a:ext>
            </a:extLst>
          </p:cNvPr>
          <p:cNvSpPr>
            <a:spLocks xmlns:a="http://schemas.openxmlformats.org/drawingml/2006/main" noGrp="1"/>
          </p:cNvSpPr>
          <p:nvPr/>
        </p:nvSpPr>
        <p:spPr>
          <a:xfrm xmlns:a="http://schemas.openxmlformats.org/drawingml/2006/main">
            <a:off x="685800" y="3943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defRPr sz="2250" b="0">
                <a:solidFill>
                  <a:srgbClr val="30414D"/>
                </a:solidFill>
                <a:latin typeface="Arial"/>
                <a:ea typeface="Arial"/>
                <a:cs typeface="Arial"/>
              </a:defRPr>
            </a:lvl1pPr>
            <a:lvl2pPr algn="l">
              <a:defRPr sz="2250" b="0">
                <a:solidFill>
                  <a:srgbClr val="30414D"/>
                </a:solidFill>
                <a:latin typeface="Arial"/>
                <a:ea typeface="Arial"/>
                <a:cs typeface="Arial"/>
              </a:defRPr>
            </a:lvl2pPr>
            <a:lvl3pPr algn="l">
              <a:defRPr sz="2250" b="0">
                <a:solidFill>
                  <a:srgbClr val="30414D"/>
                </a:solidFill>
                <a:latin typeface="Arial"/>
                <a:ea typeface="Arial"/>
                <a:cs typeface="Arial"/>
              </a:defRPr>
            </a:lvl3pPr>
            <a:lvl4pPr algn="l">
              <a:defRPr sz="2250" b="0">
                <a:solidFill>
                  <a:srgbClr val="30414D"/>
                </a:solidFill>
                <a:latin typeface="Arial"/>
                <a:ea typeface="Arial"/>
                <a:cs typeface="Arial"/>
              </a:defRPr>
            </a:lvl4pPr>
            <a:lvl5pPr algn="l">
              <a:defRPr sz="2250" b="0">
                <a:solidFill>
                  <a:srgbClr val="30414D"/>
                </a:solidFill>
                <a:latin typeface="Arial"/>
                <a:ea typeface="Arial"/>
                <a:cs typeface="Arial"/>
              </a:defRPr>
            </a:lvl5pPr>
            <a:lvl6pPr algn="l">
              <a:defRPr sz="2250" b="0">
                <a:solidFill>
                  <a:srgbClr val="30414D"/>
                </a:solidFill>
                <a:latin typeface="Arial"/>
                <a:ea typeface="Arial"/>
                <a:cs typeface="Arial"/>
              </a:defRPr>
            </a:lvl6pPr>
            <a:lvl7pPr algn="l">
              <a:defRPr sz="2250" b="0">
                <a:solidFill>
                  <a:srgbClr val="30414D"/>
                </a:solidFill>
                <a:latin typeface="Arial"/>
                <a:ea typeface="Arial"/>
                <a:cs typeface="Arial"/>
              </a:defRPr>
            </a:lvl7pPr>
            <a:lvl8pPr algn="l">
              <a:defRPr sz="2250" b="0">
                <a:solidFill>
                  <a:srgbClr val="30414D"/>
                </a:solidFill>
                <a:latin typeface="Arial"/>
                <a:ea typeface="Arial"/>
                <a:cs typeface="Arial"/>
              </a:defRPr>
            </a:lvl8pPr>
            <a:lvl9pPr algn="l">
              <a:defRPr sz="2250" b="0">
                <a:solidFill>
                  <a:srgbClr val="30414D"/>
                </a:solidFill>
                <a:latin typeface="Arial"/>
                <a:ea typeface="Arial"/>
                <a:cs typeface="Arial"/>
              </a:defRPr>
            </a:lvl9pPr>
          </a:lstStyle>
          <a:p xmlns:a="http://schemas.openxmlformats.org/drawingml/2006/main">
            <a:pPr algn="l">
              <a:defRPr sz="2250" b="0">
                <a:solidFill>
                  <a:srgbClr val="30414D"/>
                </a:solidFill>
                <a:latin typeface="Arial"/>
                <a:ea typeface="Arial"/>
                <a:cs typeface="Arial"/>
              </a:defRPr>
            </a:pPr>
            <a:r>
              <a:rPr sz="2250" b="0">
                <a:solidFill>
                  <a:srgbClr val="30414D"/>
                </a:solidFill>
                <a:latin typeface="Arial"/>
                <a:ea typeface="Arial"/>
                <a:cs typeface="Arial"/>
              </a:rPr>
              <a:t>Every geometry and component uses this same scale.</a:t>
            </a:r>
          </a:p>
        </p:txBody>
      </p:sp>
      <p:sp>
        <p:nvSpPr>
          <p:cNvPr id="12" name="Multiply predictions by q before reporting field errors in µT.">
            <a:extLst xmlns:a="http://schemas.openxmlformats.org/drawingml/2006/main">
              <a:ext uri="{FF2B5EF4-FFF2-40B4-BE49-F238E27FC236}">
                <a16:creationId xmlns:a16="http://schemas.microsoft.com/office/drawing/2014/main" id="{B7716802-013B-4C4A-8961-1B3B0661215F}"/>
              </a:ext>
            </a:extLst>
          </p:cNvPr>
          <p:cNvSpPr>
            <a:spLocks xmlns:a="http://schemas.openxmlformats.org/drawingml/2006/main" noGrp="1"/>
          </p:cNvSpPr>
          <p:nvPr/>
        </p:nvSpPr>
        <p:spPr>
          <a:xfrm xmlns:a="http://schemas.openxmlformats.org/drawingml/2006/main">
            <a:off x="685800" y="48196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defRPr sz="2250" b="0">
                <a:solidFill>
                  <a:srgbClr val="30414D"/>
                </a:solidFill>
                <a:latin typeface="Arial"/>
                <a:ea typeface="Arial"/>
                <a:cs typeface="Arial"/>
              </a:defRPr>
            </a:lvl1pPr>
            <a:lvl2pPr algn="l">
              <a:defRPr sz="2250" b="0">
                <a:solidFill>
                  <a:srgbClr val="30414D"/>
                </a:solidFill>
                <a:latin typeface="Arial"/>
                <a:ea typeface="Arial"/>
                <a:cs typeface="Arial"/>
              </a:defRPr>
            </a:lvl2pPr>
            <a:lvl3pPr algn="l">
              <a:defRPr sz="2250" b="0">
                <a:solidFill>
                  <a:srgbClr val="30414D"/>
                </a:solidFill>
                <a:latin typeface="Arial"/>
                <a:ea typeface="Arial"/>
                <a:cs typeface="Arial"/>
              </a:defRPr>
            </a:lvl3pPr>
            <a:lvl4pPr algn="l">
              <a:defRPr sz="2250" b="0">
                <a:solidFill>
                  <a:srgbClr val="30414D"/>
                </a:solidFill>
                <a:latin typeface="Arial"/>
                <a:ea typeface="Arial"/>
                <a:cs typeface="Arial"/>
              </a:defRPr>
            </a:lvl4pPr>
            <a:lvl5pPr algn="l">
              <a:defRPr sz="2250" b="0">
                <a:solidFill>
                  <a:srgbClr val="30414D"/>
                </a:solidFill>
                <a:latin typeface="Arial"/>
                <a:ea typeface="Arial"/>
                <a:cs typeface="Arial"/>
              </a:defRPr>
            </a:lvl5pPr>
            <a:lvl6pPr algn="l">
              <a:defRPr sz="2250" b="0">
                <a:solidFill>
                  <a:srgbClr val="30414D"/>
                </a:solidFill>
                <a:latin typeface="Arial"/>
                <a:ea typeface="Arial"/>
                <a:cs typeface="Arial"/>
              </a:defRPr>
            </a:lvl6pPr>
            <a:lvl7pPr algn="l">
              <a:defRPr sz="2250" b="0">
                <a:solidFill>
                  <a:srgbClr val="30414D"/>
                </a:solidFill>
                <a:latin typeface="Arial"/>
                <a:ea typeface="Arial"/>
                <a:cs typeface="Arial"/>
              </a:defRPr>
            </a:lvl7pPr>
            <a:lvl8pPr algn="l">
              <a:defRPr sz="2250" b="0">
                <a:solidFill>
                  <a:srgbClr val="30414D"/>
                </a:solidFill>
                <a:latin typeface="Arial"/>
                <a:ea typeface="Arial"/>
                <a:cs typeface="Arial"/>
              </a:defRPr>
            </a:lvl8pPr>
            <a:lvl9pPr algn="l">
              <a:defRPr sz="2250" b="0">
                <a:solidFill>
                  <a:srgbClr val="30414D"/>
                </a:solidFill>
                <a:latin typeface="Arial"/>
                <a:ea typeface="Arial"/>
                <a:cs typeface="Arial"/>
              </a:defRPr>
            </a:lvl9pPr>
          </a:lstStyle>
          <a:p xmlns:a="http://schemas.openxmlformats.org/drawingml/2006/main">
            <a:pPr algn="l">
              <a:defRPr sz="2250" b="0">
                <a:solidFill>
                  <a:srgbClr val="30414D"/>
                </a:solidFill>
                <a:latin typeface="Arial"/>
                <a:ea typeface="Arial"/>
                <a:cs typeface="Arial"/>
              </a:defRPr>
            </a:pPr>
            <a:r>
              <a:rPr sz="2250" b="0">
                <a:solidFill>
                  <a:srgbClr val="30414D"/>
                </a:solidFill>
                <a:latin typeface="Arial"/>
                <a:ea typeface="Arial"/>
                <a:cs typeface="Arial"/>
              </a:rPr>
              <a:t>Multiply predictions by q before reporting field errors in µT.</a:t>
            </a:r>
          </a:p>
        </p:txBody>
      </p:sp>
      <p:sp>
        <p:nvSpPr>
          <p:cNvPr id="13" name="Global scaling preserves relative field amplitudes across the dataset.">
            <a:extLst xmlns:a="http://schemas.openxmlformats.org/drawingml/2006/main">
              <a:ext uri="{FF2B5EF4-FFF2-40B4-BE49-F238E27FC236}">
                <a16:creationId xmlns:a16="http://schemas.microsoft.com/office/drawing/2014/main" id="{1073FB32-9F89-4F89-BE91-5E2ABB825707}"/>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Global scaling preserves relative field amplitudes across the dataset.</a:t>
            </a:r>
          </a:p>
        </p:txBody>
      </p:sp>
    </p:spTree>
    <p:extLst>
      <p:ext uri="{BB962C8B-B14F-4D97-AF65-F5344CB8AC3E}">
        <p14:creationId xmlns:p14="http://schemas.microsoft.com/office/powerpoint/2010/main" val="2026793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A frozen forward operator for each height pair</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8</a:t>
            </a:r>
          </a:p>
        </p:txBody>
      </p:sp>
      <p:sp>
        <p:nvSpPr>
          <p:cNvPr id="9" name="Aₚ(x) = Crop[Re IFFT(Hₚ · FFT(Pad(x)))]">
            <a:extLst xmlns:a="http://schemas.openxmlformats.org/drawingml/2006/main">
              <a:ext uri="{FF2B5EF4-FFF2-40B4-BE49-F238E27FC236}">
                <a16:creationId xmlns:a16="http://schemas.microsoft.com/office/drawing/2014/main" id="{A77813FB-4434-4AE0-9EFE-A5231C23620E}"/>
              </a:ext>
            </a:extLst>
          </p:cNvPr>
          <p:cNvSpPr>
            <a:spLocks xmlns:a="http://schemas.openxmlformats.org/drawingml/2006/main" noGrp="1"/>
          </p:cNvSpPr>
          <p:nvPr/>
        </p:nvSpPr>
        <p:spPr>
          <a:xfrm xmlns:a="http://schemas.openxmlformats.org/drawingml/2006/main">
            <a:off x="685800" y="1590675"/>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872A2"/>
                </a:solidFill>
                <a:latin typeface="Arial"/>
                <a:ea typeface="Arial"/>
                <a:cs typeface="Arial"/>
              </a:defRPr>
            </a:defPPr>
            <a:lvl1pPr algn="l">
              <a:defRPr sz="2625" b="1">
                <a:solidFill>
                  <a:srgbClr val="2872A2"/>
                </a:solidFill>
                <a:latin typeface="Arial"/>
                <a:ea typeface="Arial"/>
                <a:cs typeface="Arial"/>
              </a:defRPr>
            </a:lvl1pPr>
            <a:lvl2pPr algn="l">
              <a:defRPr sz="2625" b="1">
                <a:solidFill>
                  <a:srgbClr val="2872A2"/>
                </a:solidFill>
                <a:latin typeface="Arial"/>
                <a:ea typeface="Arial"/>
                <a:cs typeface="Arial"/>
              </a:defRPr>
            </a:lvl2pPr>
            <a:lvl3pPr algn="l">
              <a:defRPr sz="2625" b="1">
                <a:solidFill>
                  <a:srgbClr val="2872A2"/>
                </a:solidFill>
                <a:latin typeface="Arial"/>
                <a:ea typeface="Arial"/>
                <a:cs typeface="Arial"/>
              </a:defRPr>
            </a:lvl3pPr>
            <a:lvl4pPr algn="l">
              <a:defRPr sz="2625" b="1">
                <a:solidFill>
                  <a:srgbClr val="2872A2"/>
                </a:solidFill>
                <a:latin typeface="Arial"/>
                <a:ea typeface="Arial"/>
                <a:cs typeface="Arial"/>
              </a:defRPr>
            </a:lvl4pPr>
            <a:lvl5pPr algn="l">
              <a:defRPr sz="2625" b="1">
                <a:solidFill>
                  <a:srgbClr val="2872A2"/>
                </a:solidFill>
                <a:latin typeface="Arial"/>
                <a:ea typeface="Arial"/>
                <a:cs typeface="Arial"/>
              </a:defRPr>
            </a:lvl5pPr>
            <a:lvl6pPr algn="l">
              <a:defRPr sz="2625" b="1">
                <a:solidFill>
                  <a:srgbClr val="2872A2"/>
                </a:solidFill>
                <a:latin typeface="Arial"/>
                <a:ea typeface="Arial"/>
                <a:cs typeface="Arial"/>
              </a:defRPr>
            </a:lvl6pPr>
            <a:lvl7pPr algn="l">
              <a:defRPr sz="2625" b="1">
                <a:solidFill>
                  <a:srgbClr val="2872A2"/>
                </a:solidFill>
                <a:latin typeface="Arial"/>
                <a:ea typeface="Arial"/>
                <a:cs typeface="Arial"/>
              </a:defRPr>
            </a:lvl7pPr>
            <a:lvl8pPr algn="l">
              <a:defRPr sz="2625" b="1">
                <a:solidFill>
                  <a:srgbClr val="2872A2"/>
                </a:solidFill>
                <a:latin typeface="Arial"/>
                <a:ea typeface="Arial"/>
                <a:cs typeface="Arial"/>
              </a:defRPr>
            </a:lvl8pPr>
            <a:lvl9pPr algn="l">
              <a:defRPr sz="2625" b="1">
                <a:solidFill>
                  <a:srgbClr val="2872A2"/>
                </a:solidFill>
                <a:latin typeface="Arial"/>
                <a:ea typeface="Arial"/>
                <a:cs typeface="Arial"/>
              </a:defRPr>
            </a:lvl9pPr>
          </a:lstStyle>
          <a:p xmlns:a="http://schemas.openxmlformats.org/drawingml/2006/main">
            <a:pPr algn="l">
              <a:defRPr sz="2625" b="1">
                <a:solidFill>
                  <a:srgbClr val="2872A2"/>
                </a:solidFill>
                <a:latin typeface="Arial"/>
                <a:ea typeface="Arial"/>
                <a:cs typeface="Arial"/>
              </a:defRPr>
            </a:pPr>
            <a:r>
              <a:rPr sz="2625" b="1">
                <a:solidFill>
                  <a:srgbClr val="2872A2"/>
                </a:solidFill>
                <a:latin typeface="Arial"/>
                <a:ea typeface="Arial"/>
                <a:cs typeface="Arial"/>
              </a:rPr>
              <a:t>Aₚ(x) = Crop[Re IFFT(Hₚ · FFT(Pad(x)))]</a:t>
            </a:r>
          </a:p>
        </p:txBody>
      </p:sp>
      <p:sp>
        <p:nvSpPr>
          <p:cNvPr id="10" name="Fit Hₚ jointly to the three signed components of each pair.">
            <a:extLst xmlns:a="http://schemas.openxmlformats.org/drawingml/2006/main">
              <a:ext uri="{FF2B5EF4-FFF2-40B4-BE49-F238E27FC236}">
                <a16:creationId xmlns:a16="http://schemas.microsoft.com/office/drawing/2014/main" id="{F796B6A6-1A12-427A-9F2A-97555027A03F}"/>
              </a:ext>
            </a:extLst>
          </p:cNvPr>
          <p:cNvSpPr>
            <a:spLocks xmlns:a="http://schemas.openxmlformats.org/drawingml/2006/main" noGrp="1"/>
          </p:cNvSpPr>
          <p:nvPr/>
        </p:nvSpPr>
        <p:spPr>
          <a:xfrm xmlns:a="http://schemas.openxmlformats.org/drawingml/2006/main">
            <a:off x="685800" y="27241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Fit Hₚ jointly to the three signed components of each pair.</a:t>
            </a:r>
          </a:p>
        </p:txBody>
      </p:sp>
      <p:sp>
        <p:nvSpPr>
          <p:cNvPr id="11" name="Freeze all 17 operators before network training.">
            <a:extLst xmlns:a="http://schemas.openxmlformats.org/drawingml/2006/main">
              <a:ext uri="{FF2B5EF4-FFF2-40B4-BE49-F238E27FC236}">
                <a16:creationId xmlns:a16="http://schemas.microsoft.com/office/drawing/2014/main" id="{EE3FE8FE-E2F7-4BBE-8272-856F204948AD}"/>
              </a:ext>
            </a:extLst>
          </p:cNvPr>
          <p:cNvSpPr>
            <a:spLocks xmlns:a="http://schemas.openxmlformats.org/drawingml/2006/main" noGrp="1"/>
          </p:cNvSpPr>
          <p:nvPr/>
        </p:nvSpPr>
        <p:spPr>
          <a:xfrm xmlns:a="http://schemas.openxmlformats.org/drawingml/2006/main">
            <a:off x="685800" y="35909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Freeze all 17 operators before network training.</a:t>
            </a:r>
          </a:p>
        </p:txBody>
      </p:sp>
      <p:sp>
        <p:nvSpPr>
          <p:cNvPr id="12" name="Use the matching adjoint and 32-pixel padding in every method.">
            <a:extLst xmlns:a="http://schemas.openxmlformats.org/drawingml/2006/main">
              <a:ext uri="{FF2B5EF4-FFF2-40B4-BE49-F238E27FC236}">
                <a16:creationId xmlns:a16="http://schemas.microsoft.com/office/drawing/2014/main" id="{0442CF68-2547-448C-A266-2EB262BE2A7A}"/>
              </a:ext>
            </a:extLst>
          </p:cNvPr>
          <p:cNvSpPr>
            <a:spLocks xmlns:a="http://schemas.openxmlformats.org/drawingml/2006/main" noGrp="1"/>
          </p:cNvSpPr>
          <p:nvPr/>
        </p:nvSpPr>
        <p:spPr>
          <a:xfrm xmlns:a="http://schemas.openxmlformats.org/drawingml/2006/main">
            <a:off x="685800" y="44577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Use the matching adjoint and 32-pixel padding in every method.</a:t>
            </a:r>
          </a:p>
        </p:txBody>
      </p:sp>
      <p:sp>
        <p:nvSpPr>
          <p:cNvPr id="13" name="ISTA and FISTA minimize ½ ‖Aₚx − b‖₂² + λ ‖x‖₁.">
            <a:extLst xmlns:a="http://schemas.openxmlformats.org/drawingml/2006/main">
              <a:ext uri="{FF2B5EF4-FFF2-40B4-BE49-F238E27FC236}">
                <a16:creationId xmlns:a16="http://schemas.microsoft.com/office/drawing/2014/main" id="{47263CA2-F580-4739-8C29-FEB2E3480A49}"/>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ISTA and FISTA minimize ½ ‖Aₚx − b‖₂² + λ ‖x‖₁.</a:t>
            </a:r>
          </a:p>
        </p:txBody>
      </p:sp>
    </p:spTree>
    <p:extLst>
      <p:ext uri="{BB962C8B-B14F-4D97-AF65-F5344CB8AC3E}">
        <p14:creationId xmlns:p14="http://schemas.microsoft.com/office/powerpoint/2010/main" val="2026793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One shared ConvLISTA model</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9</a:t>
            </a:r>
          </a:p>
        </p:txBody>
      </p:sp>
      <p:sp>
        <p:nvSpPr>
          <p:cNvPr id="9" name="xₖ₊₁ = soft₍sₚθ₎[xₖ − sₚ Aₚ*(Aₚxₖ − b) + C_b b + C_x xₖ]">
            <a:extLst xmlns:a="http://schemas.openxmlformats.org/drawingml/2006/main">
              <a:ext uri="{FF2B5EF4-FFF2-40B4-BE49-F238E27FC236}">
                <a16:creationId xmlns:a16="http://schemas.microsoft.com/office/drawing/2014/main" id="{824945C4-AD9D-463B-B396-8A93C31100B1}"/>
              </a:ext>
            </a:extLst>
          </p:cNvPr>
          <p:cNvSpPr>
            <a:spLocks xmlns:a="http://schemas.openxmlformats.org/drawingml/2006/main" noGrp="1"/>
          </p:cNvSpPr>
          <p:nvPr/>
        </p:nvSpPr>
        <p:spPr>
          <a:xfrm xmlns:a="http://schemas.openxmlformats.org/drawingml/2006/main">
            <a:off x="609600" y="16192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72A2"/>
                </a:solidFill>
                <a:latin typeface="Arial"/>
                <a:ea typeface="Arial"/>
                <a:cs typeface="Arial"/>
              </a:defRPr>
            </a:defPPr>
            <a:lvl1pPr algn="l">
              <a:defRPr sz="2325" b="1">
                <a:solidFill>
                  <a:srgbClr val="2872A2"/>
                </a:solidFill>
                <a:latin typeface="Arial"/>
                <a:ea typeface="Arial"/>
                <a:cs typeface="Arial"/>
              </a:defRPr>
            </a:lvl1pPr>
            <a:lvl2pPr algn="l">
              <a:defRPr sz="2325" b="1">
                <a:solidFill>
                  <a:srgbClr val="2872A2"/>
                </a:solidFill>
                <a:latin typeface="Arial"/>
                <a:ea typeface="Arial"/>
                <a:cs typeface="Arial"/>
              </a:defRPr>
            </a:lvl2pPr>
            <a:lvl3pPr algn="l">
              <a:defRPr sz="2325" b="1">
                <a:solidFill>
                  <a:srgbClr val="2872A2"/>
                </a:solidFill>
                <a:latin typeface="Arial"/>
                <a:ea typeface="Arial"/>
                <a:cs typeface="Arial"/>
              </a:defRPr>
            </a:lvl3pPr>
            <a:lvl4pPr algn="l">
              <a:defRPr sz="2325" b="1">
                <a:solidFill>
                  <a:srgbClr val="2872A2"/>
                </a:solidFill>
                <a:latin typeface="Arial"/>
                <a:ea typeface="Arial"/>
                <a:cs typeface="Arial"/>
              </a:defRPr>
            </a:lvl4pPr>
            <a:lvl5pPr algn="l">
              <a:defRPr sz="2325" b="1">
                <a:solidFill>
                  <a:srgbClr val="2872A2"/>
                </a:solidFill>
                <a:latin typeface="Arial"/>
                <a:ea typeface="Arial"/>
                <a:cs typeface="Arial"/>
              </a:defRPr>
            </a:lvl5pPr>
            <a:lvl6pPr algn="l">
              <a:defRPr sz="2325" b="1">
                <a:solidFill>
                  <a:srgbClr val="2872A2"/>
                </a:solidFill>
                <a:latin typeface="Arial"/>
                <a:ea typeface="Arial"/>
                <a:cs typeface="Arial"/>
              </a:defRPr>
            </a:lvl6pPr>
            <a:lvl7pPr algn="l">
              <a:defRPr sz="2325" b="1">
                <a:solidFill>
                  <a:srgbClr val="2872A2"/>
                </a:solidFill>
                <a:latin typeface="Arial"/>
                <a:ea typeface="Arial"/>
                <a:cs typeface="Arial"/>
              </a:defRPr>
            </a:lvl7pPr>
            <a:lvl8pPr algn="l">
              <a:defRPr sz="2325" b="1">
                <a:solidFill>
                  <a:srgbClr val="2872A2"/>
                </a:solidFill>
                <a:latin typeface="Arial"/>
                <a:ea typeface="Arial"/>
                <a:cs typeface="Arial"/>
              </a:defRPr>
            </a:lvl8pPr>
            <a:lvl9pPr algn="l">
              <a:defRPr sz="2325" b="1">
                <a:solidFill>
                  <a:srgbClr val="2872A2"/>
                </a:solidFill>
                <a:latin typeface="Arial"/>
                <a:ea typeface="Arial"/>
                <a:cs typeface="Arial"/>
              </a:defRPr>
            </a:lvl9pPr>
          </a:lstStyle>
          <a:p xmlns:a="http://schemas.openxmlformats.org/drawingml/2006/main">
            <a:pPr algn="l">
              <a:defRPr sz="2325" b="1">
                <a:solidFill>
                  <a:srgbClr val="2872A2"/>
                </a:solidFill>
                <a:latin typeface="Arial"/>
                <a:ea typeface="Arial"/>
                <a:cs typeface="Arial"/>
              </a:defRPr>
            </a:pPr>
            <a:r>
              <a:rPr sz="2325" b="1">
                <a:solidFill>
                  <a:srgbClr val="2872A2"/>
                </a:solidFill>
                <a:latin typeface="Arial"/>
                <a:ea typeface="Arial"/>
                <a:cs typeface="Arial"/>
              </a:rPr>
              <a:t>xₖ₊₁ = soft₍sₚθ₎[xₖ − sₚ Aₚ*(Aₚxₖ − b) + C_b b + C_x xₖ]</a:t>
            </a:r>
          </a:p>
        </p:txBody>
      </p:sp>
      <p:sp>
        <p:nvSpPr>
          <p:cNvPr id="10" name="Two shared 9 × 9 filters and one nonnegative scalar: 163 parameters.">
            <a:extLst xmlns:a="http://schemas.openxmlformats.org/drawingml/2006/main">
              <a:ext uri="{FF2B5EF4-FFF2-40B4-BE49-F238E27FC236}">
                <a16:creationId xmlns:a16="http://schemas.microsoft.com/office/drawing/2014/main" id="{E528C94D-8CF8-43B0-A740-D3A3238A4422}"/>
              </a:ext>
            </a:extLst>
          </p:cNvPr>
          <p:cNvSpPr>
            <a:spLocks xmlns:a="http://schemas.openxmlformats.org/drawingml/2006/main" noGrp="1"/>
          </p:cNvSpPr>
          <p:nvPr/>
        </p:nvSpPr>
        <p:spPr>
          <a:xfrm xmlns:a="http://schemas.openxmlformats.org/drawingml/2006/main">
            <a:off x="685800" y="29241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Two shared 9 × 9 filters and one nonnegative scalar: 163 parameters.</a:t>
            </a:r>
          </a:p>
        </p:txBody>
      </p:sp>
      <p:sp>
        <p:nvSpPr>
          <p:cNvPr id="11" name="All pairs share C_b, C_x and θ across the 16 layers.">
            <a:extLst xmlns:a="http://schemas.openxmlformats.org/drawingml/2006/main">
              <a:ext uri="{FF2B5EF4-FFF2-40B4-BE49-F238E27FC236}">
                <a16:creationId xmlns:a16="http://schemas.microsoft.com/office/drawing/2014/main" id="{8C0A4356-47FA-45DE-938F-197D8AB24750}"/>
              </a:ext>
            </a:extLst>
          </p:cNvPr>
          <p:cNvSpPr>
            <a:spLocks xmlns:a="http://schemas.openxmlformats.org/drawingml/2006/main" noGrp="1"/>
          </p:cNvSpPr>
          <p:nvPr/>
        </p:nvSpPr>
        <p:spPr>
          <a:xfrm xmlns:a="http://schemas.openxmlformats.org/drawingml/2006/main">
            <a:off x="685800" y="38004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All pairs share C_b, C_x and θ across the 16 layers.</a:t>
            </a:r>
          </a:p>
        </p:txBody>
      </p:sp>
      <p:sp>
        <p:nvSpPr>
          <p:cNvPr id="12" name="Each pair supplies its own operator and step size sₚ.">
            <a:extLst xmlns:a="http://schemas.openxmlformats.org/drawingml/2006/main">
              <a:ext uri="{FF2B5EF4-FFF2-40B4-BE49-F238E27FC236}">
                <a16:creationId xmlns:a16="http://schemas.microsoft.com/office/drawing/2014/main" id="{E243924E-69FF-4603-B917-1F65FF7A58EE}"/>
              </a:ext>
            </a:extLst>
          </p:cNvPr>
          <p:cNvSpPr>
            <a:spLocks xmlns:a="http://schemas.openxmlformats.org/drawingml/2006/main" noGrp="1"/>
          </p:cNvSpPr>
          <p:nvPr/>
        </p:nvSpPr>
        <p:spPr>
          <a:xfrm xmlns:a="http://schemas.openxmlformats.org/drawingml/2006/main">
            <a:off x="685800" y="46767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Each pair supplies its own operator and step size sₚ.</a:t>
            </a:r>
          </a:p>
        </p:txBody>
      </p:sp>
      <p:sp>
        <p:nvSpPr>
          <p:cNvPr id="13" name="Zero filters and θ = λ̃ initialize every pair at 16 ISTA updates.">
            <a:extLst xmlns:a="http://schemas.openxmlformats.org/drawingml/2006/main">
              <a:ext uri="{FF2B5EF4-FFF2-40B4-BE49-F238E27FC236}">
                <a16:creationId xmlns:a16="http://schemas.microsoft.com/office/drawing/2014/main" id="{EE84D675-0D5A-461E-B3B0-5F92F6673229}"/>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Zero filters and θ = λ̃ initialize every pair at 16 ISTA updates.</a:t>
            </a:r>
          </a:p>
        </p:txBody>
      </p:sp>
    </p:spTree>
    <p:extLst>
      <p:ext uri="{BB962C8B-B14F-4D97-AF65-F5344CB8AC3E}">
        <p14:creationId xmlns:p14="http://schemas.microsoft.com/office/powerpoint/2010/main" val="20267938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Bounded batches and one update per epoch</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10</a:t>
            </a:r>
          </a:p>
        </p:txBody>
      </p:sp>
      <p:sp>
        <p:nvSpPr>
          <p:cNvPr id="9" name="Process one full component image at a time on the GPU.">
            <a:extLst xmlns:a="http://schemas.openxmlformats.org/drawingml/2006/main">
              <a:ext uri="{FF2B5EF4-FFF2-40B4-BE49-F238E27FC236}">
                <a16:creationId xmlns:a16="http://schemas.microsoft.com/office/drawing/2014/main" id="{8FFFC9D3-967E-4C02-B4AD-DC5525AE7F4C}"/>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Process one full component image at a time on the GPU.</a:t>
            </a:r>
          </a:p>
        </p:txBody>
      </p:sp>
      <p:sp>
        <p:nvSpPr>
          <p:cNvPr id="10" name="Accumulate its normalized MSE gradient with weight 1/51.">
            <a:extLst xmlns:a="http://schemas.openxmlformats.org/drawingml/2006/main">
              <a:ext uri="{FF2B5EF4-FFF2-40B4-BE49-F238E27FC236}">
                <a16:creationId xmlns:a16="http://schemas.microsoft.com/office/drawing/2014/main" id="{2A4856A3-8930-4F2F-9EA2-B9E11E4EBA9A}"/>
              </a:ext>
            </a:extLst>
          </p:cNvPr>
          <p:cNvSpPr>
            <a:spLocks xmlns:a="http://schemas.openxmlformats.org/drawingml/2006/main" noGrp="1"/>
          </p:cNvSpPr>
          <p:nvPr/>
        </p:nvSpPr>
        <p:spPr>
          <a:xfrm xmlns:a="http://schemas.openxmlformats.org/drawingml/2006/main">
            <a:off x="685800" y="25241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Accumulate its normalized MSE gradient with weight 1/51.</a:t>
            </a:r>
          </a:p>
        </p:txBody>
      </p:sp>
      <p:sp>
        <p:nvSpPr>
          <p:cNvPr id="11" name="After all 51 examples, clip the gradient and take one Adam step.">
            <a:extLst xmlns:a="http://schemas.openxmlformats.org/drawingml/2006/main">
              <a:ext uri="{FF2B5EF4-FFF2-40B4-BE49-F238E27FC236}">
                <a16:creationId xmlns:a16="http://schemas.microsoft.com/office/drawing/2014/main" id="{0A6C1DC9-787F-46ED-92DE-5F122A5EE8F6}"/>
              </a:ext>
            </a:extLst>
          </p:cNvPr>
          <p:cNvSpPr>
            <a:spLocks xmlns:a="http://schemas.openxmlformats.org/drawingml/2006/main" noGrp="1"/>
          </p:cNvSpPr>
          <p:nvPr/>
        </p:nvSpPr>
        <p:spPr>
          <a:xfrm xmlns:a="http://schemas.openxmlformats.org/drawingml/2006/main">
            <a:off x="685800" y="3524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After all 51 examples, clip the gradient and take one Adam step.</a:t>
            </a:r>
          </a:p>
        </p:txBody>
      </p:sp>
      <p:sp>
        <p:nvSpPr>
          <p:cNvPr id="12" name="Reevaluate the model and save the latest and best checkpoints.">
            <a:extLst xmlns:a="http://schemas.openxmlformats.org/drawingml/2006/main">
              <a:ext uri="{FF2B5EF4-FFF2-40B4-BE49-F238E27FC236}">
                <a16:creationId xmlns:a16="http://schemas.microsoft.com/office/drawing/2014/main" id="{DE76231E-93C9-40BB-B958-56960021048B}"/>
              </a:ext>
            </a:extLst>
          </p:cNvPr>
          <p:cNvSpPr>
            <a:spLocks xmlns:a="http://schemas.openxmlformats.org/drawingml/2006/main" noGrp="1"/>
          </p:cNvSpPr>
          <p:nvPr/>
        </p:nvSpPr>
        <p:spPr>
          <a:xfrm xmlns:a="http://schemas.openxmlformats.org/drawingml/2006/main">
            <a:off x="685800" y="45243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Reevaluate the model and save the latest and best checkpoints.</a:t>
            </a:r>
          </a:p>
        </p:txBody>
      </p:sp>
      <p:sp>
        <p:nvSpPr>
          <p:cNvPr id="13" name="Activation checkpointing bounds memory without cropping the fields.">
            <a:extLst xmlns:a="http://schemas.openxmlformats.org/drawingml/2006/main">
              <a:ext uri="{FF2B5EF4-FFF2-40B4-BE49-F238E27FC236}">
                <a16:creationId xmlns:a16="http://schemas.microsoft.com/office/drawing/2014/main" id="{D89CA63C-D274-48E6-9F64-3B84195CC0B6}"/>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Activation checkpointing bounds memory without cropping the fields.</a:t>
            </a:r>
          </a:p>
        </p:txBody>
      </p:sp>
    </p:spTree>
    <p:extLst>
      <p:ext uri="{BB962C8B-B14F-4D97-AF65-F5344CB8AC3E}">
        <p14:creationId xmlns:p14="http://schemas.microsoft.com/office/powerpoint/2010/main" val="20267938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Experiment settings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11</a:t>
            </a:r>
          </a:p>
        </p:txBody>
      </p:sp>
      <p:graphicFrame>
        <p:nvGraphicFramePr>
          <p:cNvPr id="9" name="">
            <a:extLst xmlns:a="http://schemas.openxmlformats.org/drawingml/2006/main">
              <a:ext uri="{FF2B5EF4-FFF2-40B4-BE49-F238E27FC236}">
                <a16:creationId xmlns:a16="http://schemas.microsoft.com/office/drawing/2014/main" id="{976428F1-6CB2-45A7-B014-E5BCD304B398}"/>
              </a:ext>
            </a:extLst>
          </p:cNvPr>
          <p:cNvGraphicFramePr/>
          <p:nvPr/>
        </p:nvGraphicFramePr>
        <p:xfrm>
          <a:off xmlns:a="http://schemas.openxmlformats.org/drawingml/2006/main" x="609600" y="1352550"/>
          <a:ext xmlns:a="http://schemas.openxmlformats.org/drawingml/2006/main" cx="10972800" cy="4457700"/>
        </p:xfrm>
        <a:graphic xmlns:a="http://schemas.openxmlformats.org/drawingml/2006/main">
          <a:graphicData uri="http://schemas.openxmlformats.org/drawingml/2006/table">
            <a:tbl>
              <a:tblPr/>
              <a:tblGrid>
                <a:gridCol w="3571875"/>
                <a:gridCol w="7400925"/>
              </a:tblGrid>
              <a:tr h="557213">
                <a:tc>
                  <a:txBody>
                    <a:bodyPr lIns="95250" tIns="95250" rIns="95250" bIns="95250"/>
                    <a:lstStyle/>
                    <a:p>
                      <a:r>
                        <a:rPr sz="1875" b="1">
                          <a:solidFill>
                            <a:srgbClr val="FFFFFF"/>
                          </a:solidFill>
                          <a:latin typeface="Arial"/>
                          <a:ea typeface="Arial"/>
                          <a:cs typeface="Arial"/>
                        </a:rPr>
                        <a:t>Setting</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Value</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57213">
                <a:tc>
                  <a:txBody>
                    <a:bodyPr lIns="95250" tIns="95250" rIns="95250" bIns="95250"/>
                    <a:lstStyle/>
                    <a:p>
                      <a:r>
                        <a:rPr sz="1875" b="0">
                          <a:solidFill>
                            <a:srgbClr val="30414D"/>
                          </a:solidFill>
                          <a:latin typeface="Arial"/>
                          <a:ea typeface="Arial"/>
                          <a:cs typeface="Arial"/>
                        </a:rPr>
                        <a:t>Depth and trainable parameters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16 layers, 163 parameters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7213">
                <a:tc>
                  <a:txBody>
                    <a:bodyPr lIns="95250" tIns="95250" rIns="95250" bIns="95250"/>
                    <a:lstStyle/>
                    <a:p>
                      <a:r>
                        <a:rPr sz="1875" b="0">
                          <a:solidFill>
                            <a:srgbClr val="30414D"/>
                          </a:solidFill>
                          <a:latin typeface="Arial"/>
                          <a:ea typeface="Arial"/>
                          <a:cs typeface="Arial"/>
                        </a:rPr>
                        <a:t>Training budget</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2-epoch pilot, then a fresh 200-epoch run</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7213">
                <a:tc>
                  <a:txBody>
                    <a:bodyPr lIns="95250" tIns="95250" rIns="95250" bIns="95250"/>
                    <a:lstStyle/>
                    <a:p>
                      <a:r>
                        <a:rPr sz="1875" b="0">
                          <a:solidFill>
                            <a:srgbClr val="30414D"/>
                          </a:solidFill>
                          <a:latin typeface="Arial"/>
                          <a:ea typeface="Arial"/>
                          <a:cs typeface="Arial"/>
                        </a:rPr>
                        <a:t>Optimizer</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Adam, learning rate 10⁻⁴, gradient norm clip 1</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7213">
                <a:tc>
                  <a:txBody>
                    <a:bodyPr lIns="95250" tIns="95250" rIns="95250" bIns="95250"/>
                    <a:lstStyle/>
                    <a:p>
                      <a:r>
                        <a:rPr sz="1875" b="0">
                          <a:solidFill>
                            <a:srgbClr val="30414D"/>
                          </a:solidFill>
                          <a:latin typeface="Arial"/>
                          <a:ea typeface="Arial"/>
                          <a:cs typeface="Arial"/>
                        </a:rPr>
                        <a:t>Physical regularization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λ = 10⁻⁴ µT</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7213">
                <a:tc>
                  <a:txBody>
                    <a:bodyPr lIns="95250" tIns="95250" rIns="95250" bIns="95250"/>
                    <a:lstStyle/>
                    <a:p>
                      <a:r>
                        <a:rPr sz="1875" b="0">
                          <a:solidFill>
                            <a:srgbClr val="30414D"/>
                          </a:solidFill>
                          <a:latin typeface="Arial"/>
                          <a:ea typeface="Arial"/>
                          <a:cs typeface="Arial"/>
                        </a:rPr>
                        <a:t>Input and GPU batch</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Blurred-field initialization, 1 component image</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7213">
                <a:tc>
                  <a:txBody>
                    <a:bodyPr lIns="95250" tIns="95250" rIns="95250" bIns="95250"/>
                    <a:lstStyle/>
                    <a:p>
                      <a:r>
                        <a:rPr sz="1875" b="0">
                          <a:solidFill>
                            <a:srgbClr val="30414D"/>
                          </a:solidFill>
                          <a:latin typeface="Arial"/>
                          <a:ea typeface="Arial"/>
                          <a:cs typeface="Arial"/>
                        </a:rPr>
                        <a:t>Checkpoint selection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Lowest training MSE, including epoch 0</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7213">
                <a:tc>
                  <a:txBody>
                    <a:bodyPr lIns="95250" tIns="95250" rIns="95250" bIns="95250"/>
                    <a:lstStyle/>
                    <a:p>
                      <a:r>
                        <a:rPr sz="1875" b="0">
                          <a:solidFill>
                            <a:srgbClr val="30414D"/>
                          </a:solidFill>
                          <a:latin typeface="Arial"/>
                          <a:ea typeface="Arial"/>
                          <a:cs typeface="Arial"/>
                        </a:rPr>
                        <a:t>Classical stopping</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Relative PG ≤ 10⁻³, cap of 100,000 updates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0" name="All methods use the same pair operators, normalization and GPU.">
            <a:extLst xmlns:a="http://schemas.openxmlformats.org/drawingml/2006/main">
              <a:ext uri="{FF2B5EF4-FFF2-40B4-BE49-F238E27FC236}">
                <a16:creationId xmlns:a16="http://schemas.microsoft.com/office/drawing/2014/main" id="{9C5DE2AB-1FFE-49E2-8D68-6C05645FCC27}"/>
              </a:ext>
            </a:extLst>
          </p:cNvPr>
          <p:cNvSpPr>
            <a:spLocks xmlns:a="http://schemas.openxmlformats.org/drawingml/2006/main" noGrp="1"/>
          </p:cNvSpPr>
          <p:nvPr/>
        </p:nvSpPr>
        <p:spPr>
          <a:xfrm xmlns:a="http://schemas.openxmlformats.org/drawingml/2006/main">
            <a:off x="609600" y="60198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All methods use the same pair operators, normalization and GPU.</a:t>
            </a:r>
          </a:p>
        </p:txBody>
      </p:sp>
    </p:spTree>
    <p:extLst>
      <p:ext uri="{BB962C8B-B14F-4D97-AF65-F5344CB8AC3E}">
        <p14:creationId xmlns:p14="http://schemas.microsoft.com/office/powerpoint/2010/main" val="20267938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Evaluation and timing protocol</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12</a:t>
            </a:r>
          </a:p>
        </p:txBody>
      </p:sp>
      <p:sp>
        <p:nvSpPr>
          <p:cNvPr id="9" name="Range NRMSE (%) = 100 × RMSE / (max xref − min xref)">
            <a:extLst xmlns:a="http://schemas.openxmlformats.org/drawingml/2006/main">
              <a:ext uri="{FF2B5EF4-FFF2-40B4-BE49-F238E27FC236}">
                <a16:creationId xmlns:a16="http://schemas.microsoft.com/office/drawing/2014/main" id="{A4C783E6-BB67-4591-85DA-4586A406D03F}"/>
              </a:ext>
            </a:extLst>
          </p:cNvPr>
          <p:cNvSpPr>
            <a:spLocks xmlns:a="http://schemas.openxmlformats.org/drawingml/2006/main" noGrp="1"/>
          </p:cNvSpPr>
          <p:nvPr/>
        </p:nvSpPr>
        <p:spPr>
          <a:xfrm xmlns:a="http://schemas.openxmlformats.org/drawingml/2006/main">
            <a:off x="685800" y="1571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72A2"/>
                </a:solidFill>
                <a:latin typeface="Arial"/>
                <a:ea typeface="Arial"/>
                <a:cs typeface="Arial"/>
              </a:defRPr>
            </a:defPPr>
            <a:lvl1pPr algn="l">
              <a:defRPr sz="2400" b="1">
                <a:solidFill>
                  <a:srgbClr val="2872A2"/>
                </a:solidFill>
                <a:latin typeface="Arial"/>
                <a:ea typeface="Arial"/>
                <a:cs typeface="Arial"/>
              </a:defRPr>
            </a:lvl1pPr>
            <a:lvl2pPr algn="l">
              <a:defRPr sz="2400" b="1">
                <a:solidFill>
                  <a:srgbClr val="2872A2"/>
                </a:solidFill>
                <a:latin typeface="Arial"/>
                <a:ea typeface="Arial"/>
                <a:cs typeface="Arial"/>
              </a:defRPr>
            </a:lvl2pPr>
            <a:lvl3pPr algn="l">
              <a:defRPr sz="2400" b="1">
                <a:solidFill>
                  <a:srgbClr val="2872A2"/>
                </a:solidFill>
                <a:latin typeface="Arial"/>
                <a:ea typeface="Arial"/>
                <a:cs typeface="Arial"/>
              </a:defRPr>
            </a:lvl3pPr>
            <a:lvl4pPr algn="l">
              <a:defRPr sz="2400" b="1">
                <a:solidFill>
                  <a:srgbClr val="2872A2"/>
                </a:solidFill>
                <a:latin typeface="Arial"/>
                <a:ea typeface="Arial"/>
                <a:cs typeface="Arial"/>
              </a:defRPr>
            </a:lvl4pPr>
            <a:lvl5pPr algn="l">
              <a:defRPr sz="2400" b="1">
                <a:solidFill>
                  <a:srgbClr val="2872A2"/>
                </a:solidFill>
                <a:latin typeface="Arial"/>
                <a:ea typeface="Arial"/>
                <a:cs typeface="Arial"/>
              </a:defRPr>
            </a:lvl5pPr>
            <a:lvl6pPr algn="l">
              <a:defRPr sz="2400" b="1">
                <a:solidFill>
                  <a:srgbClr val="2872A2"/>
                </a:solidFill>
                <a:latin typeface="Arial"/>
                <a:ea typeface="Arial"/>
                <a:cs typeface="Arial"/>
              </a:defRPr>
            </a:lvl6pPr>
            <a:lvl7pPr algn="l">
              <a:defRPr sz="2400" b="1">
                <a:solidFill>
                  <a:srgbClr val="2872A2"/>
                </a:solidFill>
                <a:latin typeface="Arial"/>
                <a:ea typeface="Arial"/>
                <a:cs typeface="Arial"/>
              </a:defRPr>
            </a:lvl7pPr>
            <a:lvl8pPr algn="l">
              <a:defRPr sz="2400" b="1">
                <a:solidFill>
                  <a:srgbClr val="2872A2"/>
                </a:solidFill>
                <a:latin typeface="Arial"/>
                <a:ea typeface="Arial"/>
                <a:cs typeface="Arial"/>
              </a:defRPr>
            </a:lvl8pPr>
            <a:lvl9pPr algn="l">
              <a:defRPr sz="2400" b="1">
                <a:solidFill>
                  <a:srgbClr val="2872A2"/>
                </a:solidFill>
                <a:latin typeface="Arial"/>
                <a:ea typeface="Arial"/>
                <a:cs typeface="Arial"/>
              </a:defRPr>
            </a:lvl9pPr>
          </a:lstStyle>
          <a:p xmlns:a="http://schemas.openxmlformats.org/drawingml/2006/main">
            <a:pPr algn="l">
              <a:defRPr sz="2400" b="1">
                <a:solidFill>
                  <a:srgbClr val="2872A2"/>
                </a:solidFill>
                <a:latin typeface="Arial"/>
                <a:ea typeface="Arial"/>
                <a:cs typeface="Arial"/>
              </a:defRPr>
            </a:pPr>
            <a:r>
              <a:rPr sz="2400" b="1">
                <a:solidFill>
                  <a:srgbClr val="2872A2"/>
                </a:solidFill>
                <a:latin typeface="Arial"/>
                <a:ea typeface="Arial"/>
                <a:cs typeface="Arial"/>
              </a:rPr>
              <a:t>Range NRMSE (%) = 100 × RMSE / (max xref − min xref)</a:t>
            </a:r>
          </a:p>
        </p:txBody>
      </p:sp>
      <p:sp>
        <p:nvSpPr>
          <p:cNvPr id="10" name="Report the mean across all 51 component pairs, plus RMSE in µT.">
            <a:extLst xmlns:a="http://schemas.openxmlformats.org/drawingml/2006/main">
              <a:ext uri="{FF2B5EF4-FFF2-40B4-BE49-F238E27FC236}">
                <a16:creationId xmlns:a16="http://schemas.microsoft.com/office/drawing/2014/main" id="{91BCED62-A5F3-42A8-BEBF-A77FC3EAF61A}"/>
              </a:ext>
            </a:extLst>
          </p:cNvPr>
          <p:cNvSpPr>
            <a:spLocks xmlns:a="http://schemas.openxmlformats.org/drawingml/2006/main" noGrp="1"/>
          </p:cNvSpPr>
          <p:nvPr/>
        </p:nvSpPr>
        <p:spPr>
          <a:xfrm xmlns:a="http://schemas.openxmlformats.org/drawingml/2006/main">
            <a:off x="685800" y="2667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Report the mean across all 51 component pairs, plus RMSE in µT.</a:t>
            </a:r>
          </a:p>
        </p:txBody>
      </p:sp>
      <p:sp>
        <p:nvSpPr>
          <p:cNvPr id="11" name="Compare 16-update baselines and baselines run to the stopping threshold.">
            <a:extLst xmlns:a="http://schemas.openxmlformats.org/drawingml/2006/main">
              <a:ext uri="{FF2B5EF4-FFF2-40B4-BE49-F238E27FC236}">
                <a16:creationId xmlns:a16="http://schemas.microsoft.com/office/drawing/2014/main" id="{43896ACD-15C1-40E5-BE69-46C2C7A71EB3}"/>
              </a:ext>
            </a:extLst>
          </p:cNvPr>
          <p:cNvSpPr>
            <a:spLocks xmlns:a="http://schemas.openxmlformats.org/drawingml/2006/main" noGrp="1"/>
          </p:cNvSpPr>
          <p:nvPr/>
        </p:nvSpPr>
        <p:spPr>
          <a:xfrm xmlns:a="http://schemas.openxmlformats.org/drawingml/2006/main">
            <a:off x="685800" y="3448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Compare 16-update baselines and baselines run to the stopping threshold.</a:t>
            </a:r>
          </a:p>
        </p:txBody>
      </p:sp>
      <p:sp>
        <p:nvSpPr>
          <p:cNvPr id="12" name="Timing: warm-up, then three synchronized repeats per batch.">
            <a:extLst xmlns:a="http://schemas.openxmlformats.org/drawingml/2006/main">
              <a:ext uri="{FF2B5EF4-FFF2-40B4-BE49-F238E27FC236}">
                <a16:creationId xmlns:a16="http://schemas.microsoft.com/office/drawing/2014/main" id="{0FBDCE1B-4430-4D12-833F-F0E32D595504}"/>
              </a:ext>
            </a:extLst>
          </p:cNvPr>
          <p:cNvSpPr>
            <a:spLocks xmlns:a="http://schemas.openxmlformats.org/drawingml/2006/main" noGrp="1"/>
          </p:cNvSpPr>
          <p:nvPr/>
        </p:nvSpPr>
        <p:spPr>
          <a:xfrm xmlns:a="http://schemas.openxmlformats.org/drawingml/2006/main">
            <a:off x="685800" y="42291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Timing: warm-up, then three synchronized repeats per batch.</a:t>
            </a:r>
          </a:p>
        </p:txBody>
      </p:sp>
      <p:sp>
        <p:nvSpPr>
          <p:cNvPr id="13" name="Reported dataset time is the sum of batch medians.">
            <a:extLst xmlns:a="http://schemas.openxmlformats.org/drawingml/2006/main">
              <a:ext uri="{FF2B5EF4-FFF2-40B4-BE49-F238E27FC236}">
                <a16:creationId xmlns:a16="http://schemas.microsoft.com/office/drawing/2014/main" id="{AF6EADD9-5F84-45C3-8501-4E5786393CE4}"/>
              </a:ext>
            </a:extLst>
          </p:cNvPr>
          <p:cNvSpPr>
            <a:spLocks xmlns:a="http://schemas.openxmlformats.org/drawingml/2006/main" noGrp="1"/>
          </p:cNvSpPr>
          <p:nvPr/>
        </p:nvSpPr>
        <p:spPr>
          <a:xfrm xmlns:a="http://schemas.openxmlformats.org/drawingml/2006/main">
            <a:off x="685800" y="5010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Reported dataset time is the sum of batch medians.</a:t>
            </a:r>
          </a:p>
        </p:txBody>
      </p:sp>
      <p:sp>
        <p:nvSpPr>
          <p:cNvPr id="14" name="Current scores measure reconstruction on the training fields.">
            <a:extLst xmlns:a="http://schemas.openxmlformats.org/drawingml/2006/main">
              <a:ext uri="{FF2B5EF4-FFF2-40B4-BE49-F238E27FC236}">
                <a16:creationId xmlns:a16="http://schemas.microsoft.com/office/drawing/2014/main" id="{A2A4E3C1-C6AC-4C70-82CF-9A5BAF351ECF}"/>
              </a:ext>
            </a:extLst>
          </p:cNvPr>
          <p:cNvSpPr>
            <a:spLocks xmlns:a="http://schemas.openxmlformats.org/drawingml/2006/main" noGrp="1"/>
          </p:cNvSpPr>
          <p:nvPr/>
        </p:nvSpPr>
        <p:spPr>
          <a:xfrm xmlns:a="http://schemas.openxmlformats.org/drawingml/2006/main">
            <a:off x="609600" y="59721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defRPr sz="1875" b="1">
                <a:solidFill>
                  <a:srgbClr val="30414D"/>
                </a:solidFill>
                <a:latin typeface="Arial"/>
                <a:ea typeface="Arial"/>
                <a:cs typeface="Arial"/>
              </a:defRPr>
            </a:lvl1pPr>
            <a:lvl2pPr algn="l">
              <a:defRPr sz="1875" b="1">
                <a:solidFill>
                  <a:srgbClr val="30414D"/>
                </a:solidFill>
                <a:latin typeface="Arial"/>
                <a:ea typeface="Arial"/>
                <a:cs typeface="Arial"/>
              </a:defRPr>
            </a:lvl2pPr>
            <a:lvl3pPr algn="l">
              <a:defRPr sz="1875" b="1">
                <a:solidFill>
                  <a:srgbClr val="30414D"/>
                </a:solidFill>
                <a:latin typeface="Arial"/>
                <a:ea typeface="Arial"/>
                <a:cs typeface="Arial"/>
              </a:defRPr>
            </a:lvl3pPr>
            <a:lvl4pPr algn="l">
              <a:defRPr sz="1875" b="1">
                <a:solidFill>
                  <a:srgbClr val="30414D"/>
                </a:solidFill>
                <a:latin typeface="Arial"/>
                <a:ea typeface="Arial"/>
                <a:cs typeface="Arial"/>
              </a:defRPr>
            </a:lvl4pPr>
            <a:lvl5pPr algn="l">
              <a:defRPr sz="1875" b="1">
                <a:solidFill>
                  <a:srgbClr val="30414D"/>
                </a:solidFill>
                <a:latin typeface="Arial"/>
                <a:ea typeface="Arial"/>
                <a:cs typeface="Arial"/>
              </a:defRPr>
            </a:lvl5pPr>
            <a:lvl6pPr algn="l">
              <a:defRPr sz="1875" b="1">
                <a:solidFill>
                  <a:srgbClr val="30414D"/>
                </a:solidFill>
                <a:latin typeface="Arial"/>
                <a:ea typeface="Arial"/>
                <a:cs typeface="Arial"/>
              </a:defRPr>
            </a:lvl6pPr>
            <a:lvl7pPr algn="l">
              <a:defRPr sz="1875" b="1">
                <a:solidFill>
                  <a:srgbClr val="30414D"/>
                </a:solidFill>
                <a:latin typeface="Arial"/>
                <a:ea typeface="Arial"/>
                <a:cs typeface="Arial"/>
              </a:defRPr>
            </a:lvl7pPr>
            <a:lvl8pPr algn="l">
              <a:defRPr sz="1875" b="1">
                <a:solidFill>
                  <a:srgbClr val="30414D"/>
                </a:solidFill>
                <a:latin typeface="Arial"/>
                <a:ea typeface="Arial"/>
                <a:cs typeface="Arial"/>
              </a:defRPr>
            </a:lvl8pPr>
            <a:lvl9pPr algn="l">
              <a:defRPr sz="1875" b="1">
                <a:solidFill>
                  <a:srgbClr val="30414D"/>
                </a:solidFill>
                <a:latin typeface="Arial"/>
                <a:ea typeface="Arial"/>
                <a:cs typeface="Arial"/>
              </a:defRPr>
            </a:lvl9pPr>
          </a:lstStyle>
          <a:p xmlns:a="http://schemas.openxmlformats.org/drawingml/2006/main">
            <a:pPr algn="l">
              <a:defRPr sz="1875" b="1">
                <a:solidFill>
                  <a:srgbClr val="30414D"/>
                </a:solidFill>
                <a:latin typeface="Arial"/>
                <a:ea typeface="Arial"/>
                <a:cs typeface="Arial"/>
              </a:defRPr>
            </a:pPr>
            <a:r>
              <a:rPr sz="1875" b="1">
                <a:solidFill>
                  <a:srgbClr val="30414D"/>
                </a:solidFill>
                <a:latin typeface="Arial"/>
                <a:ea typeface="Arial"/>
                <a:cs typeface="Arial"/>
              </a:rPr>
              <a:t>Current scores measure reconstruction on the training fields.</a:t>
            </a:r>
          </a:p>
        </p:txBody>
      </p:sp>
    </p:spTree>
    <p:extLst>
      <p:ext uri="{BB962C8B-B14F-4D97-AF65-F5344CB8AC3E}">
        <p14:creationId xmlns:p14="http://schemas.microsoft.com/office/powerpoint/2010/main" val="20267938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Two-epoch pilot training</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13</a:t>
            </a:r>
          </a:p>
        </p:txBody>
      </p:sp>
      <p:graphicFrame>
        <p:nvGraphicFramePr>
          <p:cNvPr id="9" name="Chart">
            <a:extLst xmlns:a="http://schemas.openxmlformats.org/drawingml/2006/main">
              <a:ext uri="{FF2B5EF4-FFF2-40B4-BE49-F238E27FC236}">
                <a16:creationId xmlns:a16="http://schemas.microsoft.com/office/drawing/2014/main" id="{30BA79EE-95E0-4030-9ECE-8577BD5950C2}"/>
              </a:ext>
            </a:extLst>
          </p:cNvPr>
          <p:cNvGraphicFramePr/>
          <p:nvPr/>
        </p:nvGraphicFramePr>
        <p:xfrm>
          <a:off xmlns:a="http://schemas.openxmlformats.org/drawingml/2006/main" x="609600" y="1485900"/>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8a88ce139d9c41da"/>
          </a:graphicData>
        </a:graphic>
      </p:graphicFrame>
      <p:sp>
        <p:nvSpPr>
          <p:cNvPr id="10" name="Training MSE fell by 10.9%. The pilot selected epoch 2.">
            <a:extLst xmlns:a="http://schemas.openxmlformats.org/drawingml/2006/main">
              <a:ext uri="{FF2B5EF4-FFF2-40B4-BE49-F238E27FC236}">
                <a16:creationId xmlns:a16="http://schemas.microsoft.com/office/drawing/2014/main" id="{94B7B6CC-BF20-4AB5-8EB4-8D0B7C3C9F65}"/>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Training MSE fell by 10.9%. The pilot selected epoch 2.</a:t>
            </a:r>
          </a:p>
        </p:txBody>
      </p:sp>
    </p:spTree>
    <p:extLst>
      <p:ext uri="{BB962C8B-B14F-4D97-AF65-F5344CB8AC3E}">
        <p14:creationId xmlns:p14="http://schemas.microsoft.com/office/powerpoint/2010/main" val="20267938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Pilot reconstruction results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14</a:t>
            </a:r>
          </a:p>
        </p:txBody>
      </p:sp>
      <p:sp>
        <p:nvSpPr>
          <p:cNvPr id="9" name="Mean over 51 component pairs. Lower reconstruction error is better.">
            <a:extLst xmlns:a="http://schemas.openxmlformats.org/drawingml/2006/main">
              <a:ext uri="{FF2B5EF4-FFF2-40B4-BE49-F238E27FC236}">
                <a16:creationId xmlns:a16="http://schemas.microsoft.com/office/drawing/2014/main" id="{BBED7A88-2834-411C-9409-B62CDB85321A}"/>
              </a:ext>
            </a:extLst>
          </p:cNvPr>
          <p:cNvSpPr>
            <a:spLocks xmlns:a="http://schemas.openxmlformats.org/drawingml/2006/main" noGrp="1"/>
          </p:cNvSpPr>
          <p:nvPr/>
        </p:nvSpPr>
        <p:spPr>
          <a:xfrm xmlns:a="http://schemas.openxmlformats.org/drawingml/2006/main">
            <a:off x="685800" y="12001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Mean over 51 component pairs. Lower reconstruction error is better.</a:t>
            </a:r>
          </a:p>
        </p:txBody>
      </p:sp>
      <p:graphicFrame>
        <p:nvGraphicFramePr>
          <p:cNvPr id="10" name="">
            <a:extLst xmlns:a="http://schemas.openxmlformats.org/drawingml/2006/main">
              <a:ext uri="{FF2B5EF4-FFF2-40B4-BE49-F238E27FC236}">
                <a16:creationId xmlns:a16="http://schemas.microsoft.com/office/drawing/2014/main" id="{D80071FB-0E2A-46CB-82B8-AC4ECFAD161C}"/>
              </a:ext>
            </a:extLst>
          </p:cNvPr>
          <p:cNvGraphicFramePr/>
          <p:nvPr/>
        </p:nvGraphicFramePr>
        <p:xfrm>
          <a:off xmlns:a="http://schemas.openxmlformats.org/drawingml/2006/main" x="609600" y="1752600"/>
          <a:ext xmlns:a="http://schemas.openxmlformats.org/drawingml/2006/main" cx="10972800" cy="3390900"/>
        </p:xfrm>
        <a:graphic xmlns:a="http://schemas.openxmlformats.org/drawingml/2006/main">
          <a:graphicData uri="http://schemas.openxmlformats.org/drawingml/2006/table">
            <a:tbl>
              <a:tblPr/>
              <a:tblGrid>
                <a:gridCol w="4286250"/>
                <a:gridCol w="2190750"/>
                <a:gridCol w="2190750"/>
                <a:gridCol w="2305050"/>
              </a:tblGrid>
              <a:tr h="565150">
                <a:tc>
                  <a:txBody>
                    <a:bodyPr lIns="95250" tIns="95250" rIns="95250" bIns="95250"/>
                    <a:lstStyle/>
                    <a:p>
                      <a:r>
                        <a:rPr sz="1875" b="1">
                          <a:solidFill>
                            <a:srgbClr val="FFFFFF"/>
                          </a:solidFill>
                          <a:latin typeface="Arial"/>
                          <a:ea typeface="Arial"/>
                          <a:cs typeface="Arial"/>
                        </a:rPr>
                        <a:t>Method</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NRMSE (%)</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RMSE (µT)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Time sum (s)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65150">
                <a:tc>
                  <a:txBody>
                    <a:bodyPr lIns="95250" tIns="95250" rIns="95250" bIns="95250"/>
                    <a:lstStyle/>
                    <a:p>
                      <a:r>
                        <a:rPr sz="1875" b="0">
                          <a:solidFill>
                            <a:srgbClr val="30414D"/>
                          </a:solidFill>
                          <a:latin typeface="Arial"/>
                          <a:ea typeface="Arial"/>
                          <a:cs typeface="Arial"/>
                        </a:rPr>
                        <a:t>ConvLISTA 16, 2 epochs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3.918</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14.307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2.264</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65150">
                <a:tc>
                  <a:txBody>
                    <a:bodyPr lIns="95250" tIns="95250" rIns="95250" bIns="95250"/>
                    <a:lstStyle/>
                    <a:p>
                      <a:r>
                        <a:rPr sz="1875" b="0">
                          <a:solidFill>
                            <a:srgbClr val="30414D"/>
                          </a:solidFill>
                          <a:latin typeface="Arial"/>
                          <a:ea typeface="Arial"/>
                          <a:cs typeface="Arial"/>
                        </a:rPr>
                        <a:t>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4.192</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15.284</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2.052</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65150">
                <a:tc>
                  <a:txBody>
                    <a:bodyPr lIns="95250" tIns="95250" rIns="95250" bIns="95250"/>
                    <a:lstStyle/>
                    <a:p>
                      <a:r>
                        <a:rPr sz="1875" b="0">
                          <a:solidFill>
                            <a:srgbClr val="30414D"/>
                          </a:solidFill>
                          <a:latin typeface="Arial"/>
                          <a:ea typeface="Arial"/>
                          <a:cs typeface="Arial"/>
                        </a:rPr>
                        <a:t>FISTA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3.844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14.006</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2.133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65150">
                <a:tc>
                  <a:txBody>
                    <a:bodyPr lIns="95250" tIns="95250" rIns="95250" bIns="95250"/>
                    <a:lstStyle/>
                    <a:p>
                      <a:r>
                        <a:rPr sz="1875" b="0">
                          <a:solidFill>
                            <a:srgbClr val="30414D"/>
                          </a:solidFill>
                          <a:latin typeface="Arial"/>
                          <a:ea typeface="Arial"/>
                          <a:cs typeface="Arial"/>
                        </a:rPr>
                        <a:t>ISTA to threshold*</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2.737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9.877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5,384.015</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65150">
                <a:tc>
                  <a:txBody>
                    <a:bodyPr lIns="95250" tIns="95250" rIns="95250" bIns="95250"/>
                    <a:lstStyle/>
                    <a:p>
                      <a:r>
                        <a:rPr sz="1875" b="0">
                          <a:solidFill>
                            <a:srgbClr val="30414D"/>
                          </a:solidFill>
                          <a:latin typeface="Arial"/>
                          <a:ea typeface="Arial"/>
                          <a:cs typeface="Arial"/>
                        </a:rPr>
                        <a:t>FISTA to threshold</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2.960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10.644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124.458</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1" name="* ISTA includes two runs that reached the iteration cap.">
            <a:extLst xmlns:a="http://schemas.openxmlformats.org/drawingml/2006/main">
              <a:ext uri="{FF2B5EF4-FFF2-40B4-BE49-F238E27FC236}">
                <a16:creationId xmlns:a16="http://schemas.microsoft.com/office/drawing/2014/main" id="{F40D69FE-C99E-4A23-8FE9-91C00144F486}"/>
              </a:ext>
            </a:extLst>
          </p:cNvPr>
          <p:cNvSpPr>
            <a:spLocks xmlns:a="http://schemas.openxmlformats.org/drawingml/2006/main" noGrp="1"/>
          </p:cNvSpPr>
          <p:nvPr/>
        </p:nvSpPr>
        <p:spPr>
          <a:xfrm xmlns:a="http://schemas.openxmlformats.org/drawingml/2006/main">
            <a:off x="685800" y="53911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5522B"/>
                </a:solidFill>
                <a:latin typeface="Arial"/>
                <a:ea typeface="Arial"/>
                <a:cs typeface="Arial"/>
              </a:defRPr>
            </a:defPPr>
            <a:lvl1pPr algn="l">
              <a:defRPr sz="1875" b="1">
                <a:solidFill>
                  <a:srgbClr val="B5522B"/>
                </a:solidFill>
                <a:latin typeface="Arial"/>
                <a:ea typeface="Arial"/>
                <a:cs typeface="Arial"/>
              </a:defRPr>
            </a:lvl1pPr>
            <a:lvl2pPr algn="l">
              <a:defRPr sz="1875" b="1">
                <a:solidFill>
                  <a:srgbClr val="B5522B"/>
                </a:solidFill>
                <a:latin typeface="Arial"/>
                <a:ea typeface="Arial"/>
                <a:cs typeface="Arial"/>
              </a:defRPr>
            </a:lvl2pPr>
            <a:lvl3pPr algn="l">
              <a:defRPr sz="1875" b="1">
                <a:solidFill>
                  <a:srgbClr val="B5522B"/>
                </a:solidFill>
                <a:latin typeface="Arial"/>
                <a:ea typeface="Arial"/>
                <a:cs typeface="Arial"/>
              </a:defRPr>
            </a:lvl3pPr>
            <a:lvl4pPr algn="l">
              <a:defRPr sz="1875" b="1">
                <a:solidFill>
                  <a:srgbClr val="B5522B"/>
                </a:solidFill>
                <a:latin typeface="Arial"/>
                <a:ea typeface="Arial"/>
                <a:cs typeface="Arial"/>
              </a:defRPr>
            </a:lvl4pPr>
            <a:lvl5pPr algn="l">
              <a:defRPr sz="1875" b="1">
                <a:solidFill>
                  <a:srgbClr val="B5522B"/>
                </a:solidFill>
                <a:latin typeface="Arial"/>
                <a:ea typeface="Arial"/>
                <a:cs typeface="Arial"/>
              </a:defRPr>
            </a:lvl5pPr>
            <a:lvl6pPr algn="l">
              <a:defRPr sz="1875" b="1">
                <a:solidFill>
                  <a:srgbClr val="B5522B"/>
                </a:solidFill>
                <a:latin typeface="Arial"/>
                <a:ea typeface="Arial"/>
                <a:cs typeface="Arial"/>
              </a:defRPr>
            </a:lvl6pPr>
            <a:lvl7pPr algn="l">
              <a:defRPr sz="1875" b="1">
                <a:solidFill>
                  <a:srgbClr val="B5522B"/>
                </a:solidFill>
                <a:latin typeface="Arial"/>
                <a:ea typeface="Arial"/>
                <a:cs typeface="Arial"/>
              </a:defRPr>
            </a:lvl7pPr>
            <a:lvl8pPr algn="l">
              <a:defRPr sz="1875" b="1">
                <a:solidFill>
                  <a:srgbClr val="B5522B"/>
                </a:solidFill>
                <a:latin typeface="Arial"/>
                <a:ea typeface="Arial"/>
                <a:cs typeface="Arial"/>
              </a:defRPr>
            </a:lvl8pPr>
            <a:lvl9pPr algn="l">
              <a:defRPr sz="1875" b="1">
                <a:solidFill>
                  <a:srgbClr val="B5522B"/>
                </a:solidFill>
                <a:latin typeface="Arial"/>
                <a:ea typeface="Arial"/>
                <a:cs typeface="Arial"/>
              </a:defRPr>
            </a:lvl9pPr>
          </a:lstStyle>
          <a:p xmlns:a="http://schemas.openxmlformats.org/drawingml/2006/main">
            <a:pPr algn="l">
              <a:defRPr sz="1875" b="1">
                <a:solidFill>
                  <a:srgbClr val="B5522B"/>
                </a:solidFill>
                <a:latin typeface="Arial"/>
                <a:ea typeface="Arial"/>
                <a:cs typeface="Arial"/>
              </a:defRPr>
            </a:pPr>
            <a:r>
              <a:rPr sz="1875" b="1">
                <a:solidFill>
                  <a:srgbClr val="B5522B"/>
                </a:solidFill>
                <a:latin typeface="Arial"/>
                <a:ea typeface="Arial"/>
                <a:cs typeface="Arial"/>
              </a:rPr>
              <a:t>* ISTA includes two runs that reached the iteration cap.</a:t>
            </a:r>
          </a:p>
        </p:txBody>
      </p:sp>
      <p:sp>
        <p:nvSpPr>
          <p:cNvPr id="12" name="Times are sums of batch medians, excluding setup and file I/O.">
            <a:extLst xmlns:a="http://schemas.openxmlformats.org/drawingml/2006/main">
              <a:ext uri="{FF2B5EF4-FFF2-40B4-BE49-F238E27FC236}">
                <a16:creationId xmlns:a16="http://schemas.microsoft.com/office/drawing/2014/main" id="{0A9F8F27-90C9-45AA-B7CB-6E66DE2B7FED}"/>
              </a:ext>
            </a:extLst>
          </p:cNvPr>
          <p:cNvSpPr>
            <a:spLocks xmlns:a="http://schemas.openxmlformats.org/drawingml/2006/main" noGrp="1"/>
          </p:cNvSpPr>
          <p:nvPr/>
        </p:nvSpPr>
        <p:spPr>
          <a:xfrm xmlns:a="http://schemas.openxmlformats.org/drawingml/2006/main">
            <a:off x="685800" y="59436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16A"/>
                </a:solidFill>
                <a:latin typeface="Arial"/>
                <a:ea typeface="Arial"/>
                <a:cs typeface="Arial"/>
              </a:defRPr>
            </a:defPPr>
            <a:lvl1pPr algn="l">
              <a:defRPr sz="1725" b="0">
                <a:solidFill>
                  <a:srgbClr val="53616A"/>
                </a:solidFill>
                <a:latin typeface="Arial"/>
                <a:ea typeface="Arial"/>
                <a:cs typeface="Arial"/>
              </a:defRPr>
            </a:lvl1pPr>
            <a:lvl2pPr algn="l">
              <a:defRPr sz="1725" b="0">
                <a:solidFill>
                  <a:srgbClr val="53616A"/>
                </a:solidFill>
                <a:latin typeface="Arial"/>
                <a:ea typeface="Arial"/>
                <a:cs typeface="Arial"/>
              </a:defRPr>
            </a:lvl2pPr>
            <a:lvl3pPr algn="l">
              <a:defRPr sz="1725" b="0">
                <a:solidFill>
                  <a:srgbClr val="53616A"/>
                </a:solidFill>
                <a:latin typeface="Arial"/>
                <a:ea typeface="Arial"/>
                <a:cs typeface="Arial"/>
              </a:defRPr>
            </a:lvl3pPr>
            <a:lvl4pPr algn="l">
              <a:defRPr sz="1725" b="0">
                <a:solidFill>
                  <a:srgbClr val="53616A"/>
                </a:solidFill>
                <a:latin typeface="Arial"/>
                <a:ea typeface="Arial"/>
                <a:cs typeface="Arial"/>
              </a:defRPr>
            </a:lvl4pPr>
            <a:lvl5pPr algn="l">
              <a:defRPr sz="1725" b="0">
                <a:solidFill>
                  <a:srgbClr val="53616A"/>
                </a:solidFill>
                <a:latin typeface="Arial"/>
                <a:ea typeface="Arial"/>
                <a:cs typeface="Arial"/>
              </a:defRPr>
            </a:lvl5pPr>
            <a:lvl6pPr algn="l">
              <a:defRPr sz="1725" b="0">
                <a:solidFill>
                  <a:srgbClr val="53616A"/>
                </a:solidFill>
                <a:latin typeface="Arial"/>
                <a:ea typeface="Arial"/>
                <a:cs typeface="Arial"/>
              </a:defRPr>
            </a:lvl6pPr>
            <a:lvl7pPr algn="l">
              <a:defRPr sz="1725" b="0">
                <a:solidFill>
                  <a:srgbClr val="53616A"/>
                </a:solidFill>
                <a:latin typeface="Arial"/>
                <a:ea typeface="Arial"/>
                <a:cs typeface="Arial"/>
              </a:defRPr>
            </a:lvl7pPr>
            <a:lvl8pPr algn="l">
              <a:defRPr sz="1725" b="0">
                <a:solidFill>
                  <a:srgbClr val="53616A"/>
                </a:solidFill>
                <a:latin typeface="Arial"/>
                <a:ea typeface="Arial"/>
                <a:cs typeface="Arial"/>
              </a:defRPr>
            </a:lvl8pPr>
            <a:lvl9pPr algn="l">
              <a:defRPr sz="1725" b="0">
                <a:solidFill>
                  <a:srgbClr val="53616A"/>
                </a:solidFill>
                <a:latin typeface="Arial"/>
                <a:ea typeface="Arial"/>
                <a:cs typeface="Arial"/>
              </a:defRPr>
            </a:lvl9pPr>
          </a:lstStyle>
          <a:p xmlns:a="http://schemas.openxmlformats.org/drawingml/2006/main">
            <a:pPr algn="l">
              <a:defRPr sz="1725" b="0">
                <a:solidFill>
                  <a:srgbClr val="53616A"/>
                </a:solidFill>
                <a:latin typeface="Arial"/>
                <a:ea typeface="Arial"/>
                <a:cs typeface="Arial"/>
              </a:defRPr>
            </a:pPr>
            <a:r>
              <a:rPr sz="1725" b="0">
                <a:solidFill>
                  <a:srgbClr val="53616A"/>
                </a:solidFill>
                <a:latin typeface="Arial"/>
                <a:ea typeface="Arial"/>
                <a:cs typeface="Arial"/>
              </a:rPr>
              <a:t>Times are sums of batch medians, excluding setup and file I/O.</a:t>
            </a:r>
          </a:p>
        </p:txBody>
      </p:sp>
    </p:spTree>
    <p:extLst>
      <p:ext uri="{BB962C8B-B14F-4D97-AF65-F5344CB8AC3E}">
        <p14:creationId xmlns:p14="http://schemas.microsoft.com/office/powerpoint/2010/main" val="20267938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Two ISTA components reached the iteration cap</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15</a:t>
            </a:r>
          </a:p>
        </p:txBody>
      </p:sp>
      <p:sp>
        <p:nvSpPr>
          <p:cNvPr id="9" name="IC_2um: input 2 µm, reference 1 µm. Required relative PG ≤ 0.001.">
            <a:extLst xmlns:a="http://schemas.openxmlformats.org/drawingml/2006/main">
              <a:ext uri="{FF2B5EF4-FFF2-40B4-BE49-F238E27FC236}">
                <a16:creationId xmlns:a16="http://schemas.microsoft.com/office/drawing/2014/main" id="{1BC32C1B-851B-46BD-BD18-B17C7C946E1B}"/>
              </a:ext>
            </a:extLst>
          </p:cNvPr>
          <p:cNvSpPr>
            <a:spLocks xmlns:a="http://schemas.openxmlformats.org/drawingml/2006/main" noGrp="1"/>
          </p:cNvSpPr>
          <p:nvPr/>
        </p:nvSpPr>
        <p:spPr>
          <a:xfrm xmlns:a="http://schemas.openxmlformats.org/drawingml/2006/main">
            <a:off x="685800" y="13239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0414D"/>
                </a:solidFill>
                <a:latin typeface="Arial"/>
                <a:ea typeface="Arial"/>
                <a:cs typeface="Arial"/>
              </a:defRPr>
            </a:defPPr>
            <a:lvl1pPr algn="l">
              <a:defRPr sz="2025" b="0">
                <a:solidFill>
                  <a:srgbClr val="30414D"/>
                </a:solidFill>
                <a:latin typeface="Arial"/>
                <a:ea typeface="Arial"/>
                <a:cs typeface="Arial"/>
              </a:defRPr>
            </a:lvl1pPr>
            <a:lvl2pPr algn="l">
              <a:defRPr sz="2025" b="0">
                <a:solidFill>
                  <a:srgbClr val="30414D"/>
                </a:solidFill>
                <a:latin typeface="Arial"/>
                <a:ea typeface="Arial"/>
                <a:cs typeface="Arial"/>
              </a:defRPr>
            </a:lvl2pPr>
            <a:lvl3pPr algn="l">
              <a:defRPr sz="2025" b="0">
                <a:solidFill>
                  <a:srgbClr val="30414D"/>
                </a:solidFill>
                <a:latin typeface="Arial"/>
                <a:ea typeface="Arial"/>
                <a:cs typeface="Arial"/>
              </a:defRPr>
            </a:lvl3pPr>
            <a:lvl4pPr algn="l">
              <a:defRPr sz="2025" b="0">
                <a:solidFill>
                  <a:srgbClr val="30414D"/>
                </a:solidFill>
                <a:latin typeface="Arial"/>
                <a:ea typeface="Arial"/>
                <a:cs typeface="Arial"/>
              </a:defRPr>
            </a:lvl4pPr>
            <a:lvl5pPr algn="l">
              <a:defRPr sz="2025" b="0">
                <a:solidFill>
                  <a:srgbClr val="30414D"/>
                </a:solidFill>
                <a:latin typeface="Arial"/>
                <a:ea typeface="Arial"/>
                <a:cs typeface="Arial"/>
              </a:defRPr>
            </a:lvl5pPr>
            <a:lvl6pPr algn="l">
              <a:defRPr sz="2025" b="0">
                <a:solidFill>
                  <a:srgbClr val="30414D"/>
                </a:solidFill>
                <a:latin typeface="Arial"/>
                <a:ea typeface="Arial"/>
                <a:cs typeface="Arial"/>
              </a:defRPr>
            </a:lvl6pPr>
            <a:lvl7pPr algn="l">
              <a:defRPr sz="2025" b="0">
                <a:solidFill>
                  <a:srgbClr val="30414D"/>
                </a:solidFill>
                <a:latin typeface="Arial"/>
                <a:ea typeface="Arial"/>
                <a:cs typeface="Arial"/>
              </a:defRPr>
            </a:lvl7pPr>
            <a:lvl8pPr algn="l">
              <a:defRPr sz="2025" b="0">
                <a:solidFill>
                  <a:srgbClr val="30414D"/>
                </a:solidFill>
                <a:latin typeface="Arial"/>
                <a:ea typeface="Arial"/>
                <a:cs typeface="Arial"/>
              </a:defRPr>
            </a:lvl8pPr>
            <a:lvl9pPr algn="l">
              <a:defRPr sz="2025" b="0">
                <a:solidFill>
                  <a:srgbClr val="30414D"/>
                </a:solidFill>
                <a:latin typeface="Arial"/>
                <a:ea typeface="Arial"/>
                <a:cs typeface="Arial"/>
              </a:defRPr>
            </a:lvl9pPr>
          </a:lstStyle>
          <a:p xmlns:a="http://schemas.openxmlformats.org/drawingml/2006/main">
            <a:pPr algn="l">
              <a:defRPr sz="2025" b="0">
                <a:solidFill>
                  <a:srgbClr val="30414D"/>
                </a:solidFill>
                <a:latin typeface="Arial"/>
                <a:ea typeface="Arial"/>
                <a:cs typeface="Arial"/>
              </a:defRPr>
            </a:pPr>
            <a:r>
              <a:rPr sz="2025" b="0">
                <a:solidFill>
                  <a:srgbClr val="30414D"/>
                </a:solidFill>
                <a:latin typeface="Arial"/>
                <a:ea typeface="Arial"/>
                <a:cs typeface="Arial"/>
              </a:rPr>
              <a:t>IC_2um: input 2 µm, reference 1 µm. Required relative PG ≤ 0.001.</a:t>
            </a:r>
          </a:p>
        </p:txBody>
      </p:sp>
      <p:graphicFrame>
        <p:nvGraphicFramePr>
          <p:cNvPr id="10" name="">
            <a:extLst xmlns:a="http://schemas.openxmlformats.org/drawingml/2006/main">
              <a:ext uri="{FF2B5EF4-FFF2-40B4-BE49-F238E27FC236}">
                <a16:creationId xmlns:a16="http://schemas.microsoft.com/office/drawing/2014/main" id="{6B3C43E1-00C3-453B-A71E-8D837E5DA79F}"/>
              </a:ext>
            </a:extLst>
          </p:cNvPr>
          <p:cNvGraphicFramePr/>
          <p:nvPr/>
        </p:nvGraphicFramePr>
        <p:xfrm>
          <a:off xmlns:a="http://schemas.openxmlformats.org/drawingml/2006/main" x="609600" y="2286000"/>
          <a:ext xmlns:a="http://schemas.openxmlformats.org/drawingml/2006/main" cx="10972800" cy="2476500"/>
        </p:xfrm>
        <a:graphic xmlns:a="http://schemas.openxmlformats.org/drawingml/2006/main">
          <a:graphicData uri="http://schemas.openxmlformats.org/drawingml/2006/table">
            <a:tbl>
              <a:tblPr/>
              <a:tblGrid>
                <a:gridCol w="2190750"/>
                <a:gridCol w="2286000"/>
                <a:gridCol w="3257550"/>
                <a:gridCol w="3238500"/>
              </a:tblGrid>
              <a:tr h="619125">
                <a:tc>
                  <a:txBody>
                    <a:bodyPr lIns="95250" tIns="95250" rIns="95250" bIns="95250"/>
                    <a:lstStyle/>
                    <a:p>
                      <a:r>
                        <a:rPr sz="2025" b="1">
                          <a:solidFill>
                            <a:srgbClr val="FFFFFF"/>
                          </a:solidFill>
                          <a:latin typeface="Arial"/>
                          <a:ea typeface="Arial"/>
                          <a:cs typeface="Arial"/>
                        </a:rPr>
                        <a:t>Component</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Updates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Final relative PG</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Status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19125">
                <a:tc>
                  <a:txBody>
                    <a:bodyPr lIns="95250" tIns="95250" rIns="95250" bIns="95250"/>
                    <a:lstStyle/>
                    <a:p>
                      <a:r>
                        <a:rPr sz="2025" b="0">
                          <a:solidFill>
                            <a:srgbClr val="30414D"/>
                          </a:solidFill>
                          <a:latin typeface="Arial"/>
                          <a:ea typeface="Arial"/>
                          <a:cs typeface="Arial"/>
                        </a:rPr>
                        <a:t>Bx</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100,000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0.001398277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Iteration cap</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19125">
                <a:tc>
                  <a:txBody>
                    <a:bodyPr lIns="95250" tIns="95250" rIns="95250" bIns="95250"/>
                    <a:lstStyle/>
                    <a:p>
                      <a:r>
                        <a:rPr sz="2025" b="0">
                          <a:solidFill>
                            <a:srgbClr val="30414D"/>
                          </a:solidFill>
                          <a:latin typeface="Arial"/>
                          <a:ea typeface="Arial"/>
                          <a:cs typeface="Arial"/>
                        </a:rPr>
                        <a:t>By</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100,000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0.001183943</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Iteration cap</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19125">
                <a:tc>
                  <a:txBody>
                    <a:bodyPr lIns="95250" tIns="95250" rIns="95250" bIns="95250"/>
                    <a:lstStyle/>
                    <a:p>
                      <a:r>
                        <a:rPr sz="2025" b="0">
                          <a:solidFill>
                            <a:srgbClr val="30414D"/>
                          </a:solidFill>
                          <a:latin typeface="Arial"/>
                          <a:ea typeface="Arial"/>
                          <a:cs typeface="Arial"/>
                        </a:rPr>
                        <a:t>Bz</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79,425</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0.000999994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Converged</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1" name="Retain the capped results and label them as unconverged.">
            <a:extLst xmlns:a="http://schemas.openxmlformats.org/drawingml/2006/main">
              <a:ext uri="{FF2B5EF4-FFF2-40B4-BE49-F238E27FC236}">
                <a16:creationId xmlns:a16="http://schemas.microsoft.com/office/drawing/2014/main" id="{2C012289-E501-4894-8A0D-45839CF973D8}"/>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Retain the capped results and label them as unconverged.</a:t>
            </a:r>
          </a:p>
        </p:txBody>
      </p:sp>
    </p:spTree>
    <p:extLst>
      <p:ext uri="{BB962C8B-B14F-4D97-AF65-F5344CB8AC3E}">
        <p14:creationId xmlns:p14="http://schemas.microsoft.com/office/powerpoint/2010/main" val="20267938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What the pilot shows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16</a:t>
            </a:r>
          </a:p>
        </p:txBody>
      </p:sp>
      <p:sp>
        <p:nvSpPr>
          <p:cNvPr id="9" name="The shared model trains across all 17 height pairs.">
            <a:extLst xmlns:a="http://schemas.openxmlformats.org/drawingml/2006/main">
              <a:ext uri="{FF2B5EF4-FFF2-40B4-BE49-F238E27FC236}">
                <a16:creationId xmlns:a16="http://schemas.microsoft.com/office/drawing/2014/main" id="{494433C5-9488-4E4F-B080-09D2A4479AC4}"/>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The shared model trains across all 17 height pairs.</a:t>
            </a:r>
          </a:p>
        </p:txBody>
      </p:sp>
      <p:sp>
        <p:nvSpPr>
          <p:cNvPr id="10" name="After two epochs, ConvLISTA improves on ISTA-16 error.">
            <a:extLst xmlns:a="http://schemas.openxmlformats.org/drawingml/2006/main">
              <a:ext uri="{FF2B5EF4-FFF2-40B4-BE49-F238E27FC236}">
                <a16:creationId xmlns:a16="http://schemas.microsoft.com/office/drawing/2014/main" id="{5562A415-BDDB-4412-A18B-461FC4F8A5FE}"/>
              </a:ext>
            </a:extLst>
          </p:cNvPr>
          <p:cNvSpPr>
            <a:spLocks xmlns:a="http://schemas.openxmlformats.org/drawingml/2006/main" noGrp="1"/>
          </p:cNvSpPr>
          <p:nvPr/>
        </p:nvSpPr>
        <p:spPr>
          <a:xfrm xmlns:a="http://schemas.openxmlformats.org/drawingml/2006/main">
            <a:off x="685800" y="2514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After two epochs, ConvLISTA improves on ISTA-16 error.</a:t>
            </a:r>
          </a:p>
        </p:txBody>
      </p:sp>
      <p:sp>
        <p:nvSpPr>
          <p:cNvPr id="11" name="FISTA-16 still has slightly lower error and lower measured time.">
            <a:extLst xmlns:a="http://schemas.openxmlformats.org/drawingml/2006/main">
              <a:ext uri="{FF2B5EF4-FFF2-40B4-BE49-F238E27FC236}">
                <a16:creationId xmlns:a16="http://schemas.microsoft.com/office/drawing/2014/main" id="{C3586F0D-6A3D-4F51-BF37-4225B86EBB2F}"/>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FISTA-16 still has slightly lower error and lower measured time.</a:t>
            </a:r>
          </a:p>
        </p:txBody>
      </p:sp>
      <p:sp>
        <p:nvSpPr>
          <p:cNvPr id="12" name="Longer classical runs achieve lower mean reference error.">
            <a:extLst xmlns:a="http://schemas.openxmlformats.org/drawingml/2006/main">
              <a:ext uri="{FF2B5EF4-FFF2-40B4-BE49-F238E27FC236}">
                <a16:creationId xmlns:a16="http://schemas.microsoft.com/office/drawing/2014/main" id="{E0E916C9-EA2B-49D6-9BFB-E88685DE74DE}"/>
              </a:ext>
            </a:extLst>
          </p:cNvPr>
          <p:cNvSpPr>
            <a:spLocks xmlns:a="http://schemas.openxmlformats.org/drawingml/2006/main" noGrp="1"/>
          </p:cNvSpPr>
          <p:nvPr/>
        </p:nvSpPr>
        <p:spPr>
          <a:xfrm xmlns:a="http://schemas.openxmlformats.org/drawingml/2006/main">
            <a:off x="685800" y="4495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Longer classical runs achieve lower mean reference error.</a:t>
            </a:r>
          </a:p>
        </p:txBody>
      </p:sp>
      <p:sp>
        <p:nvSpPr>
          <p:cNvPr id="13" name="The 200-epoch run will test whether further training changes this compariso">
            <a:extLst xmlns:a="http://schemas.openxmlformats.org/drawingml/2006/main">
              <a:ext uri="{FF2B5EF4-FFF2-40B4-BE49-F238E27FC236}">
                <a16:creationId xmlns:a16="http://schemas.microsoft.com/office/drawing/2014/main" id="{DB0C2691-4888-42C4-A24C-5131054C7EA1}"/>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The 200-epoch run will test whether further training changes this comparison.</a:t>
            </a:r>
          </a:p>
        </p:txBody>
      </p:sp>
    </p:spTree>
    <p:extLst>
      <p:ext uri="{BB962C8B-B14F-4D97-AF65-F5344CB8AC3E}">
        <p14:creationId xmlns:p14="http://schemas.microsoft.com/office/powerpoint/2010/main" val="20267938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The 200-epoch experiment is in progress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17</a:t>
            </a:r>
          </a:p>
        </p:txBody>
      </p:sp>
      <p:sp>
        <p:nvSpPr>
          <p:cNvPr id="9" name="Start a fresh 200-epoch run with the same model and training settings.">
            <a:extLst xmlns:a="http://schemas.openxmlformats.org/drawingml/2006/main">
              <a:ext uri="{FF2B5EF4-FFF2-40B4-BE49-F238E27FC236}">
                <a16:creationId xmlns:a16="http://schemas.microsoft.com/office/drawing/2014/main" id="{C5CC5949-CE95-4D32-9AFE-DDF65A913070}"/>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Start a fresh 200-epoch run with the same model and training settings.</a:t>
            </a:r>
          </a:p>
        </p:txBody>
      </p:sp>
      <p:sp>
        <p:nvSpPr>
          <p:cNvPr id="10" name="Reuse the pilot’s verified ISTA/FISTA results and frozen operators.">
            <a:extLst xmlns:a="http://schemas.openxmlformats.org/drawingml/2006/main">
              <a:ext uri="{FF2B5EF4-FFF2-40B4-BE49-F238E27FC236}">
                <a16:creationId xmlns:a16="http://schemas.microsoft.com/office/drawing/2014/main" id="{70DC8DB7-142A-4121-9A58-85FA4E33493F}"/>
              </a:ext>
            </a:extLst>
          </p:cNvPr>
          <p:cNvSpPr>
            <a:spLocks xmlns:a="http://schemas.openxmlformats.org/drawingml/2006/main" noGrp="1"/>
          </p:cNvSpPr>
          <p:nvPr/>
        </p:nvSpPr>
        <p:spPr>
          <a:xfrm xmlns:a="http://schemas.openxmlformats.org/drawingml/2006/main">
            <a:off x="685800" y="2514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Reuse the pilot’s verified ISTA/FISTA results and frozen operators.</a:t>
            </a:r>
          </a:p>
        </p:txBody>
      </p:sp>
      <p:sp>
        <p:nvSpPr>
          <p:cNvPr id="11" name="The latest log confirms epoch 1 completed and epoch 2 started.">
            <a:extLst xmlns:a="http://schemas.openxmlformats.org/drawingml/2006/main">
              <a:ext uri="{FF2B5EF4-FFF2-40B4-BE49-F238E27FC236}">
                <a16:creationId xmlns:a16="http://schemas.microsoft.com/office/drawing/2014/main" id="{1F931DEE-A342-4CD3-9C79-25B91B10A427}"/>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The latest log confirms epoch 1 completed and epoch 2 started.</a:t>
            </a:r>
          </a:p>
        </p:txBody>
      </p:sp>
      <p:sp>
        <p:nvSpPr>
          <p:cNvPr id="12" name="Remeasure ConvLISTA after selecting the best checkpoint.">
            <a:extLst xmlns:a="http://schemas.openxmlformats.org/drawingml/2006/main">
              <a:ext uri="{FF2B5EF4-FFF2-40B4-BE49-F238E27FC236}">
                <a16:creationId xmlns:a16="http://schemas.microsoft.com/office/drawing/2014/main" id="{7557CBB3-1D7E-4BCB-8896-6DC8650C4BB2}"/>
              </a:ext>
            </a:extLst>
          </p:cNvPr>
          <p:cNvSpPr>
            <a:spLocks xmlns:a="http://schemas.openxmlformats.org/drawingml/2006/main" noGrp="1"/>
          </p:cNvSpPr>
          <p:nvPr/>
        </p:nvSpPr>
        <p:spPr>
          <a:xfrm xmlns:a="http://schemas.openxmlformats.org/drawingml/2006/main">
            <a:off x="685800" y="4495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Remeasure ConvLISTA after selecting the best checkpoint.</a:t>
            </a:r>
          </a:p>
        </p:txBody>
      </p:sp>
      <p:sp>
        <p:nvSpPr>
          <p:cNvPr id="13" name="Final 200-epoch results are pending in this update.">
            <a:extLst xmlns:a="http://schemas.openxmlformats.org/drawingml/2006/main">
              <a:ext uri="{FF2B5EF4-FFF2-40B4-BE49-F238E27FC236}">
                <a16:creationId xmlns:a16="http://schemas.microsoft.com/office/drawing/2014/main" id="{76F99C36-7E71-4697-A337-768AF925825C}"/>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Final 200-epoch results are pending in this update.</a:t>
            </a:r>
          </a:p>
        </p:txBody>
      </p:sp>
    </p:spTree>
    <p:extLst>
      <p:ext uri="{BB962C8B-B14F-4D97-AF65-F5344CB8AC3E}">
        <p14:creationId xmlns:p14="http://schemas.microsoft.com/office/powerpoint/2010/main" val="20267938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Results to update after the full run</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18</a:t>
            </a:r>
          </a:p>
        </p:txBody>
      </p:sp>
      <p:graphicFrame>
        <p:nvGraphicFramePr>
          <p:cNvPr id="9" name="">
            <a:extLst xmlns:a="http://schemas.openxmlformats.org/drawingml/2006/main">
              <a:ext uri="{FF2B5EF4-FFF2-40B4-BE49-F238E27FC236}">
                <a16:creationId xmlns:a16="http://schemas.microsoft.com/office/drawing/2014/main" id="{6E9FCB8F-135C-446D-9CCB-C47C96398291}"/>
              </a:ext>
            </a:extLst>
          </p:cNvPr>
          <p:cNvGraphicFramePr/>
          <p:nvPr/>
        </p:nvGraphicFramePr>
        <p:xfrm>
          <a:off xmlns:a="http://schemas.openxmlformats.org/drawingml/2006/main" x="609600" y="1476375"/>
          <a:ext xmlns:a="http://schemas.openxmlformats.org/drawingml/2006/main" cx="10972800" cy="3990975"/>
        </p:xfrm>
        <a:graphic xmlns:a="http://schemas.openxmlformats.org/drawingml/2006/main">
          <a:graphicData uri="http://schemas.openxmlformats.org/drawingml/2006/table">
            <a:tbl>
              <a:tblPr/>
              <a:tblGrid>
                <a:gridCol w="4857750"/>
                <a:gridCol w="2857500"/>
                <a:gridCol w="3257550"/>
              </a:tblGrid>
              <a:tr h="570139">
                <a:tc>
                  <a:txBody>
                    <a:bodyPr lIns="95250" tIns="95250" rIns="95250" bIns="95250"/>
                    <a:lstStyle/>
                    <a:p>
                      <a:r>
                        <a:rPr sz="1875" b="1">
                          <a:solidFill>
                            <a:srgbClr val="FFFFFF"/>
                          </a:solidFill>
                          <a:latin typeface="Arial"/>
                          <a:ea typeface="Arial"/>
                          <a:cs typeface="Arial"/>
                        </a:rPr>
                        <a:t>Quantity</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Two-epoch pilot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200-epoch run</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70139">
                <a:tc>
                  <a:txBody>
                    <a:bodyPr lIns="95250" tIns="95250" rIns="95250" bIns="95250"/>
                    <a:lstStyle/>
                    <a:p>
                      <a:r>
                        <a:rPr sz="1875" b="0">
                          <a:solidFill>
                            <a:srgbClr val="30414D"/>
                          </a:solidFill>
                          <a:latin typeface="Arial"/>
                          <a:ea typeface="Arial"/>
                          <a:cs typeface="Arial"/>
                        </a:rPr>
                        <a:t>Completed training epochs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Pending completion</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70139">
                <a:tc>
                  <a:txBody>
                    <a:bodyPr lIns="95250" tIns="95250" rIns="95250" bIns="95250"/>
                    <a:lstStyle/>
                    <a:p>
                      <a:r>
                        <a:rPr sz="1875" b="0">
                          <a:solidFill>
                            <a:srgbClr val="30414D"/>
                          </a:solidFill>
                          <a:latin typeface="Arial"/>
                          <a:ea typeface="Arial"/>
                          <a:cs typeface="Arial"/>
                        </a:rPr>
                        <a:t>Selected epoch</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Pending</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70139">
                <a:tc>
                  <a:txBody>
                    <a:bodyPr lIns="95250" tIns="95250" rIns="95250" bIns="95250"/>
                    <a:lstStyle/>
                    <a:p>
                      <a:r>
                        <a:rPr sz="1875" b="0">
                          <a:solidFill>
                            <a:srgbClr val="30414D"/>
                          </a:solidFill>
                          <a:latin typeface="Arial"/>
                          <a:ea typeface="Arial"/>
                          <a:cs typeface="Arial"/>
                        </a:rPr>
                        <a:t>Selected training MSE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0.0051312871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Pending</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70139">
                <a:tc>
                  <a:txBody>
                    <a:bodyPr lIns="95250" tIns="95250" rIns="95250" bIns="95250"/>
                    <a:lstStyle/>
                    <a:p>
                      <a:r>
                        <a:rPr sz="1875" b="0">
                          <a:solidFill>
                            <a:srgbClr val="30414D"/>
                          </a:solidFill>
                          <a:latin typeface="Arial"/>
                          <a:ea typeface="Arial"/>
                          <a:cs typeface="Arial"/>
                        </a:rPr>
                        <a:t>ConvLISTA mean NRMSE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3.918%</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Pending</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70139">
                <a:tc>
                  <a:txBody>
                    <a:bodyPr lIns="95250" tIns="95250" rIns="95250" bIns="95250"/>
                    <a:lstStyle/>
                    <a:p>
                      <a:r>
                        <a:rPr sz="1875" b="0">
                          <a:solidFill>
                            <a:srgbClr val="30414D"/>
                          </a:solidFill>
                          <a:latin typeface="Arial"/>
                          <a:ea typeface="Arial"/>
                          <a:cs typeface="Arial"/>
                        </a:rPr>
                        <a:t>ConvLISTA summed inference time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2.264 s</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Pending</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70139">
                <a:tc>
                  <a:txBody>
                    <a:bodyPr lIns="95250" tIns="95250" rIns="95250" bIns="95250"/>
                    <a:lstStyle/>
                    <a:p>
                      <a:r>
                        <a:rPr sz="1875" b="0">
                          <a:solidFill>
                            <a:srgbClr val="30414D"/>
                          </a:solidFill>
                          <a:latin typeface="Arial"/>
                          <a:ea typeface="Arial"/>
                          <a:cs typeface="Arial"/>
                        </a:rPr>
                        <a:t>Classical baseline results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Measured in pilot</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Reuse verified pilot results</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Next evidence: per-geometry errors and reconstructed field comparisons.">
            <a:extLst xmlns:a="http://schemas.openxmlformats.org/drawingml/2006/main">
              <a:ext uri="{FF2B5EF4-FFF2-40B4-BE49-F238E27FC236}">
                <a16:creationId xmlns:a16="http://schemas.microsoft.com/office/drawing/2014/main" id="{5A5AEF35-91AD-446D-9A57-CB80D5690DC7}"/>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Next evidence: per-geometry errors and reconstructed field comparisons.</a:t>
            </a:r>
          </a:p>
        </p:txBody>
      </p:sp>
    </p:spTree>
    <p:extLst>
      <p:ext uri="{BB962C8B-B14F-4D97-AF65-F5344CB8AC3E}">
        <p14:creationId xmlns:p14="http://schemas.microsoft.com/office/powerpoint/2010/main" val="20267938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Scope of the current results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19</a:t>
            </a:r>
          </a:p>
        </p:txBody>
      </p:sp>
      <p:sp>
        <p:nvSpPr>
          <p:cNvPr id="9" name="All 51 examples currently contribute to training and evaluation.">
            <a:extLst xmlns:a="http://schemas.openxmlformats.org/drawingml/2006/main">
              <a:ext uri="{FF2B5EF4-FFF2-40B4-BE49-F238E27FC236}">
                <a16:creationId xmlns:a16="http://schemas.microsoft.com/office/drawing/2014/main" id="{BC62CF1E-18C7-44F0-8E6A-EF80ECFA01F7}"/>
              </a:ext>
            </a:extLst>
          </p:cNvPr>
          <p:cNvSpPr>
            <a:spLocks xmlns:a="http://schemas.openxmlformats.org/drawingml/2006/main" noGrp="1"/>
          </p:cNvSpPr>
          <p:nvPr/>
        </p:nvSpPr>
        <p:spPr>
          <a:xfrm xmlns:a="http://schemas.openxmlformats.org/drawingml/2006/main">
            <a:off x="685800" y="152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All 51 examples currently contribute to training and evaluation.</a:t>
            </a:r>
          </a:p>
        </p:txBody>
      </p:sp>
      <p:sp>
        <p:nvSpPr>
          <p:cNvPr id="10" name="Repeated references and signed components make the examples correlated.">
            <a:extLst xmlns:a="http://schemas.openxmlformats.org/drawingml/2006/main">
              <a:ext uri="{FF2B5EF4-FFF2-40B4-BE49-F238E27FC236}">
                <a16:creationId xmlns:a16="http://schemas.microsoft.com/office/drawing/2014/main" id="{65D78F34-D21E-4C2C-80A5-A8764AD9F928}"/>
              </a:ext>
            </a:extLst>
          </p:cNvPr>
          <p:cNvSpPr>
            <a:spLocks xmlns:a="http://schemas.openxmlformats.org/drawingml/2006/main" noGrp="1"/>
          </p:cNvSpPr>
          <p:nvPr/>
        </p:nvSpPr>
        <p:spPr>
          <a:xfrm xmlns:a="http://schemas.openxmlformats.org/drawingml/2006/main">
            <a:off x="685800" y="25146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Repeated references and signed components make the examples correlated.</a:t>
            </a:r>
          </a:p>
        </p:txBody>
      </p:sp>
      <p:sp>
        <p:nvSpPr>
          <p:cNvPr id="11" name="Reference fields also enter the pair-specific operator fitting.">
            <a:extLst xmlns:a="http://schemas.openxmlformats.org/drawingml/2006/main">
              <a:ext uri="{FF2B5EF4-FFF2-40B4-BE49-F238E27FC236}">
                <a16:creationId xmlns:a16="http://schemas.microsoft.com/office/drawing/2014/main" id="{02A6045E-CCE6-4D03-8747-445DA8F43960}"/>
              </a:ext>
            </a:extLst>
          </p:cNvPr>
          <p:cNvSpPr>
            <a:spLocks xmlns:a="http://schemas.openxmlformats.org/drawingml/2006/main" noGrp="1"/>
          </p:cNvSpPr>
          <p:nvPr/>
        </p:nvSpPr>
        <p:spPr>
          <a:xfrm xmlns:a="http://schemas.openxmlformats.org/drawingml/2006/main">
            <a:off x="685800" y="35052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Reference fields also enter the pair-specific operator fitting.</a:t>
            </a:r>
          </a:p>
        </p:txBody>
      </p:sp>
      <p:sp>
        <p:nvSpPr>
          <p:cNvPr id="12" name="Unseen-geometry performance requires a separate held-out experiment.">
            <a:extLst xmlns:a="http://schemas.openxmlformats.org/drawingml/2006/main">
              <a:ext uri="{FF2B5EF4-FFF2-40B4-BE49-F238E27FC236}">
                <a16:creationId xmlns:a16="http://schemas.microsoft.com/office/drawing/2014/main" id="{52E39C21-0FDC-47BC-9815-DFA27E14E6F6}"/>
              </a:ext>
            </a:extLst>
          </p:cNvPr>
          <p:cNvSpPr>
            <a:spLocks xmlns:a="http://schemas.openxmlformats.org/drawingml/2006/main" noGrp="1"/>
          </p:cNvSpPr>
          <p:nvPr/>
        </p:nvSpPr>
        <p:spPr>
          <a:xfrm xmlns:a="http://schemas.openxmlformats.org/drawingml/2006/main">
            <a:off x="685800" y="4495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Unseen-geometry performance requires a separate held-out experiment.</a:t>
            </a:r>
          </a:p>
        </p:txBody>
      </p:sp>
      <p:sp>
        <p:nvSpPr>
          <p:cNvPr id="13" name="Compare the methods within this experiment before comparing with older runs">
            <a:extLst xmlns:a="http://schemas.openxmlformats.org/drawingml/2006/main">
              <a:ext uri="{FF2B5EF4-FFF2-40B4-BE49-F238E27FC236}">
                <a16:creationId xmlns:a16="http://schemas.microsoft.com/office/drawing/2014/main" id="{BA58C28E-C9F5-4541-9EF8-4C8864B001BF}"/>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Compare the methods within this experiment before comparing with older runs.</a:t>
            </a:r>
          </a:p>
        </p:txBody>
      </p:sp>
    </p:spTree>
    <p:extLst>
      <p:ext uri="{BB962C8B-B14F-4D97-AF65-F5344CB8AC3E}">
        <p14:creationId xmlns:p14="http://schemas.microsoft.com/office/powerpoint/2010/main" val="20267938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Experiment records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20</a:t>
            </a:r>
          </a:p>
        </p:txBody>
      </p:sp>
      <p:graphicFrame>
        <p:nvGraphicFramePr>
          <p:cNvPr id="9" name="">
            <a:extLst xmlns:a="http://schemas.openxmlformats.org/drawingml/2006/main">
              <a:ext uri="{FF2B5EF4-FFF2-40B4-BE49-F238E27FC236}">
                <a16:creationId xmlns:a16="http://schemas.microsoft.com/office/drawing/2014/main" id="{9A7FABD6-5D67-4E59-8E25-09D3745698F5}"/>
              </a:ext>
            </a:extLst>
          </p:cNvPr>
          <p:cNvGraphicFramePr/>
          <p:nvPr/>
        </p:nvGraphicFramePr>
        <p:xfrm>
          <a:off xmlns:a="http://schemas.openxmlformats.org/drawingml/2006/main" x="609600" y="1581150"/>
          <a:ext xmlns:a="http://schemas.openxmlformats.org/drawingml/2006/main" cx="10972800" cy="3857625"/>
        </p:xfrm>
        <a:graphic xmlns:a="http://schemas.openxmlformats.org/drawingml/2006/main">
          <a:graphicData uri="http://schemas.openxmlformats.org/drawingml/2006/table">
            <a:tbl>
              <a:tblPr/>
              <a:tblGrid>
                <a:gridCol w="4095750"/>
                <a:gridCol w="6877050"/>
              </a:tblGrid>
              <a:tr h="551089">
                <a:tc>
                  <a:txBody>
                    <a:bodyPr lIns="95250" tIns="95250" rIns="95250" bIns="95250"/>
                    <a:lstStyle/>
                    <a:p>
                      <a:r>
                        <a:rPr sz="1875" b="1">
                          <a:solidFill>
                            <a:srgbClr val="FFFFFF"/>
                          </a:solidFill>
                          <a:latin typeface="Arial"/>
                          <a:ea typeface="Arial"/>
                          <a:cs typeface="Arial"/>
                        </a:rPr>
                        <a:t>Record</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1875" b="1">
                          <a:solidFill>
                            <a:srgbClr val="FFFFFF"/>
                          </a:solidFill>
                          <a:latin typeface="Arial"/>
                          <a:ea typeface="Arial"/>
                          <a:cs typeface="Arial"/>
                        </a:rPr>
                        <a:t>Location</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51089">
                <a:tc>
                  <a:txBody>
                    <a:bodyPr lIns="95250" tIns="95250" rIns="95250" bIns="95250"/>
                    <a:lstStyle/>
                    <a:p>
                      <a:r>
                        <a:rPr sz="1875" b="0">
                          <a:solidFill>
                            <a:srgbClr val="30414D"/>
                          </a:solidFill>
                          <a:latin typeface="Arial"/>
                          <a:ea typeface="Arial"/>
                          <a:cs typeface="Arial"/>
                        </a:rPr>
                        <a:t>Dataset inventory</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hpc/combined_dataset_inventory.json</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1089">
                <a:tc>
                  <a:txBody>
                    <a:bodyPr lIns="95250" tIns="95250" rIns="95250" bIns="95250"/>
                    <a:lstStyle/>
                    <a:p>
                      <a:r>
                        <a:rPr sz="1875" b="0">
                          <a:solidFill>
                            <a:srgbClr val="30414D"/>
                          </a:solidFill>
                          <a:latin typeface="Arial"/>
                          <a:ea typeface="Arial"/>
                          <a:cs typeface="Arial"/>
                        </a:rPr>
                        <a:t>Prepared data and pair manifest</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runs/combined_dataset/manifest.json</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1089">
                <a:tc>
                  <a:txBody>
                    <a:bodyPr lIns="95250" tIns="95250" rIns="95250" bIns="95250"/>
                    <a:lstStyle/>
                    <a:p>
                      <a:r>
                        <a:rPr sz="1875" b="0">
                          <a:solidFill>
                            <a:srgbClr val="30414D"/>
                          </a:solidFill>
                          <a:latin typeface="Arial"/>
                          <a:ea typeface="Arial"/>
                          <a:cs typeface="Arial"/>
                        </a:rPr>
                        <a:t>Completed pilot results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runs/combined_pilot/</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1089">
                <a:tc>
                  <a:txBody>
                    <a:bodyPr lIns="95250" tIns="95250" rIns="95250" bIns="95250"/>
                    <a:lstStyle/>
                    <a:p>
                      <a:r>
                        <a:rPr sz="1875" b="0">
                          <a:solidFill>
                            <a:srgbClr val="30414D"/>
                          </a:solidFill>
                          <a:latin typeface="Arial"/>
                          <a:ea typeface="Arial"/>
                          <a:cs typeface="Arial"/>
                        </a:rPr>
                        <a:t>Full-training results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runs/combined_full_200/</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51089">
                <a:tc>
                  <a:txBody>
                    <a:bodyPr lIns="95250" tIns="95250" rIns="95250" bIns="95250"/>
                    <a:lstStyle/>
                    <a:p>
                      <a:r>
                        <a:rPr sz="1875" b="0">
                          <a:solidFill>
                            <a:srgbClr val="30414D"/>
                          </a:solidFill>
                          <a:latin typeface="Arial"/>
                          <a:ea typeface="Arial"/>
                          <a:cs typeface="Arial"/>
                        </a:rPr>
                        <a:t>Methodology and run instructions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1875" b="0">
                          <a:solidFill>
                            <a:srgbClr val="30414D"/>
                          </a:solidFill>
                          <a:latin typeface="Arial"/>
                          <a:ea typeface="Arial"/>
                          <a:cs typeface="Arial"/>
                        </a:rPr>
                        <a:t>README_COMBINED_EXPERIMENT.md</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51089">
                <a:tc>
                  <a:txBody>
                    <a:bodyPr lIns="95250" tIns="95250" rIns="95250" bIns="95250"/>
                    <a:lstStyle/>
                    <a:p>
                      <a:r>
                        <a:rPr sz="1875" b="0">
                          <a:solidFill>
                            <a:srgbClr val="30414D"/>
                          </a:solidFill>
                          <a:latin typeface="Arial"/>
                          <a:ea typeface="Arial"/>
                          <a:cs typeface="Arial"/>
                        </a:rPr>
                        <a:t>Training and comparison driver</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1875" b="0">
                          <a:solidFill>
                            <a:srgbClr val="30414D"/>
                          </a:solidFill>
                          <a:latin typeface="Arial"/>
                          <a:ea typeface="Arial"/>
                          <a:cs typeface="Arial"/>
                        </a:rPr>
                        <a:t>scripts/compare_combined.py</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Pilot complete. Full-training conclusions await the final saved results.">
            <a:extLst xmlns:a="http://schemas.openxmlformats.org/drawingml/2006/main">
              <a:ext uri="{FF2B5EF4-FFF2-40B4-BE49-F238E27FC236}">
                <a16:creationId xmlns:a16="http://schemas.microsoft.com/office/drawing/2014/main" id="{08E4FED1-46C9-4850-9B09-F8001BB99415}"/>
              </a:ext>
            </a:extLst>
          </p:cNvPr>
          <p:cNvSpPr>
            <a:spLocks xmlns:a="http://schemas.openxmlformats.org/drawingml/2006/main" noGrp="1"/>
          </p:cNvSpPr>
          <p:nvPr/>
        </p:nvSpPr>
        <p:spPr>
          <a:xfrm xmlns:a="http://schemas.openxmlformats.org/drawingml/2006/main">
            <a:off x="609600" y="5905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0414D"/>
                </a:solidFill>
                <a:latin typeface="Arial"/>
                <a:ea typeface="Arial"/>
                <a:cs typeface="Arial"/>
              </a:defRPr>
            </a:defPPr>
            <a:lvl1pPr algn="l">
              <a:defRPr sz="1800" b="1">
                <a:solidFill>
                  <a:srgbClr val="30414D"/>
                </a:solidFill>
                <a:latin typeface="Arial"/>
                <a:ea typeface="Arial"/>
                <a:cs typeface="Arial"/>
              </a:defRPr>
            </a:lvl1pPr>
            <a:lvl2pPr algn="l">
              <a:defRPr sz="1800" b="1">
                <a:solidFill>
                  <a:srgbClr val="30414D"/>
                </a:solidFill>
                <a:latin typeface="Arial"/>
                <a:ea typeface="Arial"/>
                <a:cs typeface="Arial"/>
              </a:defRPr>
            </a:lvl2pPr>
            <a:lvl3pPr algn="l">
              <a:defRPr sz="1800" b="1">
                <a:solidFill>
                  <a:srgbClr val="30414D"/>
                </a:solidFill>
                <a:latin typeface="Arial"/>
                <a:ea typeface="Arial"/>
                <a:cs typeface="Arial"/>
              </a:defRPr>
            </a:lvl3pPr>
            <a:lvl4pPr algn="l">
              <a:defRPr sz="1800" b="1">
                <a:solidFill>
                  <a:srgbClr val="30414D"/>
                </a:solidFill>
                <a:latin typeface="Arial"/>
                <a:ea typeface="Arial"/>
                <a:cs typeface="Arial"/>
              </a:defRPr>
            </a:lvl4pPr>
            <a:lvl5pPr algn="l">
              <a:defRPr sz="1800" b="1">
                <a:solidFill>
                  <a:srgbClr val="30414D"/>
                </a:solidFill>
                <a:latin typeface="Arial"/>
                <a:ea typeface="Arial"/>
                <a:cs typeface="Arial"/>
              </a:defRPr>
            </a:lvl5pPr>
            <a:lvl6pPr algn="l">
              <a:defRPr sz="1800" b="1">
                <a:solidFill>
                  <a:srgbClr val="30414D"/>
                </a:solidFill>
                <a:latin typeface="Arial"/>
                <a:ea typeface="Arial"/>
                <a:cs typeface="Arial"/>
              </a:defRPr>
            </a:lvl6pPr>
            <a:lvl7pPr algn="l">
              <a:defRPr sz="1800" b="1">
                <a:solidFill>
                  <a:srgbClr val="30414D"/>
                </a:solidFill>
                <a:latin typeface="Arial"/>
                <a:ea typeface="Arial"/>
                <a:cs typeface="Arial"/>
              </a:defRPr>
            </a:lvl7pPr>
            <a:lvl8pPr algn="l">
              <a:defRPr sz="1800" b="1">
                <a:solidFill>
                  <a:srgbClr val="30414D"/>
                </a:solidFill>
                <a:latin typeface="Arial"/>
                <a:ea typeface="Arial"/>
                <a:cs typeface="Arial"/>
              </a:defRPr>
            </a:lvl8pPr>
            <a:lvl9pPr algn="l">
              <a:defRPr sz="1800" b="1">
                <a:solidFill>
                  <a:srgbClr val="30414D"/>
                </a:solidFill>
                <a:latin typeface="Arial"/>
                <a:ea typeface="Arial"/>
                <a:cs typeface="Arial"/>
              </a:defRPr>
            </a:lvl9pPr>
          </a:lstStyle>
          <a:p xmlns:a="http://schemas.openxmlformats.org/drawingml/2006/main">
            <a:pPr algn="l">
              <a:defRPr sz="1800" b="1">
                <a:solidFill>
                  <a:srgbClr val="30414D"/>
                </a:solidFill>
                <a:latin typeface="Arial"/>
                <a:ea typeface="Arial"/>
                <a:cs typeface="Arial"/>
              </a:defRPr>
            </a:pPr>
            <a:r>
              <a:rPr sz="1800" b="1">
                <a:solidFill>
                  <a:srgbClr val="30414D"/>
                </a:solidFill>
                <a:latin typeface="Arial"/>
                <a:ea typeface="Arial"/>
                <a:cs typeface="Arial"/>
              </a:rPr>
              <a:t>Pilot complete. Full-training conclusions await the final saved results.</a:t>
            </a:r>
          </a:p>
        </p:txBody>
      </p:sp>
    </p:spTree>
    <p:extLst>
      <p:ext uri="{BB962C8B-B14F-4D97-AF65-F5344CB8AC3E}">
        <p14:creationId xmlns:p14="http://schemas.microsoft.com/office/powerpoint/2010/main" val="2026793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2026-10-23T11:13:35.0330000Z</dcterms:created>
  <dcterms:modified xsi:type="dcterms:W3CDTF">2026-10-23T11:13:35.0340000Z</dcterms:modified>
</coreProperties>
</file>