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706c25f36c045dd" /><Relationship Type="http://schemas.openxmlformats.org/officeDocument/2006/relationships/extended-properties" Target="/docProps/app.xml" Id="R4bafbfacc802403b" /><Relationship Type="http://schemas.openxmlformats.org/officeDocument/2006/relationships/officeDocument" Target="/ppt/presentation.xml" Id="Radfaa4cc663448ec" /></Relationships>
</file>

<file path=ppt/presentation.xml><?xml version="1.0" encoding="utf-8"?>
<p:presentation xmlns:p="http://schemas.openxmlformats.org/presentationml/2006/main">
  <p:sldMasterIdLst>
    <p:sldMasterId xmlns:r="http://schemas.openxmlformats.org/officeDocument/2006/relationships" id="2147483648" r:id="Rcf4cffdc84dd4a3c"/>
  </p:sldMasterIdLst>
  <p:notesMasterIdLst>
    <p:notesMasterId xmlns:r="http://schemas.openxmlformats.org/officeDocument/2006/relationships" r:id="R6259820dcf7d4af9"/>
  </p:notesMasterIdLst>
  <p:sldIdLst>
    <p:sldId xmlns:r="http://schemas.openxmlformats.org/officeDocument/2006/relationships" id="256" r:id="R055aac450c5545dc"/>
    <p:sldId xmlns:r="http://schemas.openxmlformats.org/officeDocument/2006/relationships" id="257" r:id="R68dd83f817a9487d"/>
    <p:sldId xmlns:r="http://schemas.openxmlformats.org/officeDocument/2006/relationships" id="258" r:id="Rc6f64252fdb64d51"/>
    <p:sldId xmlns:r="http://schemas.openxmlformats.org/officeDocument/2006/relationships" id="259" r:id="R424dfc3ce34549a8"/>
    <p:sldId xmlns:r="http://schemas.openxmlformats.org/officeDocument/2006/relationships" id="260" r:id="R837a9d006a664a61"/>
    <p:sldId xmlns:r="http://schemas.openxmlformats.org/officeDocument/2006/relationships" id="261" r:id="R1ee05f0bc7294129"/>
    <p:sldId xmlns:r="http://schemas.openxmlformats.org/officeDocument/2006/relationships" id="262" r:id="R3e19bca7512b4bee"/>
    <p:sldId xmlns:r="http://schemas.openxmlformats.org/officeDocument/2006/relationships" id="263" r:id="R82274216b25e4721"/>
    <p:sldId xmlns:r="http://schemas.openxmlformats.org/officeDocument/2006/relationships" id="264" r:id="R7caa9a371983483a"/>
    <p:sldId xmlns:r="http://schemas.openxmlformats.org/officeDocument/2006/relationships" id="265" r:id="Rc8cb40075c7944b6"/>
    <p:sldId xmlns:r="http://schemas.openxmlformats.org/officeDocument/2006/relationships" id="266" r:id="R87c207a931c4432a"/>
    <p:sldId xmlns:r="http://schemas.openxmlformats.org/officeDocument/2006/relationships" id="267" r:id="Rb7e71344c896411c"/>
    <p:sldId xmlns:r="http://schemas.openxmlformats.org/officeDocument/2006/relationships" id="268" r:id="R0bb9147b55e64b16"/>
    <p:sldId xmlns:r="http://schemas.openxmlformats.org/officeDocument/2006/relationships" id="269" r:id="R231b0b2186ea4ca9"/>
    <p:sldId xmlns:r="http://schemas.openxmlformats.org/officeDocument/2006/relationships" id="270" r:id="R6e5ac36ac04b44e2"/>
    <p:sldId xmlns:r="http://schemas.openxmlformats.org/officeDocument/2006/relationships" id="271" r:id="Rf66304e8851e4c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e25f5bce9b490c" /><Relationship Type="http://schemas.openxmlformats.org/officeDocument/2006/relationships/slideMaster" Target="/ppt/slideMasters/slideMaster1.xml" Id="Rcf4cffdc84dd4a3c" /><Relationship Type="http://schemas.openxmlformats.org/officeDocument/2006/relationships/notesMaster" Target="/ppt/notesMasters/notesMaster1.xml" Id="R6259820dcf7d4af9" /><Relationship Type="http://schemas.openxmlformats.org/officeDocument/2006/relationships/presProps" Target="/ppt/presProps.xml" Id="R709c99bf55ba4455" /><Relationship Type="http://schemas.openxmlformats.org/officeDocument/2006/relationships/tableStyles" Target="/ppt/tableStyles.xml" Id="R38bd3447c0374dda" /><Relationship Type="http://schemas.openxmlformats.org/officeDocument/2006/relationships/slide" Target="/ppt/slides/slide1.xml" Id="R055aac450c5545dc" /><Relationship Type="http://schemas.openxmlformats.org/officeDocument/2006/relationships/slide" Target="/ppt/slides/slide2.xml" Id="R68dd83f817a9487d" /><Relationship Type="http://schemas.openxmlformats.org/officeDocument/2006/relationships/slide" Target="/ppt/slides/slide3.xml" Id="Rc6f64252fdb64d51" /><Relationship Type="http://schemas.openxmlformats.org/officeDocument/2006/relationships/slide" Target="/ppt/slides/slide4.xml" Id="R424dfc3ce34549a8" /><Relationship Type="http://schemas.openxmlformats.org/officeDocument/2006/relationships/slide" Target="/ppt/slides/slide5.xml" Id="R837a9d006a664a61" /><Relationship Type="http://schemas.openxmlformats.org/officeDocument/2006/relationships/slide" Target="/ppt/slides/slide6.xml" Id="R1ee05f0bc7294129" /><Relationship Type="http://schemas.openxmlformats.org/officeDocument/2006/relationships/slide" Target="/ppt/slides/slide7.xml" Id="R3e19bca7512b4bee" /><Relationship Type="http://schemas.openxmlformats.org/officeDocument/2006/relationships/slide" Target="/ppt/slides/slide8.xml" Id="R82274216b25e4721" /><Relationship Type="http://schemas.openxmlformats.org/officeDocument/2006/relationships/slide" Target="/ppt/slides/slide9.xml" Id="R7caa9a371983483a" /><Relationship Type="http://schemas.openxmlformats.org/officeDocument/2006/relationships/slide" Target="/ppt/slides/slide10.xml" Id="Rc8cb40075c7944b6" /><Relationship Type="http://schemas.openxmlformats.org/officeDocument/2006/relationships/slide" Target="/ppt/slides/slide11.xml" Id="R87c207a931c4432a" /><Relationship Type="http://schemas.openxmlformats.org/officeDocument/2006/relationships/slide" Target="/ppt/slides/slide12.xml" Id="Rb7e71344c896411c" /><Relationship Type="http://schemas.openxmlformats.org/officeDocument/2006/relationships/slide" Target="/ppt/slides/slide13.xml" Id="R0bb9147b55e64b16" /><Relationship Type="http://schemas.openxmlformats.org/officeDocument/2006/relationships/slide" Target="/ppt/slides/slide14.xml" Id="R231b0b2186ea4ca9" /><Relationship Type="http://schemas.openxmlformats.org/officeDocument/2006/relationships/slide" Target="/ppt/slides/slide15.xml" Id="R6e5ac36ac04b44e2" /><Relationship Type="http://schemas.openxmlformats.org/officeDocument/2006/relationships/slide" Target="/ppt/slides/slide16.xml" Id="Rf66304e8851e4c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6a1ad15ea445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c6d24173b445a8" /><Relationship Type="http://schemas.openxmlformats.org/officeDocument/2006/relationships/notesMaster" Target="/ppt/notesMasters/notesMaster1.xml" Id="Rc06302d56fb741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e3ec59b0da44fc" /><Relationship Type="http://schemas.openxmlformats.org/officeDocument/2006/relationships/notesMaster" Target="/ppt/notesMasters/notesMaster1.xml" Id="R0c29d7f0289b45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cb142b98534836" /><Relationship Type="http://schemas.openxmlformats.org/officeDocument/2006/relationships/notesMaster" Target="/ppt/notesMasters/notesMaster1.xml" Id="Rf59e15b729cd4c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7ad0758670446b" /><Relationship Type="http://schemas.openxmlformats.org/officeDocument/2006/relationships/notesMaster" Target="/ppt/notesMasters/notesMaster1.xml" Id="Rab5522f24a0140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65fa5422d64a17" /><Relationship Type="http://schemas.openxmlformats.org/officeDocument/2006/relationships/notesMaster" Target="/ppt/notesMasters/notesMaster1.xml" Id="Ra3deca6076d447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4b27b08bbb4d86" /><Relationship Type="http://schemas.openxmlformats.org/officeDocument/2006/relationships/notesMaster" Target="/ppt/notesMasters/notesMaster1.xml" Id="Ra2772b5cdd9b49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6d4012fbd547f1" /><Relationship Type="http://schemas.openxmlformats.org/officeDocument/2006/relationships/notesMaster" Target="/ppt/notesMasters/notesMaster1.xml" Id="R42b43ab046c240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8056e6094f434c" /><Relationship Type="http://schemas.openxmlformats.org/officeDocument/2006/relationships/notesMaster" Target="/ppt/notesMasters/notesMaster1.xml" Id="R1c2b79496c8249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037ab898bc4006" /><Relationship Type="http://schemas.openxmlformats.org/officeDocument/2006/relationships/notesMaster" Target="/ppt/notesMasters/notesMaster1.xml" Id="Rdedbed7e6fb440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1df6d15aff4004" /><Relationship Type="http://schemas.openxmlformats.org/officeDocument/2006/relationships/notesMaster" Target="/ppt/notesMasters/notesMaster1.xml" Id="R6940e5c0dac840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1d4b5d597040d2" /><Relationship Type="http://schemas.openxmlformats.org/officeDocument/2006/relationships/notesMaster" Target="/ppt/notesMasters/notesMaster1.xml" Id="R63efb495f9574f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6148d6a4254ce2" /><Relationship Type="http://schemas.openxmlformats.org/officeDocument/2006/relationships/notesMaster" Target="/ppt/notesMasters/notesMaster1.xml" Id="R3e0b14f6a95a46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2ee724fc1a4d05" /><Relationship Type="http://schemas.openxmlformats.org/officeDocument/2006/relationships/notesMaster" Target="/ppt/notesMasters/notesMaster1.xml" Id="R7e54041057a449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77c8f959cb43c4" /><Relationship Type="http://schemas.openxmlformats.org/officeDocument/2006/relationships/notesMaster" Target="/ppt/notesMasters/notesMaster1.xml" Id="Raead0e04a79b45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50f785f32a4d85" /><Relationship Type="http://schemas.openxmlformats.org/officeDocument/2006/relationships/notesMaster" Target="/ppt/notesMasters/notesMaster1.xml" Id="R963fde844f5a4e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9c797a4196409c" /><Relationship Type="http://schemas.openxmlformats.org/officeDocument/2006/relationships/notesMaster" Target="/ppt/notesMasters/notesMaster1.xml" Id="R7f5b7125996c43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Biweekly meeting, Friday 23 October 2026. Abhay Chandra. Final 200-epoch combined-data ConvLISTA results, transferred from the professor server. Source: runs/combined_full_200/status.json.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of work preceding the combined-data experiment, based on the supplied biweekly and LISTA/ALISTA thesis decks and ALISTA.md. The magnetic work fitted a joint Bx/By/Bz Fourier blur operator, compared ISTA/FISTA and ConvLISTA for the original single geometry and height pair, investigated solver stopping and crop-boundary effects, and implemented a separate synthetic sparse-recovery ALISTA benchmark. Synthetic ALISTA results do not establish magnetic-field performance. This update then expands the ConvLISTA dataset and runs the comparison on remote GPU compute.</a:t>
            </a:r>
          </a:p>
          <a:p xmlns:a="http://schemas.openxmlformats.org/drawingml/2006/main">
            <a:r>
              <a:t/>
            </a:r>
          </a:p>
          <a:p xmlns:a="http://schemas.openxmlformats.org/drawingml/2006/main">
            <a:r>
              <a:t>Sources</a:t>
            </a:r>
          </a:p>
          <a:p xmlns:a="http://schemas.openxmlformats.org/drawingml/2006/main">
            <a:r>
              <a:t>/Users/abhay/Desktop/bsp/learning_ker/presentations/LISTA_ALISTA_Thesis_Presentation.pptx; /Users/abhay/Desktop/bsp/learning_ker/presentations/biweekly_update/QDM_BTP_Biweekly_07_Oct_2026_Crop_Hypothesis_Final.pptx</a:t>
            </a:r>
          </a:p>
          <a:p xmlns:a="http://schemas.openxmlformats.org/drawingml/2006/main">
            <a:r>
              <a:t>/Users/abhay/Desktop/bsp/learning_ker/ALISTA.md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and both datasets first moved to Prajna. Queue limits delayed access, so the experiment ran on the professor server RTX A6000, 48 GB. Python 3.11.17, PyTorch 2.6.0+cu124, CUDA runtime 12.4. Training completed 200 epochs; best epoch 200. Sources: user-supplied transfer/queue logs; runs/combined_full_200/setup.json and status.json.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inventory contains 20 CSV planes: 11 L1_C1, 7 IC_4um and 2 IC_2um. Anchor pairing uses each geometry’s lowest available plane as reference. L1_C1 inputs z=1 through 10 µm use reference 0.5 µm. IC_4um inputs z=3,4,5,6,7,10 µm use reference 0.5 µm. IC_2um input 2 µm uses reference 1 µm. Every pair provides matched Bx, By and Bz examples. The loader validates units, finite values, complete grids and coordinate alignment, then caches float32 µT fields with checksums. These are full 1400x1400 maps, not crops. Examples share references and are correlated.</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extends the previous single-pair ConvLISTA without changing its 163-parameter count. Pair-specific Fourier kernels H are jointly fitted to Bx/By/Bz and then frozen. A=Crop(real(IFFT(H*FFT(Pad(x))))) with 32-pixel padding; its adjoint uses conjugate H. In normalized coordinates the update is soft at threshold s_p theta of x-s_p A_p*(A_p x-b)+C_b b+C_x x. The pair step is 0.99/max|H_p|². There are two tied bias-free 9x9 convolutional filters and one nonnegative shared scalar. Zero filters and theta=lambda/q initialize the model at ISTA for every pair. q is the maximum absolute value across all training inputs and references, preserving relative amplitudes. Predictions return to µT by multiplication by q. One full component per batch contributes normalized MSE weight 1/51. Gradients accumulate across all components before one Adam update. The model uses activation checkpointing and a blurred-field warm start.</a:t>
            </a:r>
          </a:p>
          <a:p xmlns:a="http://schemas.openxmlformats.org/drawingml/2006/main">
            <a:r>
              <a:t/>
            </a:r>
          </a:p>
          <a:p xmlns:a="http://schemas.openxmlformats.org/drawingml/2006/main">
            <a:r>
              <a:t>Sources</a:t>
            </a:r>
          </a:p>
          <a:p xmlns:a="http://schemas.openxmlformats.org/drawingml/2006/main">
            <a:r>
              <a:t>/Users/abhay/Desktop/bsp/learning_ker/scripts/combined_lista.py</a:t>
            </a:r>
          </a:p>
          <a:p xmlns:a="http://schemas.openxmlformats.org/drawingml/2006/main">
            <a:r>
              <a:t>/Users/abhay/Desktop/bsp/learning_ker/scripts/compare_combined.py</a:t>
            </a:r>
          </a:p>
          <a:p xmlns:a="http://schemas.openxmlformats.org/drawingml/2006/main">
            <a:r>
              <a:t>/Users/abhay/Desktop/bsp/learning_ker/scripts/torch_inverse.py and scripts/deblur.py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Defaults match the actual pilot and full-run launch: 16 layers, Adam learning rate 1e-4, gradient norm clip 1, physical lambda 1e-4 µT, 32-pixel pad, blurred initialization, batch size one and activation checkpointing. The pilot trains for 2 epochs and the new full run for 200 from the original initialization. Best post-update training MSE including epoch 0 selects the checkpoint. All pairs also enter joint reference-assisted operator fitting, so this is same-sample reconstruction, not held-out generalization. Classical methods use the same pair operator, scale, precision and GPU. Relative PG is RMS proximal-gradient mapping divided by its initial value. Stop at &lt;=0.001 or the 100000-update cap. Timing uses one warm-up and three synchronized repeats, and the summary sums per-batch medians. Learned model loss is sharp-field MSE; ISTA/FISTA minimize the L1 reconstruction objective.</a:t>
            </a:r>
          </a:p>
          <a:p xmlns:a="http://schemas.openxmlformats.org/drawingml/2006/main">
            <a:r>
              <a:t/>
            </a:r>
          </a:p>
          <a:p xmlns:a="http://schemas.openxmlformats.org/drawingml/2006/main">
            <a:r>
              <a:t>Sources</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/Users/abhay/Desktop/bsp/learning_ker/runs/combined_full_200/training.json; status.json. All 201 recorded points (epochs 0 through 200), values rounded to 12 significant digits for the editable Excel chart. No smoothing or interpolation beyond straight lines. Minimum normalized training MSE at epoch 200. No held-out validation. Training_seconds includes post-update evaluation; 3441.37 seconds is about 57.4 minutes, not total workflow walltime.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/Users/abhay/Desktop/bsp/learning_ker/runs/combined_full_200/summary.csv; comparison.csv; status.json; setup.json. Mean per-component range NRMSE and RMSE across all 51 training examples. Time sum is the sum of median batch inference durations, one component per batch, excluding setup/I/O. Classical values/timings are verified reuses from the pilot. Adaptive ISTA includes two capped IC_2um components. LISTA best epoch 200, 16 layers. Pilot mean LISTA NRMSE was 3.9175267933922653% from user-supplied pilot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/Users/abhay/Desktop/bsp/learning_ker/runs/combined_full_200/comparison.csv, L1_C1_z03.0_to_z00.5 rows method lista; /Users/abhay/Desktop/bsp/learning_ker/notebooks/runs_results/metrics-2.json. Both networks use 16 layers, 9x9 filters and 200 training epochs. Earlier model trains on three components of this one pair; shared model trains on all 51 examples. The normalization pool and threshold parameterization also differ, so this is not a controlled data-only ablation. Original L1_C1 inventory has 30 possible component pairs; no archived all-30 training run was found. No cross-hardware latency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/Users/abhay/Desktop/bsp/learning_ker/runs/combined_full_200/comparison.csv. Arithmetic mean of range NRMSE percentages within each geometry, with counts 30,18,3. No geometry is held out; all enter training and joint operator fitting. Values are not equivalent to a geometry-specific separately trained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/Users/abhay/Desktop/bsp/learning_ker/runs/combined_full_200/comparison/L1_C1_z03.0_to_z00.5.npz; comparison.csv; setup.json. Bz. All 1400x1400 pixels included in the displayed full-field maps and NRMSE calculations. Common symmetric color scale for every map in this figure, limits +/-215.14413452148438 uT. No per-image amplitude rescaling. Ground truth means COMSOL reference plane. Best epoch 200; training fields. Example selection: L1_C1 z3 matches the earlier model; IC_4um z3 matches that input/reference height; IC_2um has one pair. Numeric scores independently recomputed from saved arrays, matching 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/Users/abhay/Desktop/bsp/learning_ker/runs/combined_full_200/comparison/IC_4um_z03.0_to_z00.5.npz; comparison.csv; setup.json. Bz. All 1400x1400 pixels included in the displayed full-field maps and NRMSE calculations. Common symmetric color scale for every map in this figure, limits +/-196.11358642578125 uT. No per-image amplitude rescaling. Ground truth means COMSOL reference plane. Best epoch 200; training fields. Example selection: L1_C1 z3 matches the earlier model; IC_4um z3 matches that input/reference height; IC_2um has one pair. Numeric scores independently recomputed from saved arrays, matching 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/Users/abhay/Desktop/bsp/learning_ker/runs/combined_full_200/comparison/IC_2um_z02.0_to_z01.0.npz; comparison.csv; setup.json. Bz. All 1400x1400 pixels included in the displayed full-field maps and NRMSE calculations. Common symmetric color scale for every map in this figure, limits +/-155.492431640625 uT. No per-image amplitude rescaling. Ground truth means COMSOL reference plane. Best epoch 200; training fields. Example selection: L1_C1 z3 matches the earlier model; IC_4um z3 matches that input/reference height; IC_2um has one pair. Numeric scores independently recomputed from saved arrays, matching 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/Users/abhay/Desktop/bsp/learning_ker/runs/combined_full_200/comparison/L1_C1_z03.0_to_z00.5.npz; comparison.csv; setup.json. Bz. Display ROI [-40,35,-35,40] um; all NRMSE values use the entire field. Common symmetric color scale for every map in this figure, limits +/-107.16419982910156 uT. No per-image amplitude rescaling. Ground truth means COMSOL reference plane. Best epoch 200; training fields. Example selection: L1_C1 z3 matches the earlier model; IC_4um z3 matches that input/reference height; IC_2um has one pair. Numeric scores independently recomputed from saved arrays, matching 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/Users/abhay/Desktop/bsp/learning_ker/runs/combined_full_200/comparison/IC_2um_z02.0_to_z01.0.npz; comparison.csv; setup.json. Bx. All 1400x1400 pixels included in the displayed full-field maps and NRMSE calculations. Common symmetric color scale for every map in this figure, limits +/-127.70335388183594 uT. No per-image amplitude rescaling. Ground truth means COMSOL reference plane. Best epoch 200; training fields. Example selection: L1_C1 z3 matches the earlier model; IC_4um z3 matches that input/reference height; IC_2um has one pair. Numeric scores independently recomputed from saved arrays, matching 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/Users/abhay/Desktop/bsp/learning_ker/runs/combined_full_200/summary.csv; status.json; training.json; comparison.csv. Final 200-epoch results. ConvLISTA mean 3.789666099656446%, FISTA16 3.8442948979197764%, adaptive FISTA 2.9598749845343475%. LISTA inference 2.25337191025028 s sum of batch medians versus FISTA16 2.1327676869696006 s, hence no latency win at equal depth. Two adaptive ISTA components capped, IC_2um Bx and By. All evaluation is same-sample. Future experiments are proposals, not completed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c16a42c2849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fb3443bc084a16" /><Relationship Type="http://schemas.openxmlformats.org/officeDocument/2006/relationships/slideLayout" Target="/ppt/slideLayouts/slideLayout1.xml" Id="Rad365fd71a334b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365fd71a334b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6e737b299e4d90" /><Relationship Type="http://schemas.openxmlformats.org/officeDocument/2006/relationships/image" Target="/ppt/media/image.png" Id="R879973ca56fb4d92" /><Relationship Type="http://schemas.openxmlformats.org/officeDocument/2006/relationships/image" Target="/ppt/media/image2.png" Id="Rc0e7e3a3290c4c1e" /><Relationship Type="http://schemas.openxmlformats.org/officeDocument/2006/relationships/notesSlide" Target="/ppt/notesSlides/notesSlide1.xml" Id="Rcf039d1c89834c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a0fdd37f6b4faf" /><Relationship Type="http://schemas.openxmlformats.org/officeDocument/2006/relationships/notesSlide" Target="/ppt/notesSlides/notesSlide2.xml" Id="Rc7b88b09b1db44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82e0651ef54cd6" /><Relationship Type="http://schemas.openxmlformats.org/officeDocument/2006/relationships/notesSlide" Target="/ppt/notesSlides/notesSlide3.xml" Id="R2ad45befa3d743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05b2521fe443d1" /><Relationship Type="http://schemas.openxmlformats.org/officeDocument/2006/relationships/notesSlide" Target="/ppt/notesSlides/notesSlide4.xml" Id="R3e0b263f4ed743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9359a7e62c4d26" /><Relationship Type="http://schemas.openxmlformats.org/officeDocument/2006/relationships/notesSlide" Target="/ppt/notesSlides/notesSlide5.xml" Id="R94395ac7423041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ebc900370b4e32" /><Relationship Type="http://schemas.openxmlformats.org/officeDocument/2006/relationships/notesSlide" Target="/ppt/notesSlides/notesSlide6.xml" Id="R28dea8a1d9c345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8441fc91124c66" /><Relationship Type="http://schemas.openxmlformats.org/officeDocument/2006/relationships/chart" Target="/ppt/slides/charts/chart1.xml" Id="R77135c9174204844" /><Relationship Type="http://schemas.openxmlformats.org/officeDocument/2006/relationships/notesSlide" Target="/ppt/notesSlides/notesSlide7.xml" Id="R781a7542771d4c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c45a33aed548a2" /><Relationship Type="http://schemas.openxmlformats.org/officeDocument/2006/relationships/notesSlide" Target="/ppt/notesSlides/notesSlide8.xml" Id="Ra9bae45b3e374a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1ef9551fbd4dac" /><Relationship Type="http://schemas.openxmlformats.org/officeDocument/2006/relationships/notesSlide" Target="/ppt/notesSlides/notesSlide9.xml" Id="Re527fab5b78b4f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2deed97ba848f8" /><Relationship Type="http://schemas.openxmlformats.org/officeDocument/2006/relationships/notesSlide" Target="/ppt/notesSlides/notesSlide10.xml" Id="R09d67131257d4e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851d2955e34251" /><Relationship Type="http://schemas.openxmlformats.org/officeDocument/2006/relationships/image" Target="/ppt/media/image3.png" Id="Rab74a482156e42ad" /><Relationship Type="http://schemas.openxmlformats.org/officeDocument/2006/relationships/notesSlide" Target="/ppt/notesSlides/notesSlide11.xml" Id="R3ae347fcaa3142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f382561d7544d07" /><Relationship Type="http://schemas.openxmlformats.org/officeDocument/2006/relationships/image" Target="/ppt/media/image4.png" Id="Red640594b5314789" /><Relationship Type="http://schemas.openxmlformats.org/officeDocument/2006/relationships/notesSlide" Target="/ppt/notesSlides/notesSlide12.xml" Id="R11e1623d2d5c44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2ec653ca2c43a8" /><Relationship Type="http://schemas.openxmlformats.org/officeDocument/2006/relationships/image" Target="/ppt/media/image5.png" Id="R6787b87a086a495e" /><Relationship Type="http://schemas.openxmlformats.org/officeDocument/2006/relationships/notesSlide" Target="/ppt/notesSlides/notesSlide13.xml" Id="R4cdb8cf2cdbc45d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3f7db6b7b94a01" /><Relationship Type="http://schemas.openxmlformats.org/officeDocument/2006/relationships/image" Target="/ppt/media/image6.png" Id="R7d364fb156c14264" /><Relationship Type="http://schemas.openxmlformats.org/officeDocument/2006/relationships/notesSlide" Target="/ppt/notesSlides/notesSlide14.xml" Id="R3b8ebc9cfd7a4d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6d833fe63f4746" /><Relationship Type="http://schemas.openxmlformats.org/officeDocument/2006/relationships/image" Target="/ppt/media/image7.png" Id="R6d14601d5a854284" /><Relationship Type="http://schemas.openxmlformats.org/officeDocument/2006/relationships/notesSlide" Target="/ppt/notesSlides/notesSlide15.xml" Id="R6cfff5a1048d4f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8a1e072e77483a" /><Relationship Type="http://schemas.openxmlformats.org/officeDocument/2006/relationships/notesSlide" Target="/ppt/notesSlides/notesSlide16.xml" Id="R707d38889f37458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Training MSE</c:v>
          </c:tx>
          <c:spPr>
            <a:ln xmlns:a="http://schemas.openxmlformats.org/drawingml/2006/main" w="28575">
              <a:solidFill>
                <a:srgbClr val="2872A2"/>
              </a:solidFill>
            </a:ln>
          </c:spPr>
          <c:marker>
            <c:symbol val="none"/>
          </c:marker>
          <c:xVal>
            <c:numRef>
              <c:f>'Chart Data'!$A$2:$A$202</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'Chart Data'!$B$2:$B$202</c:f>
              <c:numCache>
                <c:formatCode>0.0000</c:formatCode>
                <c:ptCount val="201"/>
                <c:pt idx="0">
                  <c:v>0.00575686300199</c:v>
                </c:pt>
                <c:pt idx="1">
                  <c:v>0.00538421913698</c:v>
                </c:pt>
                <c:pt idx="2">
                  <c:v>0.00513128708197</c:v>
                </c:pt>
                <c:pt idx="3">
                  <c:v>0.00504380203418</c:v>
                </c:pt>
                <c:pt idx="4">
                  <c:v>0.00512056010912</c:v>
                </c:pt>
                <c:pt idx="5">
                  <c:v>0.00523159136612</c:v>
                </c:pt>
                <c:pt idx="6">
                  <c:v>0.00524632313047</c:v>
                </c:pt>
                <c:pt idx="7">
                  <c:v>0.00518079102952</c:v>
                </c:pt>
                <c:pt idx="8">
                  <c:v>0.00510035398731</c:v>
                </c:pt>
                <c:pt idx="9">
                  <c:v>0.00504953412261</c:v>
                </c:pt>
                <c:pt idx="10">
                  <c:v>0.00504038154545</c:v>
                </c:pt>
                <c:pt idx="11">
                  <c:v>0.00506110359942</c:v>
                </c:pt>
                <c:pt idx="12">
                  <c:v>0.00509072117526</c:v>
                </c:pt>
                <c:pt idx="13">
                  <c:v>0.00511147894591</c:v>
                </c:pt>
                <c:pt idx="14">
                  <c:v>0.00511456717961</c:v>
                </c:pt>
                <c:pt idx="15">
                  <c:v>0.00510013670382</c:v>
                </c:pt>
                <c:pt idx="16">
                  <c:v>0.00507471314517</c:v>
                </c:pt>
                <c:pt idx="17">
                  <c:v>0.00504797217254</c:v>
                </c:pt>
                <c:pt idx="18">
                  <c:v>0.00502933396081</c:v>
                </c:pt>
                <c:pt idx="19">
                  <c:v>0.00502439608738</c:v>
                </c:pt>
                <c:pt idx="20">
                  <c:v>0.00503203565912</c:v>
                </c:pt>
                <c:pt idx="21">
                  <c:v>0.0050443594433</c:v>
                </c:pt>
                <c:pt idx="22">
                  <c:v>0.00505120836098</c:v>
                </c:pt>
                <c:pt idx="23">
                  <c:v>0.0050468595525</c:v>
                </c:pt>
                <c:pt idx="24">
                  <c:v>0.00503331496421</c:v>
                </c:pt>
                <c:pt idx="25">
                  <c:v>0.00501773754299</c:v>
                </c:pt>
                <c:pt idx="26">
                  <c:v>0.00500706660301</c:v>
                </c:pt>
                <c:pt idx="27">
                  <c:v>0.00500406334793</c:v>
                </c:pt>
                <c:pt idx="28">
                  <c:v>0.00500671753852</c:v>
                </c:pt>
                <c:pt idx="29">
                  <c:v>0.00501038115837</c:v>
                </c:pt>
                <c:pt idx="30">
                  <c:v>0.00501074966194</c:v>
                </c:pt>
                <c:pt idx="31">
                  <c:v>0.00500600119852</c:v>
                </c:pt>
                <c:pt idx="32">
                  <c:v>0.00499733089807</c:v>
                </c:pt>
                <c:pt idx="33">
                  <c:v>0.00498797176703</c:v>
                </c:pt>
                <c:pt idx="34">
                  <c:v>0.00498126438983</c:v>
                </c:pt>
                <c:pt idx="35">
                  <c:v>0.00497864940382</c:v>
                </c:pt>
                <c:pt idx="36">
                  <c:v>0.0049787345194</c:v>
                </c:pt>
                <c:pt idx="37">
                  <c:v>0.00497830924966</c:v>
                </c:pt>
                <c:pt idx="38">
                  <c:v>0.0049748222193</c:v>
                </c:pt>
                <c:pt idx="39">
                  <c:v>0.0049683103993</c:v>
                </c:pt>
                <c:pt idx="40">
                  <c:v>0.00496108585161</c:v>
                </c:pt>
                <c:pt idx="41">
                  <c:v>0.0049556310017</c:v>
                </c:pt>
                <c:pt idx="42">
                  <c:v>0.00495267774243</c:v>
                </c:pt>
                <c:pt idx="43">
                  <c:v>0.00495094207787</c:v>
                </c:pt>
                <c:pt idx="44">
                  <c:v>0.00494840794343</c:v>
                </c:pt>
                <c:pt idx="45">
                  <c:v>0.00494394631367</c:v>
                </c:pt>
                <c:pt idx="46">
                  <c:v>0.00493805977635</c:v>
                </c:pt>
                <c:pt idx="47">
                  <c:v>0.00493232531966</c:v>
                </c:pt>
                <c:pt idx="48">
                  <c:v>0.0049280235658</c:v>
                </c:pt>
                <c:pt idx="49">
                  <c:v>0.00492504751538</c:v>
                </c:pt>
                <c:pt idx="50">
                  <c:v>0.00492207447921</c:v>
                </c:pt>
                <c:pt idx="51">
                  <c:v>0.00491791317815</c:v>
                </c:pt>
                <c:pt idx="52">
                  <c:v>0.00491267560032</c:v>
                </c:pt>
                <c:pt idx="53">
                  <c:v>0.00490753427627</c:v>
                </c:pt>
                <c:pt idx="54">
                  <c:v>0.00490341421705</c:v>
                </c:pt>
                <c:pt idx="55">
                  <c:v>0.00490009487954</c:v>
                </c:pt>
                <c:pt idx="56">
                  <c:v>0.00489659136613</c:v>
                </c:pt>
                <c:pt idx="57">
                  <c:v>0.00489226488999</c:v>
                </c:pt>
                <c:pt idx="58">
                  <c:v>0.00488745447193</c:v>
                </c:pt>
                <c:pt idx="59">
                  <c:v>0.00488302220737</c:v>
                </c:pt>
                <c:pt idx="60">
                  <c:v>0.00487935421737</c:v>
                </c:pt>
                <c:pt idx="61">
                  <c:v>0.00487595441404</c:v>
                </c:pt>
                <c:pt idx="62">
                  <c:v>0.0048721233958</c:v>
                </c:pt>
                <c:pt idx="63">
                  <c:v>0.00486785857299</c:v>
                </c:pt>
                <c:pt idx="64">
                  <c:v>0.00486379486792</c:v>
                </c:pt>
                <c:pt idx="65">
                  <c:v>0.00486032125727</c:v>
                </c:pt>
                <c:pt idx="66">
                  <c:v>0.00485711288182</c:v>
                </c:pt>
                <c:pt idx="67">
                  <c:v>0.00485365119918</c:v>
                </c:pt>
                <c:pt idx="68">
                  <c:v>0.00484994817502</c:v>
                </c:pt>
                <c:pt idx="69">
                  <c:v>0.00484648162006</c:v>
                </c:pt>
                <c:pt idx="70">
                  <c:v>0.00484348492533</c:v>
                </c:pt>
                <c:pt idx="71">
                  <c:v>0.0048406394404</c:v>
                </c:pt>
                <c:pt idx="72">
                  <c:v>0.00483761631938</c:v>
                </c:pt>
                <c:pt idx="73">
                  <c:v>0.00483459398475</c:v>
                </c:pt>
                <c:pt idx="74">
                  <c:v>0.00483192800311</c:v>
                </c:pt>
                <c:pt idx="75">
                  <c:v>0.00482957051295</c:v>
                </c:pt>
                <c:pt idx="76">
                  <c:v>0.00482720082544</c:v>
                </c:pt>
                <c:pt idx="77">
                  <c:v>0.00482478595964</c:v>
                </c:pt>
                <c:pt idx="78">
                  <c:v>0.00482260655068</c:v>
                </c:pt>
                <c:pt idx="79">
                  <c:v>0.00482074591427</c:v>
                </c:pt>
                <c:pt idx="80">
                  <c:v>0.00481896822491</c:v>
                </c:pt>
                <c:pt idx="81">
                  <c:v>0.00481717909148</c:v>
                </c:pt>
                <c:pt idx="82">
                  <c:v>0.00481557929843</c:v>
                </c:pt>
                <c:pt idx="83">
                  <c:v>0.00481425146755</c:v>
                </c:pt>
                <c:pt idx="84">
                  <c:v>0.00481301421236</c:v>
                </c:pt>
                <c:pt idx="85">
                  <c:v>0.00481179379516</c:v>
                </c:pt>
                <c:pt idx="86">
                  <c:v>0.00481074427565</c:v>
                </c:pt>
                <c:pt idx="87">
                  <c:v>0.00480990630789</c:v>
                </c:pt>
                <c:pt idx="88">
                  <c:v>0.00480912921964</c:v>
                </c:pt>
                <c:pt idx="89">
                  <c:v>0.00480839070595</c:v>
                </c:pt>
                <c:pt idx="90">
                  <c:v>0.0048078107853</c:v>
                </c:pt>
                <c:pt idx="91">
                  <c:v>0.0048073649169</c:v>
                </c:pt>
                <c:pt idx="92">
                  <c:v>0.00480681424504</c:v>
                </c:pt>
                <c:pt idx="93">
                  <c:v>0.00480627133876</c:v>
                </c:pt>
                <c:pt idx="94">
                  <c:v>0.00480588879573</c:v>
                </c:pt>
                <c:pt idx="95">
                  <c:v>0.00480561759939</c:v>
                </c:pt>
                <c:pt idx="96">
                  <c:v>0.00480538417526</c:v>
                </c:pt>
                <c:pt idx="97">
                  <c:v>0.00480521981623</c:v>
                </c:pt>
                <c:pt idx="98">
                  <c:v>0.00480511129546</c:v>
                </c:pt>
                <c:pt idx="99">
                  <c:v>0.00480498564681</c:v>
                </c:pt>
                <c:pt idx="100">
                  <c:v>0.00480485570791</c:v>
                </c:pt>
                <c:pt idx="101">
                  <c:v>0.00480477026933</c:v>
                </c:pt>
                <c:pt idx="102">
                  <c:v>0.00480470622835</c:v>
                </c:pt>
                <c:pt idx="103">
                  <c:v>0.00480464999518</c:v>
                </c:pt>
                <c:pt idx="104">
                  <c:v>0.00480463505408</c:v>
                </c:pt>
                <c:pt idx="105">
                  <c:v>0.00480464562504</c:v>
                </c:pt>
                <c:pt idx="106">
                  <c:v>0.00480464108256</c:v>
                </c:pt>
                <c:pt idx="107">
                  <c:v>0.00480463418667</c:v>
                </c:pt>
                <c:pt idx="108">
                  <c:v>0.00480463290153</c:v>
                </c:pt>
                <c:pt idx="109">
                  <c:v>0.00480461579419</c:v>
                </c:pt>
                <c:pt idx="110">
                  <c:v>0.00480459557787</c:v>
                </c:pt>
                <c:pt idx="111">
                  <c:v>0.00480459091441</c:v>
                </c:pt>
                <c:pt idx="112">
                  <c:v>0.00480458699509</c:v>
                </c:pt>
                <c:pt idx="113">
                  <c:v>0.00480457803225</c:v>
                </c:pt>
                <c:pt idx="114">
                  <c:v>0.00480457317248</c:v>
                </c:pt>
                <c:pt idx="115">
                  <c:v>0.00480456288</c:v>
                </c:pt>
                <c:pt idx="116">
                  <c:v>0.0048045385686</c:v>
                </c:pt>
                <c:pt idx="117">
                  <c:v>0.00480451270956</c:v>
                </c:pt>
                <c:pt idx="118">
                  <c:v>0.00480448635633</c:v>
                </c:pt>
                <c:pt idx="119">
                  <c:v>0.00480445410928</c:v>
                </c:pt>
                <c:pt idx="120">
                  <c:v>0.00480442487763</c:v>
                </c:pt>
                <c:pt idx="121">
                  <c:v>0.00480439858831</c:v>
                </c:pt>
                <c:pt idx="122">
                  <c:v>0.00480436803271</c:v>
                </c:pt>
                <c:pt idx="123">
                  <c:v>0.00480433539191</c:v>
                </c:pt>
                <c:pt idx="124">
                  <c:v>0.00480430286181</c:v>
                </c:pt>
                <c:pt idx="125">
                  <c:v>0.00480426606772</c:v>
                </c:pt>
                <c:pt idx="126">
                  <c:v>0.00480422820878</c:v>
                </c:pt>
                <c:pt idx="127">
                  <c:v>0.00480419326135</c:v>
                </c:pt>
                <c:pt idx="128">
                  <c:v>0.00480415816442</c:v>
                </c:pt>
                <c:pt idx="129">
                  <c:v>0.0048041244987</c:v>
                </c:pt>
                <c:pt idx="130">
                  <c:v>0.00480409309966</c:v>
                </c:pt>
                <c:pt idx="131">
                  <c:v>0.00480406087088</c:v>
                </c:pt>
                <c:pt idx="132">
                  <c:v>0.00480402759779</c:v>
                </c:pt>
                <c:pt idx="133">
                  <c:v>0.00480399573423</c:v>
                </c:pt>
                <c:pt idx="134">
                  <c:v>0.0048039644128</c:v>
                </c:pt>
                <c:pt idx="135">
                  <c:v>0.00480393328425</c:v>
                </c:pt>
                <c:pt idx="136">
                  <c:v>0.00480390525099</c:v>
                </c:pt>
                <c:pt idx="137">
                  <c:v>0.00480387715495</c:v>
                </c:pt>
                <c:pt idx="138">
                  <c:v>0.0048038499092</c:v>
                </c:pt>
                <c:pt idx="139">
                  <c:v>0.0048038237557</c:v>
                </c:pt>
                <c:pt idx="140">
                  <c:v>0.00480379798797</c:v>
                </c:pt>
                <c:pt idx="141">
                  <c:v>0.00480377164158</c:v>
                </c:pt>
                <c:pt idx="142">
                  <c:v>0.00480374664767</c:v>
                </c:pt>
                <c:pt idx="143">
                  <c:v>0.00480372211599</c:v>
                </c:pt>
                <c:pt idx="144">
                  <c:v>0.00480369812302</c:v>
                </c:pt>
                <c:pt idx="145">
                  <c:v>0.0048036746836</c:v>
                </c:pt>
                <c:pt idx="146">
                  <c:v>0.00480365216522</c:v>
                </c:pt>
                <c:pt idx="147">
                  <c:v>0.00480362864704</c:v>
                </c:pt>
                <c:pt idx="148">
                  <c:v>0.00480360617546</c:v>
                </c:pt>
                <c:pt idx="149">
                  <c:v>0.00480358335349</c:v>
                </c:pt>
                <c:pt idx="150">
                  <c:v>0.00480356079289</c:v>
                </c:pt>
                <c:pt idx="151">
                  <c:v>0.00480353854501</c:v>
                </c:pt>
                <c:pt idx="152">
                  <c:v>0.00480351637702</c:v>
                </c:pt>
                <c:pt idx="153">
                  <c:v>0.00480349446469</c:v>
                </c:pt>
                <c:pt idx="154">
                  <c:v>0.0048034722305</c:v>
                </c:pt>
                <c:pt idx="155">
                  <c:v>0.00480345010018</c:v>
                </c:pt>
                <c:pt idx="156">
                  <c:v>0.00480342798583</c:v>
                </c:pt>
                <c:pt idx="157">
                  <c:v>0.00480340611573</c:v>
                </c:pt>
                <c:pt idx="158">
                  <c:v>0.00480338397285</c:v>
                </c:pt>
                <c:pt idx="159">
                  <c:v>0.00480336249765</c:v>
                </c:pt>
                <c:pt idx="160">
                  <c:v>0.00480334017444</c:v>
                </c:pt>
                <c:pt idx="161">
                  <c:v>0.00480331828836</c:v>
                </c:pt>
                <c:pt idx="162">
                  <c:v>0.0048032963144</c:v>
                </c:pt>
                <c:pt idx="163">
                  <c:v>0.00480327432217</c:v>
                </c:pt>
                <c:pt idx="164">
                  <c:v>0.00480325294855</c:v>
                </c:pt>
                <c:pt idx="165">
                  <c:v>0.00480323077257</c:v>
                </c:pt>
                <c:pt idx="166">
                  <c:v>0.00480320888421</c:v>
                </c:pt>
                <c:pt idx="167">
                  <c:v>0.00480318734167</c:v>
                </c:pt>
                <c:pt idx="168">
                  <c:v>0.00480316573749</c:v>
                </c:pt>
                <c:pt idx="169">
                  <c:v>0.00480314393131</c:v>
                </c:pt>
                <c:pt idx="170">
                  <c:v>0.00480312261931</c:v>
                </c:pt>
                <c:pt idx="171">
                  <c:v>0.00480310106079</c:v>
                </c:pt>
                <c:pt idx="172">
                  <c:v>0.004803079064</c:v>
                </c:pt>
                <c:pt idx="173">
                  <c:v>0.00480305778625</c:v>
                </c:pt>
                <c:pt idx="174">
                  <c:v>0.00480303648681</c:v>
                </c:pt>
                <c:pt idx="175">
                  <c:v>0.00480301503101</c:v>
                </c:pt>
                <c:pt idx="176">
                  <c:v>0.00480299431137</c:v>
                </c:pt>
                <c:pt idx="177">
                  <c:v>0.00480297303932</c:v>
                </c:pt>
                <c:pt idx="178">
                  <c:v>0.00480295205489</c:v>
                </c:pt>
                <c:pt idx="179">
                  <c:v>0.00480293113209</c:v>
                </c:pt>
                <c:pt idx="180">
                  <c:v>0.004802909892</c:v>
                </c:pt>
                <c:pt idx="181">
                  <c:v>0.00480288888131</c:v>
                </c:pt>
                <c:pt idx="182">
                  <c:v>0.00480286854287</c:v>
                </c:pt>
                <c:pt idx="183">
                  <c:v>0.004802847886</c:v>
                </c:pt>
                <c:pt idx="184">
                  <c:v>0.00480282715951</c:v>
                </c:pt>
                <c:pt idx="185">
                  <c:v>0.00480280644785</c:v>
                </c:pt>
                <c:pt idx="186">
                  <c:v>0.00480278605691</c:v>
                </c:pt>
                <c:pt idx="187">
                  <c:v>0.0048027654845</c:v>
                </c:pt>
                <c:pt idx="188">
                  <c:v>0.00480274511182</c:v>
                </c:pt>
                <c:pt idx="189">
                  <c:v>0.00480272474142</c:v>
                </c:pt>
                <c:pt idx="190">
                  <c:v>0.00480270457646</c:v>
                </c:pt>
                <c:pt idx="191">
                  <c:v>0.00480268422432</c:v>
                </c:pt>
                <c:pt idx="192">
                  <c:v>0.00480266414154</c:v>
                </c:pt>
                <c:pt idx="193">
                  <c:v>0.00480264413066</c:v>
                </c:pt>
                <c:pt idx="194">
                  <c:v>0.00480262422021</c:v>
                </c:pt>
                <c:pt idx="195">
                  <c:v>0.00480260439194</c:v>
                </c:pt>
                <c:pt idx="196">
                  <c:v>0.00480258455568</c:v>
                </c:pt>
                <c:pt idx="197">
                  <c:v>0.00480256480046</c:v>
                </c:pt>
                <c:pt idx="198">
                  <c:v>0.00480254532486</c:v>
                </c:pt>
                <c:pt idx="199">
                  <c:v>0.00480252588122</c:v>
                </c:pt>
                <c:pt idx="200">
                  <c:v>0.00480250617507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059"/>
          <c:min val="0.0047"/>
        </c:scaling>
        <c:delete val="0"/>
        <c:axPos val="l"/>
        <c:majorGridlines>
          <c:spPr>
            <a:ln xmlns:a="http://schemas.openxmlformats.org/drawingml/2006/main" w="9525">
              <a:solidFill>
                <a:srgbClr val="D5DCE0"/>
              </a:solidFill>
            </a:ln>
          </c:spPr>
        </c:majorGridlines>
        <c:title>
          <c:tx>
            <c:rich>
              <a:bodyPr xmlns:a="http://schemas.openxmlformats.org/drawingml/2006/main"/>
              <a:lstStyle xmlns:a="http://schemas.openxmlformats.org/drawingml/2006/main"/>
              <a:p xmlns:a="http://schemas.openxmlformats.org/drawingml/2006/main">
                <a:r>
                  <a:rPr sz="1875">
                    <a:solidFill>
                      <a:srgbClr val="30414D"/>
                    </a:solidFill>
                    <a:latin typeface="Arial"/>
                    <a:ea typeface="Arial"/>
                    <a:cs typeface="Arial"/>
                  </a:rPr>
                  <a:t>Normalized training MSE</a:t>
                </a:r>
              </a:p>
            </c:rich>
          </c:tx>
          <c:overlay val="0"/>
          <c:txPr>
            <a:bodyPr xmlns:a="http://schemas.openxmlformats.org/drawingml/2006/main" anchorCtr="1"/>
            <a:lstStyle xmlns:a="http://schemas.openxmlformats.org/drawingml/2006/main"/>
            <a:p xmlns:a="http://schemas.openxmlformats.org/drawingml/2006/main">
              <a:pPr>
                <a:defRPr sz="1875">
                  <a:solidFill>
                    <a:srgbClr val="30414D"/>
                  </a:solidFill>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3616A"/>
                </a:solidFill>
                <a:latin typeface="Arial"/>
                <a:ea typeface="Arial"/>
                <a:cs typeface="Arial"/>
              </a:defRPr>
            </a:pPr>
          </a:p>
        </c:txPr>
        <c:crossAx val="48650112"/>
        <c:majorUnit val="0.0003"/>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1950">
                    <a:solidFill>
                      <a:srgbClr val="30414D"/>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950">
                  <a:solidFill>
                    <a:srgbClr val="30414D"/>
                  </a:solidFill>
                  <a:latin typeface="Arial"/>
                  <a:ea typeface="Arial"/>
                  <a:cs typeface="Arial"/>
                </a:defRPr>
              </a:pPr>
            </a:p>
          </c:txPr>
        </c:title>
        <c:numFmt formatCode="General"/>
        <c:majorTickMark val="none"/>
        <c:minorTickMark val="none"/>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875">
                <a:solidFill>
                  <a:srgbClr val="53616A"/>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QDM Image Super Resolution BTP">
            <a:extLst xmlns:a="http://schemas.openxmlformats.org/drawingml/2006/main">
              <a:ext uri="{FF2B5EF4-FFF2-40B4-BE49-F238E27FC236}">
                <a16:creationId xmlns:a16="http://schemas.microsoft.com/office/drawing/2014/main" id="{9A06897F-7A42-4A70-AEE3-EF9A668B8A43}"/>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QDM Image Super Resolution BTP</a:t>
            </a:r>
          </a:p>
        </p:txBody>
      </p:sp>
      <p:sp>
        <p:nvSpPr>
          <p:cNvPr id="2" name="1">
            <a:extLst xmlns:a="http://schemas.openxmlformats.org/drawingml/2006/main">
              <a:ext uri="{FF2B5EF4-FFF2-40B4-BE49-F238E27FC236}">
                <a16:creationId xmlns:a16="http://schemas.microsoft.com/office/drawing/2014/main" id="{52292769-0834-4286-AD3F-00E50A103388}"/>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a:t>
            </a:r>
          </a:p>
        </p:txBody>
      </p:sp>
      <p:pic>
        <p:nvPicPr>
          <p:cNvPr id="11" name="">
            <a:extLst xmlns:a="http://schemas.openxmlformats.org/drawingml/2006/main">
              <a:ext uri="{FF2B5EF4-FFF2-40B4-BE49-F238E27FC236}">
                <a16:creationId xmlns:a16="http://schemas.microsoft.com/office/drawing/2014/main" id="{B2CBCA8B-D0DB-45DA-BCEE-E28E583C08E8}"/>
              </a:ext>
            </a:extLst>
          </p:cNvPr>
          <p:cNvPicPr>
            <a:picLocks xmlns:a="http://schemas.openxmlformats.org/drawingml/2006/main" noChangeAspect="1"/>
          </p:cNvPicPr>
          <p:nvPr/>
        </p:nvPicPr>
        <p:blipFill>
          <a:blip xmlns:r="http://schemas.openxmlformats.org/officeDocument/2006/relationships" xmlns:a="http://schemas.openxmlformats.org/drawingml/2006/main" r:embed="R879973ca56fb4d92"/>
          <a:stretch xmlns:a="http://schemas.openxmlformats.org/drawingml/2006/main"/>
        </p:blipFill>
        <p:spPr>
          <a:xfrm xmlns:a="http://schemas.openxmlformats.org/drawingml/2006/main">
            <a:off x="9334500" y="2564"/>
            <a:ext cx="2857500" cy="1318846"/>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29851B81-3CB7-41BC-94E8-C1F141EAB92D}"/>
              </a:ext>
            </a:extLst>
          </p:cNvPr>
          <p:cNvPicPr>
            <a:picLocks xmlns:a="http://schemas.openxmlformats.org/drawingml/2006/main" noChangeAspect="1"/>
          </p:cNvPicPr>
          <p:nvPr/>
        </p:nvPicPr>
        <p:blipFill>
          <a:blip xmlns:r="http://schemas.openxmlformats.org/officeDocument/2006/relationships" xmlns:a="http://schemas.openxmlformats.org/drawingml/2006/main" r:embed="Rc0e7e3a3290c4c1e"/>
          <a:stretch xmlns:a="http://schemas.openxmlformats.org/drawingml/2006/main"/>
        </p:blipFill>
        <p:spPr>
          <a:xfrm xmlns:a="http://schemas.openxmlformats.org/drawingml/2006/main">
            <a:off x="0" y="5069681"/>
            <a:ext cx="2857500" cy="1785938"/>
          </a:xfrm>
          <a:prstGeom xmlns:a="http://schemas.openxmlformats.org/drawingml/2006/main" prst="rect">
            <a:avLst/>
          </a:prstGeom>
        </p:spPr>
      </p:pic>
      <p:sp>
        <p:nvSpPr>
          <p:cNvPr id="5" name="Update Biweekly Meeting">
            <a:extLst xmlns:a="http://schemas.openxmlformats.org/drawingml/2006/main">
              <a:ext uri="{FF2B5EF4-FFF2-40B4-BE49-F238E27FC236}">
                <a16:creationId xmlns:a16="http://schemas.microsoft.com/office/drawing/2014/main" id="{7D5F8732-01C8-46CE-90AB-F4AB0253E111}"/>
              </a:ext>
            </a:extLst>
          </p:cNvPr>
          <p:cNvSpPr>
            <a:spLocks xmlns:a="http://schemas.openxmlformats.org/drawingml/2006/main" noGrp="1"/>
          </p:cNvSpPr>
          <p:nvPr/>
        </p:nvSpPr>
        <p:spPr>
          <a:xfrm xmlns:a="http://schemas.openxmlformats.org/drawingml/2006/main">
            <a:off x="1524000" y="2333625"/>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00" b="0">
                <a:solidFill>
                  <a:srgbClr val="30414D"/>
                </a:solidFill>
                <a:latin typeface="Arial"/>
                <a:ea typeface="Arial"/>
                <a:cs typeface="Arial"/>
              </a:defRPr>
            </a:pPr>
            <a:r>
              <a:rPr sz="2700" b="0">
                <a:solidFill>
                  <a:srgbClr val="30414D"/>
                </a:solidFill>
                <a:latin typeface="Arial"/>
                <a:ea typeface="Arial"/>
                <a:cs typeface="Arial"/>
              </a:rPr>
              <a:t>Biweekly Meeting</a:t>
            </a:r>
          </a:p>
        </p:txBody>
      </p:sp>
      <p:sp>
        <p:nvSpPr>
          <p:cNvPr id="6" name="7 October 2026">
            <a:extLst xmlns:a="http://schemas.openxmlformats.org/drawingml/2006/main">
              <a:ext uri="{FF2B5EF4-FFF2-40B4-BE49-F238E27FC236}">
                <a16:creationId xmlns:a16="http://schemas.microsoft.com/office/drawing/2014/main" id="{631BE424-394A-4AB5-B487-043F5057F282}"/>
              </a:ext>
            </a:extLst>
          </p:cNvPr>
          <p:cNvSpPr>
            <a:spLocks xmlns:a="http://schemas.openxmlformats.org/drawingml/2006/main" noGrp="1"/>
          </p:cNvSpPr>
          <p:nvPr/>
        </p:nvSpPr>
        <p:spPr>
          <a:xfrm xmlns:a="http://schemas.openxmlformats.org/drawingml/2006/main">
            <a:off x="1524000" y="2981325"/>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250" b="0">
                <a:solidFill>
                  <a:srgbClr val="30414D"/>
                </a:solidFill>
                <a:latin typeface="Arial"/>
                <a:ea typeface="Arial"/>
                <a:cs typeface="Arial"/>
              </a:defRPr>
            </a:pPr>
            <a:r>
              <a:rPr sz="2250" b="0">
                <a:solidFill>
                  <a:srgbClr val="30414D"/>
                </a:solidFill>
                <a:latin typeface="Arial"/>
                <a:ea typeface="Arial"/>
                <a:cs typeface="Arial"/>
              </a:rPr>
              <a:t>Friday, 23 October 2026</a:t>
            </a:r>
          </a:p>
        </p:txBody>
      </p:sp>
      <p:sp>
        <p:nvSpPr>
          <p:cNvPr id="7" name="Faster reconstruction, stopping criteria&#10;and further kernel exper">
            <a:extLst xmlns:a="http://schemas.openxmlformats.org/drawingml/2006/main">
              <a:ext uri="{FF2B5EF4-FFF2-40B4-BE49-F238E27FC236}">
                <a16:creationId xmlns:a16="http://schemas.microsoft.com/office/drawing/2014/main" id="{9B9C3FAA-5CB3-4D35-AC34-518308A4F0AA}"/>
              </a:ext>
            </a:extLst>
          </p:cNvPr>
          <p:cNvSpPr>
            <a:spLocks xmlns:a="http://schemas.openxmlformats.org/drawingml/2006/main" noGrp="1"/>
          </p:cNvSpPr>
          <p:nvPr/>
        </p:nvSpPr>
        <p:spPr>
          <a:xfrm xmlns:a="http://schemas.openxmlformats.org/drawingml/2006/main">
            <a:off x="2000250" y="3848100"/>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30414D"/>
                </a:solidFill>
                <a:latin typeface="Arial"/>
                <a:ea typeface="Arial"/>
                <a:cs typeface="Arial"/>
              </a:defRPr>
            </a:pPr>
            <a:r>
              <a:rPr sz="2400" b="1">
                <a:solidFill>
                  <a:srgbClr val="30414D"/>
                </a:solidFill>
                <a:latin typeface="Arial"/>
                <a:ea typeface="Arial"/>
                <a:cs typeface="Arial"/>
              </a:rPr>
              <a:t>Combined-data ConvLISTA experiment</a:t>
            </a:r>
          </a:p>
          <a:p xmlns:a="http://schemas.openxmlformats.org/drawingml/2006/main">
            <a:pPr algn="ctr">
              <a:buNone/>
              <a:defRPr sz="2400" b="1">
                <a:solidFill>
                  <a:srgbClr val="30414D"/>
                </a:solidFill>
                <a:latin typeface="Arial"/>
                <a:ea typeface="Arial"/>
                <a:cs typeface="Arial"/>
              </a:defRPr>
            </a:pPr>
            <a:r>
              <a:rPr sz="2400" b="1">
                <a:solidFill>
                  <a:srgbClr val="30414D"/>
                </a:solidFill>
                <a:latin typeface="Arial"/>
                <a:ea typeface="Arial"/>
                <a:cs typeface="Arial"/>
              </a:rPr>
              <a:t>GPU training and reconstruction results</a:t>
            </a:r>
          </a:p>
        </p:txBody>
      </p:sp>
      <p:sp>
        <p:nvSpPr>
          <p:cNvPr id="8" name="By Abhay Chandra">
            <a:extLst xmlns:a="http://schemas.openxmlformats.org/drawingml/2006/main">
              <a:ext uri="{FF2B5EF4-FFF2-40B4-BE49-F238E27FC236}">
                <a16:creationId xmlns:a16="http://schemas.microsoft.com/office/drawing/2014/main" id="{721A9AB1-EB29-4F41-856A-0F802F0890C9}"/>
              </a:ext>
            </a:extLst>
          </p:cNvPr>
          <p:cNvSpPr>
            <a:spLocks xmlns:a="http://schemas.openxmlformats.org/drawingml/2006/main" noGrp="1"/>
          </p:cNvSpPr>
          <p:nvPr/>
        </p:nvSpPr>
        <p:spPr>
          <a:xfrm xmlns:a="http://schemas.openxmlformats.org/drawingml/2006/main">
            <a:off x="6286500" y="5438775"/>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2100" b="0">
                <a:solidFill>
                  <a:srgbClr val="30414D"/>
                </a:solidFill>
                <a:latin typeface="Arial"/>
                <a:ea typeface="Arial"/>
                <a:cs typeface="Arial"/>
              </a:defRPr>
            </a:pPr>
            <a:r>
              <a:rPr sz="2100" b="0">
                <a:solidFill>
                  <a:srgbClr val="30414D"/>
                </a:solidFill>
                <a:latin typeface="Arial"/>
                <a:ea typeface="Arial"/>
                <a:cs typeface="Arial"/>
              </a:rPr>
              <a:t>By Abhay Chandra</a:t>
            </a:r>
          </a:p>
        </p:txBody>
      </p:sp>
    </p:spTree>
    <p:extLst>
      <p:ext uri="{BB962C8B-B14F-4D97-AF65-F5344CB8AC3E}">
        <p14:creationId xmlns:p14="http://schemas.microsoft.com/office/powerpoint/2010/main" val="9516081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Work completed so far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a:t>
            </a:r>
          </a:p>
        </p:txBody>
      </p:sp>
      <p:sp>
        <p:nvSpPr>
          <p:cNvPr id="9" name="Learned one blur operator jointly from Bx, By and Bz.">
            <a:extLst xmlns:a="http://schemas.openxmlformats.org/drawingml/2006/main">
              <a:ext uri="{FF2B5EF4-FFF2-40B4-BE49-F238E27FC236}">
                <a16:creationId xmlns:a16="http://schemas.microsoft.com/office/drawing/2014/main" id="{6847030C-5F01-4607-9A33-E0D33BDA35D2}"/>
              </a:ext>
            </a:extLst>
          </p:cNvPr>
          <p:cNvSpPr>
            <a:spLocks xmlns:a="http://schemas.openxmlformats.org/drawingml/2006/main" noGrp="1"/>
          </p:cNvSpPr>
          <p:nvPr/>
        </p:nvSpPr>
        <p:spPr>
          <a:xfrm xmlns:a="http://schemas.openxmlformats.org/drawingml/2006/main">
            <a:off x="685800" y="15716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buNone/>
              <a:defRPr sz="2250" b="0">
                <a:solidFill>
                  <a:srgbClr val="30414D"/>
                </a:solidFill>
                <a:latin typeface="Arial"/>
                <a:ea typeface="Arial"/>
                <a:cs typeface="Arial"/>
              </a:defRPr>
            </a:lvl1pPr>
            <a:lvl2pPr algn="l">
              <a:buNone/>
              <a:defRPr sz="2250" b="0">
                <a:solidFill>
                  <a:srgbClr val="30414D"/>
                </a:solidFill>
                <a:latin typeface="Arial"/>
                <a:ea typeface="Arial"/>
                <a:cs typeface="Arial"/>
              </a:defRPr>
            </a:lvl2pPr>
            <a:lvl3pPr algn="l">
              <a:buNone/>
              <a:defRPr sz="2250" b="0">
                <a:solidFill>
                  <a:srgbClr val="30414D"/>
                </a:solidFill>
                <a:latin typeface="Arial"/>
                <a:ea typeface="Arial"/>
                <a:cs typeface="Arial"/>
              </a:defRPr>
            </a:lvl3pPr>
            <a:lvl4pPr algn="l">
              <a:buNone/>
              <a:defRPr sz="2250" b="0">
                <a:solidFill>
                  <a:srgbClr val="30414D"/>
                </a:solidFill>
                <a:latin typeface="Arial"/>
                <a:ea typeface="Arial"/>
                <a:cs typeface="Arial"/>
              </a:defRPr>
            </a:lvl4pPr>
            <a:lvl5pPr algn="l">
              <a:buNone/>
              <a:defRPr sz="2250" b="0">
                <a:solidFill>
                  <a:srgbClr val="30414D"/>
                </a:solidFill>
                <a:latin typeface="Arial"/>
                <a:ea typeface="Arial"/>
                <a:cs typeface="Arial"/>
              </a:defRPr>
            </a:lvl5pPr>
            <a:lvl6pPr algn="l">
              <a:buNone/>
              <a:defRPr sz="2250" b="0">
                <a:solidFill>
                  <a:srgbClr val="30414D"/>
                </a:solidFill>
                <a:latin typeface="Arial"/>
                <a:ea typeface="Arial"/>
                <a:cs typeface="Arial"/>
              </a:defRPr>
            </a:lvl6pPr>
            <a:lvl7pPr algn="l">
              <a:buNone/>
              <a:defRPr sz="2250" b="0">
                <a:solidFill>
                  <a:srgbClr val="30414D"/>
                </a:solidFill>
                <a:latin typeface="Arial"/>
                <a:ea typeface="Arial"/>
                <a:cs typeface="Arial"/>
              </a:defRPr>
            </a:lvl7pPr>
            <a:lvl8pPr algn="l">
              <a:buNone/>
              <a:defRPr sz="2250" b="0">
                <a:solidFill>
                  <a:srgbClr val="30414D"/>
                </a:solidFill>
                <a:latin typeface="Arial"/>
                <a:ea typeface="Arial"/>
                <a:cs typeface="Arial"/>
              </a:defRPr>
            </a:lvl8pPr>
            <a:lvl9pPr algn="l">
              <a:buNone/>
              <a:defRPr sz="2250" b="0">
                <a:solidFill>
                  <a:srgbClr val="30414D"/>
                </a:solidFill>
                <a:latin typeface="Arial"/>
                <a:ea typeface="Arial"/>
                <a:cs typeface="Arial"/>
              </a:defRPr>
            </a:lvl9pPr>
          </a:lstStyle>
          <a:p xmlns:a="http://schemas.openxmlformats.org/drawingml/2006/main">
            <a:pPr algn="l">
              <a:buNone/>
              <a:defRPr sz="2250" b="0">
                <a:solidFill>
                  <a:srgbClr val="30414D"/>
                </a:solidFill>
                <a:latin typeface="Arial"/>
                <a:ea typeface="Arial"/>
                <a:cs typeface="Arial"/>
              </a:defRPr>
            </a:pPr>
            <a:r>
              <a:rPr sz="2250" b="0">
                <a:solidFill>
                  <a:srgbClr val="30414D"/>
                </a:solidFill>
                <a:latin typeface="Arial"/>
                <a:ea typeface="Arial"/>
                <a:cs typeface="Arial"/>
              </a:rPr>
              <a:t>Learned one blur operator jointly from Bx, By and Bz.</a:t>
            </a:r>
          </a:p>
        </p:txBody>
      </p:sp>
      <p:sp>
        <p:nvSpPr>
          <p:cNvPr id="10" name="Compared ISTA, FISTA and ConvLISTA on the original coil fields.">
            <a:extLst xmlns:a="http://schemas.openxmlformats.org/drawingml/2006/main">
              <a:ext uri="{FF2B5EF4-FFF2-40B4-BE49-F238E27FC236}">
                <a16:creationId xmlns:a16="http://schemas.microsoft.com/office/drawing/2014/main" id="{D467A71D-FDF1-4C63-B9FB-C36D6CFBBC17}"/>
              </a:ext>
            </a:extLst>
          </p:cNvPr>
          <p:cNvSpPr>
            <a:spLocks xmlns:a="http://schemas.openxmlformats.org/drawingml/2006/main" noGrp="1"/>
          </p:cNvSpPr>
          <p:nvPr/>
        </p:nvSpPr>
        <p:spPr>
          <a:xfrm xmlns:a="http://schemas.openxmlformats.org/drawingml/2006/main">
            <a:off x="685800" y="25717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buNone/>
              <a:defRPr sz="2250" b="0">
                <a:solidFill>
                  <a:srgbClr val="30414D"/>
                </a:solidFill>
                <a:latin typeface="Arial"/>
                <a:ea typeface="Arial"/>
                <a:cs typeface="Arial"/>
              </a:defRPr>
            </a:lvl1pPr>
            <a:lvl2pPr algn="l">
              <a:buNone/>
              <a:defRPr sz="2250" b="0">
                <a:solidFill>
                  <a:srgbClr val="30414D"/>
                </a:solidFill>
                <a:latin typeface="Arial"/>
                <a:ea typeface="Arial"/>
                <a:cs typeface="Arial"/>
              </a:defRPr>
            </a:lvl2pPr>
            <a:lvl3pPr algn="l">
              <a:buNone/>
              <a:defRPr sz="2250" b="0">
                <a:solidFill>
                  <a:srgbClr val="30414D"/>
                </a:solidFill>
                <a:latin typeface="Arial"/>
                <a:ea typeface="Arial"/>
                <a:cs typeface="Arial"/>
              </a:defRPr>
            </a:lvl3pPr>
            <a:lvl4pPr algn="l">
              <a:buNone/>
              <a:defRPr sz="2250" b="0">
                <a:solidFill>
                  <a:srgbClr val="30414D"/>
                </a:solidFill>
                <a:latin typeface="Arial"/>
                <a:ea typeface="Arial"/>
                <a:cs typeface="Arial"/>
              </a:defRPr>
            </a:lvl4pPr>
            <a:lvl5pPr algn="l">
              <a:buNone/>
              <a:defRPr sz="2250" b="0">
                <a:solidFill>
                  <a:srgbClr val="30414D"/>
                </a:solidFill>
                <a:latin typeface="Arial"/>
                <a:ea typeface="Arial"/>
                <a:cs typeface="Arial"/>
              </a:defRPr>
            </a:lvl5pPr>
            <a:lvl6pPr algn="l">
              <a:buNone/>
              <a:defRPr sz="2250" b="0">
                <a:solidFill>
                  <a:srgbClr val="30414D"/>
                </a:solidFill>
                <a:latin typeface="Arial"/>
                <a:ea typeface="Arial"/>
                <a:cs typeface="Arial"/>
              </a:defRPr>
            </a:lvl6pPr>
            <a:lvl7pPr algn="l">
              <a:buNone/>
              <a:defRPr sz="2250" b="0">
                <a:solidFill>
                  <a:srgbClr val="30414D"/>
                </a:solidFill>
                <a:latin typeface="Arial"/>
                <a:ea typeface="Arial"/>
                <a:cs typeface="Arial"/>
              </a:defRPr>
            </a:lvl7pPr>
            <a:lvl8pPr algn="l">
              <a:buNone/>
              <a:defRPr sz="2250" b="0">
                <a:solidFill>
                  <a:srgbClr val="30414D"/>
                </a:solidFill>
                <a:latin typeface="Arial"/>
                <a:ea typeface="Arial"/>
                <a:cs typeface="Arial"/>
              </a:defRPr>
            </a:lvl8pPr>
            <a:lvl9pPr algn="l">
              <a:buNone/>
              <a:defRPr sz="2250" b="0">
                <a:solidFill>
                  <a:srgbClr val="30414D"/>
                </a:solidFill>
                <a:latin typeface="Arial"/>
                <a:ea typeface="Arial"/>
                <a:cs typeface="Arial"/>
              </a:defRPr>
            </a:lvl9pPr>
          </a:lstStyle>
          <a:p xmlns:a="http://schemas.openxmlformats.org/drawingml/2006/main">
            <a:pPr algn="l">
              <a:buNone/>
              <a:defRPr sz="2250" b="0">
                <a:solidFill>
                  <a:srgbClr val="30414D"/>
                </a:solidFill>
                <a:latin typeface="Arial"/>
                <a:ea typeface="Arial"/>
                <a:cs typeface="Arial"/>
              </a:defRPr>
            </a:pPr>
            <a:r>
              <a:rPr sz="2250" b="0">
                <a:solidFill>
                  <a:srgbClr val="30414D"/>
                </a:solidFill>
                <a:latin typeface="Arial"/>
                <a:ea typeface="Arial"/>
                <a:cs typeface="Arial"/>
              </a:rPr>
              <a:t>Compared ISTA, FISTA and ConvLISTA on the original coil fields.</a:t>
            </a:r>
          </a:p>
        </p:txBody>
      </p:sp>
      <p:sp>
        <p:nvSpPr>
          <p:cNvPr id="11" name="Checked stopping criteria and the limits of direct crop pairing.">
            <a:extLst xmlns:a="http://schemas.openxmlformats.org/drawingml/2006/main">
              <a:ext uri="{FF2B5EF4-FFF2-40B4-BE49-F238E27FC236}">
                <a16:creationId xmlns:a16="http://schemas.microsoft.com/office/drawing/2014/main" id="{7CFA5E4F-9788-4099-8E59-66EB8F0D9D24}"/>
              </a:ext>
            </a:extLst>
          </p:cNvPr>
          <p:cNvSpPr>
            <a:spLocks xmlns:a="http://schemas.openxmlformats.org/drawingml/2006/main" noGrp="1"/>
          </p:cNvSpPr>
          <p:nvPr/>
        </p:nvSpPr>
        <p:spPr>
          <a:xfrm xmlns:a="http://schemas.openxmlformats.org/drawingml/2006/main">
            <a:off x="685800" y="3571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buNone/>
              <a:defRPr sz="2250" b="0">
                <a:solidFill>
                  <a:srgbClr val="30414D"/>
                </a:solidFill>
                <a:latin typeface="Arial"/>
                <a:ea typeface="Arial"/>
                <a:cs typeface="Arial"/>
              </a:defRPr>
            </a:lvl1pPr>
            <a:lvl2pPr algn="l">
              <a:buNone/>
              <a:defRPr sz="2250" b="0">
                <a:solidFill>
                  <a:srgbClr val="30414D"/>
                </a:solidFill>
                <a:latin typeface="Arial"/>
                <a:ea typeface="Arial"/>
                <a:cs typeface="Arial"/>
              </a:defRPr>
            </a:lvl2pPr>
            <a:lvl3pPr algn="l">
              <a:buNone/>
              <a:defRPr sz="2250" b="0">
                <a:solidFill>
                  <a:srgbClr val="30414D"/>
                </a:solidFill>
                <a:latin typeface="Arial"/>
                <a:ea typeface="Arial"/>
                <a:cs typeface="Arial"/>
              </a:defRPr>
            </a:lvl3pPr>
            <a:lvl4pPr algn="l">
              <a:buNone/>
              <a:defRPr sz="2250" b="0">
                <a:solidFill>
                  <a:srgbClr val="30414D"/>
                </a:solidFill>
                <a:latin typeface="Arial"/>
                <a:ea typeface="Arial"/>
                <a:cs typeface="Arial"/>
              </a:defRPr>
            </a:lvl4pPr>
            <a:lvl5pPr algn="l">
              <a:buNone/>
              <a:defRPr sz="2250" b="0">
                <a:solidFill>
                  <a:srgbClr val="30414D"/>
                </a:solidFill>
                <a:latin typeface="Arial"/>
                <a:ea typeface="Arial"/>
                <a:cs typeface="Arial"/>
              </a:defRPr>
            </a:lvl5pPr>
            <a:lvl6pPr algn="l">
              <a:buNone/>
              <a:defRPr sz="2250" b="0">
                <a:solidFill>
                  <a:srgbClr val="30414D"/>
                </a:solidFill>
                <a:latin typeface="Arial"/>
                <a:ea typeface="Arial"/>
                <a:cs typeface="Arial"/>
              </a:defRPr>
            </a:lvl6pPr>
            <a:lvl7pPr algn="l">
              <a:buNone/>
              <a:defRPr sz="2250" b="0">
                <a:solidFill>
                  <a:srgbClr val="30414D"/>
                </a:solidFill>
                <a:latin typeface="Arial"/>
                <a:ea typeface="Arial"/>
                <a:cs typeface="Arial"/>
              </a:defRPr>
            </a:lvl7pPr>
            <a:lvl8pPr algn="l">
              <a:buNone/>
              <a:defRPr sz="2250" b="0">
                <a:solidFill>
                  <a:srgbClr val="30414D"/>
                </a:solidFill>
                <a:latin typeface="Arial"/>
                <a:ea typeface="Arial"/>
                <a:cs typeface="Arial"/>
              </a:defRPr>
            </a:lvl8pPr>
            <a:lvl9pPr algn="l">
              <a:buNone/>
              <a:defRPr sz="2250" b="0">
                <a:solidFill>
                  <a:srgbClr val="30414D"/>
                </a:solidFill>
                <a:latin typeface="Arial"/>
                <a:ea typeface="Arial"/>
                <a:cs typeface="Arial"/>
              </a:defRPr>
            </a:lvl9pPr>
          </a:lstStyle>
          <a:p xmlns:a="http://schemas.openxmlformats.org/drawingml/2006/main">
            <a:pPr algn="l">
              <a:buNone/>
              <a:defRPr sz="2250" b="0">
                <a:solidFill>
                  <a:srgbClr val="30414D"/>
                </a:solidFill>
                <a:latin typeface="Arial"/>
                <a:ea typeface="Arial"/>
                <a:cs typeface="Arial"/>
              </a:defRPr>
            </a:pPr>
            <a:r>
              <a:rPr sz="2250" b="0">
                <a:solidFill>
                  <a:srgbClr val="30414D"/>
                </a:solidFill>
                <a:latin typeface="Arial"/>
                <a:ea typeface="Arial"/>
                <a:cs typeface="Arial"/>
              </a:rPr>
              <a:t>Checked stopping criteria and the limits of direct crop pairing.</a:t>
            </a:r>
          </a:p>
        </p:txBody>
      </p:sp>
      <p:sp>
        <p:nvSpPr>
          <p:cNvPr id="12" name="Implemented ALISTA for a separate synthetic sparse-recovery test.">
            <a:extLst xmlns:a="http://schemas.openxmlformats.org/drawingml/2006/main">
              <a:ext uri="{FF2B5EF4-FFF2-40B4-BE49-F238E27FC236}">
                <a16:creationId xmlns:a16="http://schemas.microsoft.com/office/drawing/2014/main" id="{2B4249DC-C0FA-442F-AA47-04BE4F9C43E1}"/>
              </a:ext>
            </a:extLst>
          </p:cNvPr>
          <p:cNvSpPr>
            <a:spLocks xmlns:a="http://schemas.openxmlformats.org/drawingml/2006/main" noGrp="1"/>
          </p:cNvSpPr>
          <p:nvPr/>
        </p:nvSpPr>
        <p:spPr>
          <a:xfrm xmlns:a="http://schemas.openxmlformats.org/drawingml/2006/main">
            <a:off x="685800" y="4572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buNone/>
              <a:defRPr sz="2250" b="0">
                <a:solidFill>
                  <a:srgbClr val="30414D"/>
                </a:solidFill>
                <a:latin typeface="Arial"/>
                <a:ea typeface="Arial"/>
                <a:cs typeface="Arial"/>
              </a:defRPr>
            </a:lvl1pPr>
            <a:lvl2pPr algn="l">
              <a:buNone/>
              <a:defRPr sz="2250" b="0">
                <a:solidFill>
                  <a:srgbClr val="30414D"/>
                </a:solidFill>
                <a:latin typeface="Arial"/>
                <a:ea typeface="Arial"/>
                <a:cs typeface="Arial"/>
              </a:defRPr>
            </a:lvl2pPr>
            <a:lvl3pPr algn="l">
              <a:buNone/>
              <a:defRPr sz="2250" b="0">
                <a:solidFill>
                  <a:srgbClr val="30414D"/>
                </a:solidFill>
                <a:latin typeface="Arial"/>
                <a:ea typeface="Arial"/>
                <a:cs typeface="Arial"/>
              </a:defRPr>
            </a:lvl3pPr>
            <a:lvl4pPr algn="l">
              <a:buNone/>
              <a:defRPr sz="2250" b="0">
                <a:solidFill>
                  <a:srgbClr val="30414D"/>
                </a:solidFill>
                <a:latin typeface="Arial"/>
                <a:ea typeface="Arial"/>
                <a:cs typeface="Arial"/>
              </a:defRPr>
            </a:lvl4pPr>
            <a:lvl5pPr algn="l">
              <a:buNone/>
              <a:defRPr sz="2250" b="0">
                <a:solidFill>
                  <a:srgbClr val="30414D"/>
                </a:solidFill>
                <a:latin typeface="Arial"/>
                <a:ea typeface="Arial"/>
                <a:cs typeface="Arial"/>
              </a:defRPr>
            </a:lvl5pPr>
            <a:lvl6pPr algn="l">
              <a:buNone/>
              <a:defRPr sz="2250" b="0">
                <a:solidFill>
                  <a:srgbClr val="30414D"/>
                </a:solidFill>
                <a:latin typeface="Arial"/>
                <a:ea typeface="Arial"/>
                <a:cs typeface="Arial"/>
              </a:defRPr>
            </a:lvl6pPr>
            <a:lvl7pPr algn="l">
              <a:buNone/>
              <a:defRPr sz="2250" b="0">
                <a:solidFill>
                  <a:srgbClr val="30414D"/>
                </a:solidFill>
                <a:latin typeface="Arial"/>
                <a:ea typeface="Arial"/>
                <a:cs typeface="Arial"/>
              </a:defRPr>
            </a:lvl7pPr>
            <a:lvl8pPr algn="l">
              <a:buNone/>
              <a:defRPr sz="2250" b="0">
                <a:solidFill>
                  <a:srgbClr val="30414D"/>
                </a:solidFill>
                <a:latin typeface="Arial"/>
                <a:ea typeface="Arial"/>
                <a:cs typeface="Arial"/>
              </a:defRPr>
            </a:lvl8pPr>
            <a:lvl9pPr algn="l">
              <a:buNone/>
              <a:defRPr sz="2250" b="0">
                <a:solidFill>
                  <a:srgbClr val="30414D"/>
                </a:solidFill>
                <a:latin typeface="Arial"/>
                <a:ea typeface="Arial"/>
                <a:cs typeface="Arial"/>
              </a:defRPr>
            </a:lvl9pPr>
          </a:lstStyle>
          <a:p xmlns:a="http://schemas.openxmlformats.org/drawingml/2006/main">
            <a:pPr algn="l">
              <a:buNone/>
              <a:defRPr sz="2250" b="0">
                <a:solidFill>
                  <a:srgbClr val="30414D"/>
                </a:solidFill>
                <a:latin typeface="Arial"/>
                <a:ea typeface="Arial"/>
                <a:cs typeface="Arial"/>
              </a:defRPr>
            </a:pPr>
            <a:r>
              <a:rPr sz="2250" b="0">
                <a:solidFill>
                  <a:srgbClr val="30414D"/>
                </a:solidFill>
                <a:latin typeface="Arial"/>
                <a:ea typeface="Arial"/>
                <a:cs typeface="Arial"/>
              </a:rPr>
              <a:t>Implemented ALISTA for a separate synthetic sparse-recovery test.</a:t>
            </a:r>
          </a:p>
        </p:txBody>
      </p:sp>
      <p:sp>
        <p:nvSpPr>
          <p:cNvPr id="13" name="Next step: expand the dataset and train one shared ConvLISTA model.">
            <a:extLst xmlns:a="http://schemas.openxmlformats.org/drawingml/2006/main">
              <a:ext uri="{FF2B5EF4-FFF2-40B4-BE49-F238E27FC236}">
                <a16:creationId xmlns:a16="http://schemas.microsoft.com/office/drawing/2014/main" id="{C2EC5C9E-E0C8-43D1-A4D3-6647B656A127}"/>
              </a:ext>
            </a:extLst>
          </p:cNvPr>
          <p:cNvSpPr>
            <a:spLocks xmlns:a="http://schemas.openxmlformats.org/drawingml/2006/main" noGrp="1"/>
          </p:cNvSpPr>
          <p:nvPr/>
        </p:nvSpPr>
        <p:spPr>
          <a:xfrm xmlns:a="http://schemas.openxmlformats.org/drawingml/2006/main">
            <a:off x="609600" y="5953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0414D"/>
                </a:solidFill>
                <a:latin typeface="Arial"/>
                <a:ea typeface="Arial"/>
                <a:cs typeface="Arial"/>
              </a:defRPr>
            </a:defPPr>
            <a:lvl1pPr algn="l">
              <a:buNone/>
              <a:defRPr sz="1950" b="1">
                <a:solidFill>
                  <a:srgbClr val="30414D"/>
                </a:solidFill>
                <a:latin typeface="Arial"/>
                <a:ea typeface="Arial"/>
                <a:cs typeface="Arial"/>
              </a:defRPr>
            </a:lvl1pPr>
            <a:lvl2pPr algn="l">
              <a:buNone/>
              <a:defRPr sz="1950" b="1">
                <a:solidFill>
                  <a:srgbClr val="30414D"/>
                </a:solidFill>
                <a:latin typeface="Arial"/>
                <a:ea typeface="Arial"/>
                <a:cs typeface="Arial"/>
              </a:defRPr>
            </a:lvl2pPr>
            <a:lvl3pPr algn="l">
              <a:buNone/>
              <a:defRPr sz="1950" b="1">
                <a:solidFill>
                  <a:srgbClr val="30414D"/>
                </a:solidFill>
                <a:latin typeface="Arial"/>
                <a:ea typeface="Arial"/>
                <a:cs typeface="Arial"/>
              </a:defRPr>
            </a:lvl3pPr>
            <a:lvl4pPr algn="l">
              <a:buNone/>
              <a:defRPr sz="1950" b="1">
                <a:solidFill>
                  <a:srgbClr val="30414D"/>
                </a:solidFill>
                <a:latin typeface="Arial"/>
                <a:ea typeface="Arial"/>
                <a:cs typeface="Arial"/>
              </a:defRPr>
            </a:lvl4pPr>
            <a:lvl5pPr algn="l">
              <a:buNone/>
              <a:defRPr sz="1950" b="1">
                <a:solidFill>
                  <a:srgbClr val="30414D"/>
                </a:solidFill>
                <a:latin typeface="Arial"/>
                <a:ea typeface="Arial"/>
                <a:cs typeface="Arial"/>
              </a:defRPr>
            </a:lvl5pPr>
            <a:lvl6pPr algn="l">
              <a:buNone/>
              <a:defRPr sz="1950" b="1">
                <a:solidFill>
                  <a:srgbClr val="30414D"/>
                </a:solidFill>
                <a:latin typeface="Arial"/>
                <a:ea typeface="Arial"/>
                <a:cs typeface="Arial"/>
              </a:defRPr>
            </a:lvl6pPr>
            <a:lvl7pPr algn="l">
              <a:buNone/>
              <a:defRPr sz="1950" b="1">
                <a:solidFill>
                  <a:srgbClr val="30414D"/>
                </a:solidFill>
                <a:latin typeface="Arial"/>
                <a:ea typeface="Arial"/>
                <a:cs typeface="Arial"/>
              </a:defRPr>
            </a:lvl7pPr>
            <a:lvl8pPr algn="l">
              <a:buNone/>
              <a:defRPr sz="1950" b="1">
                <a:solidFill>
                  <a:srgbClr val="30414D"/>
                </a:solidFill>
                <a:latin typeface="Arial"/>
                <a:ea typeface="Arial"/>
                <a:cs typeface="Arial"/>
              </a:defRPr>
            </a:lvl8pPr>
            <a:lvl9pPr algn="l">
              <a:buNone/>
              <a:defRPr sz="1950" b="1">
                <a:solidFill>
                  <a:srgbClr val="30414D"/>
                </a:solidFill>
                <a:latin typeface="Arial"/>
                <a:ea typeface="Arial"/>
                <a:cs typeface="Arial"/>
              </a:defRPr>
            </a:lvl9pPr>
          </a:lstStyle>
          <a:p xmlns:a="http://schemas.openxmlformats.org/drawingml/2006/main">
            <a:pPr algn="l">
              <a:buNone/>
              <a:defRPr sz="1950" b="1">
                <a:solidFill>
                  <a:srgbClr val="30414D"/>
                </a:solidFill>
                <a:latin typeface="Arial"/>
                <a:ea typeface="Arial"/>
                <a:cs typeface="Arial"/>
              </a:defRPr>
            </a:pPr>
            <a:r>
              <a:rPr sz="1950" b="1">
                <a:solidFill>
                  <a:srgbClr val="30414D"/>
                </a:solidFill>
                <a:latin typeface="Arial"/>
                <a:ea typeface="Arial"/>
                <a:cs typeface="Arial"/>
              </a:rPr>
              <a:t>Next step: expand the dataset and train one shared ConvLISTA model.</a:t>
            </a:r>
          </a:p>
        </p:txBody>
      </p:sp>
    </p:spTree>
    <p:extLst>
      <p:ext uri="{BB962C8B-B14F-4D97-AF65-F5344CB8AC3E}">
        <p14:creationId xmlns:p14="http://schemas.microsoft.com/office/powerpoint/2010/main" val="2026793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HPC transfer and GPU setup</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3</a:t>
            </a:r>
          </a:p>
        </p:txBody>
      </p:sp>
      <p:sp>
        <p:nvSpPr>
          <p:cNvPr id="9" name="Transferred the code and both datasets to remote compute.">
            <a:extLst xmlns:a="http://schemas.openxmlformats.org/drawingml/2006/main">
              <a:ext uri="{FF2B5EF4-FFF2-40B4-BE49-F238E27FC236}">
                <a16:creationId xmlns:a16="http://schemas.microsoft.com/office/drawing/2014/main" id="{33335F87-6292-4A97-84BB-1628698E016E}"/>
              </a:ext>
            </a:extLst>
          </p:cNvPr>
          <p:cNvSpPr>
            <a:spLocks xmlns:a="http://schemas.openxmlformats.org/drawingml/2006/main" noGrp="1"/>
          </p:cNvSpPr>
          <p:nvPr/>
        </p:nvSpPr>
        <p:spPr>
          <a:xfrm xmlns:a="http://schemas.openxmlformats.org/drawingml/2006/main">
            <a:off x="685800" y="17145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buNone/>
              <a:defRPr sz="2325" b="0">
                <a:solidFill>
                  <a:srgbClr val="30414D"/>
                </a:solidFill>
                <a:latin typeface="Arial"/>
                <a:ea typeface="Arial"/>
                <a:cs typeface="Arial"/>
              </a:defRPr>
            </a:lvl1pPr>
            <a:lvl2pPr algn="l">
              <a:buNone/>
              <a:defRPr sz="2325" b="0">
                <a:solidFill>
                  <a:srgbClr val="30414D"/>
                </a:solidFill>
                <a:latin typeface="Arial"/>
                <a:ea typeface="Arial"/>
                <a:cs typeface="Arial"/>
              </a:defRPr>
            </a:lvl2pPr>
            <a:lvl3pPr algn="l">
              <a:buNone/>
              <a:defRPr sz="2325" b="0">
                <a:solidFill>
                  <a:srgbClr val="30414D"/>
                </a:solidFill>
                <a:latin typeface="Arial"/>
                <a:ea typeface="Arial"/>
                <a:cs typeface="Arial"/>
              </a:defRPr>
            </a:lvl3pPr>
            <a:lvl4pPr algn="l">
              <a:buNone/>
              <a:defRPr sz="2325" b="0">
                <a:solidFill>
                  <a:srgbClr val="30414D"/>
                </a:solidFill>
                <a:latin typeface="Arial"/>
                <a:ea typeface="Arial"/>
                <a:cs typeface="Arial"/>
              </a:defRPr>
            </a:lvl4pPr>
            <a:lvl5pPr algn="l">
              <a:buNone/>
              <a:defRPr sz="2325" b="0">
                <a:solidFill>
                  <a:srgbClr val="30414D"/>
                </a:solidFill>
                <a:latin typeface="Arial"/>
                <a:ea typeface="Arial"/>
                <a:cs typeface="Arial"/>
              </a:defRPr>
            </a:lvl5pPr>
            <a:lvl6pPr algn="l">
              <a:buNone/>
              <a:defRPr sz="2325" b="0">
                <a:solidFill>
                  <a:srgbClr val="30414D"/>
                </a:solidFill>
                <a:latin typeface="Arial"/>
                <a:ea typeface="Arial"/>
                <a:cs typeface="Arial"/>
              </a:defRPr>
            </a:lvl6pPr>
            <a:lvl7pPr algn="l">
              <a:buNone/>
              <a:defRPr sz="2325" b="0">
                <a:solidFill>
                  <a:srgbClr val="30414D"/>
                </a:solidFill>
                <a:latin typeface="Arial"/>
                <a:ea typeface="Arial"/>
                <a:cs typeface="Arial"/>
              </a:defRPr>
            </a:lvl7pPr>
            <a:lvl8pPr algn="l">
              <a:buNone/>
              <a:defRPr sz="2325" b="0">
                <a:solidFill>
                  <a:srgbClr val="30414D"/>
                </a:solidFill>
                <a:latin typeface="Arial"/>
                <a:ea typeface="Arial"/>
                <a:cs typeface="Arial"/>
              </a:defRPr>
            </a:lvl8pPr>
            <a:lvl9pPr algn="l">
              <a:buNone/>
              <a:defRPr sz="2325" b="0">
                <a:solidFill>
                  <a:srgbClr val="30414D"/>
                </a:solidFill>
                <a:latin typeface="Arial"/>
                <a:ea typeface="Arial"/>
                <a:cs typeface="Arial"/>
              </a:defRPr>
            </a:lvl9pPr>
          </a:lstStyle>
          <a:p xmlns:a="http://schemas.openxmlformats.org/drawingml/2006/main">
            <a:pPr algn="l">
              <a:buNone/>
              <a:defRPr sz="2325" b="0">
                <a:solidFill>
                  <a:srgbClr val="30414D"/>
                </a:solidFill>
                <a:latin typeface="Arial"/>
                <a:ea typeface="Arial"/>
                <a:cs typeface="Arial"/>
              </a:defRPr>
            </a:pPr>
            <a:r>
              <a:rPr sz="2325" b="0">
                <a:solidFill>
                  <a:srgbClr val="30414D"/>
                </a:solidFill>
                <a:latin typeface="Arial"/>
                <a:ea typeface="Arial"/>
                <a:cs typeface="Arial"/>
              </a:rPr>
              <a:t>Transferred the code and both datasets to remote compute.</a:t>
            </a:r>
          </a:p>
        </p:txBody>
      </p:sp>
      <p:sp>
        <p:nvSpPr>
          <p:cNvPr id="10" name="Moved execution from the Prajna queue to the professor’s server.">
            <a:extLst xmlns:a="http://schemas.openxmlformats.org/drawingml/2006/main">
              <a:ext uri="{FF2B5EF4-FFF2-40B4-BE49-F238E27FC236}">
                <a16:creationId xmlns:a16="http://schemas.microsoft.com/office/drawing/2014/main" id="{1B09F9AC-E363-4E1D-8237-70E73056BD84}"/>
              </a:ext>
            </a:extLst>
          </p:cNvPr>
          <p:cNvSpPr>
            <a:spLocks xmlns:a="http://schemas.openxmlformats.org/drawingml/2006/main" noGrp="1"/>
          </p:cNvSpPr>
          <p:nvPr/>
        </p:nvSpPr>
        <p:spPr>
          <a:xfrm xmlns:a="http://schemas.openxmlformats.org/drawingml/2006/main">
            <a:off x="685800" y="2809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buNone/>
              <a:defRPr sz="2325" b="0">
                <a:solidFill>
                  <a:srgbClr val="30414D"/>
                </a:solidFill>
                <a:latin typeface="Arial"/>
                <a:ea typeface="Arial"/>
                <a:cs typeface="Arial"/>
              </a:defRPr>
            </a:lvl1pPr>
            <a:lvl2pPr algn="l">
              <a:buNone/>
              <a:defRPr sz="2325" b="0">
                <a:solidFill>
                  <a:srgbClr val="30414D"/>
                </a:solidFill>
                <a:latin typeface="Arial"/>
                <a:ea typeface="Arial"/>
                <a:cs typeface="Arial"/>
              </a:defRPr>
            </a:lvl2pPr>
            <a:lvl3pPr algn="l">
              <a:buNone/>
              <a:defRPr sz="2325" b="0">
                <a:solidFill>
                  <a:srgbClr val="30414D"/>
                </a:solidFill>
                <a:latin typeface="Arial"/>
                <a:ea typeface="Arial"/>
                <a:cs typeface="Arial"/>
              </a:defRPr>
            </a:lvl3pPr>
            <a:lvl4pPr algn="l">
              <a:buNone/>
              <a:defRPr sz="2325" b="0">
                <a:solidFill>
                  <a:srgbClr val="30414D"/>
                </a:solidFill>
                <a:latin typeface="Arial"/>
                <a:ea typeface="Arial"/>
                <a:cs typeface="Arial"/>
              </a:defRPr>
            </a:lvl4pPr>
            <a:lvl5pPr algn="l">
              <a:buNone/>
              <a:defRPr sz="2325" b="0">
                <a:solidFill>
                  <a:srgbClr val="30414D"/>
                </a:solidFill>
                <a:latin typeface="Arial"/>
                <a:ea typeface="Arial"/>
                <a:cs typeface="Arial"/>
              </a:defRPr>
            </a:lvl5pPr>
            <a:lvl6pPr algn="l">
              <a:buNone/>
              <a:defRPr sz="2325" b="0">
                <a:solidFill>
                  <a:srgbClr val="30414D"/>
                </a:solidFill>
                <a:latin typeface="Arial"/>
                <a:ea typeface="Arial"/>
                <a:cs typeface="Arial"/>
              </a:defRPr>
            </a:lvl6pPr>
            <a:lvl7pPr algn="l">
              <a:buNone/>
              <a:defRPr sz="2325" b="0">
                <a:solidFill>
                  <a:srgbClr val="30414D"/>
                </a:solidFill>
                <a:latin typeface="Arial"/>
                <a:ea typeface="Arial"/>
                <a:cs typeface="Arial"/>
              </a:defRPr>
            </a:lvl7pPr>
            <a:lvl8pPr algn="l">
              <a:buNone/>
              <a:defRPr sz="2325" b="0">
                <a:solidFill>
                  <a:srgbClr val="30414D"/>
                </a:solidFill>
                <a:latin typeface="Arial"/>
                <a:ea typeface="Arial"/>
                <a:cs typeface="Arial"/>
              </a:defRPr>
            </a:lvl8pPr>
            <a:lvl9pPr algn="l">
              <a:buNone/>
              <a:defRPr sz="2325" b="0">
                <a:solidFill>
                  <a:srgbClr val="30414D"/>
                </a:solidFill>
                <a:latin typeface="Arial"/>
                <a:ea typeface="Arial"/>
                <a:cs typeface="Arial"/>
              </a:defRPr>
            </a:lvl9pPr>
          </a:lstStyle>
          <a:p xmlns:a="http://schemas.openxmlformats.org/drawingml/2006/main">
            <a:pPr algn="l">
              <a:buNone/>
              <a:defRPr sz="2325" b="0">
                <a:solidFill>
                  <a:srgbClr val="30414D"/>
                </a:solidFill>
                <a:latin typeface="Arial"/>
                <a:ea typeface="Arial"/>
                <a:cs typeface="Arial"/>
              </a:defRPr>
            </a:pPr>
            <a:r>
              <a:rPr sz="2325" b="0">
                <a:solidFill>
                  <a:srgbClr val="30414D"/>
                </a:solidFill>
                <a:latin typeface="Arial"/>
                <a:ea typeface="Arial"/>
                <a:cs typeface="Arial"/>
              </a:rPr>
              <a:t>Moved execution from the Prajna queue to the professor’s server.</a:t>
            </a:r>
          </a:p>
        </p:txBody>
      </p:sp>
      <p:sp>
        <p:nvSpPr>
          <p:cNvPr id="11" name="RTX A6000, 48 GB GPU memory. CUDA checks passed.">
            <a:extLst xmlns:a="http://schemas.openxmlformats.org/drawingml/2006/main">
              <a:ext uri="{FF2B5EF4-FFF2-40B4-BE49-F238E27FC236}">
                <a16:creationId xmlns:a16="http://schemas.microsoft.com/office/drawing/2014/main" id="{69945D84-7425-4E5A-9FA3-B231190E9F37}"/>
              </a:ext>
            </a:extLst>
          </p:cNvPr>
          <p:cNvSpPr>
            <a:spLocks xmlns:a="http://schemas.openxmlformats.org/drawingml/2006/main" noGrp="1"/>
          </p:cNvSpPr>
          <p:nvPr/>
        </p:nvSpPr>
        <p:spPr>
          <a:xfrm xmlns:a="http://schemas.openxmlformats.org/drawingml/2006/main">
            <a:off x="685800" y="3905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buNone/>
              <a:defRPr sz="2325" b="0">
                <a:solidFill>
                  <a:srgbClr val="30414D"/>
                </a:solidFill>
                <a:latin typeface="Arial"/>
                <a:ea typeface="Arial"/>
                <a:cs typeface="Arial"/>
              </a:defRPr>
            </a:lvl1pPr>
            <a:lvl2pPr algn="l">
              <a:buNone/>
              <a:defRPr sz="2325" b="0">
                <a:solidFill>
                  <a:srgbClr val="30414D"/>
                </a:solidFill>
                <a:latin typeface="Arial"/>
                <a:ea typeface="Arial"/>
                <a:cs typeface="Arial"/>
              </a:defRPr>
            </a:lvl2pPr>
            <a:lvl3pPr algn="l">
              <a:buNone/>
              <a:defRPr sz="2325" b="0">
                <a:solidFill>
                  <a:srgbClr val="30414D"/>
                </a:solidFill>
                <a:latin typeface="Arial"/>
                <a:ea typeface="Arial"/>
                <a:cs typeface="Arial"/>
              </a:defRPr>
            </a:lvl3pPr>
            <a:lvl4pPr algn="l">
              <a:buNone/>
              <a:defRPr sz="2325" b="0">
                <a:solidFill>
                  <a:srgbClr val="30414D"/>
                </a:solidFill>
                <a:latin typeface="Arial"/>
                <a:ea typeface="Arial"/>
                <a:cs typeface="Arial"/>
              </a:defRPr>
            </a:lvl4pPr>
            <a:lvl5pPr algn="l">
              <a:buNone/>
              <a:defRPr sz="2325" b="0">
                <a:solidFill>
                  <a:srgbClr val="30414D"/>
                </a:solidFill>
                <a:latin typeface="Arial"/>
                <a:ea typeface="Arial"/>
                <a:cs typeface="Arial"/>
              </a:defRPr>
            </a:lvl5pPr>
            <a:lvl6pPr algn="l">
              <a:buNone/>
              <a:defRPr sz="2325" b="0">
                <a:solidFill>
                  <a:srgbClr val="30414D"/>
                </a:solidFill>
                <a:latin typeface="Arial"/>
                <a:ea typeface="Arial"/>
                <a:cs typeface="Arial"/>
              </a:defRPr>
            </a:lvl6pPr>
            <a:lvl7pPr algn="l">
              <a:buNone/>
              <a:defRPr sz="2325" b="0">
                <a:solidFill>
                  <a:srgbClr val="30414D"/>
                </a:solidFill>
                <a:latin typeface="Arial"/>
                <a:ea typeface="Arial"/>
                <a:cs typeface="Arial"/>
              </a:defRPr>
            </a:lvl7pPr>
            <a:lvl8pPr algn="l">
              <a:buNone/>
              <a:defRPr sz="2325" b="0">
                <a:solidFill>
                  <a:srgbClr val="30414D"/>
                </a:solidFill>
                <a:latin typeface="Arial"/>
                <a:ea typeface="Arial"/>
                <a:cs typeface="Arial"/>
              </a:defRPr>
            </a:lvl8pPr>
            <a:lvl9pPr algn="l">
              <a:buNone/>
              <a:defRPr sz="2325" b="0">
                <a:solidFill>
                  <a:srgbClr val="30414D"/>
                </a:solidFill>
                <a:latin typeface="Arial"/>
                <a:ea typeface="Arial"/>
                <a:cs typeface="Arial"/>
              </a:defRPr>
            </a:lvl9pPr>
          </a:lstStyle>
          <a:p xmlns:a="http://schemas.openxmlformats.org/drawingml/2006/main">
            <a:pPr algn="l">
              <a:buNone/>
              <a:defRPr sz="2325" b="0">
                <a:solidFill>
                  <a:srgbClr val="30414D"/>
                </a:solidFill>
                <a:latin typeface="Arial"/>
                <a:ea typeface="Arial"/>
                <a:cs typeface="Arial"/>
              </a:defRPr>
            </a:pPr>
            <a:r>
              <a:rPr sz="2325" b="0">
                <a:solidFill>
                  <a:srgbClr val="30414D"/>
                </a:solidFill>
                <a:latin typeface="Arial"/>
                <a:ea typeface="Arial"/>
                <a:cs typeface="Arial"/>
              </a:rPr>
              <a:t>RTX A6000, 48 GB GPU memory. CUDA checks passed.</a:t>
            </a:r>
          </a:p>
        </p:txBody>
      </p:sp>
      <p:sp>
        <p:nvSpPr>
          <p:cNvPr id="12" name="Two-epoch pilot complete. The 200-epoch experiment has started.">
            <a:extLst xmlns:a="http://schemas.openxmlformats.org/drawingml/2006/main">
              <a:ext uri="{FF2B5EF4-FFF2-40B4-BE49-F238E27FC236}">
                <a16:creationId xmlns:a16="http://schemas.microsoft.com/office/drawing/2014/main" id="{A67FEC9B-16B9-4133-8F31-7DFBFCBE9B18}"/>
              </a:ext>
            </a:extLst>
          </p:cNvPr>
          <p:cNvSpPr>
            <a:spLocks xmlns:a="http://schemas.openxmlformats.org/drawingml/2006/main" noGrp="1"/>
          </p:cNvSpPr>
          <p:nvPr/>
        </p:nvSpPr>
        <p:spPr>
          <a:xfrm xmlns:a="http://schemas.openxmlformats.org/drawingml/2006/main">
            <a:off x="609600" y="53911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0414D"/>
                </a:solidFill>
                <a:latin typeface="Arial"/>
                <a:ea typeface="Arial"/>
                <a:cs typeface="Arial"/>
              </a:defRPr>
            </a:defPPr>
            <a:lvl1pPr algn="l">
              <a:buNone/>
              <a:defRPr sz="2100" b="1">
                <a:solidFill>
                  <a:srgbClr val="30414D"/>
                </a:solidFill>
                <a:latin typeface="Arial"/>
                <a:ea typeface="Arial"/>
                <a:cs typeface="Arial"/>
              </a:defRPr>
            </a:lvl1pPr>
            <a:lvl2pPr algn="l">
              <a:buNone/>
              <a:defRPr sz="2100" b="1">
                <a:solidFill>
                  <a:srgbClr val="30414D"/>
                </a:solidFill>
                <a:latin typeface="Arial"/>
                <a:ea typeface="Arial"/>
                <a:cs typeface="Arial"/>
              </a:defRPr>
            </a:lvl2pPr>
            <a:lvl3pPr algn="l">
              <a:buNone/>
              <a:defRPr sz="2100" b="1">
                <a:solidFill>
                  <a:srgbClr val="30414D"/>
                </a:solidFill>
                <a:latin typeface="Arial"/>
                <a:ea typeface="Arial"/>
                <a:cs typeface="Arial"/>
              </a:defRPr>
            </a:lvl3pPr>
            <a:lvl4pPr algn="l">
              <a:buNone/>
              <a:defRPr sz="2100" b="1">
                <a:solidFill>
                  <a:srgbClr val="30414D"/>
                </a:solidFill>
                <a:latin typeface="Arial"/>
                <a:ea typeface="Arial"/>
                <a:cs typeface="Arial"/>
              </a:defRPr>
            </a:lvl4pPr>
            <a:lvl5pPr algn="l">
              <a:buNone/>
              <a:defRPr sz="2100" b="1">
                <a:solidFill>
                  <a:srgbClr val="30414D"/>
                </a:solidFill>
                <a:latin typeface="Arial"/>
                <a:ea typeface="Arial"/>
                <a:cs typeface="Arial"/>
              </a:defRPr>
            </a:lvl5pPr>
            <a:lvl6pPr algn="l">
              <a:buNone/>
              <a:defRPr sz="2100" b="1">
                <a:solidFill>
                  <a:srgbClr val="30414D"/>
                </a:solidFill>
                <a:latin typeface="Arial"/>
                <a:ea typeface="Arial"/>
                <a:cs typeface="Arial"/>
              </a:defRPr>
            </a:lvl6pPr>
            <a:lvl7pPr algn="l">
              <a:buNone/>
              <a:defRPr sz="2100" b="1">
                <a:solidFill>
                  <a:srgbClr val="30414D"/>
                </a:solidFill>
                <a:latin typeface="Arial"/>
                <a:ea typeface="Arial"/>
                <a:cs typeface="Arial"/>
              </a:defRPr>
            </a:lvl7pPr>
            <a:lvl8pPr algn="l">
              <a:buNone/>
              <a:defRPr sz="2100" b="1">
                <a:solidFill>
                  <a:srgbClr val="30414D"/>
                </a:solidFill>
                <a:latin typeface="Arial"/>
                <a:ea typeface="Arial"/>
                <a:cs typeface="Arial"/>
              </a:defRPr>
            </a:lvl8pPr>
            <a:lvl9pPr algn="l">
              <a:buNone/>
              <a:defRPr sz="2100" b="1">
                <a:solidFill>
                  <a:srgbClr val="30414D"/>
                </a:solidFill>
                <a:latin typeface="Arial"/>
                <a:ea typeface="Arial"/>
                <a:cs typeface="Arial"/>
              </a:defRPr>
            </a:lvl9pPr>
          </a:lstStyle>
          <a:p xmlns:a="http://schemas.openxmlformats.org/drawingml/2006/main">
            <a:pPr algn="l">
              <a:buNone/>
              <a:defRPr sz="2100" b="1">
                <a:solidFill>
                  <a:srgbClr val="30414D"/>
                </a:solidFill>
                <a:latin typeface="Arial"/>
                <a:ea typeface="Arial"/>
                <a:cs typeface="Arial"/>
              </a:defRPr>
            </a:pPr>
            <a:r>
              <a:rPr sz="2100" b="1">
                <a:solidFill>
                  <a:srgbClr val="30414D"/>
                </a:solidFill>
                <a:latin typeface="Arial"/>
                <a:ea typeface="Arial"/>
                <a:cs typeface="Arial"/>
              </a:rPr>
              <a:t>200 epochs complete. Best checkpoint: epoch 200.</a:t>
            </a:r>
          </a:p>
        </p:txBody>
      </p:sp>
    </p:spTree>
    <p:extLst>
      <p:ext uri="{BB962C8B-B14F-4D97-AF65-F5344CB8AC3E}">
        <p14:creationId xmlns:p14="http://schemas.microsoft.com/office/powerpoint/2010/main" val="2026793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Combined data: 17 height pairs, 51 component pairs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4</a:t>
            </a:r>
          </a:p>
        </p:txBody>
      </p:sp>
      <p:graphicFrame>
        <p:nvGraphicFramePr>
          <p:cNvPr id="9" name="">
            <a:extLst xmlns:a="http://schemas.openxmlformats.org/drawingml/2006/main">
              <a:ext uri="{FF2B5EF4-FFF2-40B4-BE49-F238E27FC236}">
                <a16:creationId xmlns:a16="http://schemas.microsoft.com/office/drawing/2014/main" id="{9A93AE06-C10A-4F05-B2FC-9D6D3FB67073}"/>
              </a:ext>
            </a:extLst>
          </p:cNvPr>
          <p:cNvGraphicFramePr/>
          <p:nvPr/>
        </p:nvGraphicFramePr>
        <p:xfrm>
          <a:off xmlns:a="http://schemas.openxmlformats.org/drawingml/2006/main" x="609600" y="1524000"/>
          <a:ext xmlns:a="http://schemas.openxmlformats.org/drawingml/2006/main" cx="10972800" cy="3619500"/>
        </p:xfrm>
        <a:graphic xmlns:a="http://schemas.openxmlformats.org/drawingml/2006/main">
          <a:graphicData uri="http://schemas.openxmlformats.org/drawingml/2006/table">
            <a:tbl>
              <a:tblPr/>
              <a:tblGrid>
                <a:gridCol w="2238375"/>
                <a:gridCol w="1809750"/>
                <a:gridCol w="2352675"/>
                <a:gridCol w="2000250"/>
                <a:gridCol w="2571750"/>
              </a:tblGrid>
              <a:tr h="723900">
                <a:tc>
                  <a:txBody>
                    <a:bodyPr lIns="95250" tIns="95250" rIns="95250" bIns="95250"/>
                    <a:lstStyle/>
                    <a:p>
                      <a:r>
                        <a:rPr sz="2100" b="1">
                          <a:solidFill>
                            <a:srgbClr val="FFFFFF"/>
                          </a:solidFill>
                          <a:latin typeface="Arial"/>
                          <a:ea typeface="Arial"/>
                          <a:cs typeface="Arial"/>
                        </a:rPr>
                        <a:t>Geometry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CSV planes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Reference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Height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Component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723900">
                <a:tc>
                  <a:txBody>
                    <a:bodyPr lIns="95250" tIns="95250" rIns="95250" bIns="95250"/>
                    <a:lstStyle/>
                    <a:p>
                      <a:r>
                        <a:rPr sz="2100" b="0">
                          <a:solidFill>
                            <a:srgbClr val="30414D"/>
                          </a:solidFill>
                          <a:latin typeface="Arial"/>
                          <a:ea typeface="Arial"/>
                          <a:cs typeface="Arial"/>
                        </a:rPr>
                        <a:t>L1_C1</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23900">
                <a:tc>
                  <a:txBody>
                    <a:bodyPr lIns="95250" tIns="95250" rIns="95250" bIns="95250"/>
                    <a:lstStyle/>
                    <a:p>
                      <a:r>
                        <a:rPr sz="2100" b="0">
                          <a:solidFill>
                            <a:srgbClr val="30414D"/>
                          </a:solidFill>
                          <a:latin typeface="Arial"/>
                          <a:ea typeface="Arial"/>
                          <a:cs typeface="Arial"/>
                        </a:rPr>
                        <a:t>IC_4um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6</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723900">
                <a:tc>
                  <a:txBody>
                    <a:bodyPr lIns="95250" tIns="95250" rIns="95250" bIns="95250"/>
                    <a:lstStyle/>
                    <a:p>
                      <a:r>
                        <a:rPr sz="2100" b="0">
                          <a:solidFill>
                            <a:srgbClr val="30414D"/>
                          </a:solidFill>
                          <a:latin typeface="Arial"/>
                          <a:ea typeface="Arial"/>
                          <a:cs typeface="Arial"/>
                        </a:rPr>
                        <a:t>IC_2um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23900">
                <a:tc>
                  <a:txBody>
                    <a:bodyPr lIns="95250" tIns="95250" rIns="95250" bIns="95250"/>
                    <a:lstStyle/>
                    <a:p>
                      <a:r>
                        <a:rPr sz="2100" b="0">
                          <a:solidFill>
                            <a:srgbClr val="30414D"/>
                          </a:solidFill>
                          <a:latin typeface="Arial"/>
                          <a:ea typeface="Arial"/>
                          <a:cs typeface="Arial"/>
                        </a:rPr>
                        <a:t>Total</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Within geometry</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Pair each higher plane with its geometry’s lowest plane.">
            <a:extLst xmlns:a="http://schemas.openxmlformats.org/drawingml/2006/main">
              <a:ext uri="{FF2B5EF4-FFF2-40B4-BE49-F238E27FC236}">
                <a16:creationId xmlns:a16="http://schemas.microsoft.com/office/drawing/2014/main" id="{1374DD9C-1D26-4103-B880-FAB1B2E8E8A0}"/>
              </a:ext>
            </a:extLst>
          </p:cNvPr>
          <p:cNvSpPr>
            <a:spLocks xmlns:a="http://schemas.openxmlformats.org/drawingml/2006/main" noGrp="1"/>
          </p:cNvSpPr>
          <p:nvPr/>
        </p:nvSpPr>
        <p:spPr>
          <a:xfrm xmlns:a="http://schemas.openxmlformats.org/drawingml/2006/main">
            <a:off x="685800" y="54864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buNone/>
              <a:defRPr sz="2175" b="0">
                <a:solidFill>
                  <a:srgbClr val="30414D"/>
                </a:solidFill>
                <a:latin typeface="Arial"/>
                <a:ea typeface="Arial"/>
                <a:cs typeface="Arial"/>
              </a:defRPr>
            </a:lvl1pPr>
            <a:lvl2pPr algn="l">
              <a:buNone/>
              <a:defRPr sz="2175" b="0">
                <a:solidFill>
                  <a:srgbClr val="30414D"/>
                </a:solidFill>
                <a:latin typeface="Arial"/>
                <a:ea typeface="Arial"/>
                <a:cs typeface="Arial"/>
              </a:defRPr>
            </a:lvl2pPr>
            <a:lvl3pPr algn="l">
              <a:buNone/>
              <a:defRPr sz="2175" b="0">
                <a:solidFill>
                  <a:srgbClr val="30414D"/>
                </a:solidFill>
                <a:latin typeface="Arial"/>
                <a:ea typeface="Arial"/>
                <a:cs typeface="Arial"/>
              </a:defRPr>
            </a:lvl3pPr>
            <a:lvl4pPr algn="l">
              <a:buNone/>
              <a:defRPr sz="2175" b="0">
                <a:solidFill>
                  <a:srgbClr val="30414D"/>
                </a:solidFill>
                <a:latin typeface="Arial"/>
                <a:ea typeface="Arial"/>
                <a:cs typeface="Arial"/>
              </a:defRPr>
            </a:lvl4pPr>
            <a:lvl5pPr algn="l">
              <a:buNone/>
              <a:defRPr sz="2175" b="0">
                <a:solidFill>
                  <a:srgbClr val="30414D"/>
                </a:solidFill>
                <a:latin typeface="Arial"/>
                <a:ea typeface="Arial"/>
                <a:cs typeface="Arial"/>
              </a:defRPr>
            </a:lvl5pPr>
            <a:lvl6pPr algn="l">
              <a:buNone/>
              <a:defRPr sz="2175" b="0">
                <a:solidFill>
                  <a:srgbClr val="30414D"/>
                </a:solidFill>
                <a:latin typeface="Arial"/>
                <a:ea typeface="Arial"/>
                <a:cs typeface="Arial"/>
              </a:defRPr>
            </a:lvl6pPr>
            <a:lvl7pPr algn="l">
              <a:buNone/>
              <a:defRPr sz="2175" b="0">
                <a:solidFill>
                  <a:srgbClr val="30414D"/>
                </a:solidFill>
                <a:latin typeface="Arial"/>
                <a:ea typeface="Arial"/>
                <a:cs typeface="Arial"/>
              </a:defRPr>
            </a:lvl7pPr>
            <a:lvl8pPr algn="l">
              <a:buNone/>
              <a:defRPr sz="2175" b="0">
                <a:solidFill>
                  <a:srgbClr val="30414D"/>
                </a:solidFill>
                <a:latin typeface="Arial"/>
                <a:ea typeface="Arial"/>
                <a:cs typeface="Arial"/>
              </a:defRPr>
            </a:lvl8pPr>
            <a:lvl9pPr algn="l">
              <a:buNone/>
              <a:defRPr sz="2175" b="0">
                <a:solidFill>
                  <a:srgbClr val="30414D"/>
                </a:solidFill>
                <a:latin typeface="Arial"/>
                <a:ea typeface="Arial"/>
                <a:cs typeface="Arial"/>
              </a:defRPr>
            </a:lvl9pPr>
          </a:lstStyle>
          <a:p xmlns:a="http://schemas.openxmlformats.org/drawingml/2006/main">
            <a:pPr algn="l">
              <a:buNone/>
              <a:defRPr sz="2175" b="0">
                <a:solidFill>
                  <a:srgbClr val="30414D"/>
                </a:solidFill>
                <a:latin typeface="Arial"/>
                <a:ea typeface="Arial"/>
                <a:cs typeface="Arial"/>
              </a:defRPr>
            </a:pPr>
            <a:r>
              <a:rPr sz="2175" b="0">
                <a:solidFill>
                  <a:srgbClr val="30414D"/>
                </a:solidFill>
                <a:latin typeface="Arial"/>
                <a:ea typeface="Arial"/>
                <a:cs typeface="Arial"/>
              </a:rPr>
              <a:t>Pair each higher plane with its geometry’s lowest plane.</a:t>
            </a:r>
          </a:p>
        </p:txBody>
      </p:sp>
      <p:sp>
        <p:nvSpPr>
          <p:cNvPr id="11" name="17 pairs × (Bx, By, Bz). Full 1400 × 1400 fields, with no crops.">
            <a:extLst xmlns:a="http://schemas.openxmlformats.org/drawingml/2006/main">
              <a:ext uri="{FF2B5EF4-FFF2-40B4-BE49-F238E27FC236}">
                <a16:creationId xmlns:a16="http://schemas.microsoft.com/office/drawing/2014/main" id="{BE8422FA-BB45-48FF-A999-0194670D8F12}"/>
              </a:ext>
            </a:extLst>
          </p:cNvPr>
          <p:cNvSpPr>
            <a:spLocks xmlns:a="http://schemas.openxmlformats.org/drawingml/2006/main" noGrp="1"/>
          </p:cNvSpPr>
          <p:nvPr/>
        </p:nvSpPr>
        <p:spPr>
          <a:xfrm xmlns:a="http://schemas.openxmlformats.org/drawingml/2006/main">
            <a:off x="685800" y="6029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buNone/>
              <a:defRPr sz="2025" b="1">
                <a:solidFill>
                  <a:srgbClr val="30414D"/>
                </a:solidFill>
                <a:latin typeface="Arial"/>
                <a:ea typeface="Arial"/>
                <a:cs typeface="Arial"/>
              </a:defRPr>
            </a:lvl1pPr>
            <a:lvl2pPr algn="l">
              <a:buNone/>
              <a:defRPr sz="2025" b="1">
                <a:solidFill>
                  <a:srgbClr val="30414D"/>
                </a:solidFill>
                <a:latin typeface="Arial"/>
                <a:ea typeface="Arial"/>
                <a:cs typeface="Arial"/>
              </a:defRPr>
            </a:lvl2pPr>
            <a:lvl3pPr algn="l">
              <a:buNone/>
              <a:defRPr sz="2025" b="1">
                <a:solidFill>
                  <a:srgbClr val="30414D"/>
                </a:solidFill>
                <a:latin typeface="Arial"/>
                <a:ea typeface="Arial"/>
                <a:cs typeface="Arial"/>
              </a:defRPr>
            </a:lvl3pPr>
            <a:lvl4pPr algn="l">
              <a:buNone/>
              <a:defRPr sz="2025" b="1">
                <a:solidFill>
                  <a:srgbClr val="30414D"/>
                </a:solidFill>
                <a:latin typeface="Arial"/>
                <a:ea typeface="Arial"/>
                <a:cs typeface="Arial"/>
              </a:defRPr>
            </a:lvl4pPr>
            <a:lvl5pPr algn="l">
              <a:buNone/>
              <a:defRPr sz="2025" b="1">
                <a:solidFill>
                  <a:srgbClr val="30414D"/>
                </a:solidFill>
                <a:latin typeface="Arial"/>
                <a:ea typeface="Arial"/>
                <a:cs typeface="Arial"/>
              </a:defRPr>
            </a:lvl5pPr>
            <a:lvl6pPr algn="l">
              <a:buNone/>
              <a:defRPr sz="2025" b="1">
                <a:solidFill>
                  <a:srgbClr val="30414D"/>
                </a:solidFill>
                <a:latin typeface="Arial"/>
                <a:ea typeface="Arial"/>
                <a:cs typeface="Arial"/>
              </a:defRPr>
            </a:lvl6pPr>
            <a:lvl7pPr algn="l">
              <a:buNone/>
              <a:defRPr sz="2025" b="1">
                <a:solidFill>
                  <a:srgbClr val="30414D"/>
                </a:solidFill>
                <a:latin typeface="Arial"/>
                <a:ea typeface="Arial"/>
                <a:cs typeface="Arial"/>
              </a:defRPr>
            </a:lvl7pPr>
            <a:lvl8pPr algn="l">
              <a:buNone/>
              <a:defRPr sz="2025" b="1">
                <a:solidFill>
                  <a:srgbClr val="30414D"/>
                </a:solidFill>
                <a:latin typeface="Arial"/>
                <a:ea typeface="Arial"/>
                <a:cs typeface="Arial"/>
              </a:defRPr>
            </a:lvl8pPr>
            <a:lvl9pPr algn="l">
              <a:buNone/>
              <a:defRPr sz="2025" b="1">
                <a:solidFill>
                  <a:srgbClr val="30414D"/>
                </a:solidFill>
                <a:latin typeface="Arial"/>
                <a:ea typeface="Arial"/>
                <a:cs typeface="Arial"/>
              </a:defRPr>
            </a:lvl9pPr>
          </a:lstStyle>
          <a:p xmlns:a="http://schemas.openxmlformats.org/drawingml/2006/main">
            <a:pPr algn="l">
              <a:buNone/>
              <a:defRPr sz="2025" b="1">
                <a:solidFill>
                  <a:srgbClr val="30414D"/>
                </a:solidFill>
                <a:latin typeface="Arial"/>
                <a:ea typeface="Arial"/>
                <a:cs typeface="Arial"/>
              </a:defRPr>
            </a:pPr>
            <a:r>
              <a:rPr sz="2025" b="1">
                <a:solidFill>
                  <a:srgbClr val="30414D"/>
                </a:solidFill>
                <a:latin typeface="Arial"/>
                <a:ea typeface="Arial"/>
                <a:cs typeface="Arial"/>
              </a:rPr>
              <a:t>17 pairs × (Bx, By, Bz). Full 1400 × 1400 fields, with no crops.</a:t>
            </a:r>
          </a:p>
        </p:txBody>
      </p:sp>
    </p:spTree>
    <p:extLst>
      <p:ext uri="{BB962C8B-B14F-4D97-AF65-F5344CB8AC3E}">
        <p14:creationId xmlns:p14="http://schemas.microsoft.com/office/powerpoint/2010/main" val="2026793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shared ConvLISTA across the combined data</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5</a:t>
            </a:r>
          </a:p>
        </p:txBody>
      </p:sp>
      <p:sp>
        <p:nvSpPr>
          <p:cNvPr id="9" name="16 layers, two shared 9 × 9 filters and one scalar: 163 parameters.">
            <a:extLst xmlns:a="http://schemas.openxmlformats.org/drawingml/2006/main">
              <a:ext uri="{FF2B5EF4-FFF2-40B4-BE49-F238E27FC236}">
                <a16:creationId xmlns:a16="http://schemas.microsoft.com/office/drawing/2014/main" id="{534D7C71-45D2-404C-8FFE-84D14218014F}"/>
              </a:ext>
            </a:extLst>
          </p:cNvPr>
          <p:cNvSpPr>
            <a:spLocks xmlns:a="http://schemas.openxmlformats.org/drawingml/2006/main" noGrp="1"/>
          </p:cNvSpPr>
          <p:nvPr/>
        </p:nvSpPr>
        <p:spPr>
          <a:xfrm xmlns:a="http://schemas.openxmlformats.org/drawingml/2006/main">
            <a:off x="685800" y="14287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buNone/>
              <a:defRPr sz="2175" b="0">
                <a:solidFill>
                  <a:srgbClr val="30414D"/>
                </a:solidFill>
                <a:latin typeface="Arial"/>
                <a:ea typeface="Arial"/>
                <a:cs typeface="Arial"/>
              </a:defRPr>
            </a:lvl1pPr>
            <a:lvl2pPr algn="l">
              <a:buNone/>
              <a:defRPr sz="2175" b="0">
                <a:solidFill>
                  <a:srgbClr val="30414D"/>
                </a:solidFill>
                <a:latin typeface="Arial"/>
                <a:ea typeface="Arial"/>
                <a:cs typeface="Arial"/>
              </a:defRPr>
            </a:lvl2pPr>
            <a:lvl3pPr algn="l">
              <a:buNone/>
              <a:defRPr sz="2175" b="0">
                <a:solidFill>
                  <a:srgbClr val="30414D"/>
                </a:solidFill>
                <a:latin typeface="Arial"/>
                <a:ea typeface="Arial"/>
                <a:cs typeface="Arial"/>
              </a:defRPr>
            </a:lvl3pPr>
            <a:lvl4pPr algn="l">
              <a:buNone/>
              <a:defRPr sz="2175" b="0">
                <a:solidFill>
                  <a:srgbClr val="30414D"/>
                </a:solidFill>
                <a:latin typeface="Arial"/>
                <a:ea typeface="Arial"/>
                <a:cs typeface="Arial"/>
              </a:defRPr>
            </a:lvl4pPr>
            <a:lvl5pPr algn="l">
              <a:buNone/>
              <a:defRPr sz="2175" b="0">
                <a:solidFill>
                  <a:srgbClr val="30414D"/>
                </a:solidFill>
                <a:latin typeface="Arial"/>
                <a:ea typeface="Arial"/>
                <a:cs typeface="Arial"/>
              </a:defRPr>
            </a:lvl5pPr>
            <a:lvl6pPr algn="l">
              <a:buNone/>
              <a:defRPr sz="2175" b="0">
                <a:solidFill>
                  <a:srgbClr val="30414D"/>
                </a:solidFill>
                <a:latin typeface="Arial"/>
                <a:ea typeface="Arial"/>
                <a:cs typeface="Arial"/>
              </a:defRPr>
            </a:lvl6pPr>
            <a:lvl7pPr algn="l">
              <a:buNone/>
              <a:defRPr sz="2175" b="0">
                <a:solidFill>
                  <a:srgbClr val="30414D"/>
                </a:solidFill>
                <a:latin typeface="Arial"/>
                <a:ea typeface="Arial"/>
                <a:cs typeface="Arial"/>
              </a:defRPr>
            </a:lvl7pPr>
            <a:lvl8pPr algn="l">
              <a:buNone/>
              <a:defRPr sz="2175" b="0">
                <a:solidFill>
                  <a:srgbClr val="30414D"/>
                </a:solidFill>
                <a:latin typeface="Arial"/>
                <a:ea typeface="Arial"/>
                <a:cs typeface="Arial"/>
              </a:defRPr>
            </a:lvl8pPr>
            <a:lvl9pPr algn="l">
              <a:buNone/>
              <a:defRPr sz="2175" b="0">
                <a:solidFill>
                  <a:srgbClr val="30414D"/>
                </a:solidFill>
                <a:latin typeface="Arial"/>
                <a:ea typeface="Arial"/>
                <a:cs typeface="Arial"/>
              </a:defRPr>
            </a:lvl9pPr>
          </a:lstStyle>
          <a:p xmlns:a="http://schemas.openxmlformats.org/drawingml/2006/main">
            <a:pPr algn="l">
              <a:buNone/>
              <a:defRPr sz="2175" b="0">
                <a:solidFill>
                  <a:srgbClr val="30414D"/>
                </a:solidFill>
                <a:latin typeface="Arial"/>
                <a:ea typeface="Arial"/>
                <a:cs typeface="Arial"/>
              </a:defRPr>
            </a:pPr>
            <a:r>
              <a:rPr sz="2175" b="0">
                <a:solidFill>
                  <a:srgbClr val="30414D"/>
                </a:solidFill>
                <a:latin typeface="Arial"/>
                <a:ea typeface="Arial"/>
                <a:cs typeface="Arial"/>
              </a:rPr>
              <a:t>16 layers, two shared 9 × 9 filters and one scalar: 163 parameters.</a:t>
            </a:r>
          </a:p>
        </p:txBody>
      </p:sp>
      <p:sp>
        <p:nvSpPr>
          <p:cNvPr id="10" name="Fit and freeze one Fourier operator for each of the 17 height pairs.">
            <a:extLst xmlns:a="http://schemas.openxmlformats.org/drawingml/2006/main">
              <a:ext uri="{FF2B5EF4-FFF2-40B4-BE49-F238E27FC236}">
                <a16:creationId xmlns:a16="http://schemas.microsoft.com/office/drawing/2014/main" id="{3E86EF0B-3835-43CC-8BB1-89D80EA099F2}"/>
              </a:ext>
            </a:extLst>
          </p:cNvPr>
          <p:cNvSpPr>
            <a:spLocks xmlns:a="http://schemas.openxmlformats.org/drawingml/2006/main" noGrp="1"/>
          </p:cNvSpPr>
          <p:nvPr/>
        </p:nvSpPr>
        <p:spPr>
          <a:xfrm xmlns:a="http://schemas.openxmlformats.org/drawingml/2006/main">
            <a:off x="685800" y="2333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buNone/>
              <a:defRPr sz="2175" b="0">
                <a:solidFill>
                  <a:srgbClr val="30414D"/>
                </a:solidFill>
                <a:latin typeface="Arial"/>
                <a:ea typeface="Arial"/>
                <a:cs typeface="Arial"/>
              </a:defRPr>
            </a:lvl1pPr>
            <a:lvl2pPr algn="l">
              <a:buNone/>
              <a:defRPr sz="2175" b="0">
                <a:solidFill>
                  <a:srgbClr val="30414D"/>
                </a:solidFill>
                <a:latin typeface="Arial"/>
                <a:ea typeface="Arial"/>
                <a:cs typeface="Arial"/>
              </a:defRPr>
            </a:lvl2pPr>
            <a:lvl3pPr algn="l">
              <a:buNone/>
              <a:defRPr sz="2175" b="0">
                <a:solidFill>
                  <a:srgbClr val="30414D"/>
                </a:solidFill>
                <a:latin typeface="Arial"/>
                <a:ea typeface="Arial"/>
                <a:cs typeface="Arial"/>
              </a:defRPr>
            </a:lvl3pPr>
            <a:lvl4pPr algn="l">
              <a:buNone/>
              <a:defRPr sz="2175" b="0">
                <a:solidFill>
                  <a:srgbClr val="30414D"/>
                </a:solidFill>
                <a:latin typeface="Arial"/>
                <a:ea typeface="Arial"/>
                <a:cs typeface="Arial"/>
              </a:defRPr>
            </a:lvl4pPr>
            <a:lvl5pPr algn="l">
              <a:buNone/>
              <a:defRPr sz="2175" b="0">
                <a:solidFill>
                  <a:srgbClr val="30414D"/>
                </a:solidFill>
                <a:latin typeface="Arial"/>
                <a:ea typeface="Arial"/>
                <a:cs typeface="Arial"/>
              </a:defRPr>
            </a:lvl5pPr>
            <a:lvl6pPr algn="l">
              <a:buNone/>
              <a:defRPr sz="2175" b="0">
                <a:solidFill>
                  <a:srgbClr val="30414D"/>
                </a:solidFill>
                <a:latin typeface="Arial"/>
                <a:ea typeface="Arial"/>
                <a:cs typeface="Arial"/>
              </a:defRPr>
            </a:lvl6pPr>
            <a:lvl7pPr algn="l">
              <a:buNone/>
              <a:defRPr sz="2175" b="0">
                <a:solidFill>
                  <a:srgbClr val="30414D"/>
                </a:solidFill>
                <a:latin typeface="Arial"/>
                <a:ea typeface="Arial"/>
                <a:cs typeface="Arial"/>
              </a:defRPr>
            </a:lvl7pPr>
            <a:lvl8pPr algn="l">
              <a:buNone/>
              <a:defRPr sz="2175" b="0">
                <a:solidFill>
                  <a:srgbClr val="30414D"/>
                </a:solidFill>
                <a:latin typeface="Arial"/>
                <a:ea typeface="Arial"/>
                <a:cs typeface="Arial"/>
              </a:defRPr>
            </a:lvl8pPr>
            <a:lvl9pPr algn="l">
              <a:buNone/>
              <a:defRPr sz="2175" b="0">
                <a:solidFill>
                  <a:srgbClr val="30414D"/>
                </a:solidFill>
                <a:latin typeface="Arial"/>
                <a:ea typeface="Arial"/>
                <a:cs typeface="Arial"/>
              </a:defRPr>
            </a:lvl9pPr>
          </a:lstStyle>
          <a:p xmlns:a="http://schemas.openxmlformats.org/drawingml/2006/main">
            <a:pPr algn="l">
              <a:buNone/>
              <a:defRPr sz="2175" b="0">
                <a:solidFill>
                  <a:srgbClr val="30414D"/>
                </a:solidFill>
                <a:latin typeface="Arial"/>
                <a:ea typeface="Arial"/>
                <a:cs typeface="Arial"/>
              </a:defRPr>
            </a:pPr>
            <a:r>
              <a:rPr sz="2175" b="0">
                <a:solidFill>
                  <a:srgbClr val="30414D"/>
                </a:solidFill>
                <a:latin typeface="Arial"/>
                <a:ea typeface="Arial"/>
                <a:cs typeface="Arial"/>
              </a:rPr>
              <a:t>Fit and freeze one Fourier operator for each of the 17 height pairs.</a:t>
            </a:r>
          </a:p>
        </p:txBody>
      </p:sp>
      <p:sp>
        <p:nvSpPr>
          <p:cNvPr id="11" name="Normalize every input and reference by one global training scale q.">
            <a:extLst xmlns:a="http://schemas.openxmlformats.org/drawingml/2006/main">
              <a:ext uri="{FF2B5EF4-FFF2-40B4-BE49-F238E27FC236}">
                <a16:creationId xmlns:a16="http://schemas.microsoft.com/office/drawing/2014/main" id="{75561D72-6DF6-486D-8029-88A8A91E1CDC}"/>
              </a:ext>
            </a:extLst>
          </p:cNvPr>
          <p:cNvSpPr>
            <a:spLocks xmlns:a="http://schemas.openxmlformats.org/drawingml/2006/main" noGrp="1"/>
          </p:cNvSpPr>
          <p:nvPr/>
        </p:nvSpPr>
        <p:spPr>
          <a:xfrm xmlns:a="http://schemas.openxmlformats.org/drawingml/2006/main">
            <a:off x="685800" y="32385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buNone/>
              <a:defRPr sz="2175" b="0">
                <a:solidFill>
                  <a:srgbClr val="30414D"/>
                </a:solidFill>
                <a:latin typeface="Arial"/>
                <a:ea typeface="Arial"/>
                <a:cs typeface="Arial"/>
              </a:defRPr>
            </a:lvl1pPr>
            <a:lvl2pPr algn="l">
              <a:buNone/>
              <a:defRPr sz="2175" b="0">
                <a:solidFill>
                  <a:srgbClr val="30414D"/>
                </a:solidFill>
                <a:latin typeface="Arial"/>
                <a:ea typeface="Arial"/>
                <a:cs typeface="Arial"/>
              </a:defRPr>
            </a:lvl2pPr>
            <a:lvl3pPr algn="l">
              <a:buNone/>
              <a:defRPr sz="2175" b="0">
                <a:solidFill>
                  <a:srgbClr val="30414D"/>
                </a:solidFill>
                <a:latin typeface="Arial"/>
                <a:ea typeface="Arial"/>
                <a:cs typeface="Arial"/>
              </a:defRPr>
            </a:lvl3pPr>
            <a:lvl4pPr algn="l">
              <a:buNone/>
              <a:defRPr sz="2175" b="0">
                <a:solidFill>
                  <a:srgbClr val="30414D"/>
                </a:solidFill>
                <a:latin typeface="Arial"/>
                <a:ea typeface="Arial"/>
                <a:cs typeface="Arial"/>
              </a:defRPr>
            </a:lvl4pPr>
            <a:lvl5pPr algn="l">
              <a:buNone/>
              <a:defRPr sz="2175" b="0">
                <a:solidFill>
                  <a:srgbClr val="30414D"/>
                </a:solidFill>
                <a:latin typeface="Arial"/>
                <a:ea typeface="Arial"/>
                <a:cs typeface="Arial"/>
              </a:defRPr>
            </a:lvl5pPr>
            <a:lvl6pPr algn="l">
              <a:buNone/>
              <a:defRPr sz="2175" b="0">
                <a:solidFill>
                  <a:srgbClr val="30414D"/>
                </a:solidFill>
                <a:latin typeface="Arial"/>
                <a:ea typeface="Arial"/>
                <a:cs typeface="Arial"/>
              </a:defRPr>
            </a:lvl6pPr>
            <a:lvl7pPr algn="l">
              <a:buNone/>
              <a:defRPr sz="2175" b="0">
                <a:solidFill>
                  <a:srgbClr val="30414D"/>
                </a:solidFill>
                <a:latin typeface="Arial"/>
                <a:ea typeface="Arial"/>
                <a:cs typeface="Arial"/>
              </a:defRPr>
            </a:lvl7pPr>
            <a:lvl8pPr algn="l">
              <a:buNone/>
              <a:defRPr sz="2175" b="0">
                <a:solidFill>
                  <a:srgbClr val="30414D"/>
                </a:solidFill>
                <a:latin typeface="Arial"/>
                <a:ea typeface="Arial"/>
                <a:cs typeface="Arial"/>
              </a:defRPr>
            </a:lvl8pPr>
            <a:lvl9pPr algn="l">
              <a:buNone/>
              <a:defRPr sz="2175" b="0">
                <a:solidFill>
                  <a:srgbClr val="30414D"/>
                </a:solidFill>
                <a:latin typeface="Arial"/>
                <a:ea typeface="Arial"/>
                <a:cs typeface="Arial"/>
              </a:defRPr>
            </a:lvl9pPr>
          </a:lstStyle>
          <a:p xmlns:a="http://schemas.openxmlformats.org/drawingml/2006/main">
            <a:pPr algn="l">
              <a:buNone/>
              <a:defRPr sz="2175" b="0">
                <a:solidFill>
                  <a:srgbClr val="30414D"/>
                </a:solidFill>
                <a:latin typeface="Arial"/>
                <a:ea typeface="Arial"/>
                <a:cs typeface="Arial"/>
              </a:defRPr>
            </a:pPr>
            <a:r>
              <a:rPr sz="2175" b="0">
                <a:solidFill>
                  <a:srgbClr val="30414D"/>
                </a:solidFill>
                <a:latin typeface="Arial"/>
                <a:ea typeface="Arial"/>
                <a:cs typeface="Arial"/>
              </a:rPr>
              <a:t>Normalize every input and reference by one global training scale q.</a:t>
            </a:r>
          </a:p>
        </p:txBody>
      </p:sp>
      <p:sp>
        <p:nvSpPr>
          <p:cNvPr id="12" name="Process one full component at a time, with gradient weight 1/51.">
            <a:extLst xmlns:a="http://schemas.openxmlformats.org/drawingml/2006/main">
              <a:ext uri="{FF2B5EF4-FFF2-40B4-BE49-F238E27FC236}">
                <a16:creationId xmlns:a16="http://schemas.microsoft.com/office/drawing/2014/main" id="{1AF75D33-0561-4FFE-8C7B-6FABAAB0A8B1}"/>
              </a:ext>
            </a:extLst>
          </p:cNvPr>
          <p:cNvSpPr>
            <a:spLocks xmlns:a="http://schemas.openxmlformats.org/drawingml/2006/main" noGrp="1"/>
          </p:cNvSpPr>
          <p:nvPr/>
        </p:nvSpPr>
        <p:spPr>
          <a:xfrm xmlns:a="http://schemas.openxmlformats.org/drawingml/2006/main">
            <a:off x="685800" y="41433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buNone/>
              <a:defRPr sz="2175" b="0">
                <a:solidFill>
                  <a:srgbClr val="30414D"/>
                </a:solidFill>
                <a:latin typeface="Arial"/>
                <a:ea typeface="Arial"/>
                <a:cs typeface="Arial"/>
              </a:defRPr>
            </a:lvl1pPr>
            <a:lvl2pPr algn="l">
              <a:buNone/>
              <a:defRPr sz="2175" b="0">
                <a:solidFill>
                  <a:srgbClr val="30414D"/>
                </a:solidFill>
                <a:latin typeface="Arial"/>
                <a:ea typeface="Arial"/>
                <a:cs typeface="Arial"/>
              </a:defRPr>
            </a:lvl2pPr>
            <a:lvl3pPr algn="l">
              <a:buNone/>
              <a:defRPr sz="2175" b="0">
                <a:solidFill>
                  <a:srgbClr val="30414D"/>
                </a:solidFill>
                <a:latin typeface="Arial"/>
                <a:ea typeface="Arial"/>
                <a:cs typeface="Arial"/>
              </a:defRPr>
            </a:lvl3pPr>
            <a:lvl4pPr algn="l">
              <a:buNone/>
              <a:defRPr sz="2175" b="0">
                <a:solidFill>
                  <a:srgbClr val="30414D"/>
                </a:solidFill>
                <a:latin typeface="Arial"/>
                <a:ea typeface="Arial"/>
                <a:cs typeface="Arial"/>
              </a:defRPr>
            </a:lvl4pPr>
            <a:lvl5pPr algn="l">
              <a:buNone/>
              <a:defRPr sz="2175" b="0">
                <a:solidFill>
                  <a:srgbClr val="30414D"/>
                </a:solidFill>
                <a:latin typeface="Arial"/>
                <a:ea typeface="Arial"/>
                <a:cs typeface="Arial"/>
              </a:defRPr>
            </a:lvl5pPr>
            <a:lvl6pPr algn="l">
              <a:buNone/>
              <a:defRPr sz="2175" b="0">
                <a:solidFill>
                  <a:srgbClr val="30414D"/>
                </a:solidFill>
                <a:latin typeface="Arial"/>
                <a:ea typeface="Arial"/>
                <a:cs typeface="Arial"/>
              </a:defRPr>
            </a:lvl6pPr>
            <a:lvl7pPr algn="l">
              <a:buNone/>
              <a:defRPr sz="2175" b="0">
                <a:solidFill>
                  <a:srgbClr val="30414D"/>
                </a:solidFill>
                <a:latin typeface="Arial"/>
                <a:ea typeface="Arial"/>
                <a:cs typeface="Arial"/>
              </a:defRPr>
            </a:lvl7pPr>
            <a:lvl8pPr algn="l">
              <a:buNone/>
              <a:defRPr sz="2175" b="0">
                <a:solidFill>
                  <a:srgbClr val="30414D"/>
                </a:solidFill>
                <a:latin typeface="Arial"/>
                <a:ea typeface="Arial"/>
                <a:cs typeface="Arial"/>
              </a:defRPr>
            </a:lvl8pPr>
            <a:lvl9pPr algn="l">
              <a:buNone/>
              <a:defRPr sz="2175" b="0">
                <a:solidFill>
                  <a:srgbClr val="30414D"/>
                </a:solidFill>
                <a:latin typeface="Arial"/>
                <a:ea typeface="Arial"/>
                <a:cs typeface="Arial"/>
              </a:defRPr>
            </a:lvl9pPr>
          </a:lstStyle>
          <a:p xmlns:a="http://schemas.openxmlformats.org/drawingml/2006/main">
            <a:pPr algn="l">
              <a:buNone/>
              <a:defRPr sz="2175" b="0">
                <a:solidFill>
                  <a:srgbClr val="30414D"/>
                </a:solidFill>
                <a:latin typeface="Arial"/>
                <a:ea typeface="Arial"/>
                <a:cs typeface="Arial"/>
              </a:defRPr>
            </a:pPr>
            <a:r>
              <a:rPr sz="2175" b="0">
                <a:solidFill>
                  <a:srgbClr val="30414D"/>
                </a:solidFill>
                <a:latin typeface="Arial"/>
                <a:ea typeface="Arial"/>
                <a:cs typeface="Arial"/>
              </a:rPr>
              <a:t>Process one full component at a time, with gradient weight 1/51.</a:t>
            </a:r>
          </a:p>
        </p:txBody>
      </p:sp>
      <p:sp>
        <p:nvSpPr>
          <p:cNvPr id="13" name="After all 51 examples, take one Adam update and save a checkpoint.">
            <a:extLst xmlns:a="http://schemas.openxmlformats.org/drawingml/2006/main">
              <a:ext uri="{FF2B5EF4-FFF2-40B4-BE49-F238E27FC236}">
                <a16:creationId xmlns:a16="http://schemas.microsoft.com/office/drawing/2014/main" id="{52118FE0-F0B6-4580-A9D8-021436ED94FA}"/>
              </a:ext>
            </a:extLst>
          </p:cNvPr>
          <p:cNvSpPr>
            <a:spLocks xmlns:a="http://schemas.openxmlformats.org/drawingml/2006/main" noGrp="1"/>
          </p:cNvSpPr>
          <p:nvPr/>
        </p:nvSpPr>
        <p:spPr>
          <a:xfrm xmlns:a="http://schemas.openxmlformats.org/drawingml/2006/main">
            <a:off x="685800" y="5048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buNone/>
              <a:defRPr sz="2175" b="0">
                <a:solidFill>
                  <a:srgbClr val="30414D"/>
                </a:solidFill>
                <a:latin typeface="Arial"/>
                <a:ea typeface="Arial"/>
                <a:cs typeface="Arial"/>
              </a:defRPr>
            </a:lvl1pPr>
            <a:lvl2pPr algn="l">
              <a:buNone/>
              <a:defRPr sz="2175" b="0">
                <a:solidFill>
                  <a:srgbClr val="30414D"/>
                </a:solidFill>
                <a:latin typeface="Arial"/>
                <a:ea typeface="Arial"/>
                <a:cs typeface="Arial"/>
              </a:defRPr>
            </a:lvl2pPr>
            <a:lvl3pPr algn="l">
              <a:buNone/>
              <a:defRPr sz="2175" b="0">
                <a:solidFill>
                  <a:srgbClr val="30414D"/>
                </a:solidFill>
                <a:latin typeface="Arial"/>
                <a:ea typeface="Arial"/>
                <a:cs typeface="Arial"/>
              </a:defRPr>
            </a:lvl3pPr>
            <a:lvl4pPr algn="l">
              <a:buNone/>
              <a:defRPr sz="2175" b="0">
                <a:solidFill>
                  <a:srgbClr val="30414D"/>
                </a:solidFill>
                <a:latin typeface="Arial"/>
                <a:ea typeface="Arial"/>
                <a:cs typeface="Arial"/>
              </a:defRPr>
            </a:lvl4pPr>
            <a:lvl5pPr algn="l">
              <a:buNone/>
              <a:defRPr sz="2175" b="0">
                <a:solidFill>
                  <a:srgbClr val="30414D"/>
                </a:solidFill>
                <a:latin typeface="Arial"/>
                <a:ea typeface="Arial"/>
                <a:cs typeface="Arial"/>
              </a:defRPr>
            </a:lvl5pPr>
            <a:lvl6pPr algn="l">
              <a:buNone/>
              <a:defRPr sz="2175" b="0">
                <a:solidFill>
                  <a:srgbClr val="30414D"/>
                </a:solidFill>
                <a:latin typeface="Arial"/>
                <a:ea typeface="Arial"/>
                <a:cs typeface="Arial"/>
              </a:defRPr>
            </a:lvl6pPr>
            <a:lvl7pPr algn="l">
              <a:buNone/>
              <a:defRPr sz="2175" b="0">
                <a:solidFill>
                  <a:srgbClr val="30414D"/>
                </a:solidFill>
                <a:latin typeface="Arial"/>
                <a:ea typeface="Arial"/>
                <a:cs typeface="Arial"/>
              </a:defRPr>
            </a:lvl7pPr>
            <a:lvl8pPr algn="l">
              <a:buNone/>
              <a:defRPr sz="2175" b="0">
                <a:solidFill>
                  <a:srgbClr val="30414D"/>
                </a:solidFill>
                <a:latin typeface="Arial"/>
                <a:ea typeface="Arial"/>
                <a:cs typeface="Arial"/>
              </a:defRPr>
            </a:lvl8pPr>
            <a:lvl9pPr algn="l">
              <a:buNone/>
              <a:defRPr sz="2175" b="0">
                <a:solidFill>
                  <a:srgbClr val="30414D"/>
                </a:solidFill>
                <a:latin typeface="Arial"/>
                <a:ea typeface="Arial"/>
                <a:cs typeface="Arial"/>
              </a:defRPr>
            </a:lvl9pPr>
          </a:lstStyle>
          <a:p xmlns:a="http://schemas.openxmlformats.org/drawingml/2006/main">
            <a:pPr algn="l">
              <a:buNone/>
              <a:defRPr sz="2175" b="0">
                <a:solidFill>
                  <a:srgbClr val="30414D"/>
                </a:solidFill>
                <a:latin typeface="Arial"/>
                <a:ea typeface="Arial"/>
                <a:cs typeface="Arial"/>
              </a:defRPr>
            </a:pPr>
            <a:r>
              <a:rPr sz="2175" b="0">
                <a:solidFill>
                  <a:srgbClr val="30414D"/>
                </a:solidFill>
                <a:latin typeface="Arial"/>
                <a:ea typeface="Arial"/>
                <a:cs typeface="Arial"/>
              </a:rPr>
              <a:t>After all 51 examples, take one Adam update and save a checkpoint.</a:t>
            </a:r>
          </a:p>
        </p:txBody>
      </p:sp>
    </p:spTree>
    <p:extLst>
      <p:ext uri="{BB962C8B-B14F-4D97-AF65-F5344CB8AC3E}">
        <p14:creationId xmlns:p14="http://schemas.microsoft.com/office/powerpoint/2010/main" val="20267938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Training and comparison protocol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6</a:t>
            </a:r>
          </a:p>
        </p:txBody>
      </p:sp>
      <p:graphicFrame>
        <p:nvGraphicFramePr>
          <p:cNvPr id="9" name="">
            <a:extLst xmlns:a="http://schemas.openxmlformats.org/drawingml/2006/main">
              <a:ext uri="{FF2B5EF4-FFF2-40B4-BE49-F238E27FC236}">
                <a16:creationId xmlns:a16="http://schemas.microsoft.com/office/drawing/2014/main" id="{B6657ADB-C5EE-4883-B70A-AD04FBAEE779}"/>
              </a:ext>
            </a:extLst>
          </p:cNvPr>
          <p:cNvGraphicFramePr/>
          <p:nvPr/>
        </p:nvGraphicFramePr>
        <p:xfrm>
          <a:off xmlns:a="http://schemas.openxmlformats.org/drawingml/2006/main" x="609600" y="1381125"/>
          <a:ext xmlns:a="http://schemas.openxmlformats.org/drawingml/2006/main" cx="10972800" cy="4143375"/>
        </p:xfrm>
        <a:graphic xmlns:a="http://schemas.openxmlformats.org/drawingml/2006/main">
          <a:graphicData uri="http://schemas.openxmlformats.org/drawingml/2006/table">
            <a:tbl>
              <a:tblPr/>
              <a:tblGrid>
                <a:gridCol w="3810000"/>
                <a:gridCol w="7162800"/>
              </a:tblGrid>
              <a:tr h="591911">
                <a:tc>
                  <a:txBody>
                    <a:bodyPr lIns="95250" tIns="95250" rIns="95250" bIns="95250"/>
                    <a:lstStyle/>
                    <a:p>
                      <a:r>
                        <a:rPr sz="202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Protocol</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91911">
                <a:tc>
                  <a:txBody>
                    <a:bodyPr lIns="95250" tIns="95250" rIns="95250" bIns="95250"/>
                    <a:lstStyle/>
                    <a:p>
                      <a:r>
                        <a:rPr sz="2025" b="0">
                          <a:solidFill>
                            <a:srgbClr val="30414D"/>
                          </a:solidFill>
                          <a:latin typeface="Arial"/>
                          <a:ea typeface="Arial"/>
                          <a:cs typeface="Arial"/>
                        </a:rPr>
                        <a:t>Training budget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2-epoch pilot, then 200 epochs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Adam / regularization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Learning rate 10⁻⁴, λ = 10⁻⁴ µT</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91911">
                <a:tc>
                  <a:txBody>
                    <a:bodyPr lIns="95250" tIns="95250" rIns="95250" bIns="95250"/>
                    <a:lstStyle/>
                    <a:p>
                      <a:r>
                        <a:rPr sz="2025" b="0">
                          <a:solidFill>
                            <a:srgbClr val="30414D"/>
                          </a:solidFill>
                          <a:latin typeface="Arial"/>
                          <a:ea typeface="Arial"/>
                          <a:cs typeface="Arial"/>
                        </a:rPr>
                        <a:t>Checkpoint selection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Minimum training MSE, including epoch 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Classical comparisons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ISTA / FISTA at 16 updates and to tolerance</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91911">
                <a:tc>
                  <a:txBody>
                    <a:bodyPr lIns="95250" tIns="95250" rIns="95250" bIns="95250"/>
                    <a:lstStyle/>
                    <a:p>
                      <a:r>
                        <a:rPr sz="2025" b="0">
                          <a:solidFill>
                            <a:srgbClr val="30414D"/>
                          </a:solidFill>
                          <a:latin typeface="Arial"/>
                          <a:ea typeface="Arial"/>
                          <a:cs typeface="Arial"/>
                        </a:rPr>
                        <a:t>Stopping rule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Relative PG ≤ 0.001, cap 100,000 updates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Inference timing</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Warm-up, then median of 3 synchronized repeats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Same training fields for evaluation. No independent validation or test spli">
            <a:extLst xmlns:a="http://schemas.openxmlformats.org/drawingml/2006/main">
              <a:ext uri="{FF2B5EF4-FFF2-40B4-BE49-F238E27FC236}">
                <a16:creationId xmlns:a16="http://schemas.microsoft.com/office/drawing/2014/main" id="{8B61F5CD-7AD5-4791-9115-68EF381981A6}"/>
              </a:ext>
            </a:extLst>
          </p:cNvPr>
          <p:cNvSpPr>
            <a:spLocks xmlns:a="http://schemas.openxmlformats.org/drawingml/2006/main" noGrp="1"/>
          </p:cNvSpPr>
          <p:nvPr/>
        </p:nvSpPr>
        <p:spPr>
          <a:xfrm xmlns:a="http://schemas.openxmlformats.org/drawingml/2006/main">
            <a:off x="609600" y="5953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buNone/>
              <a:defRPr sz="1875" b="1">
                <a:solidFill>
                  <a:srgbClr val="30414D"/>
                </a:solidFill>
                <a:latin typeface="Arial"/>
                <a:ea typeface="Arial"/>
                <a:cs typeface="Arial"/>
              </a:defRPr>
            </a:lvl1pPr>
            <a:lvl2pPr algn="l">
              <a:buNone/>
              <a:defRPr sz="1875" b="1">
                <a:solidFill>
                  <a:srgbClr val="30414D"/>
                </a:solidFill>
                <a:latin typeface="Arial"/>
                <a:ea typeface="Arial"/>
                <a:cs typeface="Arial"/>
              </a:defRPr>
            </a:lvl2pPr>
            <a:lvl3pPr algn="l">
              <a:buNone/>
              <a:defRPr sz="1875" b="1">
                <a:solidFill>
                  <a:srgbClr val="30414D"/>
                </a:solidFill>
                <a:latin typeface="Arial"/>
                <a:ea typeface="Arial"/>
                <a:cs typeface="Arial"/>
              </a:defRPr>
            </a:lvl3pPr>
            <a:lvl4pPr algn="l">
              <a:buNone/>
              <a:defRPr sz="1875" b="1">
                <a:solidFill>
                  <a:srgbClr val="30414D"/>
                </a:solidFill>
                <a:latin typeface="Arial"/>
                <a:ea typeface="Arial"/>
                <a:cs typeface="Arial"/>
              </a:defRPr>
            </a:lvl4pPr>
            <a:lvl5pPr algn="l">
              <a:buNone/>
              <a:defRPr sz="1875" b="1">
                <a:solidFill>
                  <a:srgbClr val="30414D"/>
                </a:solidFill>
                <a:latin typeface="Arial"/>
                <a:ea typeface="Arial"/>
                <a:cs typeface="Arial"/>
              </a:defRPr>
            </a:lvl5pPr>
            <a:lvl6pPr algn="l">
              <a:buNone/>
              <a:defRPr sz="1875" b="1">
                <a:solidFill>
                  <a:srgbClr val="30414D"/>
                </a:solidFill>
                <a:latin typeface="Arial"/>
                <a:ea typeface="Arial"/>
                <a:cs typeface="Arial"/>
              </a:defRPr>
            </a:lvl6pPr>
            <a:lvl7pPr algn="l">
              <a:buNone/>
              <a:defRPr sz="1875" b="1">
                <a:solidFill>
                  <a:srgbClr val="30414D"/>
                </a:solidFill>
                <a:latin typeface="Arial"/>
                <a:ea typeface="Arial"/>
                <a:cs typeface="Arial"/>
              </a:defRPr>
            </a:lvl7pPr>
            <a:lvl8pPr algn="l">
              <a:buNone/>
              <a:defRPr sz="1875" b="1">
                <a:solidFill>
                  <a:srgbClr val="30414D"/>
                </a:solidFill>
                <a:latin typeface="Arial"/>
                <a:ea typeface="Arial"/>
                <a:cs typeface="Arial"/>
              </a:defRPr>
            </a:lvl8pPr>
            <a:lvl9pPr algn="l">
              <a:buNone/>
              <a:defRPr sz="1875" b="1">
                <a:solidFill>
                  <a:srgbClr val="30414D"/>
                </a:solidFill>
                <a:latin typeface="Arial"/>
                <a:ea typeface="Arial"/>
                <a:cs typeface="Arial"/>
              </a:defRPr>
            </a:lvl9pPr>
          </a:lstStyle>
          <a:p xmlns:a="http://schemas.openxmlformats.org/drawingml/2006/main">
            <a:pPr algn="l">
              <a:buNone/>
              <a:defRPr sz="1875" b="1">
                <a:solidFill>
                  <a:srgbClr val="30414D"/>
                </a:solidFill>
                <a:latin typeface="Arial"/>
                <a:ea typeface="Arial"/>
                <a:cs typeface="Arial"/>
              </a:defRPr>
            </a:pPr>
            <a:r>
              <a:rPr sz="1875" b="1">
                <a:solidFill>
                  <a:srgbClr val="30414D"/>
                </a:solidFill>
                <a:latin typeface="Arial"/>
                <a:ea typeface="Arial"/>
                <a:cs typeface="Arial"/>
              </a:rPr>
              <a:t>Same training fields for evaluation. No independent validation or test split.</a:t>
            </a:r>
          </a:p>
        </p:txBody>
      </p:sp>
    </p:spTree>
    <p:extLst>
      <p:ext uri="{BB962C8B-B14F-4D97-AF65-F5344CB8AC3E}">
        <p14:creationId xmlns:p14="http://schemas.microsoft.com/office/powerpoint/2010/main" val="2026793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Training through 200 epochs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7</a:t>
            </a:r>
          </a:p>
        </p:txBody>
      </p:sp>
      <p:graphicFrame>
        <p:nvGraphicFramePr>
          <p:cNvPr id="9" name="Chart">
            <a:extLst xmlns:a="http://schemas.openxmlformats.org/drawingml/2006/main">
              <a:ext uri="{FF2B5EF4-FFF2-40B4-BE49-F238E27FC236}">
                <a16:creationId xmlns:a16="http://schemas.microsoft.com/office/drawing/2014/main" id="{03168EC8-CDEB-4C8D-9617-0D446E53AD65}"/>
              </a:ext>
            </a:extLst>
          </p:cNvPr>
          <p:cNvGraphicFramePr/>
          <p:nvPr/>
        </p:nvGraphicFramePr>
        <p:xfrm>
          <a:off xmlns:a="http://schemas.openxmlformats.org/drawingml/2006/main" x="428625" y="1238250"/>
          <a:ext xmlns:a="http://schemas.openxmlformats.org/drawingml/2006/main" cx="11144250" cy="4429125"/>
        </p:xfrm>
        <a:graphic xmlns:a="http://schemas.openxmlformats.org/drawingml/2006/main">
          <a:graphicData uri="http://schemas.openxmlformats.org/drawingml/2006/chart">
            <c:chart xmlns:r="http://schemas.openxmlformats.org/officeDocument/2006/relationships" xmlns:c="http://schemas.openxmlformats.org/drawingml/2006/chart" r:id="R77135c9174204844"/>
          </a:graphicData>
        </a:graphic>
      </p:graphicFrame>
      <p:sp>
        <p:nvSpPr>
          <p:cNvPr id="10" name="">
            <a:extLst xmlns:a="http://schemas.openxmlformats.org/drawingml/2006/main">
              <a:ext uri="{FF2B5EF4-FFF2-40B4-BE49-F238E27FC236}">
                <a16:creationId xmlns:a16="http://schemas.microsoft.com/office/drawing/2014/main" id="{61B3CF1A-A8D3-4045-8AC5-8DE9A9213859}"/>
              </a:ext>
            </a:extLst>
          </p:cNvPr>
          <p:cNvSpPr>
            <a:spLocks xmlns:a="http://schemas.openxmlformats.org/drawingml/2006/main" noGrp="1"/>
          </p:cNvSpPr>
          <p:nvPr/>
        </p:nvSpPr>
        <p:spPr>
          <a:xfrm xmlns:a="http://schemas.openxmlformats.org/drawingml/2006/main">
            <a:off x="609600" y="58578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defRPr sz="2025" b="1">
                <a:solidFill>
                  <a:srgbClr val="30414D"/>
                </a:solidFill>
                <a:latin typeface="Arial"/>
                <a:ea typeface="Arial"/>
                <a:cs typeface="Arial"/>
              </a:defRPr>
            </a:lvl1pPr>
            <a:lvl2pPr algn="l">
              <a:defRPr sz="2025" b="1">
                <a:solidFill>
                  <a:srgbClr val="30414D"/>
                </a:solidFill>
                <a:latin typeface="Arial"/>
                <a:ea typeface="Arial"/>
                <a:cs typeface="Arial"/>
              </a:defRPr>
            </a:lvl2pPr>
            <a:lvl3pPr algn="l">
              <a:defRPr sz="2025" b="1">
                <a:solidFill>
                  <a:srgbClr val="30414D"/>
                </a:solidFill>
                <a:latin typeface="Arial"/>
                <a:ea typeface="Arial"/>
                <a:cs typeface="Arial"/>
              </a:defRPr>
            </a:lvl3pPr>
            <a:lvl4pPr algn="l">
              <a:defRPr sz="2025" b="1">
                <a:solidFill>
                  <a:srgbClr val="30414D"/>
                </a:solidFill>
                <a:latin typeface="Arial"/>
                <a:ea typeface="Arial"/>
                <a:cs typeface="Arial"/>
              </a:defRPr>
            </a:lvl4pPr>
            <a:lvl5pPr algn="l">
              <a:defRPr sz="2025" b="1">
                <a:solidFill>
                  <a:srgbClr val="30414D"/>
                </a:solidFill>
                <a:latin typeface="Arial"/>
                <a:ea typeface="Arial"/>
                <a:cs typeface="Arial"/>
              </a:defRPr>
            </a:lvl5pPr>
            <a:lvl6pPr algn="l">
              <a:defRPr sz="2025" b="1">
                <a:solidFill>
                  <a:srgbClr val="30414D"/>
                </a:solidFill>
                <a:latin typeface="Arial"/>
                <a:ea typeface="Arial"/>
                <a:cs typeface="Arial"/>
              </a:defRPr>
            </a:lvl6pPr>
            <a:lvl7pPr algn="l">
              <a:defRPr sz="2025" b="1">
                <a:solidFill>
                  <a:srgbClr val="30414D"/>
                </a:solidFill>
                <a:latin typeface="Arial"/>
                <a:ea typeface="Arial"/>
                <a:cs typeface="Arial"/>
              </a:defRPr>
            </a:lvl7pPr>
            <a:lvl8pPr algn="l">
              <a:defRPr sz="2025" b="1">
                <a:solidFill>
                  <a:srgbClr val="30414D"/>
                </a:solidFill>
                <a:latin typeface="Arial"/>
                <a:ea typeface="Arial"/>
                <a:cs typeface="Arial"/>
              </a:defRPr>
            </a:lvl8pPr>
            <a:lvl9pPr algn="l">
              <a:defRPr sz="2025" b="1">
                <a:solidFill>
                  <a:srgbClr val="30414D"/>
                </a:solidFill>
                <a:latin typeface="Arial"/>
                <a:ea typeface="Arial"/>
                <a:cs typeface="Arial"/>
              </a:defRPr>
            </a:lvl9pPr>
          </a:lstStyle>
          <a:p xmlns:a="http://schemas.openxmlformats.org/drawingml/2006/main">
            <a:pPr algn="l">
              <a:defRPr sz="2025" b="1">
                <a:solidFill>
                  <a:srgbClr val="30414D"/>
                </a:solidFill>
                <a:latin typeface="Arial"/>
                <a:ea typeface="Arial"/>
                <a:cs typeface="Arial"/>
              </a:defRPr>
            </a:pPr>
            <a:r>
              <a:rPr sz="2025" b="1">
                <a:solidFill>
                  <a:srgbClr val="30414D"/>
                </a:solidFill>
                <a:latin typeface="Arial"/>
                <a:ea typeface="Arial"/>
                <a:cs typeface="Arial"/>
              </a:rPr>
              <a:t>MSE: 0.005757 to 0.004803. Reduction: 16.6%. Best epoch: 200.</a:t>
            </a:r>
          </a:p>
        </p:txBody>
      </p:sp>
      <p:sp>
        <p:nvSpPr>
          <p:cNvPr id="11" name="">
            <a:extLst xmlns:a="http://schemas.openxmlformats.org/drawingml/2006/main">
              <a:ext uri="{FF2B5EF4-FFF2-40B4-BE49-F238E27FC236}">
                <a16:creationId xmlns:a16="http://schemas.microsoft.com/office/drawing/2014/main" id="{ECF1E8F1-D492-45F9-B1AB-F66B6AFC5417}"/>
              </a:ext>
            </a:extLst>
          </p:cNvPr>
          <p:cNvSpPr>
            <a:spLocks xmlns:a="http://schemas.openxmlformats.org/drawingml/2006/main" noGrp="1"/>
          </p:cNvSpPr>
          <p:nvPr/>
        </p:nvSpPr>
        <p:spPr>
          <a:xfrm xmlns:a="http://schemas.openxmlformats.org/drawingml/2006/main">
            <a:off x="609600" y="6334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Training and evaluation: 57.4 min. No independent validation set.</a:t>
            </a:r>
          </a:p>
        </p:txBody>
      </p:sp>
    </p:spTree>
    <p:extLst>
      <p:ext uri="{BB962C8B-B14F-4D97-AF65-F5344CB8AC3E}">
        <p14:creationId xmlns:p14="http://schemas.microsoft.com/office/powerpoint/2010/main" val="2026793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Final results across 51 component pairs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8</a:t>
            </a:r>
          </a:p>
        </p:txBody>
      </p:sp>
      <p:graphicFrame>
        <p:nvGraphicFramePr>
          <p:cNvPr id="9" name="">
            <a:extLst xmlns:a="http://schemas.openxmlformats.org/drawingml/2006/main">
              <a:ext uri="{FF2B5EF4-FFF2-40B4-BE49-F238E27FC236}">
                <a16:creationId xmlns:a16="http://schemas.microsoft.com/office/drawing/2014/main" id="{C5958B4E-3D47-460A-AD96-E7A6B52D715F}"/>
              </a:ext>
            </a:extLst>
          </p:cNvPr>
          <p:cNvGraphicFramePr/>
          <p:nvPr/>
        </p:nvGraphicFramePr>
        <p:xfrm>
          <a:off xmlns:a="http://schemas.openxmlformats.org/drawingml/2006/main" x="609600" y="1381125"/>
          <a:ext xmlns:a="http://schemas.openxmlformats.org/drawingml/2006/main" cx="10972800" cy="3857625"/>
        </p:xfrm>
        <a:graphic xmlns:a="http://schemas.openxmlformats.org/drawingml/2006/main">
          <a:graphicData uri="http://schemas.openxmlformats.org/drawingml/2006/table">
            <a:tbl>
              <a:tblPr/>
              <a:tblGrid>
                <a:gridCol w="4048125"/>
                <a:gridCol w="2238375"/>
                <a:gridCol w="2238375"/>
                <a:gridCol w="2447925"/>
              </a:tblGrid>
              <a:tr h="642938">
                <a:tc>
                  <a:txBody>
                    <a:bodyPr lIns="104775" tIns="104775" rIns="104775" bIns="104775"/>
                    <a:lstStyle/>
                    <a:p>
                      <a:r>
                        <a:rPr sz="2100" b="1">
                          <a:solidFill>
                            <a:srgbClr val="FFFFFF"/>
                          </a:solidFill>
                          <a:latin typeface="Arial"/>
                          <a:ea typeface="Arial"/>
                          <a:cs typeface="Arial"/>
                        </a:rPr>
                        <a:t>Method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100" b="1">
                          <a:solidFill>
                            <a:srgbClr val="FFFFFF"/>
                          </a:solidFill>
                          <a:latin typeface="Arial"/>
                          <a:ea typeface="Arial"/>
                          <a:cs typeface="Arial"/>
                        </a:rPr>
                        <a:t>NRMSE (%)</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100" b="1">
                          <a:solidFill>
                            <a:srgbClr val="FFFFFF"/>
                          </a:solidFill>
                          <a:latin typeface="Arial"/>
                          <a:ea typeface="Arial"/>
                          <a:cs typeface="Arial"/>
                        </a:rPr>
                        <a:t>RMSE (µT)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100" b="1">
                          <a:solidFill>
                            <a:srgbClr val="FFFFFF"/>
                          </a:solidFill>
                          <a:latin typeface="Arial"/>
                          <a:ea typeface="Arial"/>
                          <a:cs typeface="Arial"/>
                        </a:rPr>
                        <a:t>Time sum (s)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42938">
                <a:tc>
                  <a:txBody>
                    <a:bodyPr lIns="104775" tIns="104775" rIns="104775" bIns="104775"/>
                    <a:lstStyle/>
                    <a:p>
                      <a:r>
                        <a:rPr sz="2100" b="0">
                          <a:solidFill>
                            <a:srgbClr val="30414D"/>
                          </a:solidFill>
                          <a:latin typeface="Arial"/>
                          <a:ea typeface="Arial"/>
                          <a:cs typeface="Arial"/>
                        </a:rPr>
                        <a:t>ConvLISTA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3.790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13.824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2.253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42938">
                <a:tc>
                  <a:txBody>
                    <a:bodyPr lIns="104775" tIns="104775" rIns="104775" bIns="104775"/>
                    <a:lstStyle/>
                    <a:p>
                      <a:r>
                        <a:rPr sz="2100" b="0">
                          <a:solidFill>
                            <a:srgbClr val="30414D"/>
                          </a:solidFill>
                          <a:latin typeface="Arial"/>
                          <a:ea typeface="Arial"/>
                          <a:cs typeface="Arial"/>
                        </a:rPr>
                        <a:t>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00" b="0">
                          <a:solidFill>
                            <a:srgbClr val="30414D"/>
                          </a:solidFill>
                          <a:latin typeface="Arial"/>
                          <a:ea typeface="Arial"/>
                          <a:cs typeface="Arial"/>
                        </a:rPr>
                        <a:t>4.192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00" b="0">
                          <a:solidFill>
                            <a:srgbClr val="30414D"/>
                          </a:solidFill>
                          <a:latin typeface="Arial"/>
                          <a:ea typeface="Arial"/>
                          <a:cs typeface="Arial"/>
                        </a:rPr>
                        <a:t>15.284</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00" b="0">
                          <a:solidFill>
                            <a:srgbClr val="30414D"/>
                          </a:solidFill>
                          <a:latin typeface="Arial"/>
                          <a:ea typeface="Arial"/>
                          <a:cs typeface="Arial"/>
                        </a:rPr>
                        <a:t>2.052</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42938">
                <a:tc>
                  <a:txBody>
                    <a:bodyPr lIns="104775" tIns="104775" rIns="104775" bIns="104775"/>
                    <a:lstStyle/>
                    <a:p>
                      <a:r>
                        <a:rPr sz="2100" b="0">
                          <a:solidFill>
                            <a:srgbClr val="30414D"/>
                          </a:solidFill>
                          <a:latin typeface="Arial"/>
                          <a:ea typeface="Arial"/>
                          <a:cs typeface="Arial"/>
                        </a:rPr>
                        <a:t>FISTA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3.844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14.006</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2.133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42938">
                <a:tc>
                  <a:txBody>
                    <a:bodyPr lIns="104775" tIns="104775" rIns="104775" bIns="104775"/>
                    <a:lstStyle/>
                    <a:p>
                      <a:r>
                        <a:rPr sz="2100" b="0">
                          <a:solidFill>
                            <a:srgbClr val="30414D"/>
                          </a:solidFill>
                          <a:latin typeface="Arial"/>
                          <a:ea typeface="Arial"/>
                          <a:cs typeface="Arial"/>
                        </a:rPr>
                        <a:t>ISTA to tolerance*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00" b="0">
                          <a:solidFill>
                            <a:srgbClr val="30414D"/>
                          </a:solidFill>
                          <a:latin typeface="Arial"/>
                          <a:ea typeface="Arial"/>
                          <a:cs typeface="Arial"/>
                        </a:rPr>
                        <a:t>2.737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00" b="0">
                          <a:solidFill>
                            <a:srgbClr val="30414D"/>
                          </a:solidFill>
                          <a:latin typeface="Arial"/>
                          <a:ea typeface="Arial"/>
                          <a:cs typeface="Arial"/>
                        </a:rPr>
                        <a:t>9.877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00" b="0">
                          <a:solidFill>
                            <a:srgbClr val="30414D"/>
                          </a:solidFill>
                          <a:latin typeface="Arial"/>
                          <a:ea typeface="Arial"/>
                          <a:cs typeface="Arial"/>
                        </a:rPr>
                        <a:t>5,384.015</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42938">
                <a:tc>
                  <a:txBody>
                    <a:bodyPr lIns="104775" tIns="104775" rIns="104775" bIns="104775"/>
                    <a:lstStyle/>
                    <a:p>
                      <a:r>
                        <a:rPr sz="2100" b="0">
                          <a:solidFill>
                            <a:srgbClr val="30414D"/>
                          </a:solidFill>
                          <a:latin typeface="Arial"/>
                          <a:ea typeface="Arial"/>
                          <a:cs typeface="Arial"/>
                        </a:rPr>
                        <a:t>FISTA to tolerance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2.960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10.644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00" b="0">
                          <a:solidFill>
                            <a:srgbClr val="30414D"/>
                          </a:solidFill>
                          <a:latin typeface="Arial"/>
                          <a:ea typeface="Arial"/>
                          <a:cs typeface="Arial"/>
                        </a:rPr>
                        <a:t>124.458</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
            <a:extLst xmlns:a="http://schemas.openxmlformats.org/drawingml/2006/main">
              <a:ext uri="{FF2B5EF4-FFF2-40B4-BE49-F238E27FC236}">
                <a16:creationId xmlns:a16="http://schemas.microsoft.com/office/drawing/2014/main" id="{141F00E2-0C9B-4E89-8470-97DAC6A61C90}"/>
              </a:ext>
            </a:extLst>
          </p:cNvPr>
          <p:cNvSpPr>
            <a:spLocks xmlns:a="http://schemas.openxmlformats.org/drawingml/2006/main" noGrp="1"/>
          </p:cNvSpPr>
          <p:nvPr/>
        </p:nvSpPr>
        <p:spPr>
          <a:xfrm xmlns:a="http://schemas.openxmlformats.org/drawingml/2006/main">
            <a:off x="609600" y="54768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defRPr sz="2025" b="1">
                <a:solidFill>
                  <a:srgbClr val="30414D"/>
                </a:solidFill>
                <a:latin typeface="Arial"/>
                <a:ea typeface="Arial"/>
                <a:cs typeface="Arial"/>
              </a:defRPr>
            </a:lvl1pPr>
            <a:lvl2pPr algn="l">
              <a:defRPr sz="2025" b="1">
                <a:solidFill>
                  <a:srgbClr val="30414D"/>
                </a:solidFill>
                <a:latin typeface="Arial"/>
                <a:ea typeface="Arial"/>
                <a:cs typeface="Arial"/>
              </a:defRPr>
            </a:lvl2pPr>
            <a:lvl3pPr algn="l">
              <a:defRPr sz="2025" b="1">
                <a:solidFill>
                  <a:srgbClr val="30414D"/>
                </a:solidFill>
                <a:latin typeface="Arial"/>
                <a:ea typeface="Arial"/>
                <a:cs typeface="Arial"/>
              </a:defRPr>
            </a:lvl3pPr>
            <a:lvl4pPr algn="l">
              <a:defRPr sz="2025" b="1">
                <a:solidFill>
                  <a:srgbClr val="30414D"/>
                </a:solidFill>
                <a:latin typeface="Arial"/>
                <a:ea typeface="Arial"/>
                <a:cs typeface="Arial"/>
              </a:defRPr>
            </a:lvl4pPr>
            <a:lvl5pPr algn="l">
              <a:defRPr sz="2025" b="1">
                <a:solidFill>
                  <a:srgbClr val="30414D"/>
                </a:solidFill>
                <a:latin typeface="Arial"/>
                <a:ea typeface="Arial"/>
                <a:cs typeface="Arial"/>
              </a:defRPr>
            </a:lvl5pPr>
            <a:lvl6pPr algn="l">
              <a:defRPr sz="2025" b="1">
                <a:solidFill>
                  <a:srgbClr val="30414D"/>
                </a:solidFill>
                <a:latin typeface="Arial"/>
                <a:ea typeface="Arial"/>
                <a:cs typeface="Arial"/>
              </a:defRPr>
            </a:lvl6pPr>
            <a:lvl7pPr algn="l">
              <a:defRPr sz="2025" b="1">
                <a:solidFill>
                  <a:srgbClr val="30414D"/>
                </a:solidFill>
                <a:latin typeface="Arial"/>
                <a:ea typeface="Arial"/>
                <a:cs typeface="Arial"/>
              </a:defRPr>
            </a:lvl7pPr>
            <a:lvl8pPr algn="l">
              <a:defRPr sz="2025" b="1">
                <a:solidFill>
                  <a:srgbClr val="30414D"/>
                </a:solidFill>
                <a:latin typeface="Arial"/>
                <a:ea typeface="Arial"/>
                <a:cs typeface="Arial"/>
              </a:defRPr>
            </a:lvl8pPr>
            <a:lvl9pPr algn="l">
              <a:defRPr sz="2025" b="1">
                <a:solidFill>
                  <a:srgbClr val="30414D"/>
                </a:solidFill>
                <a:latin typeface="Arial"/>
                <a:ea typeface="Arial"/>
                <a:cs typeface="Arial"/>
              </a:defRPr>
            </a:lvl9pPr>
          </a:lstStyle>
          <a:p xmlns:a="http://schemas.openxmlformats.org/drawingml/2006/main">
            <a:pPr algn="l">
              <a:defRPr sz="2025" b="1">
                <a:solidFill>
                  <a:srgbClr val="30414D"/>
                </a:solidFill>
                <a:latin typeface="Arial"/>
                <a:ea typeface="Arial"/>
                <a:cs typeface="Arial"/>
              </a:defRPr>
            </a:pPr>
            <a:r>
              <a:rPr sz="2025" b="1">
                <a:solidFill>
                  <a:srgbClr val="30414D"/>
                </a:solidFill>
                <a:latin typeface="Arial"/>
                <a:ea typeface="Arial"/>
                <a:cs typeface="Arial"/>
              </a:rPr>
              <a:t>ConvLISTA: 3.918% after 2 epochs, 3.790% after 200 epochs.</a:t>
            </a:r>
          </a:p>
        </p:txBody>
      </p:sp>
      <p:sp>
        <p:nvSpPr>
          <p:cNvPr id="11" name="">
            <a:extLst xmlns:a="http://schemas.openxmlformats.org/drawingml/2006/main">
              <a:ext uri="{FF2B5EF4-FFF2-40B4-BE49-F238E27FC236}">
                <a16:creationId xmlns:a16="http://schemas.microsoft.com/office/drawing/2014/main" id="{6CD8993B-5671-4161-9D39-52EF4F0AC936}"/>
              </a:ext>
            </a:extLst>
          </p:cNvPr>
          <p:cNvSpPr>
            <a:spLocks xmlns:a="http://schemas.openxmlformats.org/drawingml/2006/main" noGrp="1"/>
          </p:cNvSpPr>
          <p:nvPr/>
        </p:nvSpPr>
        <p:spPr>
          <a:xfrm xmlns:a="http://schemas.openxmlformats.org/drawingml/2006/main">
            <a:off x="609600" y="60102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 Two ISTA components reached the cap. Time sum uses batch medians.</a:t>
            </a:r>
          </a:p>
        </p:txBody>
      </p:sp>
    </p:spTree>
    <p:extLst>
      <p:ext uri="{BB962C8B-B14F-4D97-AF65-F5344CB8AC3E}">
        <p14:creationId xmlns:p14="http://schemas.microsoft.com/office/powerpoint/2010/main" val="2026793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Earlier model versus shared model: same pair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9</a:t>
            </a:r>
          </a:p>
        </p:txBody>
      </p:sp>
      <p:sp>
        <p:nvSpPr>
          <p:cNvPr id="9" name="">
            <a:extLst xmlns:a="http://schemas.openxmlformats.org/drawingml/2006/main">
              <a:ext uri="{FF2B5EF4-FFF2-40B4-BE49-F238E27FC236}">
                <a16:creationId xmlns:a16="http://schemas.microsoft.com/office/drawing/2014/main" id="{FE94E357-86C8-4710-9C78-9E03670F7B6D}"/>
              </a:ext>
            </a:extLst>
          </p:cNvPr>
          <p:cNvSpPr>
            <a:spLocks xmlns:a="http://schemas.openxmlformats.org/drawingml/2006/main" noGrp="1"/>
          </p:cNvSpPr>
          <p:nvPr/>
        </p:nvSpPr>
        <p:spPr>
          <a:xfrm xmlns:a="http://schemas.openxmlformats.org/drawingml/2006/main">
            <a:off x="609600" y="12192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0414D"/>
                </a:solidFill>
                <a:latin typeface="Arial"/>
                <a:ea typeface="Arial"/>
                <a:cs typeface="Arial"/>
              </a:defRPr>
            </a:defPPr>
            <a:lvl1pPr algn="l">
              <a:defRPr sz="2025" b="0">
                <a:solidFill>
                  <a:srgbClr val="30414D"/>
                </a:solidFill>
                <a:latin typeface="Arial"/>
                <a:ea typeface="Arial"/>
                <a:cs typeface="Arial"/>
              </a:defRPr>
            </a:lvl1pPr>
            <a:lvl2pPr algn="l">
              <a:defRPr sz="2025" b="0">
                <a:solidFill>
                  <a:srgbClr val="30414D"/>
                </a:solidFill>
                <a:latin typeface="Arial"/>
                <a:ea typeface="Arial"/>
                <a:cs typeface="Arial"/>
              </a:defRPr>
            </a:lvl2pPr>
            <a:lvl3pPr algn="l">
              <a:defRPr sz="2025" b="0">
                <a:solidFill>
                  <a:srgbClr val="30414D"/>
                </a:solidFill>
                <a:latin typeface="Arial"/>
                <a:ea typeface="Arial"/>
                <a:cs typeface="Arial"/>
              </a:defRPr>
            </a:lvl3pPr>
            <a:lvl4pPr algn="l">
              <a:defRPr sz="2025" b="0">
                <a:solidFill>
                  <a:srgbClr val="30414D"/>
                </a:solidFill>
                <a:latin typeface="Arial"/>
                <a:ea typeface="Arial"/>
                <a:cs typeface="Arial"/>
              </a:defRPr>
            </a:lvl4pPr>
            <a:lvl5pPr algn="l">
              <a:defRPr sz="2025" b="0">
                <a:solidFill>
                  <a:srgbClr val="30414D"/>
                </a:solidFill>
                <a:latin typeface="Arial"/>
                <a:ea typeface="Arial"/>
                <a:cs typeface="Arial"/>
              </a:defRPr>
            </a:lvl5pPr>
            <a:lvl6pPr algn="l">
              <a:defRPr sz="2025" b="0">
                <a:solidFill>
                  <a:srgbClr val="30414D"/>
                </a:solidFill>
                <a:latin typeface="Arial"/>
                <a:ea typeface="Arial"/>
                <a:cs typeface="Arial"/>
              </a:defRPr>
            </a:lvl6pPr>
            <a:lvl7pPr algn="l">
              <a:defRPr sz="2025" b="0">
                <a:solidFill>
                  <a:srgbClr val="30414D"/>
                </a:solidFill>
                <a:latin typeface="Arial"/>
                <a:ea typeface="Arial"/>
                <a:cs typeface="Arial"/>
              </a:defRPr>
            </a:lvl7pPr>
            <a:lvl8pPr algn="l">
              <a:defRPr sz="2025" b="0">
                <a:solidFill>
                  <a:srgbClr val="30414D"/>
                </a:solidFill>
                <a:latin typeface="Arial"/>
                <a:ea typeface="Arial"/>
                <a:cs typeface="Arial"/>
              </a:defRPr>
            </a:lvl8pPr>
            <a:lvl9pPr algn="l">
              <a:defRPr sz="2025" b="0">
                <a:solidFill>
                  <a:srgbClr val="30414D"/>
                </a:solidFill>
                <a:latin typeface="Arial"/>
                <a:ea typeface="Arial"/>
                <a:cs typeface="Arial"/>
              </a:defRPr>
            </a:lvl9pPr>
          </a:lstStyle>
          <a:p xmlns:a="http://schemas.openxmlformats.org/drawingml/2006/main">
            <a:pPr algn="l">
              <a:defRPr sz="2025" b="0">
                <a:solidFill>
                  <a:srgbClr val="30414D"/>
                </a:solidFill>
                <a:latin typeface="Arial"/>
                <a:ea typeface="Arial"/>
                <a:cs typeface="Arial"/>
              </a:defRPr>
            </a:pPr>
            <a:r>
              <a:rPr sz="2025" b="0">
                <a:solidFill>
                  <a:srgbClr val="30414D"/>
                </a:solidFill>
                <a:latin typeface="Arial"/>
                <a:ea typeface="Arial"/>
                <a:cs typeface="Arial"/>
              </a:rPr>
              <a:t>L1_C1, input 3 µm, reference 0.5 µm. Both models: 200 epochs.</a:t>
            </a:r>
          </a:p>
        </p:txBody>
      </p:sp>
      <p:graphicFrame>
        <p:nvGraphicFramePr>
          <p:cNvPr id="10" name="">
            <a:extLst xmlns:a="http://schemas.openxmlformats.org/drawingml/2006/main">
              <a:ext uri="{FF2B5EF4-FFF2-40B4-BE49-F238E27FC236}">
                <a16:creationId xmlns:a16="http://schemas.microsoft.com/office/drawing/2014/main" id="{486FE502-80AB-43B4-BBAE-8BDC4A6CE1AB}"/>
              </a:ext>
            </a:extLst>
          </p:cNvPr>
          <p:cNvGraphicFramePr/>
          <p:nvPr/>
        </p:nvGraphicFramePr>
        <p:xfrm>
          <a:off xmlns:a="http://schemas.openxmlformats.org/drawingml/2006/main" x="609600" y="1905000"/>
          <a:ext xmlns:a="http://schemas.openxmlformats.org/drawingml/2006/main" cx="10972800" cy="3143250"/>
        </p:xfrm>
        <a:graphic xmlns:a="http://schemas.openxmlformats.org/drawingml/2006/main">
          <a:graphicData uri="http://schemas.openxmlformats.org/drawingml/2006/table">
            <a:tbl>
              <a:tblPr/>
              <a:tblGrid>
                <a:gridCol w="3619500"/>
                <a:gridCol w="3676650"/>
                <a:gridCol w="3676650"/>
              </a:tblGrid>
              <a:tr h="628650">
                <a:tc>
                  <a:txBody>
                    <a:bodyPr lIns="104775" tIns="104775" rIns="104775" bIns="104775"/>
                    <a:lstStyle/>
                    <a:p>
                      <a:r>
                        <a:rPr sz="2175" b="1">
                          <a:solidFill>
                            <a:srgbClr val="FFFFFF"/>
                          </a:solidFill>
                          <a:latin typeface="Arial"/>
                          <a:ea typeface="Arial"/>
                          <a:cs typeface="Arial"/>
                        </a:rPr>
                        <a:t>Component</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175" b="1">
                          <a:solidFill>
                            <a:srgbClr val="FFFFFF"/>
                          </a:solidFill>
                          <a:latin typeface="Arial"/>
                          <a:ea typeface="Arial"/>
                          <a:cs typeface="Arial"/>
                        </a:rPr>
                        <a:t>Earlier specialist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175" b="1">
                          <a:solidFill>
                            <a:srgbClr val="FFFFFF"/>
                          </a:solidFill>
                          <a:latin typeface="Arial"/>
                          <a:ea typeface="Arial"/>
                          <a:cs typeface="Arial"/>
                        </a:rPr>
                        <a:t>Shared ConvLISTA</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28650">
                <a:tc>
                  <a:txBody>
                    <a:bodyPr lIns="104775" tIns="104775" rIns="104775" bIns="104775"/>
                    <a:lstStyle/>
                    <a:p>
                      <a:r>
                        <a:rPr sz="2175" b="0">
                          <a:solidFill>
                            <a:srgbClr val="30414D"/>
                          </a:solidFill>
                          <a:latin typeface="Arial"/>
                          <a:ea typeface="Arial"/>
                          <a:cs typeface="Arial"/>
                        </a:rPr>
                        <a:t>Bx</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75" b="0">
                          <a:solidFill>
                            <a:srgbClr val="30414D"/>
                          </a:solidFill>
                          <a:latin typeface="Arial"/>
                          <a:ea typeface="Arial"/>
                          <a:cs typeface="Arial"/>
                        </a:rPr>
                        <a:t>1.988%</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75" b="0">
                          <a:solidFill>
                            <a:srgbClr val="30414D"/>
                          </a:solidFill>
                          <a:latin typeface="Arial"/>
                          <a:ea typeface="Arial"/>
                          <a:cs typeface="Arial"/>
                        </a:rPr>
                        <a:t>2.160%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28650">
                <a:tc>
                  <a:txBody>
                    <a:bodyPr lIns="104775" tIns="104775" rIns="104775" bIns="104775"/>
                    <a:lstStyle/>
                    <a:p>
                      <a:r>
                        <a:rPr sz="2175" b="0">
                          <a:solidFill>
                            <a:srgbClr val="30414D"/>
                          </a:solidFill>
                          <a:latin typeface="Arial"/>
                          <a:ea typeface="Arial"/>
                          <a:cs typeface="Arial"/>
                        </a:rPr>
                        <a:t>By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75" b="0">
                          <a:solidFill>
                            <a:srgbClr val="30414D"/>
                          </a:solidFill>
                          <a:latin typeface="Arial"/>
                          <a:ea typeface="Arial"/>
                          <a:cs typeface="Arial"/>
                        </a:rPr>
                        <a:t>1.751%</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75" b="0">
                          <a:solidFill>
                            <a:srgbClr val="30414D"/>
                          </a:solidFill>
                          <a:latin typeface="Arial"/>
                          <a:ea typeface="Arial"/>
                          <a:cs typeface="Arial"/>
                        </a:rPr>
                        <a:t>1.892%</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28650">
                <a:tc>
                  <a:txBody>
                    <a:bodyPr lIns="104775" tIns="104775" rIns="104775" bIns="104775"/>
                    <a:lstStyle/>
                    <a:p>
                      <a:r>
                        <a:rPr sz="2175" b="0">
                          <a:solidFill>
                            <a:srgbClr val="30414D"/>
                          </a:solidFill>
                          <a:latin typeface="Arial"/>
                          <a:ea typeface="Arial"/>
                          <a:cs typeface="Arial"/>
                        </a:rPr>
                        <a:t>Bz</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75" b="0">
                          <a:solidFill>
                            <a:srgbClr val="30414D"/>
                          </a:solidFill>
                          <a:latin typeface="Arial"/>
                          <a:ea typeface="Arial"/>
                          <a:cs typeface="Arial"/>
                        </a:rPr>
                        <a:t>2.861%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175" b="0">
                          <a:solidFill>
                            <a:srgbClr val="30414D"/>
                          </a:solidFill>
                          <a:latin typeface="Arial"/>
                          <a:ea typeface="Arial"/>
                          <a:cs typeface="Arial"/>
                        </a:rPr>
                        <a:t>2.920%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28650">
                <a:tc>
                  <a:txBody>
                    <a:bodyPr lIns="104775" tIns="104775" rIns="104775" bIns="104775"/>
                    <a:lstStyle/>
                    <a:p>
                      <a:r>
                        <a:rPr sz="2175" b="0">
                          <a:solidFill>
                            <a:srgbClr val="30414D"/>
                          </a:solidFill>
                          <a:latin typeface="Arial"/>
                          <a:ea typeface="Arial"/>
                          <a:cs typeface="Arial"/>
                        </a:rPr>
                        <a:t>Mean range NRMSE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75" b="0">
                          <a:solidFill>
                            <a:srgbClr val="30414D"/>
                          </a:solidFill>
                          <a:latin typeface="Arial"/>
                          <a:ea typeface="Arial"/>
                          <a:cs typeface="Arial"/>
                        </a:rPr>
                        <a:t>2.200%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175" b="0">
                          <a:solidFill>
                            <a:srgbClr val="30414D"/>
                          </a:solidFill>
                          <a:latin typeface="Arial"/>
                          <a:ea typeface="Arial"/>
                          <a:cs typeface="Arial"/>
                        </a:rPr>
                        <a:t>2.324%</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A3A308C3-35A9-4E61-9050-66C861DA9843}"/>
              </a:ext>
            </a:extLst>
          </p:cNvPr>
          <p:cNvSpPr>
            <a:spLocks xmlns:a="http://schemas.openxmlformats.org/drawingml/2006/main" noGrp="1"/>
          </p:cNvSpPr>
          <p:nvPr/>
        </p:nvSpPr>
        <p:spPr>
          <a:xfrm xmlns:a="http://schemas.openxmlformats.org/drawingml/2006/main">
            <a:off x="609600" y="5314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defRPr sz="2025" b="1">
                <a:solidFill>
                  <a:srgbClr val="30414D"/>
                </a:solidFill>
                <a:latin typeface="Arial"/>
                <a:ea typeface="Arial"/>
                <a:cs typeface="Arial"/>
              </a:defRPr>
            </a:lvl1pPr>
            <a:lvl2pPr algn="l">
              <a:defRPr sz="2025" b="1">
                <a:solidFill>
                  <a:srgbClr val="30414D"/>
                </a:solidFill>
                <a:latin typeface="Arial"/>
                <a:ea typeface="Arial"/>
                <a:cs typeface="Arial"/>
              </a:defRPr>
            </a:lvl2pPr>
            <a:lvl3pPr algn="l">
              <a:defRPr sz="2025" b="1">
                <a:solidFill>
                  <a:srgbClr val="30414D"/>
                </a:solidFill>
                <a:latin typeface="Arial"/>
                <a:ea typeface="Arial"/>
                <a:cs typeface="Arial"/>
              </a:defRPr>
            </a:lvl3pPr>
            <a:lvl4pPr algn="l">
              <a:defRPr sz="2025" b="1">
                <a:solidFill>
                  <a:srgbClr val="30414D"/>
                </a:solidFill>
                <a:latin typeface="Arial"/>
                <a:ea typeface="Arial"/>
                <a:cs typeface="Arial"/>
              </a:defRPr>
            </a:lvl4pPr>
            <a:lvl5pPr algn="l">
              <a:defRPr sz="2025" b="1">
                <a:solidFill>
                  <a:srgbClr val="30414D"/>
                </a:solidFill>
                <a:latin typeface="Arial"/>
                <a:ea typeface="Arial"/>
                <a:cs typeface="Arial"/>
              </a:defRPr>
            </a:lvl5pPr>
            <a:lvl6pPr algn="l">
              <a:defRPr sz="2025" b="1">
                <a:solidFill>
                  <a:srgbClr val="30414D"/>
                </a:solidFill>
                <a:latin typeface="Arial"/>
                <a:ea typeface="Arial"/>
                <a:cs typeface="Arial"/>
              </a:defRPr>
            </a:lvl6pPr>
            <a:lvl7pPr algn="l">
              <a:defRPr sz="2025" b="1">
                <a:solidFill>
                  <a:srgbClr val="30414D"/>
                </a:solidFill>
                <a:latin typeface="Arial"/>
                <a:ea typeface="Arial"/>
                <a:cs typeface="Arial"/>
              </a:defRPr>
            </a:lvl7pPr>
            <a:lvl8pPr algn="l">
              <a:defRPr sz="2025" b="1">
                <a:solidFill>
                  <a:srgbClr val="30414D"/>
                </a:solidFill>
                <a:latin typeface="Arial"/>
                <a:ea typeface="Arial"/>
                <a:cs typeface="Arial"/>
              </a:defRPr>
            </a:lvl8pPr>
            <a:lvl9pPr algn="l">
              <a:defRPr sz="2025" b="1">
                <a:solidFill>
                  <a:srgbClr val="30414D"/>
                </a:solidFill>
                <a:latin typeface="Arial"/>
                <a:ea typeface="Arial"/>
                <a:cs typeface="Arial"/>
              </a:defRPr>
            </a:lvl9pPr>
          </a:lstStyle>
          <a:p xmlns:a="http://schemas.openxmlformats.org/drawingml/2006/main">
            <a:pPr algn="l">
              <a:defRPr sz="2025" b="1">
                <a:solidFill>
                  <a:srgbClr val="30414D"/>
                </a:solidFill>
                <a:latin typeface="Arial"/>
                <a:ea typeface="Arial"/>
                <a:cs typeface="Arial"/>
              </a:defRPr>
            </a:pPr>
            <a:r>
              <a:rPr sz="2025" b="1">
                <a:solidFill>
                  <a:srgbClr val="30414D"/>
                </a:solidFill>
                <a:latin typeface="Arial"/>
                <a:ea typeface="Arial"/>
                <a:cs typeface="Arial"/>
              </a:rPr>
              <a:t>The specialist retains lower error on all three components of this pair.</a:t>
            </a:r>
          </a:p>
        </p:txBody>
      </p:sp>
      <p:sp>
        <p:nvSpPr>
          <p:cNvPr id="12" name="">
            <a:extLst xmlns:a="http://schemas.openxmlformats.org/drawingml/2006/main">
              <a:ext uri="{FF2B5EF4-FFF2-40B4-BE49-F238E27FC236}">
                <a16:creationId xmlns:a16="http://schemas.microsoft.com/office/drawing/2014/main" id="{C1E68CB1-E0EC-4B10-9676-DEE083CB1429}"/>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0414D"/>
                </a:solidFill>
                <a:latin typeface="Arial"/>
                <a:ea typeface="Arial"/>
                <a:cs typeface="Arial"/>
              </a:defRPr>
            </a:defPPr>
            <a:lvl1pPr algn="l">
              <a:defRPr sz="1875" b="0">
                <a:solidFill>
                  <a:srgbClr val="30414D"/>
                </a:solidFill>
                <a:latin typeface="Arial"/>
                <a:ea typeface="Arial"/>
                <a:cs typeface="Arial"/>
              </a:defRPr>
            </a:lvl1pPr>
            <a:lvl2pPr algn="l">
              <a:defRPr sz="1875" b="0">
                <a:solidFill>
                  <a:srgbClr val="30414D"/>
                </a:solidFill>
                <a:latin typeface="Arial"/>
                <a:ea typeface="Arial"/>
                <a:cs typeface="Arial"/>
              </a:defRPr>
            </a:lvl2pPr>
            <a:lvl3pPr algn="l">
              <a:defRPr sz="1875" b="0">
                <a:solidFill>
                  <a:srgbClr val="30414D"/>
                </a:solidFill>
                <a:latin typeface="Arial"/>
                <a:ea typeface="Arial"/>
                <a:cs typeface="Arial"/>
              </a:defRPr>
            </a:lvl3pPr>
            <a:lvl4pPr algn="l">
              <a:defRPr sz="1875" b="0">
                <a:solidFill>
                  <a:srgbClr val="30414D"/>
                </a:solidFill>
                <a:latin typeface="Arial"/>
                <a:ea typeface="Arial"/>
                <a:cs typeface="Arial"/>
              </a:defRPr>
            </a:lvl4pPr>
            <a:lvl5pPr algn="l">
              <a:defRPr sz="1875" b="0">
                <a:solidFill>
                  <a:srgbClr val="30414D"/>
                </a:solidFill>
                <a:latin typeface="Arial"/>
                <a:ea typeface="Arial"/>
                <a:cs typeface="Arial"/>
              </a:defRPr>
            </a:lvl5pPr>
            <a:lvl6pPr algn="l">
              <a:defRPr sz="1875" b="0">
                <a:solidFill>
                  <a:srgbClr val="30414D"/>
                </a:solidFill>
                <a:latin typeface="Arial"/>
                <a:ea typeface="Arial"/>
                <a:cs typeface="Arial"/>
              </a:defRPr>
            </a:lvl6pPr>
            <a:lvl7pPr algn="l">
              <a:defRPr sz="1875" b="0">
                <a:solidFill>
                  <a:srgbClr val="30414D"/>
                </a:solidFill>
                <a:latin typeface="Arial"/>
                <a:ea typeface="Arial"/>
                <a:cs typeface="Arial"/>
              </a:defRPr>
            </a:lvl7pPr>
            <a:lvl8pPr algn="l">
              <a:defRPr sz="1875" b="0">
                <a:solidFill>
                  <a:srgbClr val="30414D"/>
                </a:solidFill>
                <a:latin typeface="Arial"/>
                <a:ea typeface="Arial"/>
                <a:cs typeface="Arial"/>
              </a:defRPr>
            </a:lvl8pPr>
            <a:lvl9pPr algn="l">
              <a:defRPr sz="1875" b="0">
                <a:solidFill>
                  <a:srgbClr val="30414D"/>
                </a:solidFill>
                <a:latin typeface="Arial"/>
                <a:ea typeface="Arial"/>
                <a:cs typeface="Arial"/>
              </a:defRPr>
            </a:lvl9pPr>
          </a:lstStyle>
          <a:p xmlns:a="http://schemas.openxmlformats.org/drawingml/2006/main">
            <a:pPr algn="l">
              <a:defRPr sz="1875" b="0">
                <a:solidFill>
                  <a:srgbClr val="30414D"/>
                </a:solidFill>
                <a:latin typeface="Arial"/>
                <a:ea typeface="Arial"/>
                <a:cs typeface="Arial"/>
              </a:defRPr>
            </a:pPr>
            <a:r>
              <a:rPr sz="1875" b="0">
                <a:solidFill>
                  <a:srgbClr val="30414D"/>
                </a:solidFill>
                <a:latin typeface="Arial"/>
                <a:ea typeface="Arial"/>
                <a:cs typeface="Arial"/>
              </a:rPr>
              <a:t>Original inventory: 30 pairs. Archived training: 3. Shared training: 51.</a:t>
            </a:r>
          </a:p>
        </p:txBody>
      </p:sp>
      <p:sp>
        <p:nvSpPr>
          <p:cNvPr id="13" name="">
            <a:extLst xmlns:a="http://schemas.openxmlformats.org/drawingml/2006/main">
              <a:ext uri="{FF2B5EF4-FFF2-40B4-BE49-F238E27FC236}">
                <a16:creationId xmlns:a16="http://schemas.microsoft.com/office/drawing/2014/main" id="{731433F7-1C92-4096-A30C-800367429158}"/>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16A"/>
                </a:solidFill>
                <a:latin typeface="Arial"/>
                <a:ea typeface="Arial"/>
                <a:cs typeface="Arial"/>
              </a:defRPr>
            </a:defPPr>
            <a:lvl1pPr algn="l">
              <a:defRPr sz="1650" b="0">
                <a:solidFill>
                  <a:srgbClr val="53616A"/>
                </a:solidFill>
                <a:latin typeface="Arial"/>
                <a:ea typeface="Arial"/>
                <a:cs typeface="Arial"/>
              </a:defRPr>
            </a:lvl1pPr>
            <a:lvl2pPr algn="l">
              <a:defRPr sz="1650" b="0">
                <a:solidFill>
                  <a:srgbClr val="53616A"/>
                </a:solidFill>
                <a:latin typeface="Arial"/>
                <a:ea typeface="Arial"/>
                <a:cs typeface="Arial"/>
              </a:defRPr>
            </a:lvl2pPr>
            <a:lvl3pPr algn="l">
              <a:defRPr sz="1650" b="0">
                <a:solidFill>
                  <a:srgbClr val="53616A"/>
                </a:solidFill>
                <a:latin typeface="Arial"/>
                <a:ea typeface="Arial"/>
                <a:cs typeface="Arial"/>
              </a:defRPr>
            </a:lvl3pPr>
            <a:lvl4pPr algn="l">
              <a:defRPr sz="1650" b="0">
                <a:solidFill>
                  <a:srgbClr val="53616A"/>
                </a:solidFill>
                <a:latin typeface="Arial"/>
                <a:ea typeface="Arial"/>
                <a:cs typeface="Arial"/>
              </a:defRPr>
            </a:lvl4pPr>
            <a:lvl5pPr algn="l">
              <a:defRPr sz="1650" b="0">
                <a:solidFill>
                  <a:srgbClr val="53616A"/>
                </a:solidFill>
                <a:latin typeface="Arial"/>
                <a:ea typeface="Arial"/>
                <a:cs typeface="Arial"/>
              </a:defRPr>
            </a:lvl5pPr>
            <a:lvl6pPr algn="l">
              <a:defRPr sz="1650" b="0">
                <a:solidFill>
                  <a:srgbClr val="53616A"/>
                </a:solidFill>
                <a:latin typeface="Arial"/>
                <a:ea typeface="Arial"/>
                <a:cs typeface="Arial"/>
              </a:defRPr>
            </a:lvl6pPr>
            <a:lvl7pPr algn="l">
              <a:defRPr sz="1650" b="0">
                <a:solidFill>
                  <a:srgbClr val="53616A"/>
                </a:solidFill>
                <a:latin typeface="Arial"/>
                <a:ea typeface="Arial"/>
                <a:cs typeface="Arial"/>
              </a:defRPr>
            </a:lvl7pPr>
            <a:lvl8pPr algn="l">
              <a:defRPr sz="1650" b="0">
                <a:solidFill>
                  <a:srgbClr val="53616A"/>
                </a:solidFill>
                <a:latin typeface="Arial"/>
                <a:ea typeface="Arial"/>
                <a:cs typeface="Arial"/>
              </a:defRPr>
            </a:lvl8pPr>
            <a:lvl9pPr algn="l">
              <a:defRPr sz="1650" b="0">
                <a:solidFill>
                  <a:srgbClr val="53616A"/>
                </a:solidFill>
                <a:latin typeface="Arial"/>
                <a:ea typeface="Arial"/>
                <a:cs typeface="Arial"/>
              </a:defRPr>
            </a:lvl9pPr>
          </a:lstStyle>
          <a:p xmlns:a="http://schemas.openxmlformats.org/drawingml/2006/main">
            <a:pPr algn="l">
              <a:defRPr sz="1650" b="0">
                <a:solidFill>
                  <a:srgbClr val="53616A"/>
                </a:solidFill>
                <a:latin typeface="Arial"/>
                <a:ea typeface="Arial"/>
                <a:cs typeface="Arial"/>
              </a:defRPr>
            </a:pPr>
            <a:r>
              <a:rPr sz="1650" b="0">
                <a:solidFill>
                  <a:srgbClr val="53616A"/>
                </a:solidFill>
                <a:latin typeface="Arial"/>
                <a:ea typeface="Arial"/>
                <a:cs typeface="Arial"/>
              </a:rPr>
              <a:t>Training scope and normalization differ. This is not a data-only ablation.</a:t>
            </a:r>
          </a:p>
        </p:txBody>
      </p:sp>
    </p:spTree>
    <p:extLst>
      <p:ext uri="{BB962C8B-B14F-4D97-AF65-F5344CB8AC3E}">
        <p14:creationId xmlns:p14="http://schemas.microsoft.com/office/powerpoint/2010/main" val="20267938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Results by geometry</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10</a:t>
            </a:r>
          </a:p>
        </p:txBody>
      </p:sp>
      <p:sp>
        <p:nvSpPr>
          <p:cNvPr id="9" name="">
            <a:extLst xmlns:a="http://schemas.openxmlformats.org/drawingml/2006/main">
              <a:ext uri="{FF2B5EF4-FFF2-40B4-BE49-F238E27FC236}">
                <a16:creationId xmlns:a16="http://schemas.microsoft.com/office/drawing/2014/main" id="{99B46623-528A-48EE-BEC4-E48801DEA145}"/>
              </a:ext>
            </a:extLst>
          </p:cNvPr>
          <p:cNvSpPr>
            <a:spLocks xmlns:a="http://schemas.openxmlformats.org/drawingml/2006/main" noGrp="1"/>
          </p:cNvSpPr>
          <p:nvPr/>
        </p:nvSpPr>
        <p:spPr>
          <a:xfrm xmlns:a="http://schemas.openxmlformats.org/drawingml/2006/main">
            <a:off x="609600" y="1238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0414D"/>
                </a:solidFill>
                <a:latin typeface="Arial"/>
                <a:ea typeface="Arial"/>
                <a:cs typeface="Arial"/>
              </a:defRPr>
            </a:defPPr>
            <a:lvl1pPr algn="l">
              <a:defRPr sz="2025" b="0">
                <a:solidFill>
                  <a:srgbClr val="30414D"/>
                </a:solidFill>
                <a:latin typeface="Arial"/>
                <a:ea typeface="Arial"/>
                <a:cs typeface="Arial"/>
              </a:defRPr>
            </a:lvl1pPr>
            <a:lvl2pPr algn="l">
              <a:defRPr sz="2025" b="0">
                <a:solidFill>
                  <a:srgbClr val="30414D"/>
                </a:solidFill>
                <a:latin typeface="Arial"/>
                <a:ea typeface="Arial"/>
                <a:cs typeface="Arial"/>
              </a:defRPr>
            </a:lvl2pPr>
            <a:lvl3pPr algn="l">
              <a:defRPr sz="2025" b="0">
                <a:solidFill>
                  <a:srgbClr val="30414D"/>
                </a:solidFill>
                <a:latin typeface="Arial"/>
                <a:ea typeface="Arial"/>
                <a:cs typeface="Arial"/>
              </a:defRPr>
            </a:lvl3pPr>
            <a:lvl4pPr algn="l">
              <a:defRPr sz="2025" b="0">
                <a:solidFill>
                  <a:srgbClr val="30414D"/>
                </a:solidFill>
                <a:latin typeface="Arial"/>
                <a:ea typeface="Arial"/>
                <a:cs typeface="Arial"/>
              </a:defRPr>
            </a:lvl4pPr>
            <a:lvl5pPr algn="l">
              <a:defRPr sz="2025" b="0">
                <a:solidFill>
                  <a:srgbClr val="30414D"/>
                </a:solidFill>
                <a:latin typeface="Arial"/>
                <a:ea typeface="Arial"/>
                <a:cs typeface="Arial"/>
              </a:defRPr>
            </a:lvl5pPr>
            <a:lvl6pPr algn="l">
              <a:defRPr sz="2025" b="0">
                <a:solidFill>
                  <a:srgbClr val="30414D"/>
                </a:solidFill>
                <a:latin typeface="Arial"/>
                <a:ea typeface="Arial"/>
                <a:cs typeface="Arial"/>
              </a:defRPr>
            </a:lvl6pPr>
            <a:lvl7pPr algn="l">
              <a:defRPr sz="2025" b="0">
                <a:solidFill>
                  <a:srgbClr val="30414D"/>
                </a:solidFill>
                <a:latin typeface="Arial"/>
                <a:ea typeface="Arial"/>
                <a:cs typeface="Arial"/>
              </a:defRPr>
            </a:lvl7pPr>
            <a:lvl8pPr algn="l">
              <a:defRPr sz="2025" b="0">
                <a:solidFill>
                  <a:srgbClr val="30414D"/>
                </a:solidFill>
                <a:latin typeface="Arial"/>
                <a:ea typeface="Arial"/>
                <a:cs typeface="Arial"/>
              </a:defRPr>
            </a:lvl8pPr>
            <a:lvl9pPr algn="l">
              <a:defRPr sz="2025" b="0">
                <a:solidFill>
                  <a:srgbClr val="30414D"/>
                </a:solidFill>
                <a:latin typeface="Arial"/>
                <a:ea typeface="Arial"/>
                <a:cs typeface="Arial"/>
              </a:defRPr>
            </a:lvl9pPr>
          </a:lstStyle>
          <a:p xmlns:a="http://schemas.openxmlformats.org/drawingml/2006/main">
            <a:pPr algn="l">
              <a:defRPr sz="2025" b="0">
                <a:solidFill>
                  <a:srgbClr val="30414D"/>
                </a:solidFill>
                <a:latin typeface="Arial"/>
                <a:ea typeface="Arial"/>
                <a:cs typeface="Arial"/>
              </a:defRPr>
            </a:pPr>
            <a:r>
              <a:rPr sz="2025" b="0">
                <a:solidFill>
                  <a:srgbClr val="30414D"/>
                </a:solidFill>
                <a:latin typeface="Arial"/>
                <a:ea typeface="Arial"/>
                <a:cs typeface="Arial"/>
              </a:rPr>
              <a:t>Mean range NRMSE (%), evaluated on each geometry’s training fields.</a:t>
            </a:r>
          </a:p>
        </p:txBody>
      </p:sp>
      <p:graphicFrame>
        <p:nvGraphicFramePr>
          <p:cNvPr id="10" name="">
            <a:extLst xmlns:a="http://schemas.openxmlformats.org/drawingml/2006/main">
              <a:ext uri="{FF2B5EF4-FFF2-40B4-BE49-F238E27FC236}">
                <a16:creationId xmlns:a16="http://schemas.microsoft.com/office/drawing/2014/main" id="{C9776503-561A-48DC-BE6A-0D2EFC4E6F99}"/>
              </a:ext>
            </a:extLst>
          </p:cNvPr>
          <p:cNvGraphicFramePr/>
          <p:nvPr/>
        </p:nvGraphicFramePr>
        <p:xfrm>
          <a:off xmlns:a="http://schemas.openxmlformats.org/drawingml/2006/main" x="609600" y="1952625"/>
          <a:ext xmlns:a="http://schemas.openxmlformats.org/drawingml/2006/main" cx="10972800" cy="2809875"/>
        </p:xfrm>
        <a:graphic xmlns:a="http://schemas.openxmlformats.org/drawingml/2006/main">
          <a:graphicData uri="http://schemas.openxmlformats.org/drawingml/2006/table">
            <a:tbl>
              <a:tblPr/>
              <a:tblGrid>
                <a:gridCol w="2286000"/>
                <a:gridCol w="1524000"/>
                <a:gridCol w="2381250"/>
                <a:gridCol w="2286000"/>
                <a:gridCol w="2495550"/>
              </a:tblGrid>
              <a:tr h="702469">
                <a:tc>
                  <a:txBody>
                    <a:bodyPr lIns="104775" tIns="104775" rIns="104775" bIns="104775"/>
                    <a:lstStyle/>
                    <a:p>
                      <a:r>
                        <a:rPr sz="2025" b="1">
                          <a:solidFill>
                            <a:srgbClr val="FFFFFF"/>
                          </a:solidFill>
                          <a:latin typeface="Arial"/>
                          <a:ea typeface="Arial"/>
                          <a:cs typeface="Arial"/>
                        </a:rPr>
                        <a:t>Geometry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025" b="1">
                          <a:solidFill>
                            <a:srgbClr val="FFFFFF"/>
                          </a:solidFill>
                          <a:latin typeface="Arial"/>
                          <a:ea typeface="Arial"/>
                          <a:cs typeface="Arial"/>
                        </a:rPr>
                        <a:t>Examples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025" b="1">
                          <a:solidFill>
                            <a:srgbClr val="FFFFFF"/>
                          </a:solidFill>
                          <a:latin typeface="Arial"/>
                          <a:ea typeface="Arial"/>
                          <a:cs typeface="Arial"/>
                        </a:rPr>
                        <a:t>ConvLISTA 16</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025" b="1">
                          <a:solidFill>
                            <a:srgbClr val="FFFFFF"/>
                          </a:solidFill>
                          <a:latin typeface="Arial"/>
                          <a:ea typeface="Arial"/>
                          <a:cs typeface="Arial"/>
                        </a:rPr>
                        <a:t>FISTA 16</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104775" tIns="104775" rIns="104775" bIns="104775"/>
                    <a:lstStyle/>
                    <a:p>
                      <a:r>
                        <a:rPr sz="2025" b="1">
                          <a:solidFill>
                            <a:srgbClr val="FFFFFF"/>
                          </a:solidFill>
                          <a:latin typeface="Arial"/>
                          <a:ea typeface="Arial"/>
                          <a:cs typeface="Arial"/>
                        </a:rPr>
                        <a:t>FISTA tolerance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702469">
                <a:tc>
                  <a:txBody>
                    <a:bodyPr lIns="104775" tIns="104775" rIns="104775" bIns="104775"/>
                    <a:lstStyle/>
                    <a:p>
                      <a:r>
                        <a:rPr sz="2025" b="0">
                          <a:solidFill>
                            <a:srgbClr val="30414D"/>
                          </a:solidFill>
                          <a:latin typeface="Arial"/>
                          <a:ea typeface="Arial"/>
                          <a:cs typeface="Arial"/>
                        </a:rPr>
                        <a:t>L1_C1</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30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3.167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3.162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2.323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02469">
                <a:tc>
                  <a:txBody>
                    <a:bodyPr lIns="104775" tIns="104775" rIns="104775" bIns="104775"/>
                    <a:lstStyle/>
                    <a:p>
                      <a:r>
                        <a:rPr sz="2025" b="0">
                          <a:solidFill>
                            <a:srgbClr val="30414D"/>
                          </a:solidFill>
                          <a:latin typeface="Arial"/>
                          <a:ea typeface="Arial"/>
                          <a:cs typeface="Arial"/>
                        </a:rPr>
                        <a:t>IC_4um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025" b="0">
                          <a:solidFill>
                            <a:srgbClr val="30414D"/>
                          </a:solidFill>
                          <a:latin typeface="Arial"/>
                          <a:ea typeface="Arial"/>
                          <a:cs typeface="Arial"/>
                        </a:rPr>
                        <a:t>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025" b="0">
                          <a:solidFill>
                            <a:srgbClr val="30414D"/>
                          </a:solidFill>
                          <a:latin typeface="Arial"/>
                          <a:ea typeface="Arial"/>
                          <a:cs typeface="Arial"/>
                        </a:rPr>
                        <a:t>5.026</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025" b="0">
                          <a:solidFill>
                            <a:srgbClr val="30414D"/>
                          </a:solidFill>
                          <a:latin typeface="Arial"/>
                          <a:ea typeface="Arial"/>
                          <a:cs typeface="Arial"/>
                        </a:rPr>
                        <a:t>5.134</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104775" tIns="104775" rIns="104775" bIns="104775"/>
                    <a:lstStyle/>
                    <a:p>
                      <a:r>
                        <a:rPr sz="2025" b="0">
                          <a:solidFill>
                            <a:srgbClr val="30414D"/>
                          </a:solidFill>
                          <a:latin typeface="Arial"/>
                          <a:ea typeface="Arial"/>
                          <a:cs typeface="Arial"/>
                        </a:rPr>
                        <a:t>3.904</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702469">
                <a:tc>
                  <a:txBody>
                    <a:bodyPr lIns="104775" tIns="104775" rIns="104775" bIns="104775"/>
                    <a:lstStyle/>
                    <a:p>
                      <a:r>
                        <a:rPr sz="2025" b="0">
                          <a:solidFill>
                            <a:srgbClr val="30414D"/>
                          </a:solidFill>
                          <a:latin typeface="Arial"/>
                          <a:ea typeface="Arial"/>
                          <a:cs typeface="Arial"/>
                        </a:rPr>
                        <a:t>IC_2um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2.600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2.923</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104775" tIns="104775" rIns="104775" bIns="104775"/>
                    <a:lstStyle/>
                    <a:p>
                      <a:r>
                        <a:rPr sz="2025" b="0">
                          <a:solidFill>
                            <a:srgbClr val="30414D"/>
                          </a:solidFill>
                          <a:latin typeface="Arial"/>
                          <a:ea typeface="Arial"/>
                          <a:cs typeface="Arial"/>
                        </a:rPr>
                        <a:t>3.666</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
            <a:extLst xmlns:a="http://schemas.openxmlformats.org/drawingml/2006/main">
              <a:ext uri="{FF2B5EF4-FFF2-40B4-BE49-F238E27FC236}">
                <a16:creationId xmlns:a16="http://schemas.microsoft.com/office/drawing/2014/main" id="{3BEF5617-B52B-4062-9FB4-7DB187D8417F}"/>
              </a:ext>
            </a:extLst>
          </p:cNvPr>
          <p:cNvSpPr>
            <a:spLocks xmlns:a="http://schemas.openxmlformats.org/drawingml/2006/main" noGrp="1"/>
          </p:cNvSpPr>
          <p:nvPr/>
        </p:nvSpPr>
        <p:spPr>
          <a:xfrm xmlns:a="http://schemas.openxmlformats.org/drawingml/2006/main">
            <a:off x="609600" y="51530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0414D"/>
                </a:solidFill>
                <a:latin typeface="Arial"/>
                <a:ea typeface="Arial"/>
                <a:cs typeface="Arial"/>
              </a:defRPr>
            </a:defPPr>
            <a:lvl1pPr algn="l">
              <a:defRPr sz="2025" b="0">
                <a:solidFill>
                  <a:srgbClr val="30414D"/>
                </a:solidFill>
                <a:latin typeface="Arial"/>
                <a:ea typeface="Arial"/>
                <a:cs typeface="Arial"/>
              </a:defRPr>
            </a:lvl1pPr>
            <a:lvl2pPr algn="l">
              <a:defRPr sz="2025" b="0">
                <a:solidFill>
                  <a:srgbClr val="30414D"/>
                </a:solidFill>
                <a:latin typeface="Arial"/>
                <a:ea typeface="Arial"/>
                <a:cs typeface="Arial"/>
              </a:defRPr>
            </a:lvl2pPr>
            <a:lvl3pPr algn="l">
              <a:defRPr sz="2025" b="0">
                <a:solidFill>
                  <a:srgbClr val="30414D"/>
                </a:solidFill>
                <a:latin typeface="Arial"/>
                <a:ea typeface="Arial"/>
                <a:cs typeface="Arial"/>
              </a:defRPr>
            </a:lvl3pPr>
            <a:lvl4pPr algn="l">
              <a:defRPr sz="2025" b="0">
                <a:solidFill>
                  <a:srgbClr val="30414D"/>
                </a:solidFill>
                <a:latin typeface="Arial"/>
                <a:ea typeface="Arial"/>
                <a:cs typeface="Arial"/>
              </a:defRPr>
            </a:lvl4pPr>
            <a:lvl5pPr algn="l">
              <a:defRPr sz="2025" b="0">
                <a:solidFill>
                  <a:srgbClr val="30414D"/>
                </a:solidFill>
                <a:latin typeface="Arial"/>
                <a:ea typeface="Arial"/>
                <a:cs typeface="Arial"/>
              </a:defRPr>
            </a:lvl5pPr>
            <a:lvl6pPr algn="l">
              <a:defRPr sz="2025" b="0">
                <a:solidFill>
                  <a:srgbClr val="30414D"/>
                </a:solidFill>
                <a:latin typeface="Arial"/>
                <a:ea typeface="Arial"/>
                <a:cs typeface="Arial"/>
              </a:defRPr>
            </a:lvl6pPr>
            <a:lvl7pPr algn="l">
              <a:defRPr sz="2025" b="0">
                <a:solidFill>
                  <a:srgbClr val="30414D"/>
                </a:solidFill>
                <a:latin typeface="Arial"/>
                <a:ea typeface="Arial"/>
                <a:cs typeface="Arial"/>
              </a:defRPr>
            </a:lvl7pPr>
            <a:lvl8pPr algn="l">
              <a:defRPr sz="2025" b="0">
                <a:solidFill>
                  <a:srgbClr val="30414D"/>
                </a:solidFill>
                <a:latin typeface="Arial"/>
                <a:ea typeface="Arial"/>
                <a:cs typeface="Arial"/>
              </a:defRPr>
            </a:lvl8pPr>
            <a:lvl9pPr algn="l">
              <a:defRPr sz="2025" b="0">
                <a:solidFill>
                  <a:srgbClr val="30414D"/>
                </a:solidFill>
                <a:latin typeface="Arial"/>
                <a:ea typeface="Arial"/>
                <a:cs typeface="Arial"/>
              </a:defRPr>
            </a:lvl9pPr>
          </a:lstStyle>
          <a:p xmlns:a="http://schemas.openxmlformats.org/drawingml/2006/main">
            <a:pPr algn="l">
              <a:defRPr sz="2025" b="0">
                <a:solidFill>
                  <a:srgbClr val="30414D"/>
                </a:solidFill>
                <a:latin typeface="Arial"/>
                <a:ea typeface="Arial"/>
                <a:cs typeface="Arial"/>
              </a:defRPr>
            </a:pPr>
            <a:r>
              <a:rPr sz="2025" b="0">
                <a:solidFill>
                  <a:srgbClr val="30414D"/>
                </a:solidFill>
                <a:latin typeface="Arial"/>
                <a:ea typeface="Arial"/>
                <a:cs typeface="Arial"/>
              </a:rPr>
              <a:t>The shared model’s L1_C1 subset contains all 30 original component pairs.</a:t>
            </a:r>
          </a:p>
        </p:txBody>
      </p:sp>
      <p:sp>
        <p:nvSpPr>
          <p:cNvPr id="12" name="">
            <a:extLst xmlns:a="http://schemas.openxmlformats.org/drawingml/2006/main">
              <a:ext uri="{FF2B5EF4-FFF2-40B4-BE49-F238E27FC236}">
                <a16:creationId xmlns:a16="http://schemas.microsoft.com/office/drawing/2014/main" id="{D700643F-EA31-402C-BC8F-68645D587D87}"/>
              </a:ext>
            </a:extLst>
          </p:cNvPr>
          <p:cNvSpPr>
            <a:spLocks xmlns:a="http://schemas.openxmlformats.org/drawingml/2006/main" noGrp="1"/>
          </p:cNvSpPr>
          <p:nvPr/>
        </p:nvSpPr>
        <p:spPr>
          <a:xfrm xmlns:a="http://schemas.openxmlformats.org/drawingml/2006/main">
            <a:off x="609600" y="590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defRPr sz="2025" b="1">
                <a:solidFill>
                  <a:srgbClr val="30414D"/>
                </a:solidFill>
                <a:latin typeface="Arial"/>
                <a:ea typeface="Arial"/>
                <a:cs typeface="Arial"/>
              </a:defRPr>
            </a:lvl1pPr>
            <a:lvl2pPr algn="l">
              <a:defRPr sz="2025" b="1">
                <a:solidFill>
                  <a:srgbClr val="30414D"/>
                </a:solidFill>
                <a:latin typeface="Arial"/>
                <a:ea typeface="Arial"/>
                <a:cs typeface="Arial"/>
              </a:defRPr>
            </a:lvl2pPr>
            <a:lvl3pPr algn="l">
              <a:defRPr sz="2025" b="1">
                <a:solidFill>
                  <a:srgbClr val="30414D"/>
                </a:solidFill>
                <a:latin typeface="Arial"/>
                <a:ea typeface="Arial"/>
                <a:cs typeface="Arial"/>
              </a:defRPr>
            </a:lvl3pPr>
            <a:lvl4pPr algn="l">
              <a:defRPr sz="2025" b="1">
                <a:solidFill>
                  <a:srgbClr val="30414D"/>
                </a:solidFill>
                <a:latin typeface="Arial"/>
                <a:ea typeface="Arial"/>
                <a:cs typeface="Arial"/>
              </a:defRPr>
            </a:lvl4pPr>
            <a:lvl5pPr algn="l">
              <a:defRPr sz="2025" b="1">
                <a:solidFill>
                  <a:srgbClr val="30414D"/>
                </a:solidFill>
                <a:latin typeface="Arial"/>
                <a:ea typeface="Arial"/>
                <a:cs typeface="Arial"/>
              </a:defRPr>
            </a:lvl5pPr>
            <a:lvl6pPr algn="l">
              <a:defRPr sz="2025" b="1">
                <a:solidFill>
                  <a:srgbClr val="30414D"/>
                </a:solidFill>
                <a:latin typeface="Arial"/>
                <a:ea typeface="Arial"/>
                <a:cs typeface="Arial"/>
              </a:defRPr>
            </a:lvl6pPr>
            <a:lvl7pPr algn="l">
              <a:defRPr sz="2025" b="1">
                <a:solidFill>
                  <a:srgbClr val="30414D"/>
                </a:solidFill>
                <a:latin typeface="Arial"/>
                <a:ea typeface="Arial"/>
                <a:cs typeface="Arial"/>
              </a:defRPr>
            </a:lvl7pPr>
            <a:lvl8pPr algn="l">
              <a:defRPr sz="2025" b="1">
                <a:solidFill>
                  <a:srgbClr val="30414D"/>
                </a:solidFill>
                <a:latin typeface="Arial"/>
                <a:ea typeface="Arial"/>
                <a:cs typeface="Arial"/>
              </a:defRPr>
            </a:lvl8pPr>
            <a:lvl9pPr algn="l">
              <a:defRPr sz="2025" b="1">
                <a:solidFill>
                  <a:srgbClr val="30414D"/>
                </a:solidFill>
                <a:latin typeface="Arial"/>
                <a:ea typeface="Arial"/>
                <a:cs typeface="Arial"/>
              </a:defRPr>
            </a:lvl9pPr>
          </a:lstStyle>
          <a:p xmlns:a="http://schemas.openxmlformats.org/drawingml/2006/main">
            <a:pPr algn="l">
              <a:defRPr sz="2025" b="1">
                <a:solidFill>
                  <a:srgbClr val="30414D"/>
                </a:solidFill>
                <a:latin typeface="Arial"/>
                <a:ea typeface="Arial"/>
                <a:cs typeface="Arial"/>
              </a:defRPr>
            </a:pPr>
            <a:r>
              <a:rPr sz="2025" b="1">
                <a:solidFill>
                  <a:srgbClr val="30414D"/>
                </a:solidFill>
                <a:latin typeface="Arial"/>
                <a:ea typeface="Arial"/>
                <a:cs typeface="Arial"/>
              </a:rPr>
              <a:t>ConvLISTA improves on FISTA-16 for IC_4um and IC_2um.</a:t>
            </a:r>
          </a:p>
        </p:txBody>
      </p:sp>
      <p:sp>
        <p:nvSpPr>
          <p:cNvPr id="13" name="">
            <a:extLst xmlns:a="http://schemas.openxmlformats.org/drawingml/2006/main">
              <a:ext uri="{FF2B5EF4-FFF2-40B4-BE49-F238E27FC236}">
                <a16:creationId xmlns:a16="http://schemas.microsoft.com/office/drawing/2014/main" id="{D6E4ED3C-7878-40F1-B475-1BF7E6EE0BF0}"/>
              </a:ext>
            </a:extLst>
          </p:cNvPr>
          <p:cNvSpPr>
            <a:spLocks xmlns:a="http://schemas.openxmlformats.org/drawingml/2006/main" noGrp="1"/>
          </p:cNvSpPr>
          <p:nvPr/>
        </p:nvSpPr>
        <p:spPr>
          <a:xfrm xmlns:a="http://schemas.openxmlformats.org/drawingml/2006/main">
            <a:off x="609600" y="6381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16A"/>
                </a:solidFill>
                <a:latin typeface="Arial"/>
                <a:ea typeface="Arial"/>
                <a:cs typeface="Arial"/>
              </a:defRPr>
            </a:defPPr>
            <a:lvl1pPr algn="l">
              <a:defRPr sz="1725" b="0">
                <a:solidFill>
                  <a:srgbClr val="53616A"/>
                </a:solidFill>
                <a:latin typeface="Arial"/>
                <a:ea typeface="Arial"/>
                <a:cs typeface="Arial"/>
              </a:defRPr>
            </a:lvl1pPr>
            <a:lvl2pPr algn="l">
              <a:defRPr sz="1725" b="0">
                <a:solidFill>
                  <a:srgbClr val="53616A"/>
                </a:solidFill>
                <a:latin typeface="Arial"/>
                <a:ea typeface="Arial"/>
                <a:cs typeface="Arial"/>
              </a:defRPr>
            </a:lvl2pPr>
            <a:lvl3pPr algn="l">
              <a:defRPr sz="1725" b="0">
                <a:solidFill>
                  <a:srgbClr val="53616A"/>
                </a:solidFill>
                <a:latin typeface="Arial"/>
                <a:ea typeface="Arial"/>
                <a:cs typeface="Arial"/>
              </a:defRPr>
            </a:lvl3pPr>
            <a:lvl4pPr algn="l">
              <a:defRPr sz="1725" b="0">
                <a:solidFill>
                  <a:srgbClr val="53616A"/>
                </a:solidFill>
                <a:latin typeface="Arial"/>
                <a:ea typeface="Arial"/>
                <a:cs typeface="Arial"/>
              </a:defRPr>
            </a:lvl4pPr>
            <a:lvl5pPr algn="l">
              <a:defRPr sz="1725" b="0">
                <a:solidFill>
                  <a:srgbClr val="53616A"/>
                </a:solidFill>
                <a:latin typeface="Arial"/>
                <a:ea typeface="Arial"/>
                <a:cs typeface="Arial"/>
              </a:defRPr>
            </a:lvl5pPr>
            <a:lvl6pPr algn="l">
              <a:defRPr sz="1725" b="0">
                <a:solidFill>
                  <a:srgbClr val="53616A"/>
                </a:solidFill>
                <a:latin typeface="Arial"/>
                <a:ea typeface="Arial"/>
                <a:cs typeface="Arial"/>
              </a:defRPr>
            </a:lvl6pPr>
            <a:lvl7pPr algn="l">
              <a:defRPr sz="1725" b="0">
                <a:solidFill>
                  <a:srgbClr val="53616A"/>
                </a:solidFill>
                <a:latin typeface="Arial"/>
                <a:ea typeface="Arial"/>
                <a:cs typeface="Arial"/>
              </a:defRPr>
            </a:lvl7pPr>
            <a:lvl8pPr algn="l">
              <a:defRPr sz="1725" b="0">
                <a:solidFill>
                  <a:srgbClr val="53616A"/>
                </a:solidFill>
                <a:latin typeface="Arial"/>
                <a:ea typeface="Arial"/>
                <a:cs typeface="Arial"/>
              </a:defRPr>
            </a:lvl8pPr>
            <a:lvl9pPr algn="l">
              <a:defRPr sz="1725" b="0">
                <a:solidFill>
                  <a:srgbClr val="53616A"/>
                </a:solidFill>
                <a:latin typeface="Arial"/>
                <a:ea typeface="Arial"/>
                <a:cs typeface="Arial"/>
              </a:defRPr>
            </a:lvl9pPr>
          </a:lstStyle>
          <a:p xmlns:a="http://schemas.openxmlformats.org/drawingml/2006/main">
            <a:pPr algn="l">
              <a:defRPr sz="1725" b="0">
                <a:solidFill>
                  <a:srgbClr val="53616A"/>
                </a:solidFill>
                <a:latin typeface="Arial"/>
                <a:ea typeface="Arial"/>
                <a:cs typeface="Arial"/>
              </a:defRPr>
            </a:pPr>
            <a:r>
              <a:rPr sz="1725" b="0">
                <a:solidFill>
                  <a:srgbClr val="53616A"/>
                </a:solidFill>
                <a:latin typeface="Arial"/>
                <a:ea typeface="Arial"/>
                <a:cs typeface="Arial"/>
              </a:rPr>
              <a:t>L1_C1 errors are nearly equal. No independent geometry test.</a:t>
            </a:r>
          </a:p>
        </p:txBody>
      </p:sp>
    </p:spTree>
    <p:extLst>
      <p:ext uri="{BB962C8B-B14F-4D97-AF65-F5344CB8AC3E}">
        <p14:creationId xmlns:p14="http://schemas.microsoft.com/office/powerpoint/2010/main" val="20267938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L1_C1 reconstruction: Bz</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11</a:t>
            </a:r>
          </a:p>
        </p:txBody>
      </p:sp>
      <p:sp>
        <p:nvSpPr>
          <p:cNvPr id="9" name="">
            <a:extLst xmlns:a="http://schemas.openxmlformats.org/drawingml/2006/main">
              <a:ext uri="{FF2B5EF4-FFF2-40B4-BE49-F238E27FC236}">
                <a16:creationId xmlns:a16="http://schemas.microsoft.com/office/drawing/2014/main" id="{DE58C785-460F-43AE-8EE5-6ADDE82B305D}"/>
              </a:ext>
            </a:extLst>
          </p:cNvPr>
          <p:cNvSpPr>
            <a:spLocks xmlns:a="http://schemas.openxmlformats.org/drawingml/2006/main" noGrp="1"/>
          </p:cNvSpPr>
          <p:nvPr/>
        </p:nvSpPr>
        <p:spPr>
          <a:xfrm xmlns:a="http://schemas.openxmlformats.org/drawingml/2006/main">
            <a:off x="609600" y="10953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Input 3 µm, reference 0.5 µm. Shared model, epoch 200.</a:t>
            </a:r>
          </a:p>
        </p:txBody>
      </p:sp>
      <p:pic>
        <p:nvPicPr>
          <p:cNvPr id="10" name="">
            <a:extLst xmlns:a="http://schemas.openxmlformats.org/drawingml/2006/main">
              <a:ext uri="{FF2B5EF4-FFF2-40B4-BE49-F238E27FC236}">
                <a16:creationId xmlns:a16="http://schemas.microsoft.com/office/drawing/2014/main" id="{792FDF1D-765E-4E87-A0F0-398A53D598EF}"/>
              </a:ext>
            </a:extLst>
          </p:cNvPr>
          <p:cNvPicPr>
            <a:picLocks xmlns:a="http://schemas.openxmlformats.org/drawingml/2006/main" noChangeAspect="1"/>
          </p:cNvPicPr>
          <p:nvPr/>
        </p:nvPicPr>
        <p:blipFill>
          <a:blip xmlns:r="http://schemas.openxmlformats.org/officeDocument/2006/relationships" xmlns:a="http://schemas.openxmlformats.org/drawingml/2006/main" r:embed="Rab74a482156e42ad"/>
          <a:stretch xmlns:a="http://schemas.openxmlformats.org/drawingml/2006/main"/>
        </p:blipFill>
        <p:spPr>
          <a:xfrm xmlns:a="http://schemas.openxmlformats.org/drawingml/2006/main">
            <a:off x="115942" y="1571625"/>
            <a:ext cx="11960116" cy="453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7BD76BD-BA2D-46D1-8E71-A16C5748CDBE}"/>
              </a:ext>
            </a:extLst>
          </p:cNvPr>
          <p:cNvSpPr>
            <a:spLocks xmlns:a="http://schemas.openxmlformats.org/drawingml/2006/main" noGrp="1"/>
          </p:cNvSpPr>
          <p:nvPr/>
        </p:nvSpPr>
        <p:spPr>
          <a:xfrm xmlns:a="http://schemas.openxmlformats.org/drawingml/2006/main">
            <a:off x="609600" y="6267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Full fields, common scale in µT. NRMSE uses the reference range.</a:t>
            </a:r>
          </a:p>
        </p:txBody>
      </p:sp>
    </p:spTree>
    <p:extLst>
      <p:ext uri="{BB962C8B-B14F-4D97-AF65-F5344CB8AC3E}">
        <p14:creationId xmlns:p14="http://schemas.microsoft.com/office/powerpoint/2010/main" val="20267938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IC_4um reconstruction: Bz</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12</a:t>
            </a:r>
          </a:p>
        </p:txBody>
      </p:sp>
      <p:sp>
        <p:nvSpPr>
          <p:cNvPr id="9" name="">
            <a:extLst xmlns:a="http://schemas.openxmlformats.org/drawingml/2006/main">
              <a:ext uri="{FF2B5EF4-FFF2-40B4-BE49-F238E27FC236}">
                <a16:creationId xmlns:a16="http://schemas.microsoft.com/office/drawing/2014/main" id="{D50AB045-5B42-4086-A982-8D671D145FB0}"/>
              </a:ext>
            </a:extLst>
          </p:cNvPr>
          <p:cNvSpPr>
            <a:spLocks xmlns:a="http://schemas.openxmlformats.org/drawingml/2006/main" noGrp="1"/>
          </p:cNvSpPr>
          <p:nvPr/>
        </p:nvSpPr>
        <p:spPr>
          <a:xfrm xmlns:a="http://schemas.openxmlformats.org/drawingml/2006/main">
            <a:off x="609600" y="10953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Input 3 µm, reference 0.5 µm. Shared model, epoch 200.</a:t>
            </a:r>
          </a:p>
        </p:txBody>
      </p:sp>
      <p:pic>
        <p:nvPicPr>
          <p:cNvPr id="10" name="">
            <a:extLst xmlns:a="http://schemas.openxmlformats.org/drawingml/2006/main">
              <a:ext uri="{FF2B5EF4-FFF2-40B4-BE49-F238E27FC236}">
                <a16:creationId xmlns:a16="http://schemas.microsoft.com/office/drawing/2014/main" id="{3A41CA89-7F8B-4C64-9F20-307E521B5197}"/>
              </a:ext>
            </a:extLst>
          </p:cNvPr>
          <p:cNvPicPr>
            <a:picLocks xmlns:a="http://schemas.openxmlformats.org/drawingml/2006/main" noChangeAspect="1"/>
          </p:cNvPicPr>
          <p:nvPr/>
        </p:nvPicPr>
        <p:blipFill>
          <a:blip xmlns:r="http://schemas.openxmlformats.org/officeDocument/2006/relationships" xmlns:a="http://schemas.openxmlformats.org/drawingml/2006/main" r:embed="Red640594b5314789"/>
          <a:stretch xmlns:a="http://schemas.openxmlformats.org/drawingml/2006/main"/>
        </p:blipFill>
        <p:spPr>
          <a:xfrm xmlns:a="http://schemas.openxmlformats.org/drawingml/2006/main">
            <a:off x="115942" y="1571625"/>
            <a:ext cx="11960116" cy="453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7BAAED8-9298-40BB-A654-03324499D676}"/>
              </a:ext>
            </a:extLst>
          </p:cNvPr>
          <p:cNvSpPr>
            <a:spLocks xmlns:a="http://schemas.openxmlformats.org/drawingml/2006/main" noGrp="1"/>
          </p:cNvSpPr>
          <p:nvPr/>
        </p:nvSpPr>
        <p:spPr>
          <a:xfrm xmlns:a="http://schemas.openxmlformats.org/drawingml/2006/main">
            <a:off x="609600" y="6267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Full fields, common scale in µT. Evaluation on training data.</a:t>
            </a:r>
          </a:p>
        </p:txBody>
      </p:sp>
    </p:spTree>
    <p:extLst>
      <p:ext uri="{BB962C8B-B14F-4D97-AF65-F5344CB8AC3E}">
        <p14:creationId xmlns:p14="http://schemas.microsoft.com/office/powerpoint/2010/main" val="20267938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IC_2um reconstruction: Bz</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13</a:t>
            </a:r>
          </a:p>
        </p:txBody>
      </p:sp>
      <p:sp>
        <p:nvSpPr>
          <p:cNvPr id="9" name="">
            <a:extLst xmlns:a="http://schemas.openxmlformats.org/drawingml/2006/main">
              <a:ext uri="{FF2B5EF4-FFF2-40B4-BE49-F238E27FC236}">
                <a16:creationId xmlns:a16="http://schemas.microsoft.com/office/drawing/2014/main" id="{DA6E3EA2-2416-435F-A35C-6312D18D3398}"/>
              </a:ext>
            </a:extLst>
          </p:cNvPr>
          <p:cNvSpPr>
            <a:spLocks xmlns:a="http://schemas.openxmlformats.org/drawingml/2006/main" noGrp="1"/>
          </p:cNvSpPr>
          <p:nvPr/>
        </p:nvSpPr>
        <p:spPr>
          <a:xfrm xmlns:a="http://schemas.openxmlformats.org/drawingml/2006/main">
            <a:off x="609600" y="10953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Input 2 µm, reference 1 µm. Shared model, epoch 200.</a:t>
            </a:r>
          </a:p>
        </p:txBody>
      </p:sp>
      <p:pic>
        <p:nvPicPr>
          <p:cNvPr id="10" name="">
            <a:extLst xmlns:a="http://schemas.openxmlformats.org/drawingml/2006/main">
              <a:ext uri="{FF2B5EF4-FFF2-40B4-BE49-F238E27FC236}">
                <a16:creationId xmlns:a16="http://schemas.microsoft.com/office/drawing/2014/main" id="{3F690CAE-317D-460F-A509-2DCF92D89EEB}"/>
              </a:ext>
            </a:extLst>
          </p:cNvPr>
          <p:cNvPicPr>
            <a:picLocks xmlns:a="http://schemas.openxmlformats.org/drawingml/2006/main" noChangeAspect="1"/>
          </p:cNvPicPr>
          <p:nvPr/>
        </p:nvPicPr>
        <p:blipFill>
          <a:blip xmlns:r="http://schemas.openxmlformats.org/officeDocument/2006/relationships" xmlns:a="http://schemas.openxmlformats.org/drawingml/2006/main" r:embed="R6787b87a086a495e"/>
          <a:stretch xmlns:a="http://schemas.openxmlformats.org/drawingml/2006/main"/>
        </p:blipFill>
        <p:spPr>
          <a:xfrm xmlns:a="http://schemas.openxmlformats.org/drawingml/2006/main">
            <a:off x="115942" y="1571625"/>
            <a:ext cx="11960116" cy="453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437D656-F54A-480B-91C7-049C0F521C05}"/>
              </a:ext>
            </a:extLst>
          </p:cNvPr>
          <p:cNvSpPr>
            <a:spLocks xmlns:a="http://schemas.openxmlformats.org/drawingml/2006/main" noGrp="1"/>
          </p:cNvSpPr>
          <p:nvPr/>
        </p:nvSpPr>
        <p:spPr>
          <a:xfrm xmlns:a="http://schemas.openxmlformats.org/drawingml/2006/main">
            <a:off x="609600" y="6267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Full fields, common scale in µT. Evaluation on training data.</a:t>
            </a:r>
          </a:p>
        </p:txBody>
      </p:sp>
    </p:spTree>
    <p:extLst>
      <p:ext uri="{BB962C8B-B14F-4D97-AF65-F5344CB8AC3E}">
        <p14:creationId xmlns:p14="http://schemas.microsoft.com/office/powerpoint/2010/main" val="20267938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L1_C1 detail: equal-depth reconstructions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14</a:t>
            </a:r>
          </a:p>
        </p:txBody>
      </p:sp>
      <p:sp>
        <p:nvSpPr>
          <p:cNvPr id="9" name="">
            <a:extLst xmlns:a="http://schemas.openxmlformats.org/drawingml/2006/main">
              <a:ext uri="{FF2B5EF4-FFF2-40B4-BE49-F238E27FC236}">
                <a16:creationId xmlns:a16="http://schemas.microsoft.com/office/drawing/2014/main" id="{52122818-4460-4914-AC8A-C9889CF164F9}"/>
              </a:ext>
            </a:extLst>
          </p:cNvPr>
          <p:cNvSpPr>
            <a:spLocks xmlns:a="http://schemas.openxmlformats.org/drawingml/2006/main" noGrp="1"/>
          </p:cNvSpPr>
          <p:nvPr/>
        </p:nvSpPr>
        <p:spPr>
          <a:xfrm xmlns:a="http://schemas.openxmlformats.org/drawingml/2006/main">
            <a:off x="609600" y="10953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Bz, input 3 µm, reference 0.5 µm. Each method uses 16 updates.</a:t>
            </a:r>
          </a:p>
        </p:txBody>
      </p:sp>
      <p:pic>
        <p:nvPicPr>
          <p:cNvPr id="10" name="">
            <a:extLst xmlns:a="http://schemas.openxmlformats.org/drawingml/2006/main">
              <a:ext uri="{FF2B5EF4-FFF2-40B4-BE49-F238E27FC236}">
                <a16:creationId xmlns:a16="http://schemas.microsoft.com/office/drawing/2014/main" id="{3FE0A522-9B24-4912-B7D4-4BB14FBB922F}"/>
              </a:ext>
            </a:extLst>
          </p:cNvPr>
          <p:cNvPicPr>
            <a:picLocks xmlns:a="http://schemas.openxmlformats.org/drawingml/2006/main" noChangeAspect="1"/>
          </p:cNvPicPr>
          <p:nvPr/>
        </p:nvPicPr>
        <p:blipFill>
          <a:blip xmlns:r="http://schemas.openxmlformats.org/officeDocument/2006/relationships" xmlns:a="http://schemas.openxmlformats.org/drawingml/2006/main" r:embed="R7d364fb156c14264"/>
          <a:stretch xmlns:a="http://schemas.openxmlformats.org/drawingml/2006/main"/>
        </p:blipFill>
        <p:spPr>
          <a:xfrm xmlns:a="http://schemas.openxmlformats.org/drawingml/2006/main">
            <a:off x="115942" y="1571625"/>
            <a:ext cx="11960116" cy="453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E2C5F0C-9971-4022-B40F-E461943F816F}"/>
              </a:ext>
            </a:extLst>
          </p:cNvPr>
          <p:cNvSpPr>
            <a:spLocks xmlns:a="http://schemas.openxmlformats.org/drawingml/2006/main" noGrp="1"/>
          </p:cNvSpPr>
          <p:nvPr/>
        </p:nvSpPr>
        <p:spPr>
          <a:xfrm xmlns:a="http://schemas.openxmlformats.org/drawingml/2006/main">
            <a:off x="609600" y="6267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Same displayed ROI: x = −40 to 35 µm, y = −35 to 40 µm. NRMSE uses full fields.</a:t>
            </a:r>
          </a:p>
        </p:txBody>
      </p:sp>
    </p:spTree>
    <p:extLst>
      <p:ext uri="{BB962C8B-B14F-4D97-AF65-F5344CB8AC3E}">
        <p14:creationId xmlns:p14="http://schemas.microsoft.com/office/powerpoint/2010/main" val="20267938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IC_2um reconstruction: Bx</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15</a:t>
            </a:r>
          </a:p>
        </p:txBody>
      </p:sp>
      <p:sp>
        <p:nvSpPr>
          <p:cNvPr id="9" name="">
            <a:extLst xmlns:a="http://schemas.openxmlformats.org/drawingml/2006/main">
              <a:ext uri="{FF2B5EF4-FFF2-40B4-BE49-F238E27FC236}">
                <a16:creationId xmlns:a16="http://schemas.microsoft.com/office/drawing/2014/main" id="{F129427E-19C8-4795-B44A-37E12EB80964}"/>
              </a:ext>
            </a:extLst>
          </p:cNvPr>
          <p:cNvSpPr>
            <a:spLocks xmlns:a="http://schemas.openxmlformats.org/drawingml/2006/main" noGrp="1"/>
          </p:cNvSpPr>
          <p:nvPr/>
        </p:nvSpPr>
        <p:spPr>
          <a:xfrm xmlns:a="http://schemas.openxmlformats.org/drawingml/2006/main">
            <a:off x="609600" y="10953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Input 2 µm, reference 1 µm. Shared model, epoch 200.</a:t>
            </a:r>
          </a:p>
        </p:txBody>
      </p:sp>
      <p:pic>
        <p:nvPicPr>
          <p:cNvPr id="10" name="">
            <a:extLst xmlns:a="http://schemas.openxmlformats.org/drawingml/2006/main">
              <a:ext uri="{FF2B5EF4-FFF2-40B4-BE49-F238E27FC236}">
                <a16:creationId xmlns:a16="http://schemas.microsoft.com/office/drawing/2014/main" id="{E3697733-D185-4A2C-96B0-6C081AD34D3D}"/>
              </a:ext>
            </a:extLst>
          </p:cNvPr>
          <p:cNvPicPr>
            <a:picLocks xmlns:a="http://schemas.openxmlformats.org/drawingml/2006/main" noChangeAspect="1"/>
          </p:cNvPicPr>
          <p:nvPr/>
        </p:nvPicPr>
        <p:blipFill>
          <a:blip xmlns:r="http://schemas.openxmlformats.org/officeDocument/2006/relationships" xmlns:a="http://schemas.openxmlformats.org/drawingml/2006/main" r:embed="R6d14601d5a854284"/>
          <a:stretch xmlns:a="http://schemas.openxmlformats.org/drawingml/2006/main"/>
        </p:blipFill>
        <p:spPr>
          <a:xfrm xmlns:a="http://schemas.openxmlformats.org/drawingml/2006/main">
            <a:off x="115942" y="1571625"/>
            <a:ext cx="11960116" cy="453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352F129-8892-472F-96E2-AD597BAE40C5}"/>
              </a:ext>
            </a:extLst>
          </p:cNvPr>
          <p:cNvSpPr>
            <a:spLocks xmlns:a="http://schemas.openxmlformats.org/drawingml/2006/main" noGrp="1"/>
          </p:cNvSpPr>
          <p:nvPr/>
        </p:nvSpPr>
        <p:spPr>
          <a:xfrm xmlns:a="http://schemas.openxmlformats.org/drawingml/2006/main">
            <a:off x="609600" y="6267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This component’s adaptive ISTA baseline reached 100,000 updates without convergence.</a:t>
            </a:r>
          </a:p>
        </p:txBody>
      </p:sp>
    </p:spTree>
    <p:extLst>
      <p:ext uri="{BB962C8B-B14F-4D97-AF65-F5344CB8AC3E}">
        <p14:creationId xmlns:p14="http://schemas.microsoft.com/office/powerpoint/2010/main" val="20267938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Results and remaining limitations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8630CB3A-9F25-4881-AC64-337611F27ABB}"/>
              </a:ext>
            </a:extLst>
          </p:cNvPr>
          <p:cNvSpPr>
            <a:spLocks xmlns:a="http://schemas.openxmlformats.org/drawingml/2006/main" noGrp="1"/>
          </p:cNvSpPr>
          <p:nvPr/>
        </p:nvSpPr>
        <p:spPr>
          <a:xfrm xmlns:a="http://schemas.openxmlformats.org/drawingml/2006/main">
            <a:off x="609600" y="14763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One shared model completed 200 epochs on 51 component pairs.</a:t>
            </a:r>
          </a:p>
        </p:txBody>
      </p:sp>
      <p:sp>
        <p:nvSpPr>
          <p:cNvPr id="10" name="">
            <a:extLst xmlns:a="http://schemas.openxmlformats.org/drawingml/2006/main">
              <a:ext uri="{FF2B5EF4-FFF2-40B4-BE49-F238E27FC236}">
                <a16:creationId xmlns:a16="http://schemas.microsoft.com/office/drawing/2014/main" id="{B887DDAB-CE6D-4233-A891-2E59DF732C61}"/>
              </a:ext>
            </a:extLst>
          </p:cNvPr>
          <p:cNvSpPr>
            <a:spLocks xmlns:a="http://schemas.openxmlformats.org/drawingml/2006/main" noGrp="1"/>
          </p:cNvSpPr>
          <p:nvPr/>
        </p:nvSpPr>
        <p:spPr>
          <a:xfrm xmlns:a="http://schemas.openxmlformats.org/drawingml/2006/main">
            <a:off x="609600" y="23622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ConvLISTA slightly lowers mean error versus FISTA-16. Inference is 5.7% slower.</a:t>
            </a:r>
          </a:p>
        </p:txBody>
      </p:sp>
      <p:sp>
        <p:nvSpPr>
          <p:cNvPr id="11" name="">
            <a:extLst xmlns:a="http://schemas.openxmlformats.org/drawingml/2006/main">
              <a:ext uri="{FF2B5EF4-FFF2-40B4-BE49-F238E27FC236}">
                <a16:creationId xmlns:a16="http://schemas.microsoft.com/office/drawing/2014/main" id="{72DCA1DF-A9C6-474D-8301-771B9DFFA6EB}"/>
              </a:ext>
            </a:extLst>
          </p:cNvPr>
          <p:cNvSpPr>
            <a:spLocks xmlns:a="http://schemas.openxmlformats.org/drawingml/2006/main" noGrp="1"/>
          </p:cNvSpPr>
          <p:nvPr/>
        </p:nvSpPr>
        <p:spPr>
          <a:xfrm xmlns:a="http://schemas.openxmlformats.org/drawingml/2006/main">
            <a:off x="609600" y="32480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FISTA to tolerance retains lower overall error, at greater compute cost.</a:t>
            </a:r>
          </a:p>
        </p:txBody>
      </p:sp>
      <p:sp>
        <p:nvSpPr>
          <p:cNvPr id="12" name="">
            <a:extLst xmlns:a="http://schemas.openxmlformats.org/drawingml/2006/main">
              <a:ext uri="{FF2B5EF4-FFF2-40B4-BE49-F238E27FC236}">
                <a16:creationId xmlns:a16="http://schemas.microsoft.com/office/drawing/2014/main" id="{E5FB7DCE-295B-43F9-8812-7FCD082D358A}"/>
              </a:ext>
            </a:extLst>
          </p:cNvPr>
          <p:cNvSpPr>
            <a:spLocks xmlns:a="http://schemas.openxmlformats.org/drawingml/2006/main" noGrp="1"/>
          </p:cNvSpPr>
          <p:nvPr/>
        </p:nvSpPr>
        <p:spPr>
          <a:xfrm xmlns:a="http://schemas.openxmlformats.org/drawingml/2006/main">
            <a:off x="609600" y="41338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Two IC_2um ISTA components reached the cap. All adaptive FISTA solves converged.</a:t>
            </a:r>
          </a:p>
        </p:txBody>
      </p:sp>
      <p:sp>
        <p:nvSpPr>
          <p:cNvPr id="13" name="">
            <a:extLst xmlns:a="http://schemas.openxmlformats.org/drawingml/2006/main">
              <a:ext uri="{FF2B5EF4-FFF2-40B4-BE49-F238E27FC236}">
                <a16:creationId xmlns:a16="http://schemas.microsoft.com/office/drawing/2014/main" id="{741D5DA1-55D3-4300-9257-C35C3278C0F8}"/>
              </a:ext>
            </a:extLst>
          </p:cNvPr>
          <p:cNvSpPr>
            <a:spLocks xmlns:a="http://schemas.openxmlformats.org/drawingml/2006/main" noGrp="1"/>
          </p:cNvSpPr>
          <p:nvPr/>
        </p:nvSpPr>
        <p:spPr>
          <a:xfrm xmlns:a="http://schemas.openxmlformats.org/drawingml/2006/main">
            <a:off x="609600" y="53911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0414D"/>
                </a:solidFill>
                <a:latin typeface="Arial"/>
                <a:ea typeface="Arial"/>
                <a:cs typeface="Arial"/>
              </a:defRPr>
            </a:defPPr>
            <a:lvl1pPr algn="l">
              <a:defRPr sz="2100" b="1">
                <a:solidFill>
                  <a:srgbClr val="30414D"/>
                </a:solidFill>
                <a:latin typeface="Arial"/>
                <a:ea typeface="Arial"/>
                <a:cs typeface="Arial"/>
              </a:defRPr>
            </a:lvl1pPr>
            <a:lvl2pPr algn="l">
              <a:defRPr sz="2100" b="1">
                <a:solidFill>
                  <a:srgbClr val="30414D"/>
                </a:solidFill>
                <a:latin typeface="Arial"/>
                <a:ea typeface="Arial"/>
                <a:cs typeface="Arial"/>
              </a:defRPr>
            </a:lvl2pPr>
            <a:lvl3pPr algn="l">
              <a:defRPr sz="2100" b="1">
                <a:solidFill>
                  <a:srgbClr val="30414D"/>
                </a:solidFill>
                <a:latin typeface="Arial"/>
                <a:ea typeface="Arial"/>
                <a:cs typeface="Arial"/>
              </a:defRPr>
            </a:lvl3pPr>
            <a:lvl4pPr algn="l">
              <a:defRPr sz="2100" b="1">
                <a:solidFill>
                  <a:srgbClr val="30414D"/>
                </a:solidFill>
                <a:latin typeface="Arial"/>
                <a:ea typeface="Arial"/>
                <a:cs typeface="Arial"/>
              </a:defRPr>
            </a:lvl4pPr>
            <a:lvl5pPr algn="l">
              <a:defRPr sz="2100" b="1">
                <a:solidFill>
                  <a:srgbClr val="30414D"/>
                </a:solidFill>
                <a:latin typeface="Arial"/>
                <a:ea typeface="Arial"/>
                <a:cs typeface="Arial"/>
              </a:defRPr>
            </a:lvl5pPr>
            <a:lvl6pPr algn="l">
              <a:defRPr sz="2100" b="1">
                <a:solidFill>
                  <a:srgbClr val="30414D"/>
                </a:solidFill>
                <a:latin typeface="Arial"/>
                <a:ea typeface="Arial"/>
                <a:cs typeface="Arial"/>
              </a:defRPr>
            </a:lvl6pPr>
            <a:lvl7pPr algn="l">
              <a:defRPr sz="2100" b="1">
                <a:solidFill>
                  <a:srgbClr val="30414D"/>
                </a:solidFill>
                <a:latin typeface="Arial"/>
                <a:ea typeface="Arial"/>
                <a:cs typeface="Arial"/>
              </a:defRPr>
            </a:lvl7pPr>
            <a:lvl8pPr algn="l">
              <a:defRPr sz="2100" b="1">
                <a:solidFill>
                  <a:srgbClr val="30414D"/>
                </a:solidFill>
                <a:latin typeface="Arial"/>
                <a:ea typeface="Arial"/>
                <a:cs typeface="Arial"/>
              </a:defRPr>
            </a:lvl8pPr>
            <a:lvl9pPr algn="l">
              <a:defRPr sz="2100" b="1">
                <a:solidFill>
                  <a:srgbClr val="30414D"/>
                </a:solidFill>
                <a:latin typeface="Arial"/>
                <a:ea typeface="Arial"/>
                <a:cs typeface="Arial"/>
              </a:defRPr>
            </a:lvl9pPr>
          </a:lstStyle>
          <a:p xmlns:a="http://schemas.openxmlformats.org/drawingml/2006/main">
            <a:pPr algn="l">
              <a:defRPr sz="2100" b="1">
                <a:solidFill>
                  <a:srgbClr val="30414D"/>
                </a:solidFill>
                <a:latin typeface="Arial"/>
                <a:ea typeface="Arial"/>
                <a:cs typeface="Arial"/>
              </a:defRPr>
            </a:pPr>
            <a:r>
              <a:rPr sz="2100" b="1">
                <a:solidFill>
                  <a:srgbClr val="30414D"/>
                </a:solidFill>
                <a:latin typeface="Arial"/>
                <a:ea typeface="Arial"/>
                <a:cs typeface="Arial"/>
              </a:rPr>
              <a:t>Next experiment: held-out geometries and validated synthetic augmentation.</a:t>
            </a:r>
          </a:p>
        </p:txBody>
      </p:sp>
      <p:sp>
        <p:nvSpPr>
          <p:cNvPr id="14" name="">
            <a:extLst xmlns:a="http://schemas.openxmlformats.org/drawingml/2006/main">
              <a:ext uri="{FF2B5EF4-FFF2-40B4-BE49-F238E27FC236}">
                <a16:creationId xmlns:a16="http://schemas.microsoft.com/office/drawing/2014/main" id="{FB22CCE3-F798-4719-A2BB-C6C8AD8120A7}"/>
              </a:ext>
            </a:extLst>
          </p:cNvPr>
          <p:cNvSpPr>
            <a:spLocks xmlns:a="http://schemas.openxmlformats.org/drawingml/2006/main" noGrp="1"/>
          </p:cNvSpPr>
          <p:nvPr/>
        </p:nvSpPr>
        <p:spPr>
          <a:xfrm xmlns:a="http://schemas.openxmlformats.org/drawingml/2006/main">
            <a:off x="609600" y="6267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5522B"/>
                </a:solidFill>
                <a:latin typeface="Arial"/>
                <a:ea typeface="Arial"/>
                <a:cs typeface="Arial"/>
              </a:defRPr>
            </a:defPPr>
            <a:lvl1pPr algn="l">
              <a:defRPr sz="1875" b="0">
                <a:solidFill>
                  <a:srgbClr val="B5522B"/>
                </a:solidFill>
                <a:latin typeface="Arial"/>
                <a:ea typeface="Arial"/>
                <a:cs typeface="Arial"/>
              </a:defRPr>
            </a:lvl1pPr>
            <a:lvl2pPr algn="l">
              <a:defRPr sz="1875" b="0">
                <a:solidFill>
                  <a:srgbClr val="B5522B"/>
                </a:solidFill>
                <a:latin typeface="Arial"/>
                <a:ea typeface="Arial"/>
                <a:cs typeface="Arial"/>
              </a:defRPr>
            </a:lvl2pPr>
            <a:lvl3pPr algn="l">
              <a:defRPr sz="1875" b="0">
                <a:solidFill>
                  <a:srgbClr val="B5522B"/>
                </a:solidFill>
                <a:latin typeface="Arial"/>
                <a:ea typeface="Arial"/>
                <a:cs typeface="Arial"/>
              </a:defRPr>
            </a:lvl3pPr>
            <a:lvl4pPr algn="l">
              <a:defRPr sz="1875" b="0">
                <a:solidFill>
                  <a:srgbClr val="B5522B"/>
                </a:solidFill>
                <a:latin typeface="Arial"/>
                <a:ea typeface="Arial"/>
                <a:cs typeface="Arial"/>
              </a:defRPr>
            </a:lvl4pPr>
            <a:lvl5pPr algn="l">
              <a:defRPr sz="1875" b="0">
                <a:solidFill>
                  <a:srgbClr val="B5522B"/>
                </a:solidFill>
                <a:latin typeface="Arial"/>
                <a:ea typeface="Arial"/>
                <a:cs typeface="Arial"/>
              </a:defRPr>
            </a:lvl5pPr>
            <a:lvl6pPr algn="l">
              <a:defRPr sz="1875" b="0">
                <a:solidFill>
                  <a:srgbClr val="B5522B"/>
                </a:solidFill>
                <a:latin typeface="Arial"/>
                <a:ea typeface="Arial"/>
                <a:cs typeface="Arial"/>
              </a:defRPr>
            </a:lvl6pPr>
            <a:lvl7pPr algn="l">
              <a:defRPr sz="1875" b="0">
                <a:solidFill>
                  <a:srgbClr val="B5522B"/>
                </a:solidFill>
                <a:latin typeface="Arial"/>
                <a:ea typeface="Arial"/>
                <a:cs typeface="Arial"/>
              </a:defRPr>
            </a:lvl7pPr>
            <a:lvl8pPr algn="l">
              <a:defRPr sz="1875" b="0">
                <a:solidFill>
                  <a:srgbClr val="B5522B"/>
                </a:solidFill>
                <a:latin typeface="Arial"/>
                <a:ea typeface="Arial"/>
                <a:cs typeface="Arial"/>
              </a:defRPr>
            </a:lvl8pPr>
            <a:lvl9pPr algn="l">
              <a:defRPr sz="1875" b="0">
                <a:solidFill>
                  <a:srgbClr val="B5522B"/>
                </a:solidFill>
                <a:latin typeface="Arial"/>
                <a:ea typeface="Arial"/>
                <a:cs typeface="Arial"/>
              </a:defRPr>
            </a:lvl9pPr>
          </a:lstStyle>
          <a:p xmlns:a="http://schemas.openxmlformats.org/drawingml/2006/main">
            <a:pPr algn="l">
              <a:defRPr sz="1875" b="0">
                <a:solidFill>
                  <a:srgbClr val="B5522B"/>
                </a:solidFill>
                <a:latin typeface="Arial"/>
                <a:ea typeface="Arial"/>
                <a:cs typeface="Arial"/>
              </a:defRPr>
            </a:pPr>
            <a:r>
              <a:rPr sz="1875" b="0">
                <a:solidFill>
                  <a:srgbClr val="B5522B"/>
                </a:solidFill>
                <a:latin typeface="Arial"/>
                <a:ea typeface="Arial"/>
                <a:cs typeface="Arial"/>
              </a:rPr>
              <a:t>Current results measure reconstruction of training fields.</a:t>
            </a:r>
          </a:p>
        </p:txBody>
      </p:sp>
    </p:spTree>
    <p:extLst>
      <p:ext uri="{BB962C8B-B14F-4D97-AF65-F5344CB8AC3E}">
        <p14:creationId xmlns:p14="http://schemas.microsoft.com/office/powerpoint/2010/main" val="202679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2026-10-23T12:36:10.2170000Z</dcterms:created>
  <dcterms:modified xsi:type="dcterms:W3CDTF">2026-10-23T12:36:10.2170000Z</dcterms:modified>
</coreProperties>
</file>