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 the goal as field-plane reconstruction, not current-density inversion. All reported observations and references are actual COMSOL exports. This deck reports two controlled, same-sample experiments. Main slides 1–20; technical backup follows.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component is a signed 1400×1400 field image with 0.1 µm pixel spacing. The observation is the z=3 cached COMSOL array, not an analytically propagated z=0.5 image. The target is the actual z=0.5 reference. Cropped display below shows the Bz row from the original first-run figure; the complete images appear in backup.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 source-free homogeneous upper half-space with the decaying solution, each lateral Fourier mode decays exponentially with height. f is in cycles per micrometre. Reversing this attenuation amplifies discrepancies. This motivates regularization, but the experiment does not substitute the ideal exponential for its fitted transfer. See scripts/propagator.py for the analytical utility.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learn_kernel_joint in deblur.py minimizes the sum of squared Fourier residuals across Bx, By and Bz on the zero-padded grid. It is unregularized least squares with H set to zero where the absolute denominator is &lt;=1e-12. H is fixed during LISTA training. The fit is not forced to be radial, positive or bounded by one. The reference is already used at this calibration stage, including for the baselines. Full padded fitting and cropped reconstruction losses have different domains.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 zero-embeds the original image and C crops the same region, so C=P*. A=C T_H P, and the adjoint uses the conjugate transfer. Intermediate crop and re-padding in A* A are essential: replacing the composition by a single |H|² multiplier would generally change the operator. 32 pixels equals 3.2 µm per side. The padded FFT still implements circular convolution, with a zero-extension assumption; it does not establish an artifact-free physical boundary.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x is a signed field image. The first term is a sum of squared residuals, not a mean; the second is the sum of absolute field values. λ=10^-4 in microtesla units is inherited from the existing ISTA experiment, not selected by validation. L1 on pixels encourages small backgrounds but can suppress legitimate weak fields. There is no TV, wavelet, positivity, current prior or explicit Maxwell constraint. Treat this as a chosen convex objective, not a proof of physical truth.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f(x)=0.5||Ax-b||², the gradient is A*(Ax-b). The proximal map of αλ||x||1 is soft thresholding. ISTA majorizes the smooth objective with a quadratic upper bound and minimizes that bound plus the L1 penalty. x0=b matches the repository initialization. The name is Iterative Shrinkage-Thresholding Algorithm. The norm bound and unit conventions are covered in backup.</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Standard Beck–Teboulle FISTA uses y1=x0 and t1=1. The first step matches ISTA because momentum is initially zero. Return xk, not the extrapolated y. This implementation has no restart, backtracking or monotonicity modification. Under convex assumptions the objective-gap rate is O(1/k²), versus O(1/k) for ISTA. These are not guarantees on reference-image error or monotonic objective decrease at every step. Source: https://www.ceremade.dauphine.fr/~carlier/FISTA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structured supervised LISTA variant, not a pure finite-filter replacement of the physics operator. Wb=αA*+Cb and Wx=I−αA*A+Cx. Both correction filters are bias-free, one input/output channel, stride one, 9×9, and tied across depth. θ is one scalar shared over space, components and layers. Input shape [3,1,1400,1400] treats components as batch samples, not feature channels. The whole layer retains global FFT interactions. No claim of convergence beyond trained depth. Source: scripts/lista.py.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Original LISTA learns to approximate sparse codes obtained by optimization. Here the user-selected target is the actual sharp COMSOL field. Only the final layer is supervised with full-image MSE. No additional data-consistency or L1 penalty is in the training loss. Therefore learned intermediate iterates need not reduce J, and learned maps need not be proximal gradient maps of any convex objective. Original paper: https://icml.cc/Conferences/2010/papers/449.pdf</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two JSON files have identical input and source hashes. Both CSV tables agree numerically with their JSON endpoint metrics. Run 1 uses 8 layers and 200 baseline iterations; run 2 uses 16 and 500. Both include matched-depth baselines. Training uses 200 full-batch Adam updates with lr=1e-4 and best training-loss selection. Same λ, pad, normalization, seed, hardware and code. Equal epochs do not imply equal training compute. Deterministic float32 GPU execution without AMP or TF32.</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bar is taken from the saved JSON endpoint metrics, checked against CSVs. At both matched depths all three components have lower range NRMSE under trained LISTA. This comparison does not imply equal operation counts: LISTA adds convolutional corrections. Short-run batch inference is 0.216/0.211/0.240 s for ISTA8/FISTA8/LISTA8 and 0.418/0.431/0.460 s for ISTA16/FISTA16/LISTA16. These are same-sample supervised results, not held-out accuracy.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Cross-run reference-error reductions: LISTA 3.46%, 2.66%, 3.44%; ISTA 6.38%, 5.43%, 9.28%. FISTA reference-error increases: 32.85%, 34.92%, 11.57%. The settings other than depth and iteration budget are controlled. This is one deterministic experiment per depth; no variability estimates or generalization claims. Baseline iteration count does not influence LISTA training.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full run-2 history is available. FISTA's lowest recorded range NRMSE occurs at k=60 for Bx (1.616636%) and By (1.460708%), and k=250 for Bz (1.795615%). Metrics are sampled every ten iterations, so these are best recorded points, not exact minima. Selecting an iteration using the reference is an oracle selection; deployment requires separate validation or a justified observation-only rule. ISTA's best recorded points are at the 500-step endpoint in all components. The LISTA path ends at trained depth 16.</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Bx, FISTA200→500 reduces J from 16576.105 to 5691.415 and PG RMS from 0.00327225 to 0.000637219, while range NRMSE increases from 1.86991% to 2.48416%. Analogous endpoint worsening occurs in By and Bz. This is evidence of objective/reference mismatch, not algorithm divergence. Semi-convergence is a useful description of the observed reference-error path; the physical cause of discrepancies is not isolated. LISTA is trained against a different loss.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1 best training epoch=200, loss=0.001674862229; run 2 best epoch=200, loss=0.001565922867. Training durations include post-update evaluation: 150.1225 and 309.3839 seconds. Final physical thresholds θq are 0.746789 and approximately 0.31694 µT. Their difference is not an interpretable lambda change because the learned linear maps also change. Both use one shared nonnegative threshold. Each curve is final-output loss across epochs, not convergence across layers.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endpoint latencies are warmed synchronized medians of three repeats, on the same single GPU and batch of three, excluding metrics, file I/O, kernel fitting and training. Color indicates algorithm, marker indicates run, labels give iterations/layers. LISTA8 0.239503 s; LISTA16 0.459688 s. ISTA200/500 5.180782/13.073968 s; FISTA200/500 5.303321/13.485866 s. Long baselines have different accuracy, so no equal-accuracy 20x/30x speedup is claimed. Three timing repeats do not provide a broad benchmark distribution.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Bz row of reconstructions-2.png, cropped by PowerPoint without modifying the source image. Columns are observed, reference, ISTA500, LISTA16, FISTA500. Shared row display limits are ±99.5th percentile of |reference|, so extreme values saturate; there is no independent autoscaling per reconstruction. Smoothness is not sufficient evidence of fidelity. FISTA500 has lower Bz endpoint error than ISTA500, and both improve on LISTA16. FISTA200 has lower Bz endpoint error than FISTA500. The speckle's cause has not been isolated.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Among the endpoint rows in the two CSVs, ISTA500 is best for Bx and By; FISTA200 is best for Bz. Across saved histories, FISTA250 slightly improves Bz further, but that is reference-based oracle selection, not a validated configuration. LISTA wins reference error at matched depth in both runs. FISTA500 gives the smallest objective and stationarity residual among endpoints. Range NRMSE divides by full reference range and is not percent accuracy. LISTA16 relative L2 errors are 42.15/43.95/48.44%.</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Proposed follow-up work, not completed experiments. First clarify whether the research goal is solver acceleration or physical reference reconstruction. Use separate validation data for λ and stopping/depth selection, and independent test observations for final comparisons. Assess forward residuals and boundaries separately; consider analytical or independently calibrated transfers if justified. Compare at matched accuracy or latency and count training costs. Repeat over seeds/data to assess robustness. Main presentation ends here; backup slides follow.</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f(x)=0.5||Ax-b||². Gradient is A*(Ax-b). The quadratic upper bound with step α leads to minimizing 0.5||u-v||²+αλ||u||1, where v=x−α∇f(x). The problem separates over pixels. For positive u, derivative gives u=v−θ; for negative u, u=v+θ; if |v|≤θ the solution is zero. This explains soft thresholding and why signed field values are preserved. L1 penalizes amplitudes; it is not an edge-preserving TV penalty.</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 and P have operator norm one; padded circular convolution has norm max|H|. Thus Ltrue=||A||²≤Lbound=max|H|²=4.478589576. α=0.99/Lbound=0.221051736. With x=q x_tilde and q=215.1441345 µT, J(q x_tilde)=q²[0.5||A x_tilde−b_tilde||²+(λ/q)||x_tilde||1]. Normalized λ=4.64804677e-7 and initial θ=1.02745879e-7. Physical fixed threshold=2.21051736e-5 µT. The shared scale uses both reference and observed images; saved inference must reuse the checkpoint scale.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DataParallel splits batch size three into 2+1. MSE is computed after gathering predictions, preventing unequal chunk weighting. Model parameters are only the two filters and threshold; H real and imaginary arrays are nontrainable buffers. Direct θ parameter is projected nonnegative after Adam; clamp_min also protects forward evaluation. Activation checkpointing recomputes layers during backpropagation to reduce memory. Best weights are selected after post-update reevaluation. Kernel fitted in float64, GPU inference float32; no AMP or TF32. These details do not establish generalization.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 RMSE is in microtesla. Range NRMSE normalizes by max(s)−min(s); relative L2 normalizes by ||s||. The denominator difference explains seemingly small range NRMSE despite sizeable relative L2. PG is the proximal-gradient mapping of the original objective, not the training gradient of the learned network. PG=0 is optimality for the convex baseline objective, but small PG alone does not bound reference error or distance to a unique optimizer in an ill-conditioned system. All field metrics use the full field of view.</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Notebook extracts and verifies the bundle, runs tests, launches scripts/lista.py and displays/export results. lista.py CLI delegates to compare_lista.py, while its ConvLISTA class is independently importable. compare_lista orchestrates fitting, scaling, baseline solving, training, metrics and benchmarks. GPU baselines use torch_inverse.py; standalone CPU FISTA uses iterative.py. Original deblur.py remains the fit/operator reference. Loading the checkpoint includes saved H, scale and original norm bound to preserve inference behavior.</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Tests in test_iterative.py and test_lista.py cover adjoint identities, dense references, known L1 solution, ISTA initialization parity, finite-difference gradients, normalization, checkpointing and uneven two-GPU gradients. The first local run previously passed 12 with the two-GPU test skipped; notebook includes that check, but these result files do not store its test log. Therefore this slide describes coverage and run-time initialization result, without inventing a GPU test count. Both run JSONs report initialization max error 0. No independent samples or uncertainty estimates.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Numbers are read directly from the corresponding metrics JSON; CSVs were checked for agreement. Latency is a median for the batch of all three components, not per component. Range NRMSE values are percentages; JSON stores fractions. All comparisons are same-sample. The listed best endpoints must not be confused with minima selected over histories.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Numbers are read directly from the corresponding metrics JSON; CSVs were checked for agreement. Latency is a median for the batch of all three components, not per component. Range NRMSE values are percentages; JSON stores fractions. All comparisons are same-sample. The listed best endpoints must not be confused with minima selected over histories.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Original supplied figure, preserved without pixel editing. Columns compare observed, reference, long ISTA, trained LISTA, long FISTA. Shared per-row display range is ±99.5th percentile of absolute reference; extremes can saturate. The same-sample label and unequal iteration budgets are explicit. Numerical arrays were not provided in this results folder, so no new physical ROI metrics or residual maps were synthesized.</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Original supplied figure, preserved without pixel editing. Columns compare observed, reference, long ISTA, trained LISTA, long FISTA. Shared per-row display range is ±99.5th percentile of absolute reference; extremes can saturate. The same-sample label and unequal iteration budgets are explicit. Numerical arrays were not provided in this results folder, so no new physical ROI metrics or residual maps were synthesized.</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Results are supplied in notebooks/runs_results/metrics.json and metrics-2.json, with matching source/input SHA256 dictionaries. CSVs numerically agree with the JSONs. Source references are Gregor &amp; LeCun (2010), Learning Fast Approximations of Sparse Coding, ICML; Beck &amp; Teboulle (2009), A Fast Iterative Shrinkage-Thresholding Algorithm for Linear Inverse Problems, SIAM J Imaging Sciences; PyTorch 2.10 Conv2d and Adam documentation. No new reconstruction or training was run to create the slides; plots are regenerated from saved metrics. Build script: presentations/build_professor_deck.py.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1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2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2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24.png"/><Relationship Id="rId4" Type="http://schemas.openxmlformats.org/officeDocument/2006/relationships/image" Target="../media/image2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26.png"/><Relationship Id="rId4" Type="http://schemas.openxmlformats.org/officeDocument/2006/relationships/image" Target="../media/image2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2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972800" cy="274320"/>
          </a:xfrm>
          <a:prstGeom prst="rect">
            <a:avLst/>
          </a:prstGeom>
          <a:noFill/>
        </p:spPr>
        <p:txBody>
          <a:bodyPr wrap="square" lIns="0" rIns="0" tIns="0" bIns="0">
            <a:spAutoFit/>
          </a:bodyPr>
          <a:lstStyle/>
          <a:p>
            <a:pPr algn="l">
              <a:spcAft>
                <a:spcPts val="1000"/>
              </a:spcAft>
              <a:defRPr sz="1100" b="1">
                <a:solidFill>
                  <a:srgbClr val="3478B6"/>
                </a:solidFill>
                <a:latin typeface="Aptos"/>
              </a:defRPr>
            </a:pPr>
            <a:r>
              <a:t>RESEARCH PROGRESS  /  ABHAY</a:t>
            </a:r>
          </a:p>
        </p:txBody>
      </p:sp>
      <p:sp>
        <p:nvSpPr>
          <p:cNvPr id="4" name="TextBox 3"/>
          <p:cNvSpPr txBox="1"/>
          <p:nvPr/>
        </p:nvSpPr>
        <p:spPr>
          <a:xfrm>
            <a:off x="502920" y="749808"/>
            <a:ext cx="11155680" cy="822960"/>
          </a:xfrm>
          <a:prstGeom prst="rect">
            <a:avLst/>
          </a:prstGeom>
          <a:noFill/>
        </p:spPr>
        <p:txBody>
          <a:bodyPr wrap="square" lIns="0" rIns="0" tIns="0" bIns="0">
            <a:spAutoFit/>
          </a:bodyPr>
          <a:lstStyle/>
          <a:p>
            <a:pPr algn="l">
              <a:spcAft>
                <a:spcPts val="1000"/>
              </a:spcAft>
              <a:defRPr sz="2900" b="1">
                <a:solidFill>
                  <a:srgbClr val="162C46"/>
                </a:solidFill>
                <a:latin typeface="Aptos"/>
              </a:defRPr>
            </a:pPr>
            <a:r>
              <a:t>Recovering near-field magnetic structure</a:t>
            </a:r>
          </a:p>
        </p:txBody>
      </p:sp>
      <p:sp>
        <p:nvSpPr>
          <p:cNvPr id="5" name="TextBox 4"/>
          <p:cNvSpPr txBox="1"/>
          <p:nvPr/>
        </p:nvSpPr>
        <p:spPr>
          <a:xfrm>
            <a:off x="502920" y="6519672"/>
            <a:ext cx="10698480" cy="201168"/>
          </a:xfrm>
          <a:prstGeom prst="rect">
            <a:avLst/>
          </a:prstGeom>
          <a:noFill/>
        </p:spPr>
        <p:txBody>
          <a:bodyPr wrap="square" lIns="0" rIns="0" tIns="0" bIns="0">
            <a:spAutoFit/>
          </a:bodyPr>
          <a:lstStyle/>
          <a:p>
            <a:pPr algn="l">
              <a:spcAft>
                <a:spcPts val="1000"/>
              </a:spcAft>
              <a:defRPr sz="1000" b="0">
                <a:solidFill>
                  <a:srgbClr val="526174"/>
                </a:solidFill>
                <a:latin typeface="Aptos"/>
              </a:defRPr>
            </a:pPr>
            <a:r>
              <a:t>COMSOL z = 3 → 0.5 µm  •  Same-sample reconstruction; no independent test set</a:t>
            </a:r>
          </a:p>
        </p:txBody>
      </p:sp>
      <p:sp>
        <p:nvSpPr>
          <p:cNvPr id="6" name="TextBox 5"/>
          <p:cNvSpPr txBox="1"/>
          <p:nvPr/>
        </p:nvSpPr>
        <p:spPr>
          <a:xfrm>
            <a:off x="11109960" y="6492240"/>
            <a:ext cx="548640" cy="228600"/>
          </a:xfrm>
          <a:prstGeom prst="rect">
            <a:avLst/>
          </a:prstGeom>
          <a:noFill/>
        </p:spPr>
        <p:txBody>
          <a:bodyPr wrap="square" lIns="0" rIns="0" tIns="0" bIns="0">
            <a:spAutoFit/>
          </a:bodyPr>
          <a:lstStyle/>
          <a:p>
            <a:pPr algn="r">
              <a:spcAft>
                <a:spcPts val="1000"/>
              </a:spcAft>
              <a:defRPr sz="1100" b="0">
                <a:solidFill>
                  <a:srgbClr val="526174"/>
                </a:solidFill>
                <a:latin typeface="Aptos"/>
              </a:defRPr>
            </a:pPr>
            <a:r>
              <a:t>1</a:t>
            </a:r>
          </a:p>
        </p:txBody>
      </p:sp>
      <p:sp>
        <p:nvSpPr>
          <p:cNvPr id="7" name="TextBox 6"/>
          <p:cNvSpPr txBox="1"/>
          <p:nvPr/>
        </p:nvSpPr>
        <p:spPr>
          <a:xfrm>
            <a:off x="640080" y="1828800"/>
            <a:ext cx="7498079" cy="1097280"/>
          </a:xfrm>
          <a:prstGeom prst="rect">
            <a:avLst/>
          </a:prstGeom>
          <a:noFill/>
        </p:spPr>
        <p:txBody>
          <a:bodyPr wrap="square" lIns="0" rIns="0" tIns="0" bIns="0">
            <a:spAutoFit/>
          </a:bodyPr>
          <a:lstStyle/>
          <a:p>
            <a:pPr algn="l">
              <a:spcAft>
                <a:spcPts val="1000"/>
              </a:spcAft>
              <a:defRPr sz="3400" b="1">
                <a:solidFill>
                  <a:srgbClr val="18293B"/>
                </a:solidFill>
                <a:latin typeface="Aptos"/>
              </a:defRPr>
            </a:pPr>
            <a:r>
              <a:t>ISTA, FISTA and supervised</a:t>
            </a:r>
          </a:p>
          <a:p>
            <a:pPr algn="l">
              <a:spcAft>
                <a:spcPts val="1000"/>
              </a:spcAft>
              <a:defRPr sz="3400" b="1">
                <a:solidFill>
                  <a:srgbClr val="18293B"/>
                </a:solidFill>
                <a:latin typeface="Aptos"/>
              </a:defRPr>
            </a:pPr>
            <a:r>
              <a:t>convolutional LISTA</a:t>
            </a:r>
          </a:p>
        </p:txBody>
      </p:sp>
      <p:sp>
        <p:nvSpPr>
          <p:cNvPr id="8" name="TextBox 7"/>
          <p:cNvSpPr txBox="1"/>
          <p:nvPr/>
        </p:nvSpPr>
        <p:spPr>
          <a:xfrm>
            <a:off x="640080" y="3337560"/>
            <a:ext cx="6949440" cy="914400"/>
          </a:xfrm>
          <a:prstGeom prst="rect">
            <a:avLst/>
          </a:prstGeom>
          <a:noFill/>
        </p:spPr>
        <p:txBody>
          <a:bodyPr wrap="square" lIns="0" rIns="0" tIns="0" bIns="0">
            <a:spAutoFit/>
          </a:bodyPr>
          <a:lstStyle/>
          <a:p>
            <a:pPr algn="l">
              <a:spcAft>
                <a:spcPts val="1000"/>
              </a:spcAft>
              <a:defRPr sz="2300" b="0">
                <a:solidFill>
                  <a:srgbClr val="526174"/>
                </a:solidFill>
                <a:latin typeface="Aptos"/>
              </a:defRPr>
            </a:pPr>
            <a:r>
              <a:t>Actual COMSOL observations: z = 3 µm</a:t>
            </a:r>
          </a:p>
          <a:p>
            <a:pPr algn="l">
              <a:spcAft>
                <a:spcPts val="1000"/>
              </a:spcAft>
              <a:defRPr sz="2300" b="0">
                <a:solidFill>
                  <a:srgbClr val="526174"/>
                </a:solidFill>
                <a:latin typeface="Aptos"/>
              </a:defRPr>
            </a:pPr>
            <a:r>
              <a:t>Target field plane: z = 0.5 µm</a:t>
            </a:r>
          </a:p>
        </p:txBody>
      </p:sp>
      <p:sp>
        <p:nvSpPr>
          <p:cNvPr id="9" name="Rectangle 8"/>
          <p:cNvSpPr/>
          <p:nvPr/>
        </p:nvSpPr>
        <p:spPr>
          <a:xfrm>
            <a:off x="8229600" y="1965960"/>
            <a:ext cx="3200400" cy="2560320"/>
          </a:xfrm>
          <a:prstGeom prst="rect">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58200" y="2240280"/>
            <a:ext cx="2743200" cy="2011680"/>
          </a:xfrm>
          <a:prstGeom prst="rect">
            <a:avLst/>
          </a:prstGeom>
          <a:noFill/>
        </p:spPr>
        <p:txBody>
          <a:bodyPr wrap="square" lIns="0" rIns="0" tIns="0" bIns="0">
            <a:spAutoFit/>
          </a:bodyPr>
          <a:lstStyle/>
          <a:p>
            <a:pPr algn="l">
              <a:spcAft>
                <a:spcPts val="1000"/>
              </a:spcAft>
              <a:defRPr sz="2400" b="1">
                <a:solidFill>
                  <a:srgbClr val="FFFFFF"/>
                </a:solidFill>
                <a:latin typeface="Aptos"/>
              </a:defRPr>
            </a:pPr>
            <a:r>
              <a:t>2 controlled runs</a:t>
            </a:r>
          </a:p>
          <a:p>
            <a:pPr algn="l">
              <a:spcAft>
                <a:spcPts val="1000"/>
              </a:spcAft>
              <a:defRPr sz="2400" b="1">
                <a:solidFill>
                  <a:srgbClr val="FFFFFF"/>
                </a:solidFill>
                <a:latin typeface="Aptos"/>
              </a:defRPr>
            </a:pPr>
            <a:r>
              <a:t>3 field components</a:t>
            </a:r>
          </a:p>
          <a:p>
            <a:pPr algn="l">
              <a:spcAft>
                <a:spcPts val="1000"/>
              </a:spcAft>
              <a:defRPr sz="2400" b="1">
                <a:solidFill>
                  <a:srgbClr val="FFFFFF"/>
                </a:solidFill>
                <a:latin typeface="Aptos"/>
              </a:defRPr>
            </a:pPr>
            <a:r>
              <a:t>163 learned parameters</a:t>
            </a:r>
          </a:p>
        </p:txBody>
      </p:sp>
      <p:sp>
        <p:nvSpPr>
          <p:cNvPr id="11" name="Rectangle 10"/>
          <p:cNvSpPr/>
          <p:nvPr/>
        </p:nvSpPr>
        <p:spPr>
          <a:xfrm>
            <a:off x="502920" y="5833872"/>
            <a:ext cx="11155680" cy="438912"/>
          </a:xfrm>
          <a:prstGeom prst="rect">
            <a:avLst/>
          </a:prstGeom>
          <a:solidFill>
            <a:srgbClr val="EDF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5907024"/>
            <a:ext cx="10835640" cy="274320"/>
          </a:xfrm>
          <a:prstGeom prst="rect">
            <a:avLst/>
          </a:prstGeom>
          <a:noFill/>
        </p:spPr>
        <p:txBody>
          <a:bodyPr wrap="square" lIns="0" rIns="0" tIns="0" bIns="0">
            <a:spAutoFit/>
          </a:bodyPr>
          <a:lstStyle/>
          <a:p>
            <a:pPr algn="l">
              <a:spcAft>
                <a:spcPts val="1000"/>
              </a:spcAft>
              <a:defRPr sz="1500" b="1">
                <a:solidFill>
                  <a:srgbClr val="3478B6"/>
                </a:solidFill>
                <a:latin typeface="Aptos"/>
              </a:defRPr>
            </a:pPr>
            <a:r>
              <a:t>Question: what reconstruction quality can we obtain at a short inference budget?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972800" cy="274320"/>
          </a:xfrm>
          <a:prstGeom prst="rect">
            <a:avLst/>
          </a:prstGeom>
          <a:noFill/>
        </p:spPr>
        <p:txBody>
          <a:bodyPr wrap="square" lIns="0" rIns="0" tIns="0" bIns="0">
            <a:spAutoFit/>
          </a:bodyPr>
          <a:lstStyle/>
          <a:p>
            <a:pPr algn="l">
              <a:spcAft>
                <a:spcPts val="1000"/>
              </a:spcAft>
              <a:defRPr sz="1100" b="1">
                <a:solidFill>
                  <a:srgbClr val="3478B6"/>
                </a:solidFill>
                <a:latin typeface="Aptos"/>
              </a:defRPr>
            </a:pPr>
            <a:r>
              <a:t>PROBLEM</a:t>
            </a:r>
          </a:p>
        </p:txBody>
      </p:sp>
      <p:sp>
        <p:nvSpPr>
          <p:cNvPr id="4" name="TextBox 3"/>
          <p:cNvSpPr txBox="1"/>
          <p:nvPr/>
        </p:nvSpPr>
        <p:spPr>
          <a:xfrm>
            <a:off x="502920" y="749808"/>
            <a:ext cx="11155680" cy="822960"/>
          </a:xfrm>
          <a:prstGeom prst="rect">
            <a:avLst/>
          </a:prstGeom>
          <a:noFill/>
        </p:spPr>
        <p:txBody>
          <a:bodyPr wrap="square" lIns="0" rIns="0" tIns="0" bIns="0">
            <a:spAutoFit/>
          </a:bodyPr>
          <a:lstStyle/>
          <a:p>
            <a:pPr algn="l">
              <a:spcAft>
                <a:spcPts val="1000"/>
              </a:spcAft>
              <a:defRPr sz="2900" b="1">
                <a:solidFill>
                  <a:srgbClr val="162C46"/>
                </a:solidFill>
                <a:latin typeface="Aptos"/>
              </a:defRPr>
            </a:pPr>
            <a:r>
              <a:t>Actual COMSOL fields define the input and target</a:t>
            </a:r>
          </a:p>
        </p:txBody>
      </p:sp>
      <p:sp>
        <p:nvSpPr>
          <p:cNvPr id="5" name="TextBox 4"/>
          <p:cNvSpPr txBox="1"/>
          <p:nvPr/>
        </p:nvSpPr>
        <p:spPr>
          <a:xfrm>
            <a:off x="502920" y="6519672"/>
            <a:ext cx="10698480" cy="201168"/>
          </a:xfrm>
          <a:prstGeom prst="rect">
            <a:avLst/>
          </a:prstGeom>
          <a:noFill/>
        </p:spPr>
        <p:txBody>
          <a:bodyPr wrap="square" lIns="0" rIns="0" tIns="0" bIns="0">
            <a:spAutoFit/>
          </a:bodyPr>
          <a:lstStyle/>
          <a:p>
            <a:pPr algn="l">
              <a:spcAft>
                <a:spcPts val="1000"/>
              </a:spcAft>
              <a:defRPr sz="1000" b="0">
                <a:solidFill>
                  <a:srgbClr val="526174"/>
                </a:solidFill>
                <a:latin typeface="Aptos"/>
              </a:defRPr>
            </a:pPr>
            <a:r>
              <a:t>COMSOL z = 3 → 0.5 µm  •  Same-sample reconstruction; no independent test set</a:t>
            </a:r>
          </a:p>
        </p:txBody>
      </p:sp>
      <p:sp>
        <p:nvSpPr>
          <p:cNvPr id="6" name="TextBox 5"/>
          <p:cNvSpPr txBox="1"/>
          <p:nvPr/>
        </p:nvSpPr>
        <p:spPr>
          <a:xfrm>
            <a:off x="11109960" y="6492240"/>
            <a:ext cx="548640" cy="228600"/>
          </a:xfrm>
          <a:prstGeom prst="rect">
            <a:avLst/>
          </a:prstGeom>
          <a:noFill/>
        </p:spPr>
        <p:txBody>
          <a:bodyPr wrap="square" lIns="0" rIns="0" tIns="0" bIns="0">
            <a:spAutoFit/>
          </a:bodyPr>
          <a:lstStyle/>
          <a:p>
            <a:pPr algn="r">
              <a:spcAft>
                <a:spcPts val="1000"/>
              </a:spcAft>
              <a:defRPr sz="1100" b="0">
                <a:solidFill>
                  <a:srgbClr val="526174"/>
                </a:solidFill>
                <a:latin typeface="Aptos"/>
              </a:defRPr>
            </a:pPr>
            <a:r>
              <a:t>2</a:t>
            </a:r>
          </a:p>
        </p:txBody>
      </p:sp>
      <p:sp>
        <p:nvSpPr>
          <p:cNvPr id="7" name="TextBox 6"/>
          <p:cNvSpPr txBox="1"/>
          <p:nvPr/>
        </p:nvSpPr>
        <p:spPr>
          <a:xfrm>
            <a:off x="548640" y="1856231"/>
            <a:ext cx="2212848" cy="201168"/>
          </a:xfrm>
          <a:prstGeom prst="rect">
            <a:avLst/>
          </a:prstGeom>
          <a:noFill/>
        </p:spPr>
        <p:txBody>
          <a:bodyPr wrap="square" lIns="0" rIns="0" tIns="0" bIns="0">
            <a:spAutoFit/>
          </a:bodyPr>
          <a:lstStyle/>
          <a:p>
            <a:pPr algn="ctr">
              <a:spcAft>
                <a:spcPts val="1000"/>
              </a:spcAft>
              <a:defRPr sz="1300" b="1">
                <a:solidFill>
                  <a:srgbClr val="526174"/>
                </a:solidFill>
                <a:latin typeface="Aptos"/>
              </a:defRPr>
            </a:pPr>
            <a:r>
              <a:t>Observed</a:t>
            </a:r>
          </a:p>
        </p:txBody>
      </p:sp>
      <p:sp>
        <p:nvSpPr>
          <p:cNvPr id="8" name="TextBox 7"/>
          <p:cNvSpPr txBox="1"/>
          <p:nvPr/>
        </p:nvSpPr>
        <p:spPr>
          <a:xfrm>
            <a:off x="2761488" y="1856231"/>
            <a:ext cx="2212848" cy="201168"/>
          </a:xfrm>
          <a:prstGeom prst="rect">
            <a:avLst/>
          </a:prstGeom>
          <a:noFill/>
        </p:spPr>
        <p:txBody>
          <a:bodyPr wrap="square" lIns="0" rIns="0" tIns="0" bIns="0">
            <a:spAutoFit/>
          </a:bodyPr>
          <a:lstStyle/>
          <a:p>
            <a:pPr algn="ctr">
              <a:spcAft>
                <a:spcPts val="1000"/>
              </a:spcAft>
              <a:defRPr sz="1300" b="1">
                <a:solidFill>
                  <a:srgbClr val="526174"/>
                </a:solidFill>
                <a:latin typeface="Aptos"/>
              </a:defRPr>
            </a:pPr>
            <a:r>
              <a:t>Reference</a:t>
            </a:r>
          </a:p>
        </p:txBody>
      </p:sp>
      <p:sp>
        <p:nvSpPr>
          <p:cNvPr id="9" name="TextBox 8"/>
          <p:cNvSpPr txBox="1"/>
          <p:nvPr/>
        </p:nvSpPr>
        <p:spPr>
          <a:xfrm>
            <a:off x="4974336" y="1856231"/>
            <a:ext cx="2212848" cy="201168"/>
          </a:xfrm>
          <a:prstGeom prst="rect">
            <a:avLst/>
          </a:prstGeom>
          <a:noFill/>
        </p:spPr>
        <p:txBody>
          <a:bodyPr wrap="square" lIns="0" rIns="0" tIns="0" bIns="0">
            <a:spAutoFit/>
          </a:bodyPr>
          <a:lstStyle/>
          <a:p>
            <a:pPr algn="ctr">
              <a:spcAft>
                <a:spcPts val="1000"/>
              </a:spcAft>
              <a:defRPr sz="1300" b="1">
                <a:solidFill>
                  <a:srgbClr val="526174"/>
                </a:solidFill>
                <a:latin typeface="Aptos"/>
              </a:defRPr>
            </a:pPr>
            <a:r>
              <a:t>ISTA 200</a:t>
            </a:r>
          </a:p>
        </p:txBody>
      </p:sp>
      <p:sp>
        <p:nvSpPr>
          <p:cNvPr id="10" name="TextBox 9"/>
          <p:cNvSpPr txBox="1"/>
          <p:nvPr/>
        </p:nvSpPr>
        <p:spPr>
          <a:xfrm>
            <a:off x="7187183" y="1856231"/>
            <a:ext cx="2212848" cy="201168"/>
          </a:xfrm>
          <a:prstGeom prst="rect">
            <a:avLst/>
          </a:prstGeom>
          <a:noFill/>
        </p:spPr>
        <p:txBody>
          <a:bodyPr wrap="square" lIns="0" rIns="0" tIns="0" bIns="0">
            <a:spAutoFit/>
          </a:bodyPr>
          <a:lstStyle/>
          <a:p>
            <a:pPr algn="ctr">
              <a:spcAft>
                <a:spcPts val="1000"/>
              </a:spcAft>
              <a:defRPr sz="1300" b="1">
                <a:solidFill>
                  <a:srgbClr val="526174"/>
                </a:solidFill>
                <a:latin typeface="Aptos"/>
              </a:defRPr>
            </a:pPr>
            <a:r>
              <a:t>LISTA 8</a:t>
            </a:r>
          </a:p>
        </p:txBody>
      </p:sp>
      <p:sp>
        <p:nvSpPr>
          <p:cNvPr id="11" name="TextBox 10"/>
          <p:cNvSpPr txBox="1"/>
          <p:nvPr/>
        </p:nvSpPr>
        <p:spPr>
          <a:xfrm>
            <a:off x="9400032" y="1856231"/>
            <a:ext cx="2212848" cy="201168"/>
          </a:xfrm>
          <a:prstGeom prst="rect">
            <a:avLst/>
          </a:prstGeom>
          <a:noFill/>
        </p:spPr>
        <p:txBody>
          <a:bodyPr wrap="square" lIns="0" rIns="0" tIns="0" bIns="0">
            <a:spAutoFit/>
          </a:bodyPr>
          <a:lstStyle/>
          <a:p>
            <a:pPr algn="ctr">
              <a:spcAft>
                <a:spcPts val="1000"/>
              </a:spcAft>
              <a:defRPr sz="1300" b="1">
                <a:solidFill>
                  <a:srgbClr val="526174"/>
                </a:solidFill>
                <a:latin typeface="Aptos"/>
              </a:defRPr>
            </a:pPr>
            <a:r>
              <a:t>FISTA 200</a:t>
            </a:r>
          </a:p>
        </p:txBody>
      </p:sp>
      <p:pic>
        <p:nvPicPr>
          <p:cNvPr id="12" name="Picture 11" descr="reconstructions.png"/>
          <p:cNvPicPr>
            <a:picLocks noChangeAspect="1"/>
          </p:cNvPicPr>
          <p:nvPr/>
        </p:nvPicPr>
        <p:blipFill>
          <a:blip r:embed="rId3"/>
          <a:srcRect t="69318"/>
          <a:stretch>
            <a:fillRect/>
          </a:stretch>
        </p:blipFill>
        <p:spPr>
          <a:xfrm>
            <a:off x="548640" y="2103120"/>
            <a:ext cx="11064240" cy="1965358"/>
          </a:xfrm>
          <a:prstGeom prst="rect">
            <a:avLst/>
          </a:prstGeom>
        </p:spPr>
      </p:pic>
      <p:sp>
        <p:nvSpPr>
          <p:cNvPr id="13" name="TextBox 12"/>
          <p:cNvSpPr txBox="1"/>
          <p:nvPr/>
        </p:nvSpPr>
        <p:spPr>
          <a:xfrm>
            <a:off x="685800" y="4572000"/>
            <a:ext cx="10789920" cy="777240"/>
          </a:xfrm>
          <a:prstGeom prst="rect">
            <a:avLst/>
          </a:prstGeom>
          <a:noFill/>
        </p:spPr>
        <p:txBody>
          <a:bodyPr wrap="square" lIns="0" rIns="0" tIns="0" bIns="0">
            <a:spAutoFit/>
          </a:bodyPr>
          <a:lstStyle/>
          <a:p>
            <a:pPr algn="l">
              <a:spcAft>
                <a:spcPts val="1000"/>
              </a:spcAft>
              <a:defRPr sz="2000" b="0">
                <a:solidFill>
                  <a:srgbClr val="18293B"/>
                </a:solidFill>
                <a:latin typeface="Aptos"/>
              </a:defRPr>
            </a:pPr>
            <a:r>
              <a:t>b: observed at 3 µm     s: reference at 0.5 µm     x: reconstructed estimate</a:t>
            </a:r>
          </a:p>
          <a:p>
            <a:pPr algn="l">
              <a:spcAft>
                <a:spcPts val="1000"/>
              </a:spcAft>
              <a:defRPr sz="2000" b="0">
                <a:solidFill>
                  <a:srgbClr val="18293B"/>
                </a:solidFill>
                <a:latin typeface="Aptos"/>
              </a:defRPr>
            </a:pPr>
            <a:r>
              <a:t>1400 × 1400 pixels per component  •  0.1 µm spacing  •  signed Bx, By, Bz</a:t>
            </a:r>
          </a:p>
        </p:txBody>
      </p:sp>
      <p:sp>
        <p:nvSpPr>
          <p:cNvPr id="14" name="Rectangle 13"/>
          <p:cNvSpPr/>
          <p:nvPr/>
        </p:nvSpPr>
        <p:spPr>
          <a:xfrm>
            <a:off x="502920" y="5833872"/>
            <a:ext cx="11155680" cy="438912"/>
          </a:xfrm>
          <a:prstGeom prst="rect">
            <a:avLst/>
          </a:prstGeom>
          <a:solidFill>
            <a:srgbClr val="EDF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 y="5907024"/>
            <a:ext cx="10835640" cy="274320"/>
          </a:xfrm>
          <a:prstGeom prst="rect">
            <a:avLst/>
          </a:prstGeom>
          <a:noFill/>
        </p:spPr>
        <p:txBody>
          <a:bodyPr wrap="square" lIns="0" rIns="0" tIns="0" bIns="0">
            <a:spAutoFit/>
          </a:bodyPr>
          <a:lstStyle/>
          <a:p>
            <a:pPr algn="l">
              <a:spcAft>
                <a:spcPts val="1000"/>
              </a:spcAft>
              <a:defRPr sz="1500" b="1">
                <a:solidFill>
                  <a:srgbClr val="3478B6"/>
                </a:solidFill>
                <a:latin typeface="Aptos"/>
              </a:defRPr>
            </a:pPr>
            <a:r>
              <a:t>The inverse problem estimates a field plane, not the coil current distribution.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972800" cy="274320"/>
          </a:xfrm>
          <a:prstGeom prst="rect">
            <a:avLst/>
          </a:prstGeom>
          <a:noFill/>
        </p:spPr>
        <p:txBody>
          <a:bodyPr wrap="square" lIns="0" rIns="0" tIns="0" bIns="0">
            <a:spAutoFit/>
          </a:bodyPr>
          <a:lstStyle/>
          <a:p>
            <a:pPr algn="l">
              <a:spcAft>
                <a:spcPts val="1000"/>
              </a:spcAft>
              <a:defRPr sz="1100" b="1">
                <a:solidFill>
                  <a:srgbClr val="3478B6"/>
                </a:solidFill>
                <a:latin typeface="Aptos"/>
              </a:defRPr>
            </a:pPr>
            <a:r>
              <a:t>FORWARD MODEL</a:t>
            </a:r>
          </a:p>
        </p:txBody>
      </p:sp>
      <p:sp>
        <p:nvSpPr>
          <p:cNvPr id="4" name="TextBox 3"/>
          <p:cNvSpPr txBox="1"/>
          <p:nvPr/>
        </p:nvSpPr>
        <p:spPr>
          <a:xfrm>
            <a:off x="502920" y="749808"/>
            <a:ext cx="11155680" cy="822960"/>
          </a:xfrm>
          <a:prstGeom prst="rect">
            <a:avLst/>
          </a:prstGeom>
          <a:noFill/>
        </p:spPr>
        <p:txBody>
          <a:bodyPr wrap="square" lIns="0" rIns="0" tIns="0" bIns="0">
            <a:spAutoFit/>
          </a:bodyPr>
          <a:lstStyle/>
          <a:p>
            <a:pPr algn="l">
              <a:spcAft>
                <a:spcPts val="1000"/>
              </a:spcAft>
              <a:defRPr sz="2900" b="1">
                <a:solidFill>
                  <a:srgbClr val="162C46"/>
                </a:solidFill>
                <a:latin typeface="Aptos"/>
              </a:defRPr>
            </a:pPr>
            <a:r>
              <a:t>Upward continuation suppresses fine spatial detail</a:t>
            </a:r>
          </a:p>
        </p:txBody>
      </p:sp>
      <p:sp>
        <p:nvSpPr>
          <p:cNvPr id="5" name="TextBox 4"/>
          <p:cNvSpPr txBox="1"/>
          <p:nvPr/>
        </p:nvSpPr>
        <p:spPr>
          <a:xfrm>
            <a:off x="502920" y="6519672"/>
            <a:ext cx="10698480" cy="201168"/>
          </a:xfrm>
          <a:prstGeom prst="rect">
            <a:avLst/>
          </a:prstGeom>
          <a:noFill/>
        </p:spPr>
        <p:txBody>
          <a:bodyPr wrap="square" lIns="0" rIns="0" tIns="0" bIns="0">
            <a:spAutoFit/>
          </a:bodyPr>
          <a:lstStyle/>
          <a:p>
            <a:pPr algn="l">
              <a:spcAft>
                <a:spcPts val="1000"/>
              </a:spcAft>
              <a:defRPr sz="1000" b="0">
                <a:solidFill>
                  <a:srgbClr val="526174"/>
                </a:solidFill>
                <a:latin typeface="Aptos"/>
              </a:defRPr>
            </a:pPr>
            <a:r>
              <a:t>COMSOL z = 3 → 0.5 µm  •  Same-sample reconstruction; no independent test set</a:t>
            </a:r>
          </a:p>
        </p:txBody>
      </p:sp>
      <p:sp>
        <p:nvSpPr>
          <p:cNvPr id="6" name="TextBox 5"/>
          <p:cNvSpPr txBox="1"/>
          <p:nvPr/>
        </p:nvSpPr>
        <p:spPr>
          <a:xfrm>
            <a:off x="11109960" y="6492240"/>
            <a:ext cx="548640" cy="228600"/>
          </a:xfrm>
          <a:prstGeom prst="rect">
            <a:avLst/>
          </a:prstGeom>
          <a:noFill/>
        </p:spPr>
        <p:txBody>
          <a:bodyPr wrap="square" lIns="0" rIns="0" tIns="0" bIns="0">
            <a:spAutoFit/>
          </a:bodyPr>
          <a:lstStyle/>
          <a:p>
            <a:pPr algn="r">
              <a:spcAft>
                <a:spcPts val="1000"/>
              </a:spcAft>
              <a:defRPr sz="1100" b="0">
                <a:solidFill>
                  <a:srgbClr val="526174"/>
                </a:solidFill>
                <a:latin typeface="Aptos"/>
              </a:defRPr>
            </a:pPr>
            <a:r>
              <a:t>3</a:t>
            </a:r>
          </a:p>
        </p:txBody>
      </p:sp>
      <p:pic>
        <p:nvPicPr>
          <p:cNvPr id="7" name="Picture 6" descr="eq_35.png"/>
          <p:cNvPicPr>
            <a:picLocks noChangeAspect="1"/>
          </p:cNvPicPr>
          <p:nvPr/>
        </p:nvPicPr>
        <p:blipFill>
          <a:blip r:embed="rId3"/>
          <a:stretch>
            <a:fillRect/>
          </a:stretch>
        </p:blipFill>
        <p:spPr>
          <a:xfrm>
            <a:off x="2827307" y="1828800"/>
            <a:ext cx="6506904" cy="868680"/>
          </a:xfrm>
          <a:prstGeom prst="rect">
            <a:avLst/>
          </a:prstGeom>
        </p:spPr>
      </p:pic>
      <p:sp>
        <p:nvSpPr>
          <p:cNvPr id="8" name="TextBox 7"/>
          <p:cNvSpPr txBox="1"/>
          <p:nvPr/>
        </p:nvSpPr>
        <p:spPr>
          <a:xfrm>
            <a:off x="685800" y="3063240"/>
            <a:ext cx="10698480" cy="640080"/>
          </a:xfrm>
          <a:prstGeom prst="rect">
            <a:avLst/>
          </a:prstGeom>
          <a:noFill/>
        </p:spPr>
        <p:txBody>
          <a:bodyPr wrap="square" lIns="0" rIns="0" tIns="0" bIns="0">
            <a:spAutoFit/>
          </a:bodyPr>
          <a:lstStyle/>
          <a:p>
            <a:pPr algn="l">
              <a:spcAft>
                <a:spcPts val="1000"/>
              </a:spcAft>
              <a:defRPr sz="2200" b="0">
                <a:solidFill>
                  <a:srgbClr val="18293B"/>
                </a:solidFill>
                <a:latin typeface="Aptos"/>
              </a:defRPr>
            </a:pPr>
            <a:r>
              <a:t>•  Large spatial frequencies encode fine detail and decay more strongly.</a:t>
            </a:r>
          </a:p>
        </p:txBody>
      </p:sp>
      <p:sp>
        <p:nvSpPr>
          <p:cNvPr id="9" name="TextBox 8"/>
          <p:cNvSpPr txBox="1"/>
          <p:nvPr/>
        </p:nvSpPr>
        <p:spPr>
          <a:xfrm>
            <a:off x="685800" y="3776472"/>
            <a:ext cx="10698480" cy="640080"/>
          </a:xfrm>
          <a:prstGeom prst="rect">
            <a:avLst/>
          </a:prstGeom>
          <a:noFill/>
        </p:spPr>
        <p:txBody>
          <a:bodyPr wrap="square" lIns="0" rIns="0" tIns="0" bIns="0">
            <a:spAutoFit/>
          </a:bodyPr>
          <a:lstStyle/>
          <a:p>
            <a:pPr algn="l">
              <a:spcAft>
                <a:spcPts val="1000"/>
              </a:spcAft>
              <a:defRPr sz="2200" b="0">
                <a:solidFill>
                  <a:srgbClr val="18293B"/>
                </a:solidFill>
                <a:latin typeface="Aptos"/>
              </a:defRPr>
            </a:pPr>
            <a:r>
              <a:t>•  Direct inversion can amplify numerical error and model discrepancy.</a:t>
            </a:r>
          </a:p>
        </p:txBody>
      </p:sp>
      <p:sp>
        <p:nvSpPr>
          <p:cNvPr id="10" name="TextBox 9"/>
          <p:cNvSpPr txBox="1"/>
          <p:nvPr/>
        </p:nvSpPr>
        <p:spPr>
          <a:xfrm>
            <a:off x="685800" y="4489704"/>
            <a:ext cx="10698480" cy="640080"/>
          </a:xfrm>
          <a:prstGeom prst="rect">
            <a:avLst/>
          </a:prstGeom>
          <a:noFill/>
        </p:spPr>
        <p:txBody>
          <a:bodyPr wrap="square" lIns="0" rIns="0" tIns="0" bIns="0">
            <a:spAutoFit/>
          </a:bodyPr>
          <a:lstStyle/>
          <a:p>
            <a:pPr algn="l">
              <a:spcAft>
                <a:spcPts val="1000"/>
              </a:spcAft>
              <a:defRPr sz="2200" b="0">
                <a:solidFill>
                  <a:srgbClr val="18293B"/>
                </a:solidFill>
                <a:latin typeface="Aptos"/>
              </a:defRPr>
            </a:pPr>
            <a:r>
              <a:t>•  Our reconstruction uses a fitted discrete operator:  b ≈ Ax.</a:t>
            </a:r>
          </a:p>
        </p:txBody>
      </p:sp>
      <p:sp>
        <p:nvSpPr>
          <p:cNvPr id="11" name="Rectangle 10"/>
          <p:cNvSpPr/>
          <p:nvPr/>
        </p:nvSpPr>
        <p:spPr>
          <a:xfrm>
            <a:off x="502920" y="5833872"/>
            <a:ext cx="11155680" cy="438912"/>
          </a:xfrm>
          <a:prstGeom prst="rect">
            <a:avLst/>
          </a:prstGeom>
          <a:solidFill>
            <a:srgbClr val="EDF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5907024"/>
            <a:ext cx="10835640" cy="274320"/>
          </a:xfrm>
          <a:prstGeom prst="rect">
            <a:avLst/>
          </a:prstGeom>
          <a:noFill/>
        </p:spPr>
        <p:txBody>
          <a:bodyPr wrap="square" lIns="0" rIns="0" tIns="0" bIns="0">
            <a:spAutoFit/>
          </a:bodyPr>
          <a:lstStyle/>
          <a:p>
            <a:pPr algn="l">
              <a:spcAft>
                <a:spcPts val="1000"/>
              </a:spcAft>
              <a:defRPr sz="1500" b="1">
                <a:solidFill>
                  <a:srgbClr val="3478B6"/>
                </a:solidFill>
                <a:latin typeface="Aptos"/>
              </a:defRPr>
            </a:pPr>
            <a:r>
              <a:t>The ideal physical transfer motivates the problem; the experiment uses a COMSOL-fitted transfer.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972800" cy="274320"/>
          </a:xfrm>
          <a:prstGeom prst="rect">
            <a:avLst/>
          </a:prstGeom>
          <a:noFill/>
        </p:spPr>
        <p:txBody>
          <a:bodyPr wrap="square" lIns="0" rIns="0" tIns="0" bIns="0">
            <a:spAutoFit/>
          </a:bodyPr>
          <a:lstStyle/>
          <a:p>
            <a:pPr algn="l">
              <a:spcAft>
                <a:spcPts val="1000"/>
              </a:spcAft>
              <a:defRPr sz="1100" b="1">
                <a:solidFill>
                  <a:srgbClr val="3478B6"/>
                </a:solidFill>
                <a:latin typeface="Aptos"/>
              </a:defRPr>
            </a:pPr>
            <a:r>
              <a:t>FORWARD MODEL</a:t>
            </a:r>
          </a:p>
        </p:txBody>
      </p:sp>
      <p:sp>
        <p:nvSpPr>
          <p:cNvPr id="4" name="TextBox 3"/>
          <p:cNvSpPr txBox="1"/>
          <p:nvPr/>
        </p:nvSpPr>
        <p:spPr>
          <a:xfrm>
            <a:off x="502920" y="749808"/>
            <a:ext cx="11155680" cy="822960"/>
          </a:xfrm>
          <a:prstGeom prst="rect">
            <a:avLst/>
          </a:prstGeom>
          <a:noFill/>
        </p:spPr>
        <p:txBody>
          <a:bodyPr wrap="square" lIns="0" rIns="0" tIns="0" bIns="0">
            <a:spAutoFit/>
          </a:bodyPr>
          <a:lstStyle/>
          <a:p>
            <a:pPr algn="l">
              <a:spcAft>
                <a:spcPts val="1000"/>
              </a:spcAft>
              <a:defRPr sz="2900" b="1">
                <a:solidFill>
                  <a:srgbClr val="162C46"/>
                </a:solidFill>
                <a:latin typeface="Aptos"/>
              </a:defRPr>
            </a:pPr>
            <a:r>
              <a:t>One shared transfer is fitted from all three component pairs</a:t>
            </a:r>
          </a:p>
        </p:txBody>
      </p:sp>
      <p:sp>
        <p:nvSpPr>
          <p:cNvPr id="5" name="TextBox 4"/>
          <p:cNvSpPr txBox="1"/>
          <p:nvPr/>
        </p:nvSpPr>
        <p:spPr>
          <a:xfrm>
            <a:off x="502920" y="6519672"/>
            <a:ext cx="10698480" cy="201168"/>
          </a:xfrm>
          <a:prstGeom prst="rect">
            <a:avLst/>
          </a:prstGeom>
          <a:noFill/>
        </p:spPr>
        <p:txBody>
          <a:bodyPr wrap="square" lIns="0" rIns="0" tIns="0" bIns="0">
            <a:spAutoFit/>
          </a:bodyPr>
          <a:lstStyle/>
          <a:p>
            <a:pPr algn="l">
              <a:spcAft>
                <a:spcPts val="1000"/>
              </a:spcAft>
              <a:defRPr sz="1000" b="0">
                <a:solidFill>
                  <a:srgbClr val="526174"/>
                </a:solidFill>
                <a:latin typeface="Aptos"/>
              </a:defRPr>
            </a:pPr>
            <a:r>
              <a:t>COMSOL z = 3 → 0.5 µm  •  Same-sample reconstruction; no independent test set</a:t>
            </a:r>
          </a:p>
        </p:txBody>
      </p:sp>
      <p:sp>
        <p:nvSpPr>
          <p:cNvPr id="6" name="TextBox 5"/>
          <p:cNvSpPr txBox="1"/>
          <p:nvPr/>
        </p:nvSpPr>
        <p:spPr>
          <a:xfrm>
            <a:off x="11109960" y="6492240"/>
            <a:ext cx="548640" cy="228600"/>
          </a:xfrm>
          <a:prstGeom prst="rect">
            <a:avLst/>
          </a:prstGeom>
          <a:noFill/>
        </p:spPr>
        <p:txBody>
          <a:bodyPr wrap="square" lIns="0" rIns="0" tIns="0" bIns="0">
            <a:spAutoFit/>
          </a:bodyPr>
          <a:lstStyle/>
          <a:p>
            <a:pPr algn="r">
              <a:spcAft>
                <a:spcPts val="1000"/>
              </a:spcAft>
              <a:defRPr sz="1100" b="0">
                <a:solidFill>
                  <a:srgbClr val="526174"/>
                </a:solidFill>
                <a:latin typeface="Aptos"/>
              </a:defRPr>
            </a:pPr>
            <a:r>
              <a:t>4</a:t>
            </a:r>
          </a:p>
        </p:txBody>
      </p:sp>
      <p:pic>
        <p:nvPicPr>
          <p:cNvPr id="7" name="Picture 6" descr="eq_36.png"/>
          <p:cNvPicPr>
            <a:picLocks noChangeAspect="1"/>
          </p:cNvPicPr>
          <p:nvPr/>
        </p:nvPicPr>
        <p:blipFill>
          <a:blip r:embed="rId3"/>
          <a:stretch>
            <a:fillRect/>
          </a:stretch>
        </p:blipFill>
        <p:spPr>
          <a:xfrm>
            <a:off x="3227458" y="1828800"/>
            <a:ext cx="5706602" cy="1005840"/>
          </a:xfrm>
          <a:prstGeom prst="rect">
            <a:avLst/>
          </a:prstGeom>
        </p:spPr>
      </p:pic>
      <p:sp>
        <p:nvSpPr>
          <p:cNvPr id="8" name="TextBox 7"/>
          <p:cNvSpPr txBox="1"/>
          <p:nvPr/>
        </p:nvSpPr>
        <p:spPr>
          <a:xfrm>
            <a:off x="685800" y="3154680"/>
            <a:ext cx="10698480" cy="640080"/>
          </a:xfrm>
          <a:prstGeom prst="rect">
            <a:avLst/>
          </a:prstGeom>
          <a:noFill/>
        </p:spPr>
        <p:txBody>
          <a:bodyPr wrap="square" lIns="0" rIns="0" tIns="0" bIns="0">
            <a:spAutoFit/>
          </a:bodyPr>
          <a:lstStyle/>
          <a:p>
            <a:pPr algn="l">
              <a:spcAft>
                <a:spcPts val="1000"/>
              </a:spcAft>
              <a:defRPr sz="2100" b="0">
                <a:solidFill>
                  <a:srgbClr val="18293B"/>
                </a:solidFill>
                <a:latin typeface="Aptos"/>
              </a:defRPr>
            </a:pPr>
            <a:r>
              <a:t>•  Joint fit across Bx, By and Bz; no cross-component mixing in inference.</a:t>
            </a:r>
          </a:p>
        </p:txBody>
      </p:sp>
      <p:sp>
        <p:nvSpPr>
          <p:cNvPr id="9" name="TextBox 8"/>
          <p:cNvSpPr txBox="1"/>
          <p:nvPr/>
        </p:nvSpPr>
        <p:spPr>
          <a:xfrm>
            <a:off x="685800" y="3867912"/>
            <a:ext cx="10698480" cy="640080"/>
          </a:xfrm>
          <a:prstGeom prst="rect">
            <a:avLst/>
          </a:prstGeom>
          <a:noFill/>
        </p:spPr>
        <p:txBody>
          <a:bodyPr wrap="square" lIns="0" rIns="0" tIns="0" bIns="0">
            <a:spAutoFit/>
          </a:bodyPr>
          <a:lstStyle/>
          <a:p>
            <a:pPr algn="l">
              <a:spcAft>
                <a:spcPts val="1000"/>
              </a:spcAft>
              <a:defRPr sz="2100" b="0">
                <a:solidFill>
                  <a:srgbClr val="18293B"/>
                </a:solidFill>
                <a:latin typeface="Aptos"/>
              </a:defRPr>
            </a:pPr>
            <a:r>
              <a:t>•  H remains fixed while LISTA learns its correction filters and threshold.</a:t>
            </a:r>
          </a:p>
        </p:txBody>
      </p:sp>
      <p:sp>
        <p:nvSpPr>
          <p:cNvPr id="10" name="TextBox 9"/>
          <p:cNvSpPr txBox="1"/>
          <p:nvPr/>
        </p:nvSpPr>
        <p:spPr>
          <a:xfrm>
            <a:off x="685800" y="4581144"/>
            <a:ext cx="10698480" cy="640080"/>
          </a:xfrm>
          <a:prstGeom prst="rect">
            <a:avLst/>
          </a:prstGeom>
          <a:noFill/>
        </p:spPr>
        <p:txBody>
          <a:bodyPr wrap="square" lIns="0" rIns="0" tIns="0" bIns="0">
            <a:spAutoFit/>
          </a:bodyPr>
          <a:lstStyle/>
          <a:p>
            <a:pPr algn="l">
              <a:spcAft>
                <a:spcPts val="1000"/>
              </a:spcAft>
              <a:defRPr sz="2100" b="0">
                <a:solidFill>
                  <a:srgbClr val="18293B"/>
                </a:solidFill>
                <a:latin typeface="Aptos"/>
              </a:defRPr>
            </a:pPr>
            <a:r>
              <a:t>•  No Wiener penalty or analytical-transfer constraint in this fit.</a:t>
            </a:r>
          </a:p>
        </p:txBody>
      </p:sp>
      <p:sp>
        <p:nvSpPr>
          <p:cNvPr id="11" name="Rectangle 10"/>
          <p:cNvSpPr/>
          <p:nvPr/>
        </p:nvSpPr>
        <p:spPr>
          <a:xfrm>
            <a:off x="502920" y="5833872"/>
            <a:ext cx="11155680" cy="438912"/>
          </a:xfrm>
          <a:prstGeom prst="rect">
            <a:avLst/>
          </a:prstGeom>
          <a:solidFill>
            <a:srgbClr val="EDF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5907024"/>
            <a:ext cx="10835640" cy="274320"/>
          </a:xfrm>
          <a:prstGeom prst="rect">
            <a:avLst/>
          </a:prstGeom>
          <a:noFill/>
        </p:spPr>
        <p:txBody>
          <a:bodyPr wrap="square" lIns="0" rIns="0" tIns="0" bIns="0">
            <a:spAutoFit/>
          </a:bodyPr>
          <a:lstStyle/>
          <a:p>
            <a:pPr algn="l">
              <a:spcAft>
                <a:spcPts val="1000"/>
              </a:spcAft>
              <a:defRPr sz="1500" b="1">
                <a:solidFill>
                  <a:srgbClr val="D9782F"/>
                </a:solidFill>
                <a:latin typeface="Aptos"/>
              </a:defRPr>
            </a:pPr>
            <a:r>
              <a:t>Reference-assisted calibration: the same image pairs are used for fitting and evaluation.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972800" cy="274320"/>
          </a:xfrm>
          <a:prstGeom prst="rect">
            <a:avLst/>
          </a:prstGeom>
          <a:noFill/>
        </p:spPr>
        <p:txBody>
          <a:bodyPr wrap="square" lIns="0" rIns="0" tIns="0" bIns="0">
            <a:spAutoFit/>
          </a:bodyPr>
          <a:lstStyle/>
          <a:p>
            <a:pPr algn="l">
              <a:spcAft>
                <a:spcPts val="1000"/>
              </a:spcAft>
              <a:defRPr sz="1100" b="1">
                <a:solidFill>
                  <a:srgbClr val="3478B6"/>
                </a:solidFill>
                <a:latin typeface="Aptos"/>
              </a:defRPr>
            </a:pPr>
            <a:r>
              <a:t>IMPLEMENTATION</a:t>
            </a:r>
          </a:p>
        </p:txBody>
      </p:sp>
      <p:sp>
        <p:nvSpPr>
          <p:cNvPr id="4" name="TextBox 3"/>
          <p:cNvSpPr txBox="1"/>
          <p:nvPr/>
        </p:nvSpPr>
        <p:spPr>
          <a:xfrm>
            <a:off x="502920" y="749808"/>
            <a:ext cx="11155680" cy="822960"/>
          </a:xfrm>
          <a:prstGeom prst="rect">
            <a:avLst/>
          </a:prstGeom>
          <a:noFill/>
        </p:spPr>
        <p:txBody>
          <a:bodyPr wrap="square" lIns="0" rIns="0" tIns="0" bIns="0">
            <a:spAutoFit/>
          </a:bodyPr>
          <a:lstStyle/>
          <a:p>
            <a:pPr algn="l">
              <a:spcAft>
                <a:spcPts val="1000"/>
              </a:spcAft>
              <a:defRPr sz="2900" b="1">
                <a:solidFill>
                  <a:srgbClr val="162C46"/>
                </a:solidFill>
                <a:latin typeface="Aptos"/>
              </a:defRPr>
            </a:pPr>
            <a:r>
              <a:t>Padding and cropping are part of the operator</a:t>
            </a:r>
          </a:p>
        </p:txBody>
      </p:sp>
      <p:sp>
        <p:nvSpPr>
          <p:cNvPr id="5" name="TextBox 4"/>
          <p:cNvSpPr txBox="1"/>
          <p:nvPr/>
        </p:nvSpPr>
        <p:spPr>
          <a:xfrm>
            <a:off x="502920" y="6519672"/>
            <a:ext cx="10698480" cy="201168"/>
          </a:xfrm>
          <a:prstGeom prst="rect">
            <a:avLst/>
          </a:prstGeom>
          <a:noFill/>
        </p:spPr>
        <p:txBody>
          <a:bodyPr wrap="square" lIns="0" rIns="0" tIns="0" bIns="0">
            <a:spAutoFit/>
          </a:bodyPr>
          <a:lstStyle/>
          <a:p>
            <a:pPr algn="l">
              <a:spcAft>
                <a:spcPts val="1000"/>
              </a:spcAft>
              <a:defRPr sz="1000" b="0">
                <a:solidFill>
                  <a:srgbClr val="526174"/>
                </a:solidFill>
                <a:latin typeface="Aptos"/>
              </a:defRPr>
            </a:pPr>
            <a:r>
              <a:t>COMSOL z = 3 → 0.5 µm  •  Same-sample reconstruction; no independent test set</a:t>
            </a:r>
          </a:p>
        </p:txBody>
      </p:sp>
      <p:sp>
        <p:nvSpPr>
          <p:cNvPr id="6" name="TextBox 5"/>
          <p:cNvSpPr txBox="1"/>
          <p:nvPr/>
        </p:nvSpPr>
        <p:spPr>
          <a:xfrm>
            <a:off x="11109960" y="6492240"/>
            <a:ext cx="548640" cy="228600"/>
          </a:xfrm>
          <a:prstGeom prst="rect">
            <a:avLst/>
          </a:prstGeom>
          <a:noFill/>
        </p:spPr>
        <p:txBody>
          <a:bodyPr wrap="square" lIns="0" rIns="0" tIns="0" bIns="0">
            <a:spAutoFit/>
          </a:bodyPr>
          <a:lstStyle/>
          <a:p>
            <a:pPr algn="r">
              <a:spcAft>
                <a:spcPts val="1000"/>
              </a:spcAft>
              <a:defRPr sz="1100" b="0">
                <a:solidFill>
                  <a:srgbClr val="526174"/>
                </a:solidFill>
                <a:latin typeface="Aptos"/>
              </a:defRPr>
            </a:pPr>
            <a:r>
              <a:t>5</a:t>
            </a:r>
          </a:p>
        </p:txBody>
      </p:sp>
      <p:sp>
        <p:nvSpPr>
          <p:cNvPr id="7" name="Rectangle 6"/>
          <p:cNvSpPr/>
          <p:nvPr/>
        </p:nvSpPr>
        <p:spPr>
          <a:xfrm>
            <a:off x="640080" y="1874519"/>
            <a:ext cx="3291840" cy="1417320"/>
          </a:xfrm>
          <a:prstGeom prst="rect">
            <a:avLst/>
          </a:prstGeom>
          <a:solidFill>
            <a:srgbClr val="EDF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1" y="2029968"/>
            <a:ext cx="2962656" cy="365760"/>
          </a:xfrm>
          <a:prstGeom prst="rect">
            <a:avLst/>
          </a:prstGeom>
          <a:noFill/>
        </p:spPr>
        <p:txBody>
          <a:bodyPr wrap="square" lIns="0" rIns="0" tIns="0" bIns="0">
            <a:spAutoFit/>
          </a:bodyPr>
          <a:lstStyle/>
          <a:p>
            <a:pPr algn="l">
              <a:spcAft>
                <a:spcPts val="1000"/>
              </a:spcAft>
              <a:defRPr sz="1700" b="1">
                <a:solidFill>
                  <a:srgbClr val="3478B6"/>
                </a:solidFill>
                <a:latin typeface="Aptos"/>
              </a:defRPr>
            </a:pPr>
            <a:r>
              <a:t>PAD</a:t>
            </a:r>
          </a:p>
        </p:txBody>
      </p:sp>
      <p:sp>
        <p:nvSpPr>
          <p:cNvPr id="9" name="TextBox 8"/>
          <p:cNvSpPr txBox="1"/>
          <p:nvPr/>
        </p:nvSpPr>
        <p:spPr>
          <a:xfrm>
            <a:off x="804671" y="2514600"/>
            <a:ext cx="2962656" cy="685800"/>
          </a:xfrm>
          <a:prstGeom prst="rect">
            <a:avLst/>
          </a:prstGeom>
          <a:noFill/>
        </p:spPr>
        <p:txBody>
          <a:bodyPr wrap="square" lIns="0" rIns="0" tIns="0" bIns="0">
            <a:spAutoFit/>
          </a:bodyPr>
          <a:lstStyle/>
          <a:p>
            <a:pPr algn="l">
              <a:spcAft>
                <a:spcPts val="1000"/>
              </a:spcAft>
              <a:defRPr sz="1900" b="0">
                <a:solidFill>
                  <a:srgbClr val="18293B"/>
                </a:solidFill>
                <a:latin typeface="Aptos"/>
              </a:defRPr>
            </a:pPr>
            <a:r>
              <a:t>1400² → 1464²</a:t>
            </a:r>
          </a:p>
          <a:p>
            <a:pPr algn="l">
              <a:spcAft>
                <a:spcPts val="1000"/>
              </a:spcAft>
              <a:defRPr sz="1900" b="0">
                <a:solidFill>
                  <a:srgbClr val="18293B"/>
                </a:solidFill>
                <a:latin typeface="Aptos"/>
              </a:defRPr>
            </a:pPr>
            <a:r>
              <a:t>32 zeros on each side</a:t>
            </a:r>
          </a:p>
        </p:txBody>
      </p:sp>
      <p:sp>
        <p:nvSpPr>
          <p:cNvPr id="10" name="Rectangle 9"/>
          <p:cNvSpPr/>
          <p:nvPr/>
        </p:nvSpPr>
        <p:spPr>
          <a:xfrm>
            <a:off x="4389120" y="1874519"/>
            <a:ext cx="3291840" cy="1417320"/>
          </a:xfrm>
          <a:prstGeom prst="rect">
            <a:avLst/>
          </a:prstGeom>
          <a:solidFill>
            <a:srgbClr val="EDF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53712" y="2029968"/>
            <a:ext cx="2962656" cy="365760"/>
          </a:xfrm>
          <a:prstGeom prst="rect">
            <a:avLst/>
          </a:prstGeom>
          <a:noFill/>
        </p:spPr>
        <p:txBody>
          <a:bodyPr wrap="square" lIns="0" rIns="0" tIns="0" bIns="0">
            <a:spAutoFit/>
          </a:bodyPr>
          <a:lstStyle/>
          <a:p>
            <a:pPr algn="l">
              <a:spcAft>
                <a:spcPts val="1000"/>
              </a:spcAft>
              <a:defRPr sz="1700" b="1">
                <a:solidFill>
                  <a:srgbClr val="3478B6"/>
                </a:solidFill>
                <a:latin typeface="Aptos"/>
              </a:defRPr>
            </a:pPr>
            <a:r>
              <a:t>FFT OPERATOR</a:t>
            </a:r>
          </a:p>
        </p:txBody>
      </p:sp>
      <p:sp>
        <p:nvSpPr>
          <p:cNvPr id="12" name="TextBox 11"/>
          <p:cNvSpPr txBox="1"/>
          <p:nvPr/>
        </p:nvSpPr>
        <p:spPr>
          <a:xfrm>
            <a:off x="4553712" y="2514600"/>
            <a:ext cx="2962656" cy="685800"/>
          </a:xfrm>
          <a:prstGeom prst="rect">
            <a:avLst/>
          </a:prstGeom>
          <a:noFill/>
        </p:spPr>
        <p:txBody>
          <a:bodyPr wrap="square" lIns="0" rIns="0" tIns="0" bIns="0">
            <a:spAutoFit/>
          </a:bodyPr>
          <a:lstStyle/>
          <a:p>
            <a:pPr algn="l">
              <a:spcAft>
                <a:spcPts val="1000"/>
              </a:spcAft>
              <a:defRPr sz="1900" b="0">
                <a:solidFill>
                  <a:srgbClr val="18293B"/>
                </a:solidFill>
                <a:latin typeface="Aptos"/>
              </a:defRPr>
            </a:pPr>
            <a:r>
              <a:t>FFT → multiply by H</a:t>
            </a:r>
          </a:p>
          <a:p>
            <a:pPr algn="l">
              <a:spcAft>
                <a:spcPts val="1000"/>
              </a:spcAft>
              <a:defRPr sz="1900" b="0">
                <a:solidFill>
                  <a:srgbClr val="18293B"/>
                </a:solidFill>
                <a:latin typeface="Aptos"/>
              </a:defRPr>
            </a:pPr>
            <a:r>
              <a:t>→ inverse FFT → real</a:t>
            </a:r>
          </a:p>
        </p:txBody>
      </p:sp>
      <p:sp>
        <p:nvSpPr>
          <p:cNvPr id="13" name="Rectangle 12"/>
          <p:cNvSpPr/>
          <p:nvPr/>
        </p:nvSpPr>
        <p:spPr>
          <a:xfrm>
            <a:off x="8138160" y="1874519"/>
            <a:ext cx="3291840" cy="1417320"/>
          </a:xfrm>
          <a:prstGeom prst="rect">
            <a:avLst/>
          </a:prstGeom>
          <a:solidFill>
            <a:srgbClr val="EDF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02752" y="2029968"/>
            <a:ext cx="2962656" cy="365760"/>
          </a:xfrm>
          <a:prstGeom prst="rect">
            <a:avLst/>
          </a:prstGeom>
          <a:noFill/>
        </p:spPr>
        <p:txBody>
          <a:bodyPr wrap="square" lIns="0" rIns="0" tIns="0" bIns="0">
            <a:spAutoFit/>
          </a:bodyPr>
          <a:lstStyle/>
          <a:p>
            <a:pPr algn="l">
              <a:spcAft>
                <a:spcPts val="1000"/>
              </a:spcAft>
              <a:defRPr sz="1700" b="1">
                <a:solidFill>
                  <a:srgbClr val="3478B6"/>
                </a:solidFill>
                <a:latin typeface="Aptos"/>
              </a:defRPr>
            </a:pPr>
            <a:r>
              <a:t>CROP</a:t>
            </a:r>
          </a:p>
        </p:txBody>
      </p:sp>
      <p:sp>
        <p:nvSpPr>
          <p:cNvPr id="15" name="TextBox 14"/>
          <p:cNvSpPr txBox="1"/>
          <p:nvPr/>
        </p:nvSpPr>
        <p:spPr>
          <a:xfrm>
            <a:off x="8302752" y="2514600"/>
            <a:ext cx="2962656" cy="685800"/>
          </a:xfrm>
          <a:prstGeom prst="rect">
            <a:avLst/>
          </a:prstGeom>
          <a:noFill/>
        </p:spPr>
        <p:txBody>
          <a:bodyPr wrap="square" lIns="0" rIns="0" tIns="0" bIns="0">
            <a:spAutoFit/>
          </a:bodyPr>
          <a:lstStyle/>
          <a:p>
            <a:pPr algn="l">
              <a:spcAft>
                <a:spcPts val="1000"/>
              </a:spcAft>
              <a:defRPr sz="1900" b="0">
                <a:solidFill>
                  <a:srgbClr val="18293B"/>
                </a:solidFill>
                <a:latin typeface="Aptos"/>
              </a:defRPr>
            </a:pPr>
            <a:r>
              <a:t>1464² → 1400²</a:t>
            </a:r>
          </a:p>
          <a:p>
            <a:pPr algn="l">
              <a:spcAft>
                <a:spcPts val="1000"/>
              </a:spcAft>
              <a:defRPr sz="1900" b="0">
                <a:solidFill>
                  <a:srgbClr val="18293B"/>
                </a:solidFill>
                <a:latin typeface="Aptos"/>
              </a:defRPr>
            </a:pPr>
            <a:r>
              <a:t>Retain observed region</a:t>
            </a:r>
          </a:p>
        </p:txBody>
      </p:sp>
      <p:pic>
        <p:nvPicPr>
          <p:cNvPr id="16" name="Picture 15" descr="eq_37.png"/>
          <p:cNvPicPr>
            <a:picLocks noChangeAspect="1"/>
          </p:cNvPicPr>
          <p:nvPr/>
        </p:nvPicPr>
        <p:blipFill>
          <a:blip r:embed="rId3"/>
          <a:stretch>
            <a:fillRect/>
          </a:stretch>
        </p:blipFill>
        <p:spPr>
          <a:xfrm>
            <a:off x="3416611" y="3657600"/>
            <a:ext cx="5328297" cy="731520"/>
          </a:xfrm>
          <a:prstGeom prst="rect">
            <a:avLst/>
          </a:prstGeom>
        </p:spPr>
      </p:pic>
      <p:sp>
        <p:nvSpPr>
          <p:cNvPr id="17" name="TextBox 16"/>
          <p:cNvSpPr txBox="1"/>
          <p:nvPr/>
        </p:nvSpPr>
        <p:spPr>
          <a:xfrm>
            <a:off x="731520" y="4617720"/>
            <a:ext cx="10607040" cy="731520"/>
          </a:xfrm>
          <a:prstGeom prst="rect">
            <a:avLst/>
          </a:prstGeom>
          <a:noFill/>
        </p:spPr>
        <p:txBody>
          <a:bodyPr wrap="square" lIns="0" rIns="0" tIns="0" bIns="0">
            <a:spAutoFit/>
          </a:bodyPr>
          <a:lstStyle/>
          <a:p>
            <a:pPr algn="l">
              <a:spcAft>
                <a:spcPts val="1000"/>
              </a:spcAft>
              <a:defRPr sz="2000" b="0">
                <a:solidFill>
                  <a:srgbClr val="18293B"/>
                </a:solidFill>
                <a:latin typeface="Aptos"/>
              </a:defRPr>
            </a:pPr>
            <a:r>
              <a:t>Adjoint: use conjugate H. Preserve the intermediate crop in A* A.</a:t>
            </a:r>
          </a:p>
          <a:p>
            <a:pPr algn="l">
              <a:spcAft>
                <a:spcPts val="1000"/>
              </a:spcAft>
              <a:defRPr sz="2000" b="0">
                <a:solidFill>
                  <a:srgbClr val="18293B"/>
                </a:solidFill>
                <a:latin typeface="Aptos"/>
              </a:defRPr>
            </a:pPr>
            <a:r>
              <a:t>Zero padding reduces edge interaction; it does not guarantee its removal.</a:t>
            </a:r>
          </a:p>
        </p:txBody>
      </p:sp>
      <p:sp>
        <p:nvSpPr>
          <p:cNvPr id="18" name="Rectangle 17"/>
          <p:cNvSpPr/>
          <p:nvPr/>
        </p:nvSpPr>
        <p:spPr>
          <a:xfrm>
            <a:off x="502920" y="5833872"/>
            <a:ext cx="11155680" cy="438912"/>
          </a:xfrm>
          <a:prstGeom prst="rect">
            <a:avLst/>
          </a:prstGeom>
          <a:solidFill>
            <a:srgbClr val="EDF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 y="5907024"/>
            <a:ext cx="10835640" cy="274320"/>
          </a:xfrm>
          <a:prstGeom prst="rect">
            <a:avLst/>
          </a:prstGeom>
          <a:noFill/>
        </p:spPr>
        <p:txBody>
          <a:bodyPr wrap="square" lIns="0" rIns="0" tIns="0" bIns="0">
            <a:spAutoFit/>
          </a:bodyPr>
          <a:lstStyle/>
          <a:p>
            <a:pPr algn="l">
              <a:spcAft>
                <a:spcPts val="1000"/>
              </a:spcAft>
              <a:defRPr sz="1500" b="1">
                <a:solidFill>
                  <a:srgbClr val="3478B6"/>
                </a:solidFill>
                <a:latin typeface="Aptos"/>
              </a:defRPr>
            </a:pPr>
            <a:r>
              <a:t>“Retained padded operator” is precise; “exact physical model” would be too strong.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972800" cy="274320"/>
          </a:xfrm>
          <a:prstGeom prst="rect">
            <a:avLst/>
          </a:prstGeom>
          <a:noFill/>
        </p:spPr>
        <p:txBody>
          <a:bodyPr wrap="square" lIns="0" rIns="0" tIns="0" bIns="0">
            <a:spAutoFit/>
          </a:bodyPr>
          <a:lstStyle/>
          <a:p>
            <a:pPr algn="l">
              <a:spcAft>
                <a:spcPts val="1000"/>
              </a:spcAft>
              <a:defRPr sz="1100" b="1">
                <a:solidFill>
                  <a:srgbClr val="3478B6"/>
                </a:solidFill>
                <a:latin typeface="Aptos"/>
              </a:defRPr>
            </a:pPr>
            <a:r>
              <a:t>OPTIMIZATION</a:t>
            </a:r>
          </a:p>
        </p:txBody>
      </p:sp>
      <p:sp>
        <p:nvSpPr>
          <p:cNvPr id="4" name="TextBox 3"/>
          <p:cNvSpPr txBox="1"/>
          <p:nvPr/>
        </p:nvSpPr>
        <p:spPr>
          <a:xfrm>
            <a:off x="502920" y="749808"/>
            <a:ext cx="11155680" cy="822960"/>
          </a:xfrm>
          <a:prstGeom prst="rect">
            <a:avLst/>
          </a:prstGeom>
          <a:noFill/>
        </p:spPr>
        <p:txBody>
          <a:bodyPr wrap="square" lIns="0" rIns="0" tIns="0" bIns="0">
            <a:spAutoFit/>
          </a:bodyPr>
          <a:lstStyle/>
          <a:p>
            <a:pPr algn="l">
              <a:spcAft>
                <a:spcPts val="1000"/>
              </a:spcAft>
              <a:defRPr sz="2900" b="1">
                <a:solidFill>
                  <a:srgbClr val="162C46"/>
                </a:solidFill>
                <a:latin typeface="Aptos"/>
              </a:defRPr>
            </a:pPr>
            <a:r>
              <a:t>ISTA and FISTA solve the same pixel-domain L1 problem</a:t>
            </a:r>
          </a:p>
        </p:txBody>
      </p:sp>
      <p:sp>
        <p:nvSpPr>
          <p:cNvPr id="5" name="TextBox 4"/>
          <p:cNvSpPr txBox="1"/>
          <p:nvPr/>
        </p:nvSpPr>
        <p:spPr>
          <a:xfrm>
            <a:off x="502920" y="6519672"/>
            <a:ext cx="10698480" cy="201168"/>
          </a:xfrm>
          <a:prstGeom prst="rect">
            <a:avLst/>
          </a:prstGeom>
          <a:noFill/>
        </p:spPr>
        <p:txBody>
          <a:bodyPr wrap="square" lIns="0" rIns="0" tIns="0" bIns="0">
            <a:spAutoFit/>
          </a:bodyPr>
          <a:lstStyle/>
          <a:p>
            <a:pPr algn="l">
              <a:spcAft>
                <a:spcPts val="1000"/>
              </a:spcAft>
              <a:defRPr sz="1000" b="0">
                <a:solidFill>
                  <a:srgbClr val="526174"/>
                </a:solidFill>
                <a:latin typeface="Aptos"/>
              </a:defRPr>
            </a:pPr>
            <a:r>
              <a:t>COMSOL z = 3 → 0.5 µm  •  Same-sample reconstruction; no independent test set</a:t>
            </a:r>
          </a:p>
        </p:txBody>
      </p:sp>
      <p:sp>
        <p:nvSpPr>
          <p:cNvPr id="6" name="TextBox 5"/>
          <p:cNvSpPr txBox="1"/>
          <p:nvPr/>
        </p:nvSpPr>
        <p:spPr>
          <a:xfrm>
            <a:off x="11109960" y="6492240"/>
            <a:ext cx="548640" cy="228600"/>
          </a:xfrm>
          <a:prstGeom prst="rect">
            <a:avLst/>
          </a:prstGeom>
          <a:noFill/>
        </p:spPr>
        <p:txBody>
          <a:bodyPr wrap="square" lIns="0" rIns="0" tIns="0" bIns="0">
            <a:spAutoFit/>
          </a:bodyPr>
          <a:lstStyle/>
          <a:p>
            <a:pPr algn="r">
              <a:spcAft>
                <a:spcPts val="1000"/>
              </a:spcAft>
              <a:defRPr sz="1100" b="0">
                <a:solidFill>
                  <a:srgbClr val="526174"/>
                </a:solidFill>
                <a:latin typeface="Aptos"/>
              </a:defRPr>
            </a:pPr>
            <a:r>
              <a:t>6</a:t>
            </a:r>
          </a:p>
        </p:txBody>
      </p:sp>
      <p:pic>
        <p:nvPicPr>
          <p:cNvPr id="7" name="Picture 6" descr="eq_38.png"/>
          <p:cNvPicPr>
            <a:picLocks noChangeAspect="1"/>
          </p:cNvPicPr>
          <p:nvPr/>
        </p:nvPicPr>
        <p:blipFill>
          <a:blip r:embed="rId3"/>
          <a:stretch>
            <a:fillRect/>
          </a:stretch>
        </p:blipFill>
        <p:spPr>
          <a:xfrm>
            <a:off x="2696730" y="1828800"/>
            <a:ext cx="6768059" cy="960120"/>
          </a:xfrm>
          <a:prstGeom prst="rect">
            <a:avLst/>
          </a:prstGeom>
        </p:spPr>
      </p:pic>
      <p:sp>
        <p:nvSpPr>
          <p:cNvPr id="8" name="Rectangle 7"/>
          <p:cNvSpPr/>
          <p:nvPr/>
        </p:nvSpPr>
        <p:spPr>
          <a:xfrm>
            <a:off x="731520" y="3154680"/>
            <a:ext cx="5166360" cy="1508760"/>
          </a:xfrm>
          <a:prstGeom prst="rect">
            <a:avLst/>
          </a:prstGeom>
          <a:solidFill>
            <a:srgbClr val="EDF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337560"/>
            <a:ext cx="4754880" cy="1097280"/>
          </a:xfrm>
          <a:prstGeom prst="rect">
            <a:avLst/>
          </a:prstGeom>
          <a:noFill/>
        </p:spPr>
        <p:txBody>
          <a:bodyPr wrap="square" lIns="0" rIns="0" tIns="0" bIns="0">
            <a:spAutoFit/>
          </a:bodyPr>
          <a:lstStyle/>
          <a:p>
            <a:pPr algn="l">
              <a:spcAft>
                <a:spcPts val="1000"/>
              </a:spcAft>
              <a:defRPr sz="2200" b="0">
                <a:solidFill>
                  <a:srgbClr val="18293B"/>
                </a:solidFill>
                <a:latin typeface="Aptos"/>
              </a:defRPr>
            </a:pPr>
            <a:r>
              <a:t>Observation fit</a:t>
            </a:r>
          </a:p>
          <a:p>
            <a:pPr algn="l">
              <a:spcAft>
                <a:spcPts val="1000"/>
              </a:spcAft>
              <a:defRPr sz="2200" b="0">
                <a:solidFill>
                  <a:srgbClr val="18293B"/>
                </a:solidFill>
                <a:latin typeface="Aptos"/>
              </a:defRPr>
            </a:pPr>
            <a:r>
              <a:t>Does the proposed sharp field reproduce b?</a:t>
            </a:r>
          </a:p>
        </p:txBody>
      </p:sp>
      <p:sp>
        <p:nvSpPr>
          <p:cNvPr id="10" name="Rectangle 9"/>
          <p:cNvSpPr/>
          <p:nvPr/>
        </p:nvSpPr>
        <p:spPr>
          <a:xfrm>
            <a:off x="6217920" y="3154680"/>
            <a:ext cx="5166360" cy="1508760"/>
          </a:xfrm>
          <a:prstGeom prst="rect">
            <a:avLst/>
          </a:prstGeom>
          <a:solidFill>
            <a:srgbClr val="EDF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3337560"/>
            <a:ext cx="4754880" cy="1097280"/>
          </a:xfrm>
          <a:prstGeom prst="rect">
            <a:avLst/>
          </a:prstGeom>
          <a:noFill/>
        </p:spPr>
        <p:txBody>
          <a:bodyPr wrap="square" lIns="0" rIns="0" tIns="0" bIns="0">
            <a:spAutoFit/>
          </a:bodyPr>
          <a:lstStyle/>
          <a:p>
            <a:pPr algn="l">
              <a:spcAft>
                <a:spcPts val="1000"/>
              </a:spcAft>
              <a:defRPr sz="2200" b="0">
                <a:solidFill>
                  <a:srgbClr val="18293B"/>
                </a:solidFill>
                <a:latin typeface="Aptos"/>
              </a:defRPr>
            </a:pPr>
            <a:r>
              <a:t>Pixel shrinkage</a:t>
            </a:r>
          </a:p>
          <a:p>
            <a:pPr algn="l">
              <a:spcAft>
                <a:spcPts val="1000"/>
              </a:spcAft>
              <a:defRPr sz="2200" b="0">
                <a:solidFill>
                  <a:srgbClr val="18293B"/>
                </a:solidFill>
                <a:latin typeface="Aptos"/>
              </a:defRPr>
            </a:pPr>
            <a:r>
              <a:t>Penalizes magnitude; encourages zeros.</a:t>
            </a:r>
          </a:p>
        </p:txBody>
      </p:sp>
      <p:sp>
        <p:nvSpPr>
          <p:cNvPr id="12" name="Rectangle 11"/>
          <p:cNvSpPr/>
          <p:nvPr/>
        </p:nvSpPr>
        <p:spPr>
          <a:xfrm>
            <a:off x="502920" y="5833872"/>
            <a:ext cx="11155680" cy="438912"/>
          </a:xfrm>
          <a:prstGeom prst="rect">
            <a:avLst/>
          </a:prstGeom>
          <a:solidFill>
            <a:srgbClr val="EDF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5907024"/>
            <a:ext cx="10835640" cy="274320"/>
          </a:xfrm>
          <a:prstGeom prst="rect">
            <a:avLst/>
          </a:prstGeom>
          <a:noFill/>
        </p:spPr>
        <p:txBody>
          <a:bodyPr wrap="square" lIns="0" rIns="0" tIns="0" bIns="0">
            <a:spAutoFit/>
          </a:bodyPr>
          <a:lstStyle/>
          <a:p>
            <a:pPr algn="l">
              <a:spcAft>
                <a:spcPts val="1000"/>
              </a:spcAft>
              <a:defRPr sz="1500" b="1">
                <a:solidFill>
                  <a:srgbClr val="3478B6"/>
                </a:solidFill>
                <a:latin typeface="Aptos"/>
              </a:defRPr>
            </a:pPr>
            <a:r>
              <a:t>A smaller objective does not automatically mean a smaller error against the COMSOL reference.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972800" cy="274320"/>
          </a:xfrm>
          <a:prstGeom prst="rect">
            <a:avLst/>
          </a:prstGeom>
          <a:noFill/>
        </p:spPr>
        <p:txBody>
          <a:bodyPr wrap="square" lIns="0" rIns="0" tIns="0" bIns="0">
            <a:spAutoFit/>
          </a:bodyPr>
          <a:lstStyle/>
          <a:p>
            <a:pPr algn="l">
              <a:spcAft>
                <a:spcPts val="1000"/>
              </a:spcAft>
              <a:defRPr sz="1100" b="1">
                <a:solidFill>
                  <a:srgbClr val="3478B6"/>
                </a:solidFill>
                <a:latin typeface="Aptos"/>
              </a:defRPr>
            </a:pPr>
            <a:r>
              <a:t>ALGORITHMS</a:t>
            </a:r>
          </a:p>
        </p:txBody>
      </p:sp>
      <p:sp>
        <p:nvSpPr>
          <p:cNvPr id="4" name="TextBox 3"/>
          <p:cNvSpPr txBox="1"/>
          <p:nvPr/>
        </p:nvSpPr>
        <p:spPr>
          <a:xfrm>
            <a:off x="502920" y="749808"/>
            <a:ext cx="11155680" cy="822960"/>
          </a:xfrm>
          <a:prstGeom prst="rect">
            <a:avLst/>
          </a:prstGeom>
          <a:noFill/>
        </p:spPr>
        <p:txBody>
          <a:bodyPr wrap="square" lIns="0" rIns="0" tIns="0" bIns="0">
            <a:spAutoFit/>
          </a:bodyPr>
          <a:lstStyle/>
          <a:p>
            <a:pPr algn="l">
              <a:spcAft>
                <a:spcPts val="1000"/>
              </a:spcAft>
              <a:defRPr sz="2900" b="1">
                <a:solidFill>
                  <a:srgbClr val="162C46"/>
                </a:solidFill>
                <a:latin typeface="Aptos"/>
              </a:defRPr>
            </a:pPr>
            <a:r>
              <a:t>ISTA corrects the residual, then soft-thresholds</a:t>
            </a:r>
          </a:p>
        </p:txBody>
      </p:sp>
      <p:sp>
        <p:nvSpPr>
          <p:cNvPr id="5" name="TextBox 4"/>
          <p:cNvSpPr txBox="1"/>
          <p:nvPr/>
        </p:nvSpPr>
        <p:spPr>
          <a:xfrm>
            <a:off x="502920" y="6519672"/>
            <a:ext cx="10698480" cy="201168"/>
          </a:xfrm>
          <a:prstGeom prst="rect">
            <a:avLst/>
          </a:prstGeom>
          <a:noFill/>
        </p:spPr>
        <p:txBody>
          <a:bodyPr wrap="square" lIns="0" rIns="0" tIns="0" bIns="0">
            <a:spAutoFit/>
          </a:bodyPr>
          <a:lstStyle/>
          <a:p>
            <a:pPr algn="l">
              <a:spcAft>
                <a:spcPts val="1000"/>
              </a:spcAft>
              <a:defRPr sz="1000" b="0">
                <a:solidFill>
                  <a:srgbClr val="526174"/>
                </a:solidFill>
                <a:latin typeface="Aptos"/>
              </a:defRPr>
            </a:pPr>
            <a:r>
              <a:t>COMSOL z = 3 → 0.5 µm  •  Same-sample reconstruction; no independent test set</a:t>
            </a:r>
          </a:p>
        </p:txBody>
      </p:sp>
      <p:sp>
        <p:nvSpPr>
          <p:cNvPr id="6" name="TextBox 5"/>
          <p:cNvSpPr txBox="1"/>
          <p:nvPr/>
        </p:nvSpPr>
        <p:spPr>
          <a:xfrm>
            <a:off x="11109960" y="6492240"/>
            <a:ext cx="548640" cy="228600"/>
          </a:xfrm>
          <a:prstGeom prst="rect">
            <a:avLst/>
          </a:prstGeom>
          <a:noFill/>
        </p:spPr>
        <p:txBody>
          <a:bodyPr wrap="square" lIns="0" rIns="0" tIns="0" bIns="0">
            <a:spAutoFit/>
          </a:bodyPr>
          <a:lstStyle/>
          <a:p>
            <a:pPr algn="r">
              <a:spcAft>
                <a:spcPts val="1000"/>
              </a:spcAft>
              <a:defRPr sz="1100" b="0">
                <a:solidFill>
                  <a:srgbClr val="526174"/>
                </a:solidFill>
                <a:latin typeface="Aptos"/>
              </a:defRPr>
            </a:pPr>
            <a:r>
              <a:t>7</a:t>
            </a:r>
          </a:p>
        </p:txBody>
      </p:sp>
      <p:pic>
        <p:nvPicPr>
          <p:cNvPr id="7" name="Picture 6" descr="eq_39.png"/>
          <p:cNvPicPr>
            <a:picLocks noChangeAspect="1"/>
          </p:cNvPicPr>
          <p:nvPr/>
        </p:nvPicPr>
        <p:blipFill>
          <a:blip r:embed="rId3"/>
          <a:stretch>
            <a:fillRect/>
          </a:stretch>
        </p:blipFill>
        <p:spPr>
          <a:xfrm>
            <a:off x="2036418" y="1737360"/>
            <a:ext cx="8088682" cy="822960"/>
          </a:xfrm>
          <a:prstGeom prst="rect">
            <a:avLst/>
          </a:prstGeom>
        </p:spPr>
      </p:pic>
      <p:pic>
        <p:nvPicPr>
          <p:cNvPr id="8" name="Picture 7" descr="eq_40.png"/>
          <p:cNvPicPr>
            <a:picLocks noChangeAspect="1"/>
          </p:cNvPicPr>
          <p:nvPr/>
        </p:nvPicPr>
        <p:blipFill>
          <a:blip r:embed="rId4"/>
          <a:stretch>
            <a:fillRect/>
          </a:stretch>
        </p:blipFill>
        <p:spPr>
          <a:xfrm>
            <a:off x="594360" y="2749355"/>
            <a:ext cx="6400800" cy="673489"/>
          </a:xfrm>
          <a:prstGeom prst="rect">
            <a:avLst/>
          </a:prstGeom>
        </p:spPr>
      </p:pic>
      <p:sp>
        <p:nvSpPr>
          <p:cNvPr id="9" name="TextBox 8"/>
          <p:cNvSpPr txBox="1"/>
          <p:nvPr/>
        </p:nvSpPr>
        <p:spPr>
          <a:xfrm>
            <a:off x="777240" y="3794760"/>
            <a:ext cx="5943600" cy="1280160"/>
          </a:xfrm>
          <a:prstGeom prst="rect">
            <a:avLst/>
          </a:prstGeom>
          <a:noFill/>
        </p:spPr>
        <p:txBody>
          <a:bodyPr wrap="square" lIns="0" rIns="0" tIns="0" bIns="0">
            <a:spAutoFit/>
          </a:bodyPr>
          <a:lstStyle/>
          <a:p>
            <a:pPr algn="l">
              <a:spcAft>
                <a:spcPts val="1000"/>
              </a:spcAft>
              <a:defRPr sz="2300" b="0">
                <a:solidFill>
                  <a:srgbClr val="18293B"/>
                </a:solidFill>
                <a:latin typeface="Aptos"/>
              </a:defRPr>
            </a:pPr>
            <a:r>
              <a:t>x₀ = b</a:t>
            </a:r>
          </a:p>
          <a:p>
            <a:pPr algn="l">
              <a:spcAft>
                <a:spcPts val="1000"/>
              </a:spcAft>
              <a:defRPr sz="2300" b="0">
                <a:solidFill>
                  <a:srgbClr val="18293B"/>
                </a:solidFill>
                <a:latin typeface="Aptos"/>
              </a:defRPr>
            </a:pPr>
            <a:r>
              <a:t>α = 0.99 / max|H|² = 0.221052</a:t>
            </a:r>
          </a:p>
          <a:p>
            <a:pPr algn="l">
              <a:spcAft>
                <a:spcPts val="1000"/>
              </a:spcAft>
              <a:defRPr sz="2300" b="0">
                <a:solidFill>
                  <a:srgbClr val="18293B"/>
                </a:solidFill>
                <a:latin typeface="Aptos"/>
              </a:defRPr>
            </a:pPr>
            <a:r>
              <a:t>Fixed threshold = αλ</a:t>
            </a:r>
          </a:p>
        </p:txBody>
      </p:sp>
      <p:pic>
        <p:nvPicPr>
          <p:cNvPr id="10" name="Picture 9" descr="shrink.png"/>
          <p:cNvPicPr>
            <a:picLocks noChangeAspect="1"/>
          </p:cNvPicPr>
          <p:nvPr/>
        </p:nvPicPr>
        <p:blipFill>
          <a:blip r:embed="rId5"/>
          <a:stretch>
            <a:fillRect/>
          </a:stretch>
        </p:blipFill>
        <p:spPr>
          <a:xfrm>
            <a:off x="7040880" y="2947129"/>
            <a:ext cx="4389120" cy="2243900"/>
          </a:xfrm>
          <a:prstGeom prst="rect">
            <a:avLst/>
          </a:prstGeom>
        </p:spPr>
      </p:pic>
      <p:sp>
        <p:nvSpPr>
          <p:cNvPr id="11" name="Rectangle 10"/>
          <p:cNvSpPr/>
          <p:nvPr/>
        </p:nvSpPr>
        <p:spPr>
          <a:xfrm>
            <a:off x="502920" y="5833872"/>
            <a:ext cx="11155680" cy="438912"/>
          </a:xfrm>
          <a:prstGeom prst="rect">
            <a:avLst/>
          </a:prstGeom>
          <a:solidFill>
            <a:srgbClr val="EDF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5907024"/>
            <a:ext cx="10835640" cy="274320"/>
          </a:xfrm>
          <a:prstGeom prst="rect">
            <a:avLst/>
          </a:prstGeom>
          <a:noFill/>
        </p:spPr>
        <p:txBody>
          <a:bodyPr wrap="square" lIns="0" rIns="0" tIns="0" bIns="0">
            <a:spAutoFit/>
          </a:bodyPr>
          <a:lstStyle/>
          <a:p>
            <a:pPr algn="l">
              <a:spcAft>
                <a:spcPts val="1000"/>
              </a:spcAft>
              <a:defRPr sz="1500" b="1">
                <a:solidFill>
                  <a:srgbClr val="3478B6"/>
                </a:solidFill>
                <a:latin typeface="Aptos"/>
              </a:defRPr>
            </a:pPr>
            <a:r>
              <a:t>No training: every update follows the gradient and proximal map of the selected objective.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972800" cy="274320"/>
          </a:xfrm>
          <a:prstGeom prst="rect">
            <a:avLst/>
          </a:prstGeom>
          <a:noFill/>
        </p:spPr>
        <p:txBody>
          <a:bodyPr wrap="square" lIns="0" rIns="0" tIns="0" bIns="0">
            <a:spAutoFit/>
          </a:bodyPr>
          <a:lstStyle/>
          <a:p>
            <a:pPr algn="l">
              <a:spcAft>
                <a:spcPts val="1000"/>
              </a:spcAft>
              <a:defRPr sz="1100" b="1">
                <a:solidFill>
                  <a:srgbClr val="3478B6"/>
                </a:solidFill>
                <a:latin typeface="Aptos"/>
              </a:defRPr>
            </a:pPr>
            <a:r>
              <a:t>ALGORITHMS</a:t>
            </a:r>
          </a:p>
        </p:txBody>
      </p:sp>
      <p:sp>
        <p:nvSpPr>
          <p:cNvPr id="4" name="TextBox 3"/>
          <p:cNvSpPr txBox="1"/>
          <p:nvPr/>
        </p:nvSpPr>
        <p:spPr>
          <a:xfrm>
            <a:off x="502920" y="749808"/>
            <a:ext cx="11155680" cy="822960"/>
          </a:xfrm>
          <a:prstGeom prst="rect">
            <a:avLst/>
          </a:prstGeom>
          <a:noFill/>
        </p:spPr>
        <p:txBody>
          <a:bodyPr wrap="square" lIns="0" rIns="0" tIns="0" bIns="0">
            <a:spAutoFit/>
          </a:bodyPr>
          <a:lstStyle/>
          <a:p>
            <a:pPr algn="l">
              <a:spcAft>
                <a:spcPts val="1000"/>
              </a:spcAft>
              <a:defRPr sz="2900" b="1">
                <a:solidFill>
                  <a:srgbClr val="162C46"/>
                </a:solidFill>
                <a:latin typeface="Aptos"/>
              </a:defRPr>
            </a:pPr>
            <a:r>
              <a:t>FISTA adds momentum to the same proximal update</a:t>
            </a:r>
          </a:p>
        </p:txBody>
      </p:sp>
      <p:sp>
        <p:nvSpPr>
          <p:cNvPr id="5" name="TextBox 4"/>
          <p:cNvSpPr txBox="1"/>
          <p:nvPr/>
        </p:nvSpPr>
        <p:spPr>
          <a:xfrm>
            <a:off x="502920" y="6519672"/>
            <a:ext cx="10698480" cy="201168"/>
          </a:xfrm>
          <a:prstGeom prst="rect">
            <a:avLst/>
          </a:prstGeom>
          <a:noFill/>
        </p:spPr>
        <p:txBody>
          <a:bodyPr wrap="square" lIns="0" rIns="0" tIns="0" bIns="0">
            <a:spAutoFit/>
          </a:bodyPr>
          <a:lstStyle/>
          <a:p>
            <a:pPr algn="l">
              <a:spcAft>
                <a:spcPts val="1000"/>
              </a:spcAft>
              <a:defRPr sz="1000" b="0">
                <a:solidFill>
                  <a:srgbClr val="526174"/>
                </a:solidFill>
                <a:latin typeface="Aptos"/>
              </a:defRPr>
            </a:pPr>
            <a:r>
              <a:t>COMSOL z = 3 → 0.5 µm  •  Same-sample reconstruction; no independent test set</a:t>
            </a:r>
          </a:p>
        </p:txBody>
      </p:sp>
      <p:sp>
        <p:nvSpPr>
          <p:cNvPr id="6" name="TextBox 5"/>
          <p:cNvSpPr txBox="1"/>
          <p:nvPr/>
        </p:nvSpPr>
        <p:spPr>
          <a:xfrm>
            <a:off x="11109960" y="6492240"/>
            <a:ext cx="548640" cy="228600"/>
          </a:xfrm>
          <a:prstGeom prst="rect">
            <a:avLst/>
          </a:prstGeom>
          <a:noFill/>
        </p:spPr>
        <p:txBody>
          <a:bodyPr wrap="square" lIns="0" rIns="0" tIns="0" bIns="0">
            <a:spAutoFit/>
          </a:bodyPr>
          <a:lstStyle/>
          <a:p>
            <a:pPr algn="r">
              <a:spcAft>
                <a:spcPts val="1000"/>
              </a:spcAft>
              <a:defRPr sz="1100" b="0">
                <a:solidFill>
                  <a:srgbClr val="526174"/>
                </a:solidFill>
                <a:latin typeface="Aptos"/>
              </a:defRPr>
            </a:pPr>
            <a:r>
              <a:t>8</a:t>
            </a:r>
          </a:p>
        </p:txBody>
      </p:sp>
      <p:pic>
        <p:nvPicPr>
          <p:cNvPr id="7" name="Picture 6" descr="eq_41.png"/>
          <p:cNvPicPr>
            <a:picLocks noChangeAspect="1"/>
          </p:cNvPicPr>
          <p:nvPr/>
        </p:nvPicPr>
        <p:blipFill>
          <a:blip r:embed="rId3"/>
          <a:stretch>
            <a:fillRect/>
          </a:stretch>
        </p:blipFill>
        <p:spPr>
          <a:xfrm>
            <a:off x="2753847" y="1737360"/>
            <a:ext cx="6653825" cy="731520"/>
          </a:xfrm>
          <a:prstGeom prst="rect">
            <a:avLst/>
          </a:prstGeom>
        </p:spPr>
      </p:pic>
      <p:pic>
        <p:nvPicPr>
          <p:cNvPr id="8" name="Picture 7" descr="eq_42.png"/>
          <p:cNvPicPr>
            <a:picLocks noChangeAspect="1"/>
          </p:cNvPicPr>
          <p:nvPr/>
        </p:nvPicPr>
        <p:blipFill>
          <a:blip r:embed="rId4"/>
          <a:stretch>
            <a:fillRect/>
          </a:stretch>
        </p:blipFill>
        <p:spPr>
          <a:xfrm>
            <a:off x="4740565" y="2697480"/>
            <a:ext cx="2680388" cy="777240"/>
          </a:xfrm>
          <a:prstGeom prst="rect">
            <a:avLst/>
          </a:prstGeom>
        </p:spPr>
      </p:pic>
      <p:pic>
        <p:nvPicPr>
          <p:cNvPr id="9" name="Picture 8" descr="eq_43.png"/>
          <p:cNvPicPr>
            <a:picLocks noChangeAspect="1"/>
          </p:cNvPicPr>
          <p:nvPr/>
        </p:nvPicPr>
        <p:blipFill>
          <a:blip r:embed="rId5"/>
          <a:stretch>
            <a:fillRect/>
          </a:stretch>
        </p:blipFill>
        <p:spPr>
          <a:xfrm>
            <a:off x="3430057" y="3657600"/>
            <a:ext cx="5301405" cy="777240"/>
          </a:xfrm>
          <a:prstGeom prst="rect">
            <a:avLst/>
          </a:prstGeom>
        </p:spPr>
      </p:pic>
      <p:sp>
        <p:nvSpPr>
          <p:cNvPr id="10" name="TextBox 9"/>
          <p:cNvSpPr txBox="1"/>
          <p:nvPr/>
        </p:nvSpPr>
        <p:spPr>
          <a:xfrm>
            <a:off x="731520" y="4754880"/>
            <a:ext cx="10698480" cy="594360"/>
          </a:xfrm>
          <a:prstGeom prst="rect">
            <a:avLst/>
          </a:prstGeom>
          <a:noFill/>
        </p:spPr>
        <p:txBody>
          <a:bodyPr wrap="square" lIns="0" rIns="0" tIns="0" bIns="0">
            <a:spAutoFit/>
          </a:bodyPr>
          <a:lstStyle/>
          <a:p>
            <a:pPr algn="l">
              <a:spcAft>
                <a:spcPts val="1000"/>
              </a:spcAft>
              <a:defRPr sz="2200" b="0">
                <a:solidFill>
                  <a:srgbClr val="18293B"/>
                </a:solidFill>
                <a:latin typeface="Aptos"/>
              </a:defRPr>
            </a:pPr>
            <a:r>
              <a:t>Same A, λ, α and initialization as ISTA. No learned parameters.</a:t>
            </a:r>
          </a:p>
        </p:txBody>
      </p:sp>
      <p:sp>
        <p:nvSpPr>
          <p:cNvPr id="11" name="Rectangle 10"/>
          <p:cNvSpPr/>
          <p:nvPr/>
        </p:nvSpPr>
        <p:spPr>
          <a:xfrm>
            <a:off x="502920" y="5833872"/>
            <a:ext cx="11155680" cy="438912"/>
          </a:xfrm>
          <a:prstGeom prst="rect">
            <a:avLst/>
          </a:prstGeom>
          <a:solidFill>
            <a:srgbClr val="EDF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5907024"/>
            <a:ext cx="10835640" cy="274320"/>
          </a:xfrm>
          <a:prstGeom prst="rect">
            <a:avLst/>
          </a:prstGeom>
          <a:noFill/>
        </p:spPr>
        <p:txBody>
          <a:bodyPr wrap="square" lIns="0" rIns="0" tIns="0" bIns="0">
            <a:spAutoFit/>
          </a:bodyPr>
          <a:lstStyle/>
          <a:p>
            <a:pPr algn="l">
              <a:spcAft>
                <a:spcPts val="1000"/>
              </a:spcAft>
              <a:defRPr sz="1500" b="1">
                <a:solidFill>
                  <a:srgbClr val="3478B6"/>
                </a:solidFill>
                <a:latin typeface="Aptos"/>
              </a:defRPr>
            </a:pPr>
            <a:r>
              <a:t>Acceleration concerns the objective gap: O(1/k²) rather than O(1/k).</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972800" cy="274320"/>
          </a:xfrm>
          <a:prstGeom prst="rect">
            <a:avLst/>
          </a:prstGeom>
          <a:noFill/>
        </p:spPr>
        <p:txBody>
          <a:bodyPr wrap="square" lIns="0" rIns="0" tIns="0" bIns="0">
            <a:spAutoFit/>
          </a:bodyPr>
          <a:lstStyle/>
          <a:p>
            <a:pPr algn="l">
              <a:spcAft>
                <a:spcPts val="1000"/>
              </a:spcAft>
              <a:defRPr sz="1100" b="1">
                <a:solidFill>
                  <a:srgbClr val="3478B6"/>
                </a:solidFill>
                <a:latin typeface="Aptos"/>
              </a:defRPr>
            </a:pPr>
            <a:r>
              <a:t>LEARNED RECONSTRUCTION</a:t>
            </a:r>
          </a:p>
        </p:txBody>
      </p:sp>
      <p:sp>
        <p:nvSpPr>
          <p:cNvPr id="4" name="TextBox 3"/>
          <p:cNvSpPr txBox="1"/>
          <p:nvPr/>
        </p:nvSpPr>
        <p:spPr>
          <a:xfrm>
            <a:off x="502920" y="749808"/>
            <a:ext cx="11155680" cy="822960"/>
          </a:xfrm>
          <a:prstGeom prst="rect">
            <a:avLst/>
          </a:prstGeom>
          <a:noFill/>
        </p:spPr>
        <p:txBody>
          <a:bodyPr wrap="square" lIns="0" rIns="0" tIns="0" bIns="0">
            <a:spAutoFit/>
          </a:bodyPr>
          <a:lstStyle/>
          <a:p>
            <a:pPr algn="l">
              <a:spcAft>
                <a:spcPts val="1000"/>
              </a:spcAft>
              <a:defRPr sz="2900" b="1">
                <a:solidFill>
                  <a:srgbClr val="162C46"/>
                </a:solidFill>
                <a:latin typeface="Aptos"/>
              </a:defRPr>
            </a:pPr>
            <a:r>
              <a:t>ConvLISTA learns corrections to a finite ISTA sequence</a:t>
            </a:r>
          </a:p>
        </p:txBody>
      </p:sp>
      <p:sp>
        <p:nvSpPr>
          <p:cNvPr id="5" name="TextBox 4"/>
          <p:cNvSpPr txBox="1"/>
          <p:nvPr/>
        </p:nvSpPr>
        <p:spPr>
          <a:xfrm>
            <a:off x="502920" y="6519672"/>
            <a:ext cx="10698480" cy="201168"/>
          </a:xfrm>
          <a:prstGeom prst="rect">
            <a:avLst/>
          </a:prstGeom>
          <a:noFill/>
        </p:spPr>
        <p:txBody>
          <a:bodyPr wrap="square" lIns="0" rIns="0" tIns="0" bIns="0">
            <a:spAutoFit/>
          </a:bodyPr>
          <a:lstStyle/>
          <a:p>
            <a:pPr algn="l">
              <a:spcAft>
                <a:spcPts val="1000"/>
              </a:spcAft>
              <a:defRPr sz="1000" b="0">
                <a:solidFill>
                  <a:srgbClr val="526174"/>
                </a:solidFill>
                <a:latin typeface="Aptos"/>
              </a:defRPr>
            </a:pPr>
            <a:r>
              <a:t>COMSOL z = 3 → 0.5 µm  •  Same-sample reconstruction; no independent test set</a:t>
            </a:r>
          </a:p>
        </p:txBody>
      </p:sp>
      <p:sp>
        <p:nvSpPr>
          <p:cNvPr id="6" name="TextBox 5"/>
          <p:cNvSpPr txBox="1"/>
          <p:nvPr/>
        </p:nvSpPr>
        <p:spPr>
          <a:xfrm>
            <a:off x="11109960" y="6492240"/>
            <a:ext cx="548640" cy="228600"/>
          </a:xfrm>
          <a:prstGeom prst="rect">
            <a:avLst/>
          </a:prstGeom>
          <a:noFill/>
        </p:spPr>
        <p:txBody>
          <a:bodyPr wrap="square" lIns="0" rIns="0" tIns="0" bIns="0">
            <a:spAutoFit/>
          </a:bodyPr>
          <a:lstStyle/>
          <a:p>
            <a:pPr algn="r">
              <a:spcAft>
                <a:spcPts val="1000"/>
              </a:spcAft>
              <a:defRPr sz="1100" b="0">
                <a:solidFill>
                  <a:srgbClr val="526174"/>
                </a:solidFill>
                <a:latin typeface="Aptos"/>
              </a:defRPr>
            </a:pPr>
            <a:r>
              <a:t>9</a:t>
            </a:r>
          </a:p>
        </p:txBody>
      </p:sp>
      <p:pic>
        <p:nvPicPr>
          <p:cNvPr id="7" name="Picture 6" descr="eq_44.png"/>
          <p:cNvPicPr>
            <a:picLocks noChangeAspect="1"/>
          </p:cNvPicPr>
          <p:nvPr/>
        </p:nvPicPr>
        <p:blipFill>
          <a:blip r:embed="rId3"/>
          <a:stretch>
            <a:fillRect/>
          </a:stretch>
        </p:blipFill>
        <p:spPr>
          <a:xfrm>
            <a:off x="640080" y="1700867"/>
            <a:ext cx="10881360" cy="804504"/>
          </a:xfrm>
          <a:prstGeom prst="rect">
            <a:avLst/>
          </a:prstGeom>
        </p:spPr>
      </p:pic>
      <p:graphicFrame>
        <p:nvGraphicFramePr>
          <p:cNvPr id="8" name="Table 7"/>
          <p:cNvGraphicFramePr>
            <a:graphicFrameLocks noGrp="1"/>
          </p:cNvGraphicFramePr>
          <p:nvPr/>
        </p:nvGraphicFramePr>
        <p:xfrm>
          <a:off x="594360" y="2743200"/>
          <a:ext cx="10972800" cy="2057400"/>
        </p:xfrm>
        <a:graphic>
          <a:graphicData uri="http://schemas.openxmlformats.org/drawingml/2006/table">
            <a:tbl>
              <a:tblPr firstRow="1" bandRow="1">
                <a:tableStyleId>{5C22544A-7EE6-4342-B048-85BDC9FD1C3A}</a:tableStyleId>
              </a:tblPr>
              <a:tblGrid>
                <a:gridCol w="5486400"/>
                <a:gridCol w="5486400"/>
              </a:tblGrid>
              <a:tr h="514350">
                <a:tc>
                  <a:txBody>
                    <a:bodyPr/>
                    <a:lstStyle/>
                    <a:p>
                      <a:pPr>
                        <a:defRPr sz="2000" b="1">
                          <a:solidFill>
                            <a:srgbClr val="FFFFFF"/>
                          </a:solidFill>
                          <a:latin typeface="Aptos"/>
                        </a:defRPr>
                      </a:pPr>
                      <a:r>
                        <a:t>Fixed structure</a:t>
                      </a:r>
                    </a:p>
                  </a:txBody>
                  <a:tcPr marL="109728" marR="73152" marT="73152" marB="27432">
                    <a:solidFill>
                      <a:srgbClr val="162C46"/>
                    </a:solidFill>
                  </a:tcPr>
                </a:tc>
                <a:tc>
                  <a:txBody>
                    <a:bodyPr/>
                    <a:lstStyle/>
                    <a:p>
                      <a:pPr>
                        <a:defRPr sz="2000" b="1">
                          <a:solidFill>
                            <a:srgbClr val="FFFFFF"/>
                          </a:solidFill>
                          <a:latin typeface="Aptos"/>
                        </a:defRPr>
                      </a:pPr>
                      <a:r>
                        <a:t>Trainable correction</a:t>
                      </a:r>
                    </a:p>
                  </a:txBody>
                  <a:tcPr marL="109728" marR="73152" marT="73152" marB="27432">
                    <a:solidFill>
                      <a:srgbClr val="162C46"/>
                    </a:solidFill>
                  </a:tcPr>
                </a:tc>
              </a:tr>
              <a:tr h="514350">
                <a:tc>
                  <a:txBody>
                    <a:bodyPr/>
                    <a:lstStyle/>
                    <a:p>
                      <a:pPr>
                        <a:defRPr sz="2000" b="0">
                          <a:solidFill>
                            <a:srgbClr val="18293B"/>
                          </a:solidFill>
                          <a:latin typeface="Aptos"/>
                        </a:defRPr>
                      </a:pPr>
                      <a:r>
                        <a:t>Padded A and its adjoint</a:t>
                      </a:r>
                    </a:p>
                  </a:txBody>
                  <a:tcPr marL="109728" marR="73152" marT="73152" marB="27432">
                    <a:solidFill>
                      <a:srgbClr val="EDF2F6"/>
                    </a:solidFill>
                  </a:tcPr>
                </a:tc>
                <a:tc>
                  <a:txBody>
                    <a:bodyPr/>
                    <a:lstStyle/>
                    <a:p>
                      <a:pPr>
                        <a:defRPr sz="2000" b="0">
                          <a:solidFill>
                            <a:srgbClr val="18293B"/>
                          </a:solidFill>
                          <a:latin typeface="Aptos"/>
                        </a:defRPr>
                      </a:pPr>
                      <a:r>
                        <a:t>Cb: one 9 × 9 convolution</a:t>
                      </a:r>
                    </a:p>
                  </a:txBody>
                  <a:tcPr marL="109728" marR="73152" marT="73152" marB="27432">
                    <a:solidFill>
                      <a:srgbClr val="EDF2F6"/>
                    </a:solidFill>
                  </a:tcPr>
                </a:tc>
              </a:tr>
              <a:tr h="514350">
                <a:tc>
                  <a:txBody>
                    <a:bodyPr/>
                    <a:lstStyle/>
                    <a:p>
                      <a:pPr>
                        <a:defRPr sz="2000" b="0">
                          <a:solidFill>
                            <a:srgbClr val="18293B"/>
                          </a:solidFill>
                          <a:latin typeface="Aptos"/>
                        </a:defRPr>
                      </a:pPr>
                      <a:r>
                        <a:t>Base step α and starting image b</a:t>
                      </a:r>
                    </a:p>
                  </a:txBody>
                  <a:tcPr marL="109728" marR="73152" marT="73152" marB="27432">
                    <a:solidFill>
                      <a:srgbClr val="FFFFFF"/>
                    </a:solidFill>
                  </a:tcPr>
                </a:tc>
                <a:tc>
                  <a:txBody>
                    <a:bodyPr/>
                    <a:lstStyle/>
                    <a:p>
                      <a:pPr>
                        <a:defRPr sz="2000" b="0">
                          <a:solidFill>
                            <a:srgbClr val="18293B"/>
                          </a:solidFill>
                          <a:latin typeface="Aptos"/>
                        </a:defRPr>
                      </a:pPr>
                      <a:r>
                        <a:t>Cx: one 9 × 9 convolution</a:t>
                      </a:r>
                    </a:p>
                  </a:txBody>
                  <a:tcPr marL="109728" marR="73152" marT="73152" marB="27432">
                    <a:solidFill>
                      <a:srgbClr val="FFFFFF"/>
                    </a:solidFill>
                  </a:tcPr>
                </a:tc>
              </a:tr>
              <a:tr h="514350">
                <a:tc>
                  <a:txBody>
                    <a:bodyPr/>
                    <a:lstStyle/>
                    <a:p>
                      <a:pPr>
                        <a:defRPr sz="2000" b="0">
                          <a:solidFill>
                            <a:srgbClr val="18293B"/>
                          </a:solidFill>
                          <a:latin typeface="Aptos"/>
                        </a:defRPr>
                      </a:pPr>
                      <a:r>
                        <a:t>8 or 16 repeated layers</a:t>
                      </a:r>
                    </a:p>
                  </a:txBody>
                  <a:tcPr marL="109728" marR="73152" marT="73152" marB="27432">
                    <a:solidFill>
                      <a:srgbClr val="EDF2F6"/>
                    </a:solidFill>
                  </a:tcPr>
                </a:tc>
                <a:tc>
                  <a:txBody>
                    <a:bodyPr/>
                    <a:lstStyle/>
                    <a:p>
                      <a:pPr>
                        <a:defRPr sz="2000" b="0">
                          <a:solidFill>
                            <a:srgbClr val="18293B"/>
                          </a:solidFill>
                          <a:latin typeface="Aptos"/>
                        </a:defRPr>
                      </a:pPr>
                      <a:r>
                        <a:t>θ: one nonnegative scalar</a:t>
                      </a:r>
                    </a:p>
                  </a:txBody>
                  <a:tcPr marL="109728" marR="73152" marT="73152" marB="27432">
                    <a:solidFill>
                      <a:srgbClr val="EDF2F6"/>
                    </a:solidFill>
                  </a:tcPr>
                </a:tc>
              </a:tr>
            </a:tbl>
          </a:graphicData>
        </a:graphic>
      </p:graphicFrame>
      <p:sp>
        <p:nvSpPr>
          <p:cNvPr id="9" name="TextBox 8"/>
          <p:cNvSpPr txBox="1"/>
          <p:nvPr/>
        </p:nvSpPr>
        <p:spPr>
          <a:xfrm>
            <a:off x="777240" y="5074920"/>
            <a:ext cx="10698480" cy="457200"/>
          </a:xfrm>
          <a:prstGeom prst="rect">
            <a:avLst/>
          </a:prstGeom>
          <a:noFill/>
        </p:spPr>
        <p:txBody>
          <a:bodyPr wrap="square" lIns="0" rIns="0" tIns="0" bIns="0">
            <a:spAutoFit/>
          </a:bodyPr>
          <a:lstStyle/>
          <a:p>
            <a:pPr algn="l">
              <a:spcAft>
                <a:spcPts val="1000"/>
              </a:spcAft>
              <a:defRPr sz="2500" b="1">
                <a:solidFill>
                  <a:srgbClr val="D9782F"/>
                </a:solidFill>
                <a:latin typeface="Aptos"/>
              </a:defRPr>
            </a:pPr>
            <a:r>
              <a:t>Tied parameters: 81 + 81 + 1 = 163 in both runs</a:t>
            </a:r>
          </a:p>
        </p:txBody>
      </p:sp>
      <p:sp>
        <p:nvSpPr>
          <p:cNvPr id="10" name="Rectangle 9"/>
          <p:cNvSpPr/>
          <p:nvPr/>
        </p:nvSpPr>
        <p:spPr>
          <a:xfrm>
            <a:off x="502920" y="5833872"/>
            <a:ext cx="11155680" cy="438912"/>
          </a:xfrm>
          <a:prstGeom prst="rect">
            <a:avLst/>
          </a:prstGeom>
          <a:solidFill>
            <a:srgbClr val="EDF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5907024"/>
            <a:ext cx="10835640" cy="274320"/>
          </a:xfrm>
          <a:prstGeom prst="rect">
            <a:avLst/>
          </a:prstGeom>
          <a:noFill/>
        </p:spPr>
        <p:txBody>
          <a:bodyPr wrap="square" lIns="0" rIns="0" tIns="0" bIns="0">
            <a:spAutoFit/>
          </a:bodyPr>
          <a:lstStyle/>
          <a:p>
            <a:pPr algn="l">
              <a:spcAft>
                <a:spcPts val="1000"/>
              </a:spcAft>
              <a:defRPr sz="1500" b="1">
                <a:solidFill>
                  <a:srgbClr val="3478B6"/>
                </a:solidFill>
                <a:latin typeface="Aptos"/>
              </a:defRPr>
            </a:pPr>
            <a:r>
              <a:t>Initial Cb = Cx = 0 and θ = αλ reproduce ISTA exactly.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972800" cy="274320"/>
          </a:xfrm>
          <a:prstGeom prst="rect">
            <a:avLst/>
          </a:prstGeom>
          <a:noFill/>
        </p:spPr>
        <p:txBody>
          <a:bodyPr wrap="square" lIns="0" rIns="0" tIns="0" bIns="0">
            <a:spAutoFit/>
          </a:bodyPr>
          <a:lstStyle/>
          <a:p>
            <a:pPr algn="l">
              <a:spcAft>
                <a:spcPts val="1000"/>
              </a:spcAft>
              <a:defRPr sz="1100" b="1">
                <a:solidFill>
                  <a:srgbClr val="3478B6"/>
                </a:solidFill>
                <a:latin typeface="Aptos"/>
              </a:defRPr>
            </a:pPr>
            <a:r>
              <a:t>TRAINING OBJECTIVE</a:t>
            </a:r>
          </a:p>
        </p:txBody>
      </p:sp>
      <p:sp>
        <p:nvSpPr>
          <p:cNvPr id="4" name="TextBox 3"/>
          <p:cNvSpPr txBox="1"/>
          <p:nvPr/>
        </p:nvSpPr>
        <p:spPr>
          <a:xfrm>
            <a:off x="502920" y="749808"/>
            <a:ext cx="11155680" cy="822960"/>
          </a:xfrm>
          <a:prstGeom prst="rect">
            <a:avLst/>
          </a:prstGeom>
          <a:noFill/>
        </p:spPr>
        <p:txBody>
          <a:bodyPr wrap="square" lIns="0" rIns="0" tIns="0" bIns="0">
            <a:spAutoFit/>
          </a:bodyPr>
          <a:lstStyle/>
          <a:p>
            <a:pPr algn="l">
              <a:spcAft>
                <a:spcPts val="1000"/>
              </a:spcAft>
              <a:defRPr sz="2900" b="1">
                <a:solidFill>
                  <a:srgbClr val="162C46"/>
                </a:solidFill>
                <a:latin typeface="Aptos"/>
              </a:defRPr>
            </a:pPr>
            <a:r>
              <a:t>The supervised target changes what LISTA is trying to do</a:t>
            </a:r>
          </a:p>
        </p:txBody>
      </p:sp>
      <p:sp>
        <p:nvSpPr>
          <p:cNvPr id="5" name="TextBox 4"/>
          <p:cNvSpPr txBox="1"/>
          <p:nvPr/>
        </p:nvSpPr>
        <p:spPr>
          <a:xfrm>
            <a:off x="502920" y="6519672"/>
            <a:ext cx="10698480" cy="201168"/>
          </a:xfrm>
          <a:prstGeom prst="rect">
            <a:avLst/>
          </a:prstGeom>
          <a:noFill/>
        </p:spPr>
        <p:txBody>
          <a:bodyPr wrap="square" lIns="0" rIns="0" tIns="0" bIns="0">
            <a:spAutoFit/>
          </a:bodyPr>
          <a:lstStyle/>
          <a:p>
            <a:pPr algn="l">
              <a:spcAft>
                <a:spcPts val="1000"/>
              </a:spcAft>
              <a:defRPr sz="1000" b="0">
                <a:solidFill>
                  <a:srgbClr val="526174"/>
                </a:solidFill>
                <a:latin typeface="Aptos"/>
              </a:defRPr>
            </a:pPr>
            <a:r>
              <a:t>COMSOL z = 3 → 0.5 µm  •  Same-sample reconstruction; no independent test set</a:t>
            </a:r>
          </a:p>
        </p:txBody>
      </p:sp>
      <p:sp>
        <p:nvSpPr>
          <p:cNvPr id="6" name="TextBox 5"/>
          <p:cNvSpPr txBox="1"/>
          <p:nvPr/>
        </p:nvSpPr>
        <p:spPr>
          <a:xfrm>
            <a:off x="11109960" y="6492240"/>
            <a:ext cx="548640" cy="228600"/>
          </a:xfrm>
          <a:prstGeom prst="rect">
            <a:avLst/>
          </a:prstGeom>
          <a:noFill/>
        </p:spPr>
        <p:txBody>
          <a:bodyPr wrap="square" lIns="0" rIns="0" tIns="0" bIns="0">
            <a:spAutoFit/>
          </a:bodyPr>
          <a:lstStyle/>
          <a:p>
            <a:pPr algn="r">
              <a:spcAft>
                <a:spcPts val="1000"/>
              </a:spcAft>
              <a:defRPr sz="1100" b="0">
                <a:solidFill>
                  <a:srgbClr val="526174"/>
                </a:solidFill>
                <a:latin typeface="Aptos"/>
              </a:defRPr>
            </a:pPr>
            <a:r>
              <a:t>10</a:t>
            </a:r>
          </a:p>
        </p:txBody>
      </p:sp>
      <p:graphicFrame>
        <p:nvGraphicFramePr>
          <p:cNvPr id="7" name="Table 6"/>
          <p:cNvGraphicFramePr>
            <a:graphicFrameLocks noGrp="1"/>
          </p:cNvGraphicFramePr>
          <p:nvPr/>
        </p:nvGraphicFramePr>
        <p:xfrm>
          <a:off x="594360" y="1783080"/>
          <a:ext cx="10972800" cy="2194560"/>
        </p:xfrm>
        <a:graphic>
          <a:graphicData uri="http://schemas.openxmlformats.org/drawingml/2006/table">
            <a:tbl>
              <a:tblPr firstRow="1" bandRow="1">
                <a:tableStyleId>{5C22544A-7EE6-4342-B048-85BDC9FD1C3A}</a:tableStyleId>
              </a:tblPr>
              <a:tblGrid>
                <a:gridCol w="5486400"/>
                <a:gridCol w="5486400"/>
              </a:tblGrid>
              <a:tr h="548640">
                <a:tc>
                  <a:txBody>
                    <a:bodyPr/>
                    <a:lstStyle/>
                    <a:p>
                      <a:pPr>
                        <a:defRPr sz="2000" b="1">
                          <a:solidFill>
                            <a:srgbClr val="FFFFFF"/>
                          </a:solidFill>
                          <a:latin typeface="Aptos"/>
                        </a:defRPr>
                      </a:pPr>
                      <a:r>
                        <a:t>Solver approximation</a:t>
                      </a:r>
                    </a:p>
                  </a:txBody>
                  <a:tcPr marL="109728" marR="73152" marT="73152" marB="27432">
                    <a:solidFill>
                      <a:srgbClr val="162C46"/>
                    </a:solidFill>
                  </a:tcPr>
                </a:tc>
                <a:tc>
                  <a:txBody>
                    <a:bodyPr/>
                    <a:lstStyle/>
                    <a:p>
                      <a:pPr>
                        <a:defRPr sz="2000" b="1">
                          <a:solidFill>
                            <a:srgbClr val="FFFFFF"/>
                          </a:solidFill>
                          <a:latin typeface="Aptos"/>
                        </a:defRPr>
                      </a:pPr>
                      <a:r>
                        <a:t>This experiment</a:t>
                      </a:r>
                    </a:p>
                  </a:txBody>
                  <a:tcPr marL="109728" marR="73152" marT="73152" marB="27432">
                    <a:solidFill>
                      <a:srgbClr val="162C46"/>
                    </a:solidFill>
                  </a:tcPr>
                </a:tc>
              </a:tr>
              <a:tr h="548640">
                <a:tc>
                  <a:txBody>
                    <a:bodyPr/>
                    <a:lstStyle/>
                    <a:p>
                      <a:pPr>
                        <a:defRPr sz="2000" b="0">
                          <a:solidFill>
                            <a:srgbClr val="18293B"/>
                          </a:solidFill>
                          <a:latin typeface="Aptos"/>
                        </a:defRPr>
                      </a:pPr>
                      <a:r>
                        <a:t>Target: converged L1 solution x*λ</a:t>
                      </a:r>
                    </a:p>
                  </a:txBody>
                  <a:tcPr marL="109728" marR="73152" marT="73152" marB="27432">
                    <a:solidFill>
                      <a:srgbClr val="EDF2F6"/>
                    </a:solidFill>
                  </a:tcPr>
                </a:tc>
                <a:tc>
                  <a:txBody>
                    <a:bodyPr/>
                    <a:lstStyle/>
                    <a:p>
                      <a:pPr>
                        <a:defRPr sz="2000" b="0">
                          <a:solidFill>
                            <a:srgbClr val="18293B"/>
                          </a:solidFill>
                          <a:latin typeface="Aptos"/>
                        </a:defRPr>
                      </a:pPr>
                      <a:r>
                        <a:t>Target: sharp COMSOL field s</a:t>
                      </a:r>
                    </a:p>
                  </a:txBody>
                  <a:tcPr marL="109728" marR="73152" marT="73152" marB="27432">
                    <a:solidFill>
                      <a:srgbClr val="EDF2F6"/>
                    </a:solidFill>
                  </a:tcPr>
                </a:tc>
              </a:tr>
              <a:tr h="548640">
                <a:tc>
                  <a:txBody>
                    <a:bodyPr/>
                    <a:lstStyle/>
                    <a:p>
                      <a:pPr>
                        <a:defRPr sz="2000" b="0">
                          <a:solidFill>
                            <a:srgbClr val="18293B"/>
                          </a:solidFill>
                          <a:latin typeface="Aptos"/>
                        </a:defRPr>
                      </a:pPr>
                      <a:r>
                        <a:t>Learn to imitate an optimizer</a:t>
                      </a:r>
                    </a:p>
                  </a:txBody>
                  <a:tcPr marL="109728" marR="73152" marT="73152" marB="27432">
                    <a:solidFill>
                      <a:srgbClr val="FFFFFF"/>
                    </a:solidFill>
                  </a:tcPr>
                </a:tc>
                <a:tc>
                  <a:txBody>
                    <a:bodyPr/>
                    <a:lstStyle/>
                    <a:p>
                      <a:pPr>
                        <a:defRPr sz="2000" b="0">
                          <a:solidFill>
                            <a:srgbClr val="18293B"/>
                          </a:solidFill>
                          <a:latin typeface="Aptos"/>
                        </a:defRPr>
                      </a:pPr>
                      <a:r>
                        <a:t>Learn final reference reconstruction</a:t>
                      </a:r>
                    </a:p>
                  </a:txBody>
                  <a:tcPr marL="109728" marR="73152" marT="73152" marB="27432">
                    <a:solidFill>
                      <a:srgbClr val="FFFFFF"/>
                    </a:solidFill>
                  </a:tcPr>
                </a:tc>
              </a:tr>
              <a:tr h="548640">
                <a:tc>
                  <a:txBody>
                    <a:bodyPr/>
                    <a:lstStyle/>
                    <a:p>
                      <a:pPr>
                        <a:defRPr sz="2000" b="0">
                          <a:solidFill>
                            <a:srgbClr val="18293B"/>
                          </a:solidFill>
                          <a:latin typeface="Aptos"/>
                        </a:defRPr>
                      </a:pPr>
                      <a:r>
                        <a:t>Solver output defines success</a:t>
                      </a:r>
                    </a:p>
                  </a:txBody>
                  <a:tcPr marL="109728" marR="73152" marT="73152" marB="27432">
                    <a:solidFill>
                      <a:srgbClr val="EDF2F6"/>
                    </a:solidFill>
                  </a:tcPr>
                </a:tc>
                <a:tc>
                  <a:txBody>
                    <a:bodyPr/>
                    <a:lstStyle/>
                    <a:p>
                      <a:pPr>
                        <a:defRPr sz="2000" b="0">
                          <a:solidFill>
                            <a:srgbClr val="18293B"/>
                          </a:solidFill>
                          <a:latin typeface="Aptos"/>
                        </a:defRPr>
                      </a:pPr>
                      <a:r>
                        <a:t>Reference MSE defines success</a:t>
                      </a:r>
                    </a:p>
                  </a:txBody>
                  <a:tcPr marL="109728" marR="73152" marT="73152" marB="27432">
                    <a:solidFill>
                      <a:srgbClr val="EDF2F6"/>
                    </a:solidFill>
                  </a:tcPr>
                </a:tc>
              </a:tr>
            </a:tbl>
          </a:graphicData>
        </a:graphic>
      </p:graphicFrame>
      <p:pic>
        <p:nvPicPr>
          <p:cNvPr id="8" name="Picture 7" descr="eq_45.png"/>
          <p:cNvPicPr>
            <a:picLocks noChangeAspect="1"/>
          </p:cNvPicPr>
          <p:nvPr/>
        </p:nvPicPr>
        <p:blipFill>
          <a:blip r:embed="rId3"/>
          <a:stretch>
            <a:fillRect/>
          </a:stretch>
        </p:blipFill>
        <p:spPr>
          <a:xfrm>
            <a:off x="3986826" y="4251960"/>
            <a:ext cx="4187866" cy="822960"/>
          </a:xfrm>
          <a:prstGeom prst="rect">
            <a:avLst/>
          </a:prstGeom>
        </p:spPr>
      </p:pic>
      <p:sp>
        <p:nvSpPr>
          <p:cNvPr id="9" name="Rectangle 8"/>
          <p:cNvSpPr/>
          <p:nvPr/>
        </p:nvSpPr>
        <p:spPr>
          <a:xfrm>
            <a:off x="502920" y="5833872"/>
            <a:ext cx="11155680" cy="438912"/>
          </a:xfrm>
          <a:prstGeom prst="rect">
            <a:avLst/>
          </a:prstGeom>
          <a:solidFill>
            <a:srgbClr val="EDF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5907024"/>
            <a:ext cx="10835640" cy="274320"/>
          </a:xfrm>
          <a:prstGeom prst="rect">
            <a:avLst/>
          </a:prstGeom>
          <a:noFill/>
        </p:spPr>
        <p:txBody>
          <a:bodyPr wrap="square" lIns="0" rIns="0" tIns="0" bIns="0">
            <a:spAutoFit/>
          </a:bodyPr>
          <a:lstStyle/>
          <a:p>
            <a:pPr algn="l">
              <a:spcAft>
                <a:spcPts val="1000"/>
              </a:spcAft>
              <a:defRPr sz="1500" b="1">
                <a:solidFill>
                  <a:srgbClr val="D9782F"/>
                </a:solidFill>
                <a:latin typeface="Aptos"/>
              </a:defRPr>
            </a:pPr>
            <a:r>
              <a:t>The L1 objective is a diagnostic for LISTA, not its supervised training loss.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972800" cy="274320"/>
          </a:xfrm>
          <a:prstGeom prst="rect">
            <a:avLst/>
          </a:prstGeom>
          <a:noFill/>
        </p:spPr>
        <p:txBody>
          <a:bodyPr wrap="square" lIns="0" rIns="0" tIns="0" bIns="0">
            <a:spAutoFit/>
          </a:bodyPr>
          <a:lstStyle/>
          <a:p>
            <a:pPr algn="l">
              <a:spcAft>
                <a:spcPts val="1000"/>
              </a:spcAft>
              <a:defRPr sz="1100" b="1">
                <a:solidFill>
                  <a:srgbClr val="3478B6"/>
                </a:solidFill>
                <a:latin typeface="Aptos"/>
              </a:defRPr>
            </a:pPr>
            <a:r>
              <a:t>EXPERIMENT DESIGN</a:t>
            </a:r>
          </a:p>
        </p:txBody>
      </p:sp>
      <p:sp>
        <p:nvSpPr>
          <p:cNvPr id="4" name="TextBox 3"/>
          <p:cNvSpPr txBox="1"/>
          <p:nvPr/>
        </p:nvSpPr>
        <p:spPr>
          <a:xfrm>
            <a:off x="502920" y="749808"/>
            <a:ext cx="11155680" cy="822960"/>
          </a:xfrm>
          <a:prstGeom prst="rect">
            <a:avLst/>
          </a:prstGeom>
          <a:noFill/>
        </p:spPr>
        <p:txBody>
          <a:bodyPr wrap="square" lIns="0" rIns="0" tIns="0" bIns="0">
            <a:spAutoFit/>
          </a:bodyPr>
          <a:lstStyle/>
          <a:p>
            <a:pPr algn="l">
              <a:spcAft>
                <a:spcPts val="1000"/>
              </a:spcAft>
              <a:defRPr sz="2900" b="1">
                <a:solidFill>
                  <a:srgbClr val="162C46"/>
                </a:solidFill>
                <a:latin typeface="Aptos"/>
              </a:defRPr>
            </a:pPr>
            <a:r>
              <a:t>Only depth and baseline iteration budget changed</a:t>
            </a:r>
          </a:p>
        </p:txBody>
      </p:sp>
      <p:sp>
        <p:nvSpPr>
          <p:cNvPr id="5" name="TextBox 4"/>
          <p:cNvSpPr txBox="1"/>
          <p:nvPr/>
        </p:nvSpPr>
        <p:spPr>
          <a:xfrm>
            <a:off x="502920" y="6519672"/>
            <a:ext cx="10698480" cy="201168"/>
          </a:xfrm>
          <a:prstGeom prst="rect">
            <a:avLst/>
          </a:prstGeom>
          <a:noFill/>
        </p:spPr>
        <p:txBody>
          <a:bodyPr wrap="square" lIns="0" rIns="0" tIns="0" bIns="0">
            <a:spAutoFit/>
          </a:bodyPr>
          <a:lstStyle/>
          <a:p>
            <a:pPr algn="l">
              <a:spcAft>
                <a:spcPts val="1000"/>
              </a:spcAft>
              <a:defRPr sz="1000" b="0">
                <a:solidFill>
                  <a:srgbClr val="526174"/>
                </a:solidFill>
                <a:latin typeface="Aptos"/>
              </a:defRPr>
            </a:pPr>
            <a:r>
              <a:t>COMSOL z = 3 → 0.5 µm  •  Same-sample reconstruction; no independent test set</a:t>
            </a:r>
          </a:p>
        </p:txBody>
      </p:sp>
      <p:sp>
        <p:nvSpPr>
          <p:cNvPr id="6" name="TextBox 5"/>
          <p:cNvSpPr txBox="1"/>
          <p:nvPr/>
        </p:nvSpPr>
        <p:spPr>
          <a:xfrm>
            <a:off x="11109960" y="6492240"/>
            <a:ext cx="548640" cy="228600"/>
          </a:xfrm>
          <a:prstGeom prst="rect">
            <a:avLst/>
          </a:prstGeom>
          <a:noFill/>
        </p:spPr>
        <p:txBody>
          <a:bodyPr wrap="square" lIns="0" rIns="0" tIns="0" bIns="0">
            <a:spAutoFit/>
          </a:bodyPr>
          <a:lstStyle/>
          <a:p>
            <a:pPr algn="r">
              <a:spcAft>
                <a:spcPts val="1000"/>
              </a:spcAft>
              <a:defRPr sz="1100" b="0">
                <a:solidFill>
                  <a:srgbClr val="526174"/>
                </a:solidFill>
                <a:latin typeface="Aptos"/>
              </a:defRPr>
            </a:pPr>
            <a:r>
              <a:t>11</a:t>
            </a:r>
          </a:p>
        </p:txBody>
      </p:sp>
      <p:graphicFrame>
        <p:nvGraphicFramePr>
          <p:cNvPr id="7" name="Table 6"/>
          <p:cNvGraphicFramePr>
            <a:graphicFrameLocks noGrp="1"/>
          </p:cNvGraphicFramePr>
          <p:nvPr/>
        </p:nvGraphicFramePr>
        <p:xfrm>
          <a:off x="594360" y="1737360"/>
          <a:ext cx="10972800" cy="3429000"/>
        </p:xfrm>
        <a:graphic>
          <a:graphicData uri="http://schemas.openxmlformats.org/drawingml/2006/table">
            <a:tbl>
              <a:tblPr firstRow="1" bandRow="1">
                <a:tableStyleId>{5C22544A-7EE6-4342-B048-85BDC9FD1C3A}</a:tableStyleId>
              </a:tblPr>
              <a:tblGrid>
                <a:gridCol w="5266944"/>
                <a:gridCol w="2852928"/>
                <a:gridCol w="2852928"/>
              </a:tblGrid>
              <a:tr h="571500">
                <a:tc>
                  <a:txBody>
                    <a:bodyPr/>
                    <a:lstStyle/>
                    <a:p>
                      <a:pPr>
                        <a:defRPr sz="1800" b="1">
                          <a:solidFill>
                            <a:srgbClr val="FFFFFF"/>
                          </a:solidFill>
                          <a:latin typeface="Aptos"/>
                        </a:defRPr>
                      </a:pPr>
                      <a:r>
                        <a:t>Setting</a:t>
                      </a:r>
                    </a:p>
                  </a:txBody>
                  <a:tcPr marL="109728" marR="73152" marT="73152" marB="27432">
                    <a:solidFill>
                      <a:srgbClr val="162C46"/>
                    </a:solidFill>
                  </a:tcPr>
                </a:tc>
                <a:tc>
                  <a:txBody>
                    <a:bodyPr/>
                    <a:lstStyle/>
                    <a:p>
                      <a:pPr>
                        <a:defRPr sz="1800" b="1">
                          <a:solidFill>
                            <a:srgbClr val="FFFFFF"/>
                          </a:solidFill>
                          <a:latin typeface="Aptos"/>
                        </a:defRPr>
                      </a:pPr>
                      <a:r>
                        <a:t>Run 1</a:t>
                      </a:r>
                    </a:p>
                  </a:txBody>
                  <a:tcPr marL="109728" marR="73152" marT="73152" marB="27432">
                    <a:solidFill>
                      <a:srgbClr val="162C46"/>
                    </a:solidFill>
                  </a:tcPr>
                </a:tc>
                <a:tc>
                  <a:txBody>
                    <a:bodyPr/>
                    <a:lstStyle/>
                    <a:p>
                      <a:pPr>
                        <a:defRPr sz="1800" b="1">
                          <a:solidFill>
                            <a:srgbClr val="FFFFFF"/>
                          </a:solidFill>
                          <a:latin typeface="Aptos"/>
                        </a:defRPr>
                      </a:pPr>
                      <a:r>
                        <a:t>Run 2</a:t>
                      </a:r>
                    </a:p>
                  </a:txBody>
                  <a:tcPr marL="109728" marR="73152" marT="73152" marB="27432">
                    <a:solidFill>
                      <a:srgbClr val="162C46"/>
                    </a:solidFill>
                  </a:tcPr>
                </a:tc>
              </a:tr>
              <a:tr h="571500">
                <a:tc>
                  <a:txBody>
                    <a:bodyPr/>
                    <a:lstStyle/>
                    <a:p>
                      <a:pPr>
                        <a:defRPr sz="1800" b="0">
                          <a:solidFill>
                            <a:srgbClr val="18293B"/>
                          </a:solidFill>
                          <a:latin typeface="Aptos"/>
                        </a:defRPr>
                      </a:pPr>
                      <a:r>
                        <a:t>LISTA depth / matched baseline steps</a:t>
                      </a:r>
                    </a:p>
                  </a:txBody>
                  <a:tcPr marL="109728" marR="73152" marT="73152" marB="27432">
                    <a:solidFill>
                      <a:srgbClr val="EDF2F6"/>
                    </a:solidFill>
                  </a:tcPr>
                </a:tc>
                <a:tc>
                  <a:txBody>
                    <a:bodyPr/>
                    <a:lstStyle/>
                    <a:p>
                      <a:pPr>
                        <a:defRPr sz="1800" b="0">
                          <a:solidFill>
                            <a:srgbClr val="18293B"/>
                          </a:solidFill>
                          <a:latin typeface="Aptos"/>
                        </a:defRPr>
                      </a:pPr>
                      <a:r>
                        <a:t>8 / 8</a:t>
                      </a:r>
                    </a:p>
                  </a:txBody>
                  <a:tcPr marL="109728" marR="73152" marT="73152" marB="27432">
                    <a:solidFill>
                      <a:srgbClr val="EDF2F6"/>
                    </a:solidFill>
                  </a:tcPr>
                </a:tc>
                <a:tc>
                  <a:txBody>
                    <a:bodyPr/>
                    <a:lstStyle/>
                    <a:p>
                      <a:pPr>
                        <a:defRPr sz="1800" b="0">
                          <a:solidFill>
                            <a:srgbClr val="18293B"/>
                          </a:solidFill>
                          <a:latin typeface="Aptos"/>
                        </a:defRPr>
                      </a:pPr>
                      <a:r>
                        <a:t>16 / 16</a:t>
                      </a:r>
                    </a:p>
                  </a:txBody>
                  <a:tcPr marL="109728" marR="73152" marT="73152" marB="27432">
                    <a:solidFill>
                      <a:srgbClr val="EDF2F6"/>
                    </a:solidFill>
                  </a:tcPr>
                </a:tc>
              </a:tr>
              <a:tr h="571500">
                <a:tc>
                  <a:txBody>
                    <a:bodyPr/>
                    <a:lstStyle/>
                    <a:p>
                      <a:pPr>
                        <a:defRPr sz="1800" b="0">
                          <a:solidFill>
                            <a:srgbClr val="18293B"/>
                          </a:solidFill>
                          <a:latin typeface="Aptos"/>
                        </a:defRPr>
                      </a:pPr>
                      <a:r>
                        <a:t>Long ISTA and FISTA budget</a:t>
                      </a:r>
                    </a:p>
                  </a:txBody>
                  <a:tcPr marL="109728" marR="73152" marT="73152" marB="27432">
                    <a:solidFill>
                      <a:srgbClr val="FFFFFF"/>
                    </a:solidFill>
                  </a:tcPr>
                </a:tc>
                <a:tc>
                  <a:txBody>
                    <a:bodyPr/>
                    <a:lstStyle/>
                    <a:p>
                      <a:pPr>
                        <a:defRPr sz="1800" b="0">
                          <a:solidFill>
                            <a:srgbClr val="18293B"/>
                          </a:solidFill>
                          <a:latin typeface="Aptos"/>
                        </a:defRPr>
                      </a:pPr>
                      <a:r>
                        <a:t>200</a:t>
                      </a:r>
                    </a:p>
                  </a:txBody>
                  <a:tcPr marL="109728" marR="73152" marT="73152" marB="27432">
                    <a:solidFill>
                      <a:srgbClr val="FFFFFF"/>
                    </a:solidFill>
                  </a:tcPr>
                </a:tc>
                <a:tc>
                  <a:txBody>
                    <a:bodyPr/>
                    <a:lstStyle/>
                    <a:p>
                      <a:pPr>
                        <a:defRPr sz="1800" b="0">
                          <a:solidFill>
                            <a:srgbClr val="18293B"/>
                          </a:solidFill>
                          <a:latin typeface="Aptos"/>
                        </a:defRPr>
                      </a:pPr>
                      <a:r>
                        <a:t>500</a:t>
                      </a:r>
                    </a:p>
                  </a:txBody>
                  <a:tcPr marL="109728" marR="73152" marT="73152" marB="27432">
                    <a:solidFill>
                      <a:srgbClr val="FFFFFF"/>
                    </a:solidFill>
                  </a:tcPr>
                </a:tc>
              </a:tr>
              <a:tr h="571500">
                <a:tc>
                  <a:txBody>
                    <a:bodyPr/>
                    <a:lstStyle/>
                    <a:p>
                      <a:pPr>
                        <a:defRPr sz="1800" b="0">
                          <a:solidFill>
                            <a:srgbClr val="18293B"/>
                          </a:solidFill>
                          <a:latin typeface="Aptos"/>
                        </a:defRPr>
                      </a:pPr>
                      <a:r>
                        <a:t>Training epochs / learning rate</a:t>
                      </a:r>
                    </a:p>
                  </a:txBody>
                  <a:tcPr marL="109728" marR="73152" marT="73152" marB="27432">
                    <a:solidFill>
                      <a:srgbClr val="EDF2F6"/>
                    </a:solidFill>
                  </a:tcPr>
                </a:tc>
                <a:tc>
                  <a:txBody>
                    <a:bodyPr/>
                    <a:lstStyle/>
                    <a:p>
                      <a:pPr>
                        <a:defRPr sz="1800" b="0">
                          <a:solidFill>
                            <a:srgbClr val="18293B"/>
                          </a:solidFill>
                          <a:latin typeface="Aptos"/>
                        </a:defRPr>
                      </a:pPr>
                      <a:r>
                        <a:t>200 / 10⁻⁴</a:t>
                      </a:r>
                    </a:p>
                  </a:txBody>
                  <a:tcPr marL="109728" marR="73152" marT="73152" marB="27432">
                    <a:solidFill>
                      <a:srgbClr val="EDF2F6"/>
                    </a:solidFill>
                  </a:tcPr>
                </a:tc>
                <a:tc>
                  <a:txBody>
                    <a:bodyPr/>
                    <a:lstStyle/>
                    <a:p>
                      <a:pPr>
                        <a:defRPr sz="1800" b="0">
                          <a:solidFill>
                            <a:srgbClr val="18293B"/>
                          </a:solidFill>
                          <a:latin typeface="Aptos"/>
                        </a:defRPr>
                      </a:pPr>
                      <a:r>
                        <a:t>200 / 10⁻⁴</a:t>
                      </a:r>
                    </a:p>
                  </a:txBody>
                  <a:tcPr marL="109728" marR="73152" marT="73152" marB="27432">
                    <a:solidFill>
                      <a:srgbClr val="EDF2F6"/>
                    </a:solidFill>
                  </a:tcPr>
                </a:tc>
              </a:tr>
              <a:tr h="571500">
                <a:tc>
                  <a:txBody>
                    <a:bodyPr/>
                    <a:lstStyle/>
                    <a:p>
                      <a:pPr>
                        <a:defRPr sz="1800" b="0">
                          <a:solidFill>
                            <a:srgbClr val="18293B"/>
                          </a:solidFill>
                          <a:latin typeface="Aptos"/>
                        </a:defRPr>
                      </a:pPr>
                      <a:r>
                        <a:t>Parameter count / filters</a:t>
                      </a:r>
                    </a:p>
                  </a:txBody>
                  <a:tcPr marL="109728" marR="73152" marT="73152" marB="27432">
                    <a:solidFill>
                      <a:srgbClr val="FFFFFF"/>
                    </a:solidFill>
                  </a:tcPr>
                </a:tc>
                <a:tc>
                  <a:txBody>
                    <a:bodyPr/>
                    <a:lstStyle/>
                    <a:p>
                      <a:pPr>
                        <a:defRPr sz="1800" b="0">
                          <a:solidFill>
                            <a:srgbClr val="18293B"/>
                          </a:solidFill>
                          <a:latin typeface="Aptos"/>
                        </a:defRPr>
                      </a:pPr>
                      <a:r>
                        <a:t>163 / tied 9 × 9</a:t>
                      </a:r>
                    </a:p>
                  </a:txBody>
                  <a:tcPr marL="109728" marR="73152" marT="73152" marB="27432">
                    <a:solidFill>
                      <a:srgbClr val="FFFFFF"/>
                    </a:solidFill>
                  </a:tcPr>
                </a:tc>
                <a:tc>
                  <a:txBody>
                    <a:bodyPr/>
                    <a:lstStyle/>
                    <a:p>
                      <a:pPr>
                        <a:defRPr sz="1800" b="0">
                          <a:solidFill>
                            <a:srgbClr val="18293B"/>
                          </a:solidFill>
                          <a:latin typeface="Aptos"/>
                        </a:defRPr>
                      </a:pPr>
                      <a:r>
                        <a:t>163 / tied 9 × 9</a:t>
                      </a:r>
                    </a:p>
                  </a:txBody>
                  <a:tcPr marL="109728" marR="73152" marT="73152" marB="27432">
                    <a:solidFill>
                      <a:srgbClr val="FFFFFF"/>
                    </a:solidFill>
                  </a:tcPr>
                </a:tc>
              </a:tr>
              <a:tr h="571500">
                <a:tc>
                  <a:txBody>
                    <a:bodyPr/>
                    <a:lstStyle/>
                    <a:p>
                      <a:pPr>
                        <a:defRPr sz="1800" b="0">
                          <a:solidFill>
                            <a:srgbClr val="18293B"/>
                          </a:solidFill>
                          <a:latin typeface="Aptos"/>
                        </a:defRPr>
                      </a:pPr>
                      <a:r>
                        <a:t>λ / FFT padding / initialization</a:t>
                      </a:r>
                    </a:p>
                  </a:txBody>
                  <a:tcPr marL="109728" marR="73152" marT="73152" marB="27432">
                    <a:solidFill>
                      <a:srgbClr val="EDF2F6"/>
                    </a:solidFill>
                  </a:tcPr>
                </a:tc>
                <a:tc>
                  <a:txBody>
                    <a:bodyPr/>
                    <a:lstStyle/>
                    <a:p>
                      <a:pPr>
                        <a:defRPr sz="1800" b="0">
                          <a:solidFill>
                            <a:srgbClr val="18293B"/>
                          </a:solidFill>
                          <a:latin typeface="Aptos"/>
                        </a:defRPr>
                      </a:pPr>
                      <a:r>
                        <a:t>10⁻⁴ / 32 / blurred</a:t>
                      </a:r>
                    </a:p>
                  </a:txBody>
                  <a:tcPr marL="109728" marR="73152" marT="73152" marB="27432">
                    <a:solidFill>
                      <a:srgbClr val="EDF2F6"/>
                    </a:solidFill>
                  </a:tcPr>
                </a:tc>
                <a:tc>
                  <a:txBody>
                    <a:bodyPr/>
                    <a:lstStyle/>
                    <a:p>
                      <a:pPr>
                        <a:defRPr sz="1800" b="0">
                          <a:solidFill>
                            <a:srgbClr val="18293B"/>
                          </a:solidFill>
                          <a:latin typeface="Aptos"/>
                        </a:defRPr>
                      </a:pPr>
                      <a:r>
                        <a:t>10⁻⁴ / 32 / blurred</a:t>
                      </a:r>
                    </a:p>
                  </a:txBody>
                  <a:tcPr marL="109728" marR="73152" marT="73152" marB="27432">
                    <a:solidFill>
                      <a:srgbClr val="EDF2F6"/>
                    </a:solidFill>
                  </a:tcPr>
                </a:tc>
              </a:tr>
            </a:tbl>
          </a:graphicData>
        </a:graphic>
      </p:graphicFrame>
      <p:sp>
        <p:nvSpPr>
          <p:cNvPr id="8" name="Rectangle 7"/>
          <p:cNvSpPr/>
          <p:nvPr/>
        </p:nvSpPr>
        <p:spPr>
          <a:xfrm>
            <a:off x="502920" y="5833872"/>
            <a:ext cx="11155680" cy="438912"/>
          </a:xfrm>
          <a:prstGeom prst="rect">
            <a:avLst/>
          </a:prstGeom>
          <a:solidFill>
            <a:srgbClr val="EDF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5907024"/>
            <a:ext cx="10835640" cy="274320"/>
          </a:xfrm>
          <a:prstGeom prst="rect">
            <a:avLst/>
          </a:prstGeom>
          <a:noFill/>
        </p:spPr>
        <p:txBody>
          <a:bodyPr wrap="square" lIns="0" rIns="0" tIns="0" bIns="0">
            <a:spAutoFit/>
          </a:bodyPr>
          <a:lstStyle/>
          <a:p>
            <a:pPr algn="l">
              <a:spcAft>
                <a:spcPts val="1000"/>
              </a:spcAft>
              <a:defRPr sz="1500" b="1">
                <a:solidFill>
                  <a:srgbClr val="3478B6"/>
                </a:solidFill>
                <a:latin typeface="Aptos"/>
              </a:defRPr>
            </a:pPr>
            <a:r>
              <a:t>Same source + input hashes. Training: 2 × T4; inference comparisons: one T4.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972800" cy="274320"/>
          </a:xfrm>
          <a:prstGeom prst="rect">
            <a:avLst/>
          </a:prstGeom>
          <a:noFill/>
        </p:spPr>
        <p:txBody>
          <a:bodyPr wrap="square" lIns="0" rIns="0" tIns="0" bIns="0">
            <a:spAutoFit/>
          </a:bodyPr>
          <a:lstStyle/>
          <a:p>
            <a:pPr algn="l">
              <a:spcAft>
                <a:spcPts val="1000"/>
              </a:spcAft>
              <a:defRPr sz="1100" b="1">
                <a:solidFill>
                  <a:srgbClr val="3478B6"/>
                </a:solidFill>
                <a:latin typeface="Aptos"/>
              </a:defRPr>
            </a:pPr>
            <a:r>
              <a:t>RESULTS  /  BOTH RUNS</a:t>
            </a:r>
          </a:p>
        </p:txBody>
      </p:sp>
      <p:sp>
        <p:nvSpPr>
          <p:cNvPr id="4" name="TextBox 3"/>
          <p:cNvSpPr txBox="1"/>
          <p:nvPr/>
        </p:nvSpPr>
        <p:spPr>
          <a:xfrm>
            <a:off x="502920" y="749808"/>
            <a:ext cx="11155680" cy="822960"/>
          </a:xfrm>
          <a:prstGeom prst="rect">
            <a:avLst/>
          </a:prstGeom>
          <a:noFill/>
        </p:spPr>
        <p:txBody>
          <a:bodyPr wrap="square" lIns="0" rIns="0" tIns="0" bIns="0">
            <a:spAutoFit/>
          </a:bodyPr>
          <a:lstStyle/>
          <a:p>
            <a:pPr algn="l">
              <a:spcAft>
                <a:spcPts val="1000"/>
              </a:spcAft>
              <a:defRPr sz="2900" b="1">
                <a:solidFill>
                  <a:srgbClr val="162C46"/>
                </a:solidFill>
                <a:latin typeface="Aptos"/>
              </a:defRPr>
            </a:pPr>
            <a:r>
              <a:t>At matched depth, LISTA has lower reference error</a:t>
            </a:r>
          </a:p>
        </p:txBody>
      </p:sp>
      <p:sp>
        <p:nvSpPr>
          <p:cNvPr id="5" name="TextBox 4"/>
          <p:cNvSpPr txBox="1"/>
          <p:nvPr/>
        </p:nvSpPr>
        <p:spPr>
          <a:xfrm>
            <a:off x="502920" y="6519672"/>
            <a:ext cx="10698480" cy="201168"/>
          </a:xfrm>
          <a:prstGeom prst="rect">
            <a:avLst/>
          </a:prstGeom>
          <a:noFill/>
        </p:spPr>
        <p:txBody>
          <a:bodyPr wrap="square" lIns="0" rIns="0" tIns="0" bIns="0">
            <a:spAutoFit/>
          </a:bodyPr>
          <a:lstStyle/>
          <a:p>
            <a:pPr algn="l">
              <a:spcAft>
                <a:spcPts val="1000"/>
              </a:spcAft>
              <a:defRPr sz="1000" b="0">
                <a:solidFill>
                  <a:srgbClr val="526174"/>
                </a:solidFill>
                <a:latin typeface="Aptos"/>
              </a:defRPr>
            </a:pPr>
            <a:r>
              <a:t>COMSOL z = 3 → 0.5 µm  •  Same-sample reconstruction; no independent test set</a:t>
            </a:r>
          </a:p>
        </p:txBody>
      </p:sp>
      <p:sp>
        <p:nvSpPr>
          <p:cNvPr id="6" name="TextBox 5"/>
          <p:cNvSpPr txBox="1"/>
          <p:nvPr/>
        </p:nvSpPr>
        <p:spPr>
          <a:xfrm>
            <a:off x="11109960" y="6492240"/>
            <a:ext cx="548640" cy="228600"/>
          </a:xfrm>
          <a:prstGeom prst="rect">
            <a:avLst/>
          </a:prstGeom>
          <a:noFill/>
        </p:spPr>
        <p:txBody>
          <a:bodyPr wrap="square" lIns="0" rIns="0" tIns="0" bIns="0">
            <a:spAutoFit/>
          </a:bodyPr>
          <a:lstStyle/>
          <a:p>
            <a:pPr algn="r">
              <a:spcAft>
                <a:spcPts val="1000"/>
              </a:spcAft>
              <a:defRPr sz="1100" b="0">
                <a:solidFill>
                  <a:srgbClr val="526174"/>
                </a:solidFill>
                <a:latin typeface="Aptos"/>
              </a:defRPr>
            </a:pPr>
            <a:r>
              <a:t>12</a:t>
            </a:r>
          </a:p>
        </p:txBody>
      </p:sp>
      <p:pic>
        <p:nvPicPr>
          <p:cNvPr id="7" name="Picture 6" descr="equal_depth.png"/>
          <p:cNvPicPr>
            <a:picLocks noChangeAspect="1"/>
          </p:cNvPicPr>
          <p:nvPr/>
        </p:nvPicPr>
        <p:blipFill>
          <a:blip r:embed="rId3"/>
          <a:stretch>
            <a:fillRect/>
          </a:stretch>
        </p:blipFill>
        <p:spPr>
          <a:xfrm>
            <a:off x="594360" y="1822221"/>
            <a:ext cx="10972799" cy="3579316"/>
          </a:xfrm>
          <a:prstGeom prst="rect">
            <a:avLst/>
          </a:prstGeom>
        </p:spPr>
      </p:pic>
      <p:sp>
        <p:nvSpPr>
          <p:cNvPr id="8" name="Rectangle 7"/>
          <p:cNvSpPr/>
          <p:nvPr/>
        </p:nvSpPr>
        <p:spPr>
          <a:xfrm>
            <a:off x="502920" y="5833872"/>
            <a:ext cx="11155680" cy="438912"/>
          </a:xfrm>
          <a:prstGeom prst="rect">
            <a:avLst/>
          </a:prstGeom>
          <a:solidFill>
            <a:srgbClr val="EDF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5907024"/>
            <a:ext cx="10835640" cy="274320"/>
          </a:xfrm>
          <a:prstGeom prst="rect">
            <a:avLst/>
          </a:prstGeom>
          <a:noFill/>
        </p:spPr>
        <p:txBody>
          <a:bodyPr wrap="square" lIns="0" rIns="0" tIns="0" bIns="0">
            <a:spAutoFit/>
          </a:bodyPr>
          <a:lstStyle/>
          <a:p>
            <a:pPr algn="l">
              <a:spcAft>
                <a:spcPts val="1000"/>
              </a:spcAft>
              <a:defRPr sz="1500" b="1">
                <a:solidFill>
                  <a:srgbClr val="3478B6"/>
                </a:solidFill>
                <a:latin typeface="Aptos"/>
              </a:defRPr>
            </a:pPr>
            <a:r>
              <a:t>A LISTA layer costs more than a baseline step; its advantage here is error at a short budget.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972800" cy="274320"/>
          </a:xfrm>
          <a:prstGeom prst="rect">
            <a:avLst/>
          </a:prstGeom>
          <a:noFill/>
        </p:spPr>
        <p:txBody>
          <a:bodyPr wrap="square" lIns="0" rIns="0" tIns="0" bIns="0">
            <a:spAutoFit/>
          </a:bodyPr>
          <a:lstStyle/>
          <a:p>
            <a:pPr algn="l">
              <a:spcAft>
                <a:spcPts val="1000"/>
              </a:spcAft>
              <a:defRPr sz="1100" b="1">
                <a:solidFill>
                  <a:srgbClr val="3478B6"/>
                </a:solidFill>
                <a:latin typeface="Aptos"/>
              </a:defRPr>
            </a:pPr>
            <a:r>
              <a:t>RESULTS  /  DEPTH AND ITERATIONS</a:t>
            </a:r>
          </a:p>
        </p:txBody>
      </p:sp>
      <p:sp>
        <p:nvSpPr>
          <p:cNvPr id="4" name="TextBox 3"/>
          <p:cNvSpPr txBox="1"/>
          <p:nvPr/>
        </p:nvSpPr>
        <p:spPr>
          <a:xfrm>
            <a:off x="502920" y="749808"/>
            <a:ext cx="11155680" cy="822960"/>
          </a:xfrm>
          <a:prstGeom prst="rect">
            <a:avLst/>
          </a:prstGeom>
          <a:noFill/>
        </p:spPr>
        <p:txBody>
          <a:bodyPr wrap="square" lIns="0" rIns="0" tIns="0" bIns="0">
            <a:spAutoFit/>
          </a:bodyPr>
          <a:lstStyle/>
          <a:p>
            <a:pPr algn="l">
              <a:spcAft>
                <a:spcPts val="1000"/>
              </a:spcAft>
              <a:defRPr sz="2900" b="1">
                <a:solidFill>
                  <a:srgbClr val="162C46"/>
                </a:solidFill>
                <a:latin typeface="Aptos"/>
              </a:defRPr>
            </a:pPr>
            <a:r>
              <a:t>More computation affects the three methods differently</a:t>
            </a:r>
          </a:p>
        </p:txBody>
      </p:sp>
      <p:sp>
        <p:nvSpPr>
          <p:cNvPr id="5" name="TextBox 4"/>
          <p:cNvSpPr txBox="1"/>
          <p:nvPr/>
        </p:nvSpPr>
        <p:spPr>
          <a:xfrm>
            <a:off x="502920" y="6519672"/>
            <a:ext cx="10698480" cy="201168"/>
          </a:xfrm>
          <a:prstGeom prst="rect">
            <a:avLst/>
          </a:prstGeom>
          <a:noFill/>
        </p:spPr>
        <p:txBody>
          <a:bodyPr wrap="square" lIns="0" rIns="0" tIns="0" bIns="0">
            <a:spAutoFit/>
          </a:bodyPr>
          <a:lstStyle/>
          <a:p>
            <a:pPr algn="l">
              <a:spcAft>
                <a:spcPts val="1000"/>
              </a:spcAft>
              <a:defRPr sz="1000" b="0">
                <a:solidFill>
                  <a:srgbClr val="526174"/>
                </a:solidFill>
                <a:latin typeface="Aptos"/>
              </a:defRPr>
            </a:pPr>
            <a:r>
              <a:t>COMSOL z = 3 → 0.5 µm  •  Same-sample reconstruction; no independent test set</a:t>
            </a:r>
          </a:p>
        </p:txBody>
      </p:sp>
      <p:sp>
        <p:nvSpPr>
          <p:cNvPr id="6" name="TextBox 5"/>
          <p:cNvSpPr txBox="1"/>
          <p:nvPr/>
        </p:nvSpPr>
        <p:spPr>
          <a:xfrm>
            <a:off x="11109960" y="6492240"/>
            <a:ext cx="548640" cy="228600"/>
          </a:xfrm>
          <a:prstGeom prst="rect">
            <a:avLst/>
          </a:prstGeom>
          <a:noFill/>
        </p:spPr>
        <p:txBody>
          <a:bodyPr wrap="square" lIns="0" rIns="0" tIns="0" bIns="0">
            <a:spAutoFit/>
          </a:bodyPr>
          <a:lstStyle/>
          <a:p>
            <a:pPr algn="r">
              <a:spcAft>
                <a:spcPts val="1000"/>
              </a:spcAft>
              <a:defRPr sz="1100" b="0">
                <a:solidFill>
                  <a:srgbClr val="526174"/>
                </a:solidFill>
                <a:latin typeface="Aptos"/>
              </a:defRPr>
            </a:pPr>
            <a:r>
              <a:t>13</a:t>
            </a:r>
          </a:p>
        </p:txBody>
      </p:sp>
      <p:pic>
        <p:nvPicPr>
          <p:cNvPr id="7" name="Picture 6" descr="between_runs.png"/>
          <p:cNvPicPr>
            <a:picLocks noChangeAspect="1"/>
          </p:cNvPicPr>
          <p:nvPr/>
        </p:nvPicPr>
        <p:blipFill>
          <a:blip r:embed="rId3"/>
          <a:stretch>
            <a:fillRect/>
          </a:stretch>
        </p:blipFill>
        <p:spPr>
          <a:xfrm>
            <a:off x="594360" y="1799361"/>
            <a:ext cx="10972799" cy="3579316"/>
          </a:xfrm>
          <a:prstGeom prst="rect">
            <a:avLst/>
          </a:prstGeom>
        </p:spPr>
      </p:pic>
      <p:sp>
        <p:nvSpPr>
          <p:cNvPr id="8" name="Rectangle 7"/>
          <p:cNvSpPr/>
          <p:nvPr/>
        </p:nvSpPr>
        <p:spPr>
          <a:xfrm>
            <a:off x="502920" y="5833872"/>
            <a:ext cx="11155680" cy="438912"/>
          </a:xfrm>
          <a:prstGeom prst="rect">
            <a:avLst/>
          </a:prstGeom>
          <a:solidFill>
            <a:srgbClr val="EDF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5907024"/>
            <a:ext cx="10835640" cy="274320"/>
          </a:xfrm>
          <a:prstGeom prst="rect">
            <a:avLst/>
          </a:prstGeom>
          <a:noFill/>
        </p:spPr>
        <p:txBody>
          <a:bodyPr wrap="square" lIns="0" rIns="0" tIns="0" bIns="0">
            <a:spAutoFit/>
          </a:bodyPr>
          <a:lstStyle/>
          <a:p>
            <a:pPr algn="l">
              <a:spcAft>
                <a:spcPts val="1000"/>
              </a:spcAft>
              <a:defRPr sz="1500" b="1">
                <a:solidFill>
                  <a:srgbClr val="3478B6"/>
                </a:solidFill>
                <a:latin typeface="Aptos"/>
              </a:defRPr>
            </a:pPr>
            <a:r>
              <a:t>LISTA improves modestly; ISTA improves; FISTA endpoint reference error worsens.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972800" cy="274320"/>
          </a:xfrm>
          <a:prstGeom prst="rect">
            <a:avLst/>
          </a:prstGeom>
          <a:noFill/>
        </p:spPr>
        <p:txBody>
          <a:bodyPr wrap="square" lIns="0" rIns="0" tIns="0" bIns="0">
            <a:spAutoFit/>
          </a:bodyPr>
          <a:lstStyle/>
          <a:p>
            <a:pPr algn="l">
              <a:spcAft>
                <a:spcPts val="1000"/>
              </a:spcAft>
              <a:defRPr sz="1100" b="1">
                <a:solidFill>
                  <a:srgbClr val="3478B6"/>
                </a:solidFill>
                <a:latin typeface="Aptos"/>
              </a:defRPr>
            </a:pPr>
            <a:r>
              <a:t>RESULTS  /  RUN 2 HISTORY</a:t>
            </a:r>
          </a:p>
        </p:txBody>
      </p:sp>
      <p:sp>
        <p:nvSpPr>
          <p:cNvPr id="4" name="TextBox 3"/>
          <p:cNvSpPr txBox="1"/>
          <p:nvPr/>
        </p:nvSpPr>
        <p:spPr>
          <a:xfrm>
            <a:off x="502920" y="749808"/>
            <a:ext cx="11155680" cy="822960"/>
          </a:xfrm>
          <a:prstGeom prst="rect">
            <a:avLst/>
          </a:prstGeom>
          <a:noFill/>
        </p:spPr>
        <p:txBody>
          <a:bodyPr wrap="square" lIns="0" rIns="0" tIns="0" bIns="0">
            <a:spAutoFit/>
          </a:bodyPr>
          <a:lstStyle/>
          <a:p>
            <a:pPr algn="l">
              <a:spcAft>
                <a:spcPts val="1000"/>
              </a:spcAft>
              <a:defRPr sz="2900" b="1">
                <a:solidFill>
                  <a:srgbClr val="162C46"/>
                </a:solidFill>
                <a:latin typeface="Aptos"/>
              </a:defRPr>
            </a:pPr>
            <a:r>
              <a:t>FISTA reference error reaches a minimum before 500 steps</a:t>
            </a:r>
          </a:p>
        </p:txBody>
      </p:sp>
      <p:sp>
        <p:nvSpPr>
          <p:cNvPr id="5" name="TextBox 4"/>
          <p:cNvSpPr txBox="1"/>
          <p:nvPr/>
        </p:nvSpPr>
        <p:spPr>
          <a:xfrm>
            <a:off x="502920" y="6519672"/>
            <a:ext cx="10698480" cy="201168"/>
          </a:xfrm>
          <a:prstGeom prst="rect">
            <a:avLst/>
          </a:prstGeom>
          <a:noFill/>
        </p:spPr>
        <p:txBody>
          <a:bodyPr wrap="square" lIns="0" rIns="0" tIns="0" bIns="0">
            <a:spAutoFit/>
          </a:bodyPr>
          <a:lstStyle/>
          <a:p>
            <a:pPr algn="l">
              <a:spcAft>
                <a:spcPts val="1000"/>
              </a:spcAft>
              <a:defRPr sz="1000" b="0">
                <a:solidFill>
                  <a:srgbClr val="526174"/>
                </a:solidFill>
                <a:latin typeface="Aptos"/>
              </a:defRPr>
            </a:pPr>
            <a:r>
              <a:t>COMSOL z = 3 → 0.5 µm  •  Same-sample reconstruction; no independent test set</a:t>
            </a:r>
          </a:p>
        </p:txBody>
      </p:sp>
      <p:sp>
        <p:nvSpPr>
          <p:cNvPr id="6" name="TextBox 5"/>
          <p:cNvSpPr txBox="1"/>
          <p:nvPr/>
        </p:nvSpPr>
        <p:spPr>
          <a:xfrm>
            <a:off x="11109960" y="6492240"/>
            <a:ext cx="548640" cy="228600"/>
          </a:xfrm>
          <a:prstGeom prst="rect">
            <a:avLst/>
          </a:prstGeom>
          <a:noFill/>
        </p:spPr>
        <p:txBody>
          <a:bodyPr wrap="square" lIns="0" rIns="0" tIns="0" bIns="0">
            <a:spAutoFit/>
          </a:bodyPr>
          <a:lstStyle/>
          <a:p>
            <a:pPr algn="r">
              <a:spcAft>
                <a:spcPts val="1000"/>
              </a:spcAft>
              <a:defRPr sz="1100" b="0">
                <a:solidFill>
                  <a:srgbClr val="526174"/>
                </a:solidFill>
                <a:latin typeface="Aptos"/>
              </a:defRPr>
            </a:pPr>
            <a:r>
              <a:t>14</a:t>
            </a:r>
          </a:p>
        </p:txBody>
      </p:sp>
      <p:pic>
        <p:nvPicPr>
          <p:cNvPr id="7" name="Picture 6" descr="reference_history.png"/>
          <p:cNvPicPr>
            <a:picLocks noChangeAspect="1"/>
          </p:cNvPicPr>
          <p:nvPr/>
        </p:nvPicPr>
        <p:blipFill>
          <a:blip r:embed="rId3"/>
          <a:stretch>
            <a:fillRect/>
          </a:stretch>
        </p:blipFill>
        <p:spPr>
          <a:xfrm>
            <a:off x="594360" y="1798652"/>
            <a:ext cx="10972799" cy="3580735"/>
          </a:xfrm>
          <a:prstGeom prst="rect">
            <a:avLst/>
          </a:prstGeom>
        </p:spPr>
      </p:pic>
      <p:sp>
        <p:nvSpPr>
          <p:cNvPr id="8" name="Rectangle 7"/>
          <p:cNvSpPr/>
          <p:nvPr/>
        </p:nvSpPr>
        <p:spPr>
          <a:xfrm>
            <a:off x="502920" y="5833872"/>
            <a:ext cx="11155680" cy="438912"/>
          </a:xfrm>
          <a:prstGeom prst="rect">
            <a:avLst/>
          </a:prstGeom>
          <a:solidFill>
            <a:srgbClr val="EDF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5907024"/>
            <a:ext cx="10835640" cy="274320"/>
          </a:xfrm>
          <a:prstGeom prst="rect">
            <a:avLst/>
          </a:prstGeom>
          <a:noFill/>
        </p:spPr>
        <p:txBody>
          <a:bodyPr wrap="square" lIns="0" rIns="0" tIns="0" bIns="0">
            <a:spAutoFit/>
          </a:bodyPr>
          <a:lstStyle/>
          <a:p>
            <a:pPr algn="l">
              <a:spcAft>
                <a:spcPts val="1000"/>
              </a:spcAft>
              <a:defRPr sz="1500" b="1">
                <a:solidFill>
                  <a:srgbClr val="3478B6"/>
                </a:solidFill>
                <a:latin typeface="Aptos"/>
              </a:defRPr>
            </a:pPr>
            <a:r>
              <a:t>Best recorded FISTA: Bx 60, By 60, Bz 250. Reference-based selection is not a deployable rule.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972800" cy="274320"/>
          </a:xfrm>
          <a:prstGeom prst="rect">
            <a:avLst/>
          </a:prstGeom>
          <a:noFill/>
        </p:spPr>
        <p:txBody>
          <a:bodyPr wrap="square" lIns="0" rIns="0" tIns="0" bIns="0">
            <a:spAutoFit/>
          </a:bodyPr>
          <a:lstStyle/>
          <a:p>
            <a:pPr algn="l">
              <a:spcAft>
                <a:spcPts val="1000"/>
              </a:spcAft>
              <a:defRPr sz="1100" b="1">
                <a:solidFill>
                  <a:srgbClr val="3478B6"/>
                </a:solidFill>
                <a:latin typeface="Aptos"/>
              </a:defRPr>
            </a:pPr>
            <a:r>
              <a:t>RESULTS  /  TWO DIFFERENT CRITERIA</a:t>
            </a:r>
          </a:p>
        </p:txBody>
      </p:sp>
      <p:sp>
        <p:nvSpPr>
          <p:cNvPr id="4" name="TextBox 3"/>
          <p:cNvSpPr txBox="1"/>
          <p:nvPr/>
        </p:nvSpPr>
        <p:spPr>
          <a:xfrm>
            <a:off x="502920" y="749808"/>
            <a:ext cx="11155680" cy="822960"/>
          </a:xfrm>
          <a:prstGeom prst="rect">
            <a:avLst/>
          </a:prstGeom>
          <a:noFill/>
        </p:spPr>
        <p:txBody>
          <a:bodyPr wrap="square" lIns="0" rIns="0" tIns="0" bIns="0">
            <a:spAutoFit/>
          </a:bodyPr>
          <a:lstStyle/>
          <a:p>
            <a:pPr algn="l">
              <a:spcAft>
                <a:spcPts val="1000"/>
              </a:spcAft>
              <a:defRPr sz="2900" b="1">
                <a:solidFill>
                  <a:srgbClr val="162C46"/>
                </a:solidFill>
                <a:latin typeface="Aptos"/>
              </a:defRPr>
            </a:pPr>
            <a:r>
              <a:t>Optimization improves even when reference agreement worsens</a:t>
            </a:r>
          </a:p>
        </p:txBody>
      </p:sp>
      <p:sp>
        <p:nvSpPr>
          <p:cNvPr id="5" name="TextBox 4"/>
          <p:cNvSpPr txBox="1"/>
          <p:nvPr/>
        </p:nvSpPr>
        <p:spPr>
          <a:xfrm>
            <a:off x="502920" y="6519672"/>
            <a:ext cx="10698480" cy="201168"/>
          </a:xfrm>
          <a:prstGeom prst="rect">
            <a:avLst/>
          </a:prstGeom>
          <a:noFill/>
        </p:spPr>
        <p:txBody>
          <a:bodyPr wrap="square" lIns="0" rIns="0" tIns="0" bIns="0">
            <a:spAutoFit/>
          </a:bodyPr>
          <a:lstStyle/>
          <a:p>
            <a:pPr algn="l">
              <a:spcAft>
                <a:spcPts val="1000"/>
              </a:spcAft>
              <a:defRPr sz="1000" b="0">
                <a:solidFill>
                  <a:srgbClr val="526174"/>
                </a:solidFill>
                <a:latin typeface="Aptos"/>
              </a:defRPr>
            </a:pPr>
            <a:r>
              <a:t>COMSOL z = 3 → 0.5 µm  •  Same-sample reconstruction; no independent test set</a:t>
            </a:r>
          </a:p>
        </p:txBody>
      </p:sp>
      <p:sp>
        <p:nvSpPr>
          <p:cNvPr id="6" name="TextBox 5"/>
          <p:cNvSpPr txBox="1"/>
          <p:nvPr/>
        </p:nvSpPr>
        <p:spPr>
          <a:xfrm>
            <a:off x="11109960" y="6492240"/>
            <a:ext cx="548640" cy="228600"/>
          </a:xfrm>
          <a:prstGeom prst="rect">
            <a:avLst/>
          </a:prstGeom>
          <a:noFill/>
        </p:spPr>
        <p:txBody>
          <a:bodyPr wrap="square" lIns="0" rIns="0" tIns="0" bIns="0">
            <a:spAutoFit/>
          </a:bodyPr>
          <a:lstStyle/>
          <a:p>
            <a:pPr algn="r">
              <a:spcAft>
                <a:spcPts val="1000"/>
              </a:spcAft>
              <a:defRPr sz="1100" b="0">
                <a:solidFill>
                  <a:srgbClr val="526174"/>
                </a:solidFill>
                <a:latin typeface="Aptos"/>
              </a:defRPr>
            </a:pPr>
            <a:r>
              <a:t>15</a:t>
            </a:r>
          </a:p>
        </p:txBody>
      </p:sp>
      <p:pic>
        <p:nvPicPr>
          <p:cNvPr id="7" name="Picture 6" descr="optimization_history.png"/>
          <p:cNvPicPr>
            <a:picLocks noChangeAspect="1"/>
          </p:cNvPicPr>
          <p:nvPr/>
        </p:nvPicPr>
        <p:blipFill>
          <a:blip r:embed="rId3"/>
          <a:stretch>
            <a:fillRect/>
          </a:stretch>
        </p:blipFill>
        <p:spPr>
          <a:xfrm>
            <a:off x="1167693" y="1645919"/>
            <a:ext cx="9826133" cy="3337560"/>
          </a:xfrm>
          <a:prstGeom prst="rect">
            <a:avLst/>
          </a:prstGeom>
        </p:spPr>
      </p:pic>
      <p:sp>
        <p:nvSpPr>
          <p:cNvPr id="8" name="TextBox 7"/>
          <p:cNvSpPr txBox="1"/>
          <p:nvPr/>
        </p:nvSpPr>
        <p:spPr>
          <a:xfrm>
            <a:off x="731520" y="5074920"/>
            <a:ext cx="10789920" cy="548640"/>
          </a:xfrm>
          <a:prstGeom prst="rect">
            <a:avLst/>
          </a:prstGeom>
          <a:noFill/>
        </p:spPr>
        <p:txBody>
          <a:bodyPr wrap="square" lIns="0" rIns="0" tIns="0" bIns="0">
            <a:spAutoFit/>
          </a:bodyPr>
          <a:lstStyle/>
          <a:p>
            <a:pPr algn="l">
              <a:spcAft>
                <a:spcPts val="1000"/>
              </a:spcAft>
              <a:defRPr sz="2000" b="1">
                <a:solidFill>
                  <a:srgbClr val="18293B"/>
                </a:solidFill>
                <a:latin typeface="Aptos"/>
              </a:defRPr>
            </a:pPr>
            <a:r>
              <a:t>Bx FISTA 200 → 500: objective 16,576 → 5,691; NRMSE 1.870% → 2.484%</a:t>
            </a:r>
          </a:p>
        </p:txBody>
      </p:sp>
      <p:sp>
        <p:nvSpPr>
          <p:cNvPr id="9" name="Rectangle 8"/>
          <p:cNvSpPr/>
          <p:nvPr/>
        </p:nvSpPr>
        <p:spPr>
          <a:xfrm>
            <a:off x="502920" y="5833872"/>
            <a:ext cx="11155680" cy="438912"/>
          </a:xfrm>
          <a:prstGeom prst="rect">
            <a:avLst/>
          </a:prstGeom>
          <a:solidFill>
            <a:srgbClr val="EDF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5907024"/>
            <a:ext cx="10835640" cy="274320"/>
          </a:xfrm>
          <a:prstGeom prst="rect">
            <a:avLst/>
          </a:prstGeom>
          <a:noFill/>
        </p:spPr>
        <p:txBody>
          <a:bodyPr wrap="square" lIns="0" rIns="0" tIns="0" bIns="0">
            <a:spAutoFit/>
          </a:bodyPr>
          <a:lstStyle/>
          <a:p>
            <a:pPr algn="l">
              <a:spcAft>
                <a:spcPts val="1000"/>
              </a:spcAft>
              <a:defRPr sz="1500" b="1">
                <a:solidFill>
                  <a:srgbClr val="D9782F"/>
                </a:solidFill>
                <a:latin typeface="Aptos"/>
              </a:defRPr>
            </a:pPr>
            <a:r>
              <a:t>A better optimum of the chosen model need not be a better estimate of the reference field.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972800" cy="274320"/>
          </a:xfrm>
          <a:prstGeom prst="rect">
            <a:avLst/>
          </a:prstGeom>
          <a:noFill/>
        </p:spPr>
        <p:txBody>
          <a:bodyPr wrap="square" lIns="0" rIns="0" tIns="0" bIns="0">
            <a:spAutoFit/>
          </a:bodyPr>
          <a:lstStyle/>
          <a:p>
            <a:pPr algn="l">
              <a:spcAft>
                <a:spcPts val="1000"/>
              </a:spcAft>
              <a:defRPr sz="1100" b="1">
                <a:solidFill>
                  <a:srgbClr val="3478B6"/>
                </a:solidFill>
                <a:latin typeface="Aptos"/>
              </a:defRPr>
            </a:pPr>
            <a:r>
              <a:t>RESULTS  /  TRAINING</a:t>
            </a:r>
          </a:p>
        </p:txBody>
      </p:sp>
      <p:sp>
        <p:nvSpPr>
          <p:cNvPr id="4" name="TextBox 3"/>
          <p:cNvSpPr txBox="1"/>
          <p:nvPr/>
        </p:nvSpPr>
        <p:spPr>
          <a:xfrm>
            <a:off x="502920" y="749808"/>
            <a:ext cx="11155680" cy="822960"/>
          </a:xfrm>
          <a:prstGeom prst="rect">
            <a:avLst/>
          </a:prstGeom>
          <a:noFill/>
        </p:spPr>
        <p:txBody>
          <a:bodyPr wrap="square" lIns="0" rIns="0" tIns="0" bIns="0">
            <a:spAutoFit/>
          </a:bodyPr>
          <a:lstStyle/>
          <a:p>
            <a:pPr algn="l">
              <a:spcAft>
                <a:spcPts val="1000"/>
              </a:spcAft>
              <a:defRPr sz="2900" b="1">
                <a:solidFill>
                  <a:srgbClr val="162C46"/>
                </a:solidFill>
                <a:latin typeface="Aptos"/>
              </a:defRPr>
            </a:pPr>
            <a:r>
              <a:t>Sixteen layers improve training MSE at twice the training cost</a:t>
            </a:r>
          </a:p>
        </p:txBody>
      </p:sp>
      <p:sp>
        <p:nvSpPr>
          <p:cNvPr id="5" name="TextBox 4"/>
          <p:cNvSpPr txBox="1"/>
          <p:nvPr/>
        </p:nvSpPr>
        <p:spPr>
          <a:xfrm>
            <a:off x="502920" y="6519672"/>
            <a:ext cx="10698480" cy="201168"/>
          </a:xfrm>
          <a:prstGeom prst="rect">
            <a:avLst/>
          </a:prstGeom>
          <a:noFill/>
        </p:spPr>
        <p:txBody>
          <a:bodyPr wrap="square" lIns="0" rIns="0" tIns="0" bIns="0">
            <a:spAutoFit/>
          </a:bodyPr>
          <a:lstStyle/>
          <a:p>
            <a:pPr algn="l">
              <a:spcAft>
                <a:spcPts val="1000"/>
              </a:spcAft>
              <a:defRPr sz="1000" b="0">
                <a:solidFill>
                  <a:srgbClr val="526174"/>
                </a:solidFill>
                <a:latin typeface="Aptos"/>
              </a:defRPr>
            </a:pPr>
            <a:r>
              <a:t>COMSOL z = 3 → 0.5 µm  •  Same-sample reconstruction; no independent test set</a:t>
            </a:r>
          </a:p>
        </p:txBody>
      </p:sp>
      <p:sp>
        <p:nvSpPr>
          <p:cNvPr id="6" name="TextBox 5"/>
          <p:cNvSpPr txBox="1"/>
          <p:nvPr/>
        </p:nvSpPr>
        <p:spPr>
          <a:xfrm>
            <a:off x="11109960" y="6492240"/>
            <a:ext cx="548640" cy="228600"/>
          </a:xfrm>
          <a:prstGeom prst="rect">
            <a:avLst/>
          </a:prstGeom>
          <a:noFill/>
        </p:spPr>
        <p:txBody>
          <a:bodyPr wrap="square" lIns="0" rIns="0" tIns="0" bIns="0">
            <a:spAutoFit/>
          </a:bodyPr>
          <a:lstStyle/>
          <a:p>
            <a:pPr algn="r">
              <a:spcAft>
                <a:spcPts val="1000"/>
              </a:spcAft>
              <a:defRPr sz="1100" b="0">
                <a:solidFill>
                  <a:srgbClr val="526174"/>
                </a:solidFill>
                <a:latin typeface="Aptos"/>
              </a:defRPr>
            </a:pPr>
            <a:r>
              <a:t>16</a:t>
            </a:r>
          </a:p>
        </p:txBody>
      </p:sp>
      <p:pic>
        <p:nvPicPr>
          <p:cNvPr id="7" name="Picture 6" descr="training.png"/>
          <p:cNvPicPr>
            <a:picLocks noChangeAspect="1"/>
          </p:cNvPicPr>
          <p:nvPr/>
        </p:nvPicPr>
        <p:blipFill>
          <a:blip r:embed="rId3"/>
          <a:stretch>
            <a:fillRect/>
          </a:stretch>
        </p:blipFill>
        <p:spPr>
          <a:xfrm>
            <a:off x="1033088" y="1645920"/>
            <a:ext cx="10095342" cy="3428999"/>
          </a:xfrm>
          <a:prstGeom prst="rect">
            <a:avLst/>
          </a:prstGeom>
        </p:spPr>
      </p:pic>
      <p:sp>
        <p:nvSpPr>
          <p:cNvPr id="8" name="TextBox 7"/>
          <p:cNvSpPr txBox="1"/>
          <p:nvPr/>
        </p:nvSpPr>
        <p:spPr>
          <a:xfrm>
            <a:off x="731520" y="5166360"/>
            <a:ext cx="10789920" cy="411480"/>
          </a:xfrm>
          <a:prstGeom prst="rect">
            <a:avLst/>
          </a:prstGeom>
          <a:noFill/>
        </p:spPr>
        <p:txBody>
          <a:bodyPr wrap="square" lIns="0" rIns="0" tIns="0" bIns="0">
            <a:spAutoFit/>
          </a:bodyPr>
          <a:lstStyle/>
          <a:p>
            <a:pPr algn="l">
              <a:spcAft>
                <a:spcPts val="1000"/>
              </a:spcAft>
              <a:defRPr sz="2000" b="1">
                <a:solidFill>
                  <a:srgbClr val="18293B"/>
                </a:solidFill>
                <a:latin typeface="Aptos"/>
              </a:defRPr>
            </a:pPr>
            <a:r>
              <a:t>Best epoch: 200 in both runs  •  Training: 150.1 s → 309.4 s  •  Parameters: 163 → 163</a:t>
            </a:r>
          </a:p>
        </p:txBody>
      </p:sp>
      <p:sp>
        <p:nvSpPr>
          <p:cNvPr id="9" name="Rectangle 8"/>
          <p:cNvSpPr/>
          <p:nvPr/>
        </p:nvSpPr>
        <p:spPr>
          <a:xfrm>
            <a:off x="502920" y="5833872"/>
            <a:ext cx="11155680" cy="438912"/>
          </a:xfrm>
          <a:prstGeom prst="rect">
            <a:avLst/>
          </a:prstGeom>
          <a:solidFill>
            <a:srgbClr val="EDF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5907024"/>
            <a:ext cx="10835640" cy="274320"/>
          </a:xfrm>
          <a:prstGeom prst="rect">
            <a:avLst/>
          </a:prstGeom>
          <a:noFill/>
        </p:spPr>
        <p:txBody>
          <a:bodyPr wrap="square" lIns="0" rIns="0" tIns="0" bIns="0">
            <a:spAutoFit/>
          </a:bodyPr>
          <a:lstStyle/>
          <a:p>
            <a:pPr algn="l">
              <a:spcAft>
                <a:spcPts val="1000"/>
              </a:spcAft>
              <a:defRPr sz="1500" b="1">
                <a:solidFill>
                  <a:srgbClr val="3478B6"/>
                </a:solidFill>
                <a:latin typeface="Aptos"/>
              </a:defRPr>
            </a:pPr>
            <a:r>
              <a:t>Equal epoch counts do not equalize training compute; no validation set was used.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972800" cy="274320"/>
          </a:xfrm>
          <a:prstGeom prst="rect">
            <a:avLst/>
          </a:prstGeom>
          <a:noFill/>
        </p:spPr>
        <p:txBody>
          <a:bodyPr wrap="square" lIns="0" rIns="0" tIns="0" bIns="0">
            <a:spAutoFit/>
          </a:bodyPr>
          <a:lstStyle/>
          <a:p>
            <a:pPr algn="l">
              <a:spcAft>
                <a:spcPts val="1000"/>
              </a:spcAft>
              <a:defRPr sz="1100" b="1">
                <a:solidFill>
                  <a:srgbClr val="3478B6"/>
                </a:solidFill>
                <a:latin typeface="Aptos"/>
              </a:defRPr>
            </a:pPr>
            <a:r>
              <a:t>RESULTS  /  INFERENCE</a:t>
            </a:r>
          </a:p>
        </p:txBody>
      </p:sp>
      <p:sp>
        <p:nvSpPr>
          <p:cNvPr id="4" name="TextBox 3"/>
          <p:cNvSpPr txBox="1"/>
          <p:nvPr/>
        </p:nvSpPr>
        <p:spPr>
          <a:xfrm>
            <a:off x="502920" y="749808"/>
            <a:ext cx="11155680" cy="822960"/>
          </a:xfrm>
          <a:prstGeom prst="rect">
            <a:avLst/>
          </a:prstGeom>
          <a:noFill/>
        </p:spPr>
        <p:txBody>
          <a:bodyPr wrap="square" lIns="0" rIns="0" tIns="0" bIns="0">
            <a:spAutoFit/>
          </a:bodyPr>
          <a:lstStyle/>
          <a:p>
            <a:pPr algn="l">
              <a:spcAft>
                <a:spcPts val="1000"/>
              </a:spcAft>
              <a:defRPr sz="2900" b="1">
                <a:solidFill>
                  <a:srgbClr val="162C46"/>
                </a:solidFill>
                <a:latin typeface="Aptos"/>
              </a:defRPr>
            </a:pPr>
            <a:r>
              <a:t>The useful comparison is reconstruction error versus cost</a:t>
            </a:r>
          </a:p>
        </p:txBody>
      </p:sp>
      <p:sp>
        <p:nvSpPr>
          <p:cNvPr id="5" name="TextBox 4"/>
          <p:cNvSpPr txBox="1"/>
          <p:nvPr/>
        </p:nvSpPr>
        <p:spPr>
          <a:xfrm>
            <a:off x="502920" y="6519672"/>
            <a:ext cx="10698480" cy="201168"/>
          </a:xfrm>
          <a:prstGeom prst="rect">
            <a:avLst/>
          </a:prstGeom>
          <a:noFill/>
        </p:spPr>
        <p:txBody>
          <a:bodyPr wrap="square" lIns="0" rIns="0" tIns="0" bIns="0">
            <a:spAutoFit/>
          </a:bodyPr>
          <a:lstStyle/>
          <a:p>
            <a:pPr algn="l">
              <a:spcAft>
                <a:spcPts val="1000"/>
              </a:spcAft>
              <a:defRPr sz="1000" b="0">
                <a:solidFill>
                  <a:srgbClr val="526174"/>
                </a:solidFill>
                <a:latin typeface="Aptos"/>
              </a:defRPr>
            </a:pPr>
            <a:r>
              <a:t>COMSOL z = 3 → 0.5 µm  •  Same-sample reconstruction; no independent test set</a:t>
            </a:r>
          </a:p>
        </p:txBody>
      </p:sp>
      <p:sp>
        <p:nvSpPr>
          <p:cNvPr id="6" name="TextBox 5"/>
          <p:cNvSpPr txBox="1"/>
          <p:nvPr/>
        </p:nvSpPr>
        <p:spPr>
          <a:xfrm>
            <a:off x="11109960" y="6492240"/>
            <a:ext cx="548640" cy="228600"/>
          </a:xfrm>
          <a:prstGeom prst="rect">
            <a:avLst/>
          </a:prstGeom>
          <a:noFill/>
        </p:spPr>
        <p:txBody>
          <a:bodyPr wrap="square" lIns="0" rIns="0" tIns="0" bIns="0">
            <a:spAutoFit/>
          </a:bodyPr>
          <a:lstStyle/>
          <a:p>
            <a:pPr algn="r">
              <a:spcAft>
                <a:spcPts val="1000"/>
              </a:spcAft>
              <a:defRPr sz="1100" b="0">
                <a:solidFill>
                  <a:srgbClr val="526174"/>
                </a:solidFill>
                <a:latin typeface="Aptos"/>
              </a:defRPr>
            </a:pPr>
            <a:r>
              <a:t>17</a:t>
            </a:r>
          </a:p>
        </p:txBody>
      </p:sp>
      <p:pic>
        <p:nvPicPr>
          <p:cNvPr id="7" name="Picture 6" descr="latency_tradeoff.png"/>
          <p:cNvPicPr>
            <a:picLocks noChangeAspect="1"/>
          </p:cNvPicPr>
          <p:nvPr/>
        </p:nvPicPr>
        <p:blipFill>
          <a:blip r:embed="rId3"/>
          <a:stretch>
            <a:fillRect/>
          </a:stretch>
        </p:blipFill>
        <p:spPr>
          <a:xfrm>
            <a:off x="594360" y="1730781"/>
            <a:ext cx="10972799" cy="3579316"/>
          </a:xfrm>
          <a:prstGeom prst="rect">
            <a:avLst/>
          </a:prstGeom>
        </p:spPr>
      </p:pic>
      <p:sp>
        <p:nvSpPr>
          <p:cNvPr id="8" name="TextBox 7"/>
          <p:cNvSpPr txBox="1"/>
          <p:nvPr/>
        </p:nvSpPr>
        <p:spPr>
          <a:xfrm>
            <a:off x="777240" y="5486400"/>
            <a:ext cx="10698480" cy="256032"/>
          </a:xfrm>
          <a:prstGeom prst="rect">
            <a:avLst/>
          </a:prstGeom>
          <a:noFill/>
        </p:spPr>
        <p:txBody>
          <a:bodyPr wrap="square" lIns="0" rIns="0" tIns="0" bIns="0">
            <a:spAutoFit/>
          </a:bodyPr>
          <a:lstStyle/>
          <a:p>
            <a:pPr algn="l">
              <a:spcAft>
                <a:spcPts val="1000"/>
              </a:spcAft>
              <a:defRPr sz="1300" b="0">
                <a:solidFill>
                  <a:srgbClr val="18293B"/>
                </a:solidFill>
                <a:latin typeface="Aptos"/>
              </a:defRPr>
            </a:pPr>
            <a:r>
              <a:t>Blue: ISTA   •   Green: FISTA   •   Orange: LISTA   |   Labels: steps/layers; circles: run 1, squares: run 2</a:t>
            </a:r>
          </a:p>
        </p:txBody>
      </p:sp>
      <p:sp>
        <p:nvSpPr>
          <p:cNvPr id="9" name="Rectangle 8"/>
          <p:cNvSpPr/>
          <p:nvPr/>
        </p:nvSpPr>
        <p:spPr>
          <a:xfrm>
            <a:off x="502920" y="5833872"/>
            <a:ext cx="11155680" cy="438912"/>
          </a:xfrm>
          <a:prstGeom prst="rect">
            <a:avLst/>
          </a:prstGeom>
          <a:solidFill>
            <a:srgbClr val="EDF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5907024"/>
            <a:ext cx="10835640" cy="274320"/>
          </a:xfrm>
          <a:prstGeom prst="rect">
            <a:avLst/>
          </a:prstGeom>
          <a:noFill/>
        </p:spPr>
        <p:txBody>
          <a:bodyPr wrap="square" lIns="0" rIns="0" tIns="0" bIns="0">
            <a:spAutoFit/>
          </a:bodyPr>
          <a:lstStyle/>
          <a:p>
            <a:pPr algn="l">
              <a:spcAft>
                <a:spcPts val="1000"/>
              </a:spcAft>
              <a:defRPr sz="1500" b="1">
                <a:solidFill>
                  <a:srgbClr val="3478B6"/>
                </a:solidFill>
                <a:latin typeface="Aptos"/>
              </a:defRPr>
            </a:pPr>
            <a:r>
              <a:t>LISTA is fast at the tested depth; longer baselines can achieve lower reference error.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972800" cy="274320"/>
          </a:xfrm>
          <a:prstGeom prst="rect">
            <a:avLst/>
          </a:prstGeom>
          <a:noFill/>
        </p:spPr>
        <p:txBody>
          <a:bodyPr wrap="square" lIns="0" rIns="0" tIns="0" bIns="0">
            <a:spAutoFit/>
          </a:bodyPr>
          <a:lstStyle/>
          <a:p>
            <a:pPr algn="l">
              <a:spcAft>
                <a:spcPts val="1000"/>
              </a:spcAft>
              <a:defRPr sz="1100" b="1">
                <a:solidFill>
                  <a:srgbClr val="3478B6"/>
                </a:solidFill>
                <a:latin typeface="Aptos"/>
              </a:defRPr>
            </a:pPr>
            <a:r>
              <a:t>RESULTS  /  Bz VISUAL COMPARISON</a:t>
            </a:r>
          </a:p>
        </p:txBody>
      </p:sp>
      <p:sp>
        <p:nvSpPr>
          <p:cNvPr id="4" name="TextBox 3"/>
          <p:cNvSpPr txBox="1"/>
          <p:nvPr/>
        </p:nvSpPr>
        <p:spPr>
          <a:xfrm>
            <a:off x="502920" y="749808"/>
            <a:ext cx="11155680" cy="822960"/>
          </a:xfrm>
          <a:prstGeom prst="rect">
            <a:avLst/>
          </a:prstGeom>
          <a:noFill/>
        </p:spPr>
        <p:txBody>
          <a:bodyPr wrap="square" lIns="0" rIns="0" tIns="0" bIns="0">
            <a:spAutoFit/>
          </a:bodyPr>
          <a:lstStyle/>
          <a:p>
            <a:pPr algn="l">
              <a:spcAft>
                <a:spcPts val="1000"/>
              </a:spcAft>
              <a:defRPr sz="2900" b="1">
                <a:solidFill>
                  <a:srgbClr val="162C46"/>
                </a:solidFill>
                <a:latin typeface="Aptos"/>
              </a:defRPr>
            </a:pPr>
            <a:r>
              <a:t>Run 2: sharper structure and background artifacts must both be assessed</a:t>
            </a:r>
          </a:p>
        </p:txBody>
      </p:sp>
      <p:sp>
        <p:nvSpPr>
          <p:cNvPr id="5" name="TextBox 4"/>
          <p:cNvSpPr txBox="1"/>
          <p:nvPr/>
        </p:nvSpPr>
        <p:spPr>
          <a:xfrm>
            <a:off x="502920" y="6519672"/>
            <a:ext cx="10698480" cy="201168"/>
          </a:xfrm>
          <a:prstGeom prst="rect">
            <a:avLst/>
          </a:prstGeom>
          <a:noFill/>
        </p:spPr>
        <p:txBody>
          <a:bodyPr wrap="square" lIns="0" rIns="0" tIns="0" bIns="0">
            <a:spAutoFit/>
          </a:bodyPr>
          <a:lstStyle/>
          <a:p>
            <a:pPr algn="l">
              <a:spcAft>
                <a:spcPts val="1000"/>
              </a:spcAft>
              <a:defRPr sz="1000" b="0">
                <a:solidFill>
                  <a:srgbClr val="526174"/>
                </a:solidFill>
                <a:latin typeface="Aptos"/>
              </a:defRPr>
            </a:pPr>
            <a:r>
              <a:t>COMSOL z = 3 → 0.5 µm  •  Same-sample reconstruction; no independent test set</a:t>
            </a:r>
          </a:p>
        </p:txBody>
      </p:sp>
      <p:sp>
        <p:nvSpPr>
          <p:cNvPr id="6" name="TextBox 5"/>
          <p:cNvSpPr txBox="1"/>
          <p:nvPr/>
        </p:nvSpPr>
        <p:spPr>
          <a:xfrm>
            <a:off x="11109960" y="6492240"/>
            <a:ext cx="548640" cy="228600"/>
          </a:xfrm>
          <a:prstGeom prst="rect">
            <a:avLst/>
          </a:prstGeom>
          <a:noFill/>
        </p:spPr>
        <p:txBody>
          <a:bodyPr wrap="square" lIns="0" rIns="0" tIns="0" bIns="0">
            <a:spAutoFit/>
          </a:bodyPr>
          <a:lstStyle/>
          <a:p>
            <a:pPr algn="r">
              <a:spcAft>
                <a:spcPts val="1000"/>
              </a:spcAft>
              <a:defRPr sz="1100" b="0">
                <a:solidFill>
                  <a:srgbClr val="526174"/>
                </a:solidFill>
                <a:latin typeface="Aptos"/>
              </a:defRPr>
            </a:pPr>
            <a:r>
              <a:t>18</a:t>
            </a:r>
          </a:p>
        </p:txBody>
      </p:sp>
      <p:sp>
        <p:nvSpPr>
          <p:cNvPr id="7" name="TextBox 6"/>
          <p:cNvSpPr txBox="1"/>
          <p:nvPr/>
        </p:nvSpPr>
        <p:spPr>
          <a:xfrm>
            <a:off x="548640" y="1581912"/>
            <a:ext cx="2212848" cy="201168"/>
          </a:xfrm>
          <a:prstGeom prst="rect">
            <a:avLst/>
          </a:prstGeom>
          <a:noFill/>
        </p:spPr>
        <p:txBody>
          <a:bodyPr wrap="square" lIns="0" rIns="0" tIns="0" bIns="0">
            <a:spAutoFit/>
          </a:bodyPr>
          <a:lstStyle/>
          <a:p>
            <a:pPr algn="ctr">
              <a:spcAft>
                <a:spcPts val="1000"/>
              </a:spcAft>
              <a:defRPr sz="1300" b="1">
                <a:solidFill>
                  <a:srgbClr val="526174"/>
                </a:solidFill>
                <a:latin typeface="Aptos"/>
              </a:defRPr>
            </a:pPr>
            <a:r>
              <a:t>Observed</a:t>
            </a:r>
          </a:p>
        </p:txBody>
      </p:sp>
      <p:sp>
        <p:nvSpPr>
          <p:cNvPr id="8" name="TextBox 7"/>
          <p:cNvSpPr txBox="1"/>
          <p:nvPr/>
        </p:nvSpPr>
        <p:spPr>
          <a:xfrm>
            <a:off x="2761488" y="1581912"/>
            <a:ext cx="2212848" cy="201168"/>
          </a:xfrm>
          <a:prstGeom prst="rect">
            <a:avLst/>
          </a:prstGeom>
          <a:noFill/>
        </p:spPr>
        <p:txBody>
          <a:bodyPr wrap="square" lIns="0" rIns="0" tIns="0" bIns="0">
            <a:spAutoFit/>
          </a:bodyPr>
          <a:lstStyle/>
          <a:p>
            <a:pPr algn="ctr">
              <a:spcAft>
                <a:spcPts val="1000"/>
              </a:spcAft>
              <a:defRPr sz="1300" b="1">
                <a:solidFill>
                  <a:srgbClr val="526174"/>
                </a:solidFill>
                <a:latin typeface="Aptos"/>
              </a:defRPr>
            </a:pPr>
            <a:r>
              <a:t>Reference</a:t>
            </a:r>
          </a:p>
        </p:txBody>
      </p:sp>
      <p:sp>
        <p:nvSpPr>
          <p:cNvPr id="9" name="TextBox 8"/>
          <p:cNvSpPr txBox="1"/>
          <p:nvPr/>
        </p:nvSpPr>
        <p:spPr>
          <a:xfrm>
            <a:off x="4974336" y="1581912"/>
            <a:ext cx="2212848" cy="201168"/>
          </a:xfrm>
          <a:prstGeom prst="rect">
            <a:avLst/>
          </a:prstGeom>
          <a:noFill/>
        </p:spPr>
        <p:txBody>
          <a:bodyPr wrap="square" lIns="0" rIns="0" tIns="0" bIns="0">
            <a:spAutoFit/>
          </a:bodyPr>
          <a:lstStyle/>
          <a:p>
            <a:pPr algn="ctr">
              <a:spcAft>
                <a:spcPts val="1000"/>
              </a:spcAft>
              <a:defRPr sz="1300" b="1">
                <a:solidFill>
                  <a:srgbClr val="526174"/>
                </a:solidFill>
                <a:latin typeface="Aptos"/>
              </a:defRPr>
            </a:pPr>
            <a:r>
              <a:t>ISTA 500</a:t>
            </a:r>
          </a:p>
        </p:txBody>
      </p:sp>
      <p:sp>
        <p:nvSpPr>
          <p:cNvPr id="10" name="TextBox 9"/>
          <p:cNvSpPr txBox="1"/>
          <p:nvPr/>
        </p:nvSpPr>
        <p:spPr>
          <a:xfrm>
            <a:off x="7187183" y="1581912"/>
            <a:ext cx="2212848" cy="201168"/>
          </a:xfrm>
          <a:prstGeom prst="rect">
            <a:avLst/>
          </a:prstGeom>
          <a:noFill/>
        </p:spPr>
        <p:txBody>
          <a:bodyPr wrap="square" lIns="0" rIns="0" tIns="0" bIns="0">
            <a:spAutoFit/>
          </a:bodyPr>
          <a:lstStyle/>
          <a:p>
            <a:pPr algn="ctr">
              <a:spcAft>
                <a:spcPts val="1000"/>
              </a:spcAft>
              <a:defRPr sz="1300" b="1">
                <a:solidFill>
                  <a:srgbClr val="526174"/>
                </a:solidFill>
                <a:latin typeface="Aptos"/>
              </a:defRPr>
            </a:pPr>
            <a:r>
              <a:t>LISTA 16</a:t>
            </a:r>
          </a:p>
        </p:txBody>
      </p:sp>
      <p:sp>
        <p:nvSpPr>
          <p:cNvPr id="11" name="TextBox 10"/>
          <p:cNvSpPr txBox="1"/>
          <p:nvPr/>
        </p:nvSpPr>
        <p:spPr>
          <a:xfrm>
            <a:off x="9400032" y="1581912"/>
            <a:ext cx="2212848" cy="201168"/>
          </a:xfrm>
          <a:prstGeom prst="rect">
            <a:avLst/>
          </a:prstGeom>
          <a:noFill/>
        </p:spPr>
        <p:txBody>
          <a:bodyPr wrap="square" lIns="0" rIns="0" tIns="0" bIns="0">
            <a:spAutoFit/>
          </a:bodyPr>
          <a:lstStyle/>
          <a:p>
            <a:pPr algn="ctr">
              <a:spcAft>
                <a:spcPts val="1000"/>
              </a:spcAft>
              <a:defRPr sz="1300" b="1">
                <a:solidFill>
                  <a:srgbClr val="526174"/>
                </a:solidFill>
                <a:latin typeface="Aptos"/>
              </a:defRPr>
            </a:pPr>
            <a:r>
              <a:t>FISTA 500</a:t>
            </a:r>
          </a:p>
        </p:txBody>
      </p:sp>
      <p:pic>
        <p:nvPicPr>
          <p:cNvPr id="12" name="Picture 11" descr="reconstructions-2.png"/>
          <p:cNvPicPr>
            <a:picLocks noChangeAspect="1"/>
          </p:cNvPicPr>
          <p:nvPr/>
        </p:nvPicPr>
        <p:blipFill>
          <a:blip r:embed="rId3"/>
          <a:srcRect t="69318"/>
          <a:stretch>
            <a:fillRect/>
          </a:stretch>
        </p:blipFill>
        <p:spPr>
          <a:xfrm>
            <a:off x="548640" y="1828800"/>
            <a:ext cx="11064240" cy="1965358"/>
          </a:xfrm>
          <a:prstGeom prst="rect">
            <a:avLst/>
          </a:prstGeom>
        </p:spPr>
      </p:pic>
      <p:sp>
        <p:nvSpPr>
          <p:cNvPr id="13" name="TextBox 12"/>
          <p:cNvSpPr txBox="1"/>
          <p:nvPr/>
        </p:nvSpPr>
        <p:spPr>
          <a:xfrm>
            <a:off x="731520" y="4297680"/>
            <a:ext cx="10789920" cy="822960"/>
          </a:xfrm>
          <a:prstGeom prst="rect">
            <a:avLst/>
          </a:prstGeom>
          <a:noFill/>
        </p:spPr>
        <p:txBody>
          <a:bodyPr wrap="square" lIns="0" rIns="0" tIns="0" bIns="0">
            <a:spAutoFit/>
          </a:bodyPr>
          <a:lstStyle/>
          <a:p>
            <a:pPr algn="l">
              <a:spcAft>
                <a:spcPts val="1000"/>
              </a:spcAft>
              <a:defRPr sz="2000" b="0">
                <a:solidFill>
                  <a:srgbClr val="18293B"/>
                </a:solidFill>
                <a:latin typeface="Aptos"/>
              </a:defRPr>
            </a:pPr>
            <a:r>
              <a:t>Bz range NRMSE: ISTA 500 = 2.145%   |   LISTA 16 = 2.861%   |   FISTA 500 = 2.026%</a:t>
            </a:r>
          </a:p>
          <a:p>
            <a:pPr algn="l">
              <a:spcAft>
                <a:spcPts val="1000"/>
              </a:spcAft>
              <a:defRPr sz="2000" b="0">
                <a:solidFill>
                  <a:srgbClr val="18293B"/>
                </a:solidFill>
                <a:latin typeface="Aptos"/>
              </a:defRPr>
            </a:pPr>
            <a:r>
              <a:t>Shared color range within the row; saturated extremes; full field of view.</a:t>
            </a:r>
          </a:p>
        </p:txBody>
      </p:sp>
      <p:sp>
        <p:nvSpPr>
          <p:cNvPr id="14" name="Rectangle 13"/>
          <p:cNvSpPr/>
          <p:nvPr/>
        </p:nvSpPr>
        <p:spPr>
          <a:xfrm>
            <a:off x="502920" y="5833872"/>
            <a:ext cx="11155680" cy="438912"/>
          </a:xfrm>
          <a:prstGeom prst="rect">
            <a:avLst/>
          </a:prstGeom>
          <a:solidFill>
            <a:srgbClr val="EDF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 y="5907024"/>
            <a:ext cx="10835640" cy="274320"/>
          </a:xfrm>
          <a:prstGeom prst="rect">
            <a:avLst/>
          </a:prstGeom>
          <a:noFill/>
        </p:spPr>
        <p:txBody>
          <a:bodyPr wrap="square" lIns="0" rIns="0" tIns="0" bIns="0">
            <a:spAutoFit/>
          </a:bodyPr>
          <a:lstStyle/>
          <a:p>
            <a:pPr algn="l">
              <a:spcAft>
                <a:spcPts val="1000"/>
              </a:spcAft>
              <a:defRPr sz="1500" b="1">
                <a:solidFill>
                  <a:srgbClr val="3478B6"/>
                </a:solidFill>
                <a:latin typeface="Aptos"/>
              </a:defRPr>
            </a:pPr>
            <a:r>
              <a:t>A smoother-looking output is not automatically closer to the reference.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972800" cy="274320"/>
          </a:xfrm>
          <a:prstGeom prst="rect">
            <a:avLst/>
          </a:prstGeom>
          <a:noFill/>
        </p:spPr>
        <p:txBody>
          <a:bodyPr wrap="square" lIns="0" rIns="0" tIns="0" bIns="0">
            <a:spAutoFit/>
          </a:bodyPr>
          <a:lstStyle/>
          <a:p>
            <a:pPr algn="l">
              <a:spcAft>
                <a:spcPts val="1000"/>
              </a:spcAft>
              <a:defRPr sz="1100" b="1">
                <a:solidFill>
                  <a:srgbClr val="3478B6"/>
                </a:solidFill>
                <a:latin typeface="Aptos"/>
              </a:defRPr>
            </a:pPr>
            <a:r>
              <a:t>INTERPRETATION</a:t>
            </a:r>
          </a:p>
        </p:txBody>
      </p:sp>
      <p:sp>
        <p:nvSpPr>
          <p:cNvPr id="4" name="TextBox 3"/>
          <p:cNvSpPr txBox="1"/>
          <p:nvPr/>
        </p:nvSpPr>
        <p:spPr>
          <a:xfrm>
            <a:off x="502920" y="749808"/>
            <a:ext cx="11155680" cy="822960"/>
          </a:xfrm>
          <a:prstGeom prst="rect">
            <a:avLst/>
          </a:prstGeom>
          <a:noFill/>
        </p:spPr>
        <p:txBody>
          <a:bodyPr wrap="square" lIns="0" rIns="0" tIns="0" bIns="0">
            <a:spAutoFit/>
          </a:bodyPr>
          <a:lstStyle/>
          <a:p>
            <a:pPr algn="l">
              <a:spcAft>
                <a:spcPts val="1000"/>
              </a:spcAft>
              <a:defRPr sz="2900" b="1">
                <a:solidFill>
                  <a:srgbClr val="162C46"/>
                </a:solidFill>
                <a:latin typeface="Aptos"/>
              </a:defRPr>
            </a:pPr>
            <a:r>
              <a:t>The evidence supports a tradeoff, not a universal winner</a:t>
            </a:r>
          </a:p>
        </p:txBody>
      </p:sp>
      <p:sp>
        <p:nvSpPr>
          <p:cNvPr id="5" name="TextBox 4"/>
          <p:cNvSpPr txBox="1"/>
          <p:nvPr/>
        </p:nvSpPr>
        <p:spPr>
          <a:xfrm>
            <a:off x="502920" y="6519672"/>
            <a:ext cx="10698480" cy="201168"/>
          </a:xfrm>
          <a:prstGeom prst="rect">
            <a:avLst/>
          </a:prstGeom>
          <a:noFill/>
        </p:spPr>
        <p:txBody>
          <a:bodyPr wrap="square" lIns="0" rIns="0" tIns="0" bIns="0">
            <a:spAutoFit/>
          </a:bodyPr>
          <a:lstStyle/>
          <a:p>
            <a:pPr algn="l">
              <a:spcAft>
                <a:spcPts val="1000"/>
              </a:spcAft>
              <a:defRPr sz="1000" b="0">
                <a:solidFill>
                  <a:srgbClr val="526174"/>
                </a:solidFill>
                <a:latin typeface="Aptos"/>
              </a:defRPr>
            </a:pPr>
            <a:r>
              <a:t>COMSOL z = 3 → 0.5 µm  •  Same-sample reconstruction; no independent test set</a:t>
            </a:r>
          </a:p>
        </p:txBody>
      </p:sp>
      <p:sp>
        <p:nvSpPr>
          <p:cNvPr id="6" name="TextBox 5"/>
          <p:cNvSpPr txBox="1"/>
          <p:nvPr/>
        </p:nvSpPr>
        <p:spPr>
          <a:xfrm>
            <a:off x="11109960" y="6492240"/>
            <a:ext cx="548640" cy="228600"/>
          </a:xfrm>
          <a:prstGeom prst="rect">
            <a:avLst/>
          </a:prstGeom>
          <a:noFill/>
        </p:spPr>
        <p:txBody>
          <a:bodyPr wrap="square" lIns="0" rIns="0" tIns="0" bIns="0">
            <a:spAutoFit/>
          </a:bodyPr>
          <a:lstStyle/>
          <a:p>
            <a:pPr algn="r">
              <a:spcAft>
                <a:spcPts val="1000"/>
              </a:spcAft>
              <a:defRPr sz="1100" b="0">
                <a:solidFill>
                  <a:srgbClr val="526174"/>
                </a:solidFill>
                <a:latin typeface="Aptos"/>
              </a:defRPr>
            </a:pPr>
            <a:r>
              <a:t>19</a:t>
            </a:r>
          </a:p>
        </p:txBody>
      </p:sp>
      <p:graphicFrame>
        <p:nvGraphicFramePr>
          <p:cNvPr id="7" name="Table 6"/>
          <p:cNvGraphicFramePr>
            <a:graphicFrameLocks noGrp="1"/>
          </p:cNvGraphicFramePr>
          <p:nvPr/>
        </p:nvGraphicFramePr>
        <p:xfrm>
          <a:off x="594360" y="1783080"/>
          <a:ext cx="10972800" cy="3566160"/>
        </p:xfrm>
        <a:graphic>
          <a:graphicData uri="http://schemas.openxmlformats.org/drawingml/2006/table">
            <a:tbl>
              <a:tblPr firstRow="1" bandRow="1">
                <a:tableStyleId>{5C22544A-7EE6-4342-B048-85BDC9FD1C3A}</a:tableStyleId>
              </a:tblPr>
              <a:tblGrid>
                <a:gridCol w="5376672"/>
                <a:gridCol w="5596128"/>
              </a:tblGrid>
              <a:tr h="594360">
                <a:tc>
                  <a:txBody>
                    <a:bodyPr/>
                    <a:lstStyle/>
                    <a:p>
                      <a:pPr>
                        <a:defRPr sz="1900" b="1">
                          <a:solidFill>
                            <a:srgbClr val="FFFFFF"/>
                          </a:solidFill>
                          <a:latin typeface="Aptos"/>
                        </a:defRPr>
                      </a:pPr>
                      <a:r>
                        <a:t>Criterion</a:t>
                      </a:r>
                    </a:p>
                  </a:txBody>
                  <a:tcPr marL="109728" marR="73152" marT="73152" marB="27432">
                    <a:solidFill>
                      <a:srgbClr val="162C46"/>
                    </a:solidFill>
                  </a:tcPr>
                </a:tc>
                <a:tc>
                  <a:txBody>
                    <a:bodyPr/>
                    <a:lstStyle/>
                    <a:p>
                      <a:pPr>
                        <a:defRPr sz="1900" b="1">
                          <a:solidFill>
                            <a:srgbClr val="FFFFFF"/>
                          </a:solidFill>
                          <a:latin typeface="Aptos"/>
                        </a:defRPr>
                      </a:pPr>
                      <a:r>
                        <a:t>Supported result</a:t>
                      </a:r>
                    </a:p>
                  </a:txBody>
                  <a:tcPr marL="109728" marR="73152" marT="73152" marB="27432">
                    <a:solidFill>
                      <a:srgbClr val="162C46"/>
                    </a:solidFill>
                  </a:tcPr>
                </a:tc>
              </a:tr>
              <a:tr h="594360">
                <a:tc>
                  <a:txBody>
                    <a:bodyPr/>
                    <a:lstStyle/>
                    <a:p>
                      <a:pPr>
                        <a:defRPr sz="1900" b="0">
                          <a:solidFill>
                            <a:srgbClr val="18293B"/>
                          </a:solidFill>
                          <a:latin typeface="Aptos"/>
                        </a:defRPr>
                      </a:pPr>
                      <a:r>
                        <a:t>Reference error at matched 8/16 updates</a:t>
                      </a:r>
                    </a:p>
                  </a:txBody>
                  <a:tcPr marL="109728" marR="73152" marT="73152" marB="27432">
                    <a:solidFill>
                      <a:srgbClr val="EDF2F6"/>
                    </a:solidFill>
                  </a:tcPr>
                </a:tc>
                <a:tc>
                  <a:txBody>
                    <a:bodyPr/>
                    <a:lstStyle/>
                    <a:p>
                      <a:pPr>
                        <a:defRPr sz="1900" b="0">
                          <a:solidFill>
                            <a:srgbClr val="18293B"/>
                          </a:solidFill>
                          <a:latin typeface="Aptos"/>
                        </a:defRPr>
                      </a:pPr>
                      <a:r>
                        <a:t>LISTA is lower in all three components</a:t>
                      </a:r>
                    </a:p>
                  </a:txBody>
                  <a:tcPr marL="109728" marR="73152" marT="73152" marB="27432">
                    <a:solidFill>
                      <a:srgbClr val="EDF2F6"/>
                    </a:solidFill>
                  </a:tcPr>
                </a:tc>
              </a:tr>
              <a:tr h="594360">
                <a:tc>
                  <a:txBody>
                    <a:bodyPr/>
                    <a:lstStyle/>
                    <a:p>
                      <a:pPr>
                        <a:defRPr sz="1900" b="0">
                          <a:solidFill>
                            <a:srgbClr val="18293B"/>
                          </a:solidFill>
                          <a:latin typeface="Aptos"/>
                        </a:defRPr>
                      </a:pPr>
                      <a:r>
                        <a:t>Best Bx / By endpoint in the two CSVs</a:t>
                      </a:r>
                    </a:p>
                  </a:txBody>
                  <a:tcPr marL="109728" marR="73152" marT="73152" marB="27432">
                    <a:solidFill>
                      <a:srgbClr val="FFFFFF"/>
                    </a:solidFill>
                  </a:tcPr>
                </a:tc>
                <a:tc>
                  <a:txBody>
                    <a:bodyPr/>
                    <a:lstStyle/>
                    <a:p>
                      <a:pPr>
                        <a:defRPr sz="1900" b="0">
                          <a:solidFill>
                            <a:srgbClr val="18293B"/>
                          </a:solidFill>
                          <a:latin typeface="Aptos"/>
                        </a:defRPr>
                      </a:pPr>
                      <a:r>
                        <a:t>ISTA 500: 1.595% / 1.443%</a:t>
                      </a:r>
                    </a:p>
                  </a:txBody>
                  <a:tcPr marL="109728" marR="73152" marT="73152" marB="27432">
                    <a:solidFill>
                      <a:srgbClr val="FFFFFF"/>
                    </a:solidFill>
                  </a:tcPr>
                </a:tc>
              </a:tr>
              <a:tr h="594360">
                <a:tc>
                  <a:txBody>
                    <a:bodyPr/>
                    <a:lstStyle/>
                    <a:p>
                      <a:pPr>
                        <a:defRPr sz="1900" b="0">
                          <a:solidFill>
                            <a:srgbClr val="18293B"/>
                          </a:solidFill>
                          <a:latin typeface="Aptos"/>
                        </a:defRPr>
                      </a:pPr>
                      <a:r>
                        <a:t>Best Bz endpoint in the two CSVs</a:t>
                      </a:r>
                    </a:p>
                  </a:txBody>
                  <a:tcPr marL="109728" marR="73152" marT="73152" marB="27432">
                    <a:solidFill>
                      <a:srgbClr val="EDF2F6"/>
                    </a:solidFill>
                  </a:tcPr>
                </a:tc>
                <a:tc>
                  <a:txBody>
                    <a:bodyPr/>
                    <a:lstStyle/>
                    <a:p>
                      <a:pPr>
                        <a:defRPr sz="1900" b="0">
                          <a:solidFill>
                            <a:srgbClr val="18293B"/>
                          </a:solidFill>
                          <a:latin typeface="Aptos"/>
                        </a:defRPr>
                      </a:pPr>
                      <a:r>
                        <a:t>FISTA 200: 1.816%</a:t>
                      </a:r>
                    </a:p>
                  </a:txBody>
                  <a:tcPr marL="109728" marR="73152" marT="73152" marB="27432">
                    <a:solidFill>
                      <a:srgbClr val="EDF2F6"/>
                    </a:solidFill>
                  </a:tcPr>
                </a:tc>
              </a:tr>
              <a:tr h="594360">
                <a:tc>
                  <a:txBody>
                    <a:bodyPr/>
                    <a:lstStyle/>
                    <a:p>
                      <a:pPr>
                        <a:defRPr sz="1900" b="0">
                          <a:solidFill>
                            <a:srgbClr val="18293B"/>
                          </a:solidFill>
                          <a:latin typeface="Aptos"/>
                        </a:defRPr>
                      </a:pPr>
                      <a:r>
                        <a:t>Smallest original objective among endpoints</a:t>
                      </a:r>
                    </a:p>
                  </a:txBody>
                  <a:tcPr marL="109728" marR="73152" marT="73152" marB="27432">
                    <a:solidFill>
                      <a:srgbClr val="FFFFFF"/>
                    </a:solidFill>
                  </a:tcPr>
                </a:tc>
                <a:tc>
                  <a:txBody>
                    <a:bodyPr/>
                    <a:lstStyle/>
                    <a:p>
                      <a:pPr>
                        <a:defRPr sz="1900" b="0">
                          <a:solidFill>
                            <a:srgbClr val="18293B"/>
                          </a:solidFill>
                          <a:latin typeface="Aptos"/>
                        </a:defRPr>
                      </a:pPr>
                      <a:r>
                        <a:t>FISTA 500</a:t>
                      </a:r>
                    </a:p>
                  </a:txBody>
                  <a:tcPr marL="109728" marR="73152" marT="73152" marB="27432">
                    <a:solidFill>
                      <a:srgbClr val="FFFFFF"/>
                    </a:solidFill>
                  </a:tcPr>
                </a:tc>
              </a:tr>
              <a:tr h="594360">
                <a:tc>
                  <a:txBody>
                    <a:bodyPr/>
                    <a:lstStyle/>
                    <a:p>
                      <a:pPr>
                        <a:defRPr sz="1900" b="0">
                          <a:solidFill>
                            <a:srgbClr val="18293B"/>
                          </a:solidFill>
                          <a:latin typeface="Aptos"/>
                        </a:defRPr>
                      </a:pPr>
                      <a:r>
                        <a:t>Generalization to unseen observations</a:t>
                      </a:r>
                    </a:p>
                  </a:txBody>
                  <a:tcPr marL="109728" marR="73152" marT="73152" marB="27432">
                    <a:solidFill>
                      <a:srgbClr val="EDF2F6"/>
                    </a:solidFill>
                  </a:tcPr>
                </a:tc>
                <a:tc>
                  <a:txBody>
                    <a:bodyPr/>
                    <a:lstStyle/>
                    <a:p>
                      <a:pPr>
                        <a:defRPr sz="1900" b="0">
                          <a:solidFill>
                            <a:srgbClr val="18293B"/>
                          </a:solidFill>
                          <a:latin typeface="Aptos"/>
                        </a:defRPr>
                      </a:pPr>
                      <a:r>
                        <a:t>Not evaluated</a:t>
                      </a:r>
                    </a:p>
                  </a:txBody>
                  <a:tcPr marL="109728" marR="73152" marT="73152" marB="27432">
                    <a:solidFill>
                      <a:srgbClr val="EDF2F6"/>
                    </a:solidFill>
                  </a:tcPr>
                </a:tc>
              </a:tr>
            </a:tbl>
          </a:graphicData>
        </a:graphic>
      </p:graphicFrame>
      <p:sp>
        <p:nvSpPr>
          <p:cNvPr id="8" name="Rectangle 7"/>
          <p:cNvSpPr/>
          <p:nvPr/>
        </p:nvSpPr>
        <p:spPr>
          <a:xfrm>
            <a:off x="502920" y="5833872"/>
            <a:ext cx="11155680" cy="438912"/>
          </a:xfrm>
          <a:prstGeom prst="rect">
            <a:avLst/>
          </a:prstGeom>
          <a:solidFill>
            <a:srgbClr val="EDF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5907024"/>
            <a:ext cx="10835640" cy="274320"/>
          </a:xfrm>
          <a:prstGeom prst="rect">
            <a:avLst/>
          </a:prstGeom>
          <a:noFill/>
        </p:spPr>
        <p:txBody>
          <a:bodyPr wrap="square" lIns="0" rIns="0" tIns="0" bIns="0">
            <a:spAutoFit/>
          </a:bodyPr>
          <a:lstStyle/>
          <a:p>
            <a:pPr algn="l">
              <a:spcAft>
                <a:spcPts val="1000"/>
              </a:spcAft>
              <a:defRPr sz="1500" b="1">
                <a:solidFill>
                  <a:srgbClr val="3478B6"/>
                </a:solidFill>
                <a:latin typeface="Aptos"/>
              </a:defRPr>
            </a:pPr>
            <a:r>
              <a:t>Range NRMSE ≈ 2% does not mean “98% accurate”; also report relative L2 and physical RMSE.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972800" cy="274320"/>
          </a:xfrm>
          <a:prstGeom prst="rect">
            <a:avLst/>
          </a:prstGeom>
          <a:noFill/>
        </p:spPr>
        <p:txBody>
          <a:bodyPr wrap="square" lIns="0" rIns="0" tIns="0" bIns="0">
            <a:spAutoFit/>
          </a:bodyPr>
          <a:lstStyle/>
          <a:p>
            <a:pPr algn="l">
              <a:spcAft>
                <a:spcPts val="1000"/>
              </a:spcAft>
              <a:defRPr sz="1100" b="1">
                <a:solidFill>
                  <a:srgbClr val="3478B6"/>
                </a:solidFill>
                <a:latin typeface="Aptos"/>
              </a:defRPr>
            </a:pPr>
            <a:r>
              <a:t>DISCUSSION</a:t>
            </a:r>
          </a:p>
        </p:txBody>
      </p:sp>
      <p:sp>
        <p:nvSpPr>
          <p:cNvPr id="4" name="TextBox 3"/>
          <p:cNvSpPr txBox="1"/>
          <p:nvPr/>
        </p:nvSpPr>
        <p:spPr>
          <a:xfrm>
            <a:off x="502920" y="749808"/>
            <a:ext cx="11155680" cy="822960"/>
          </a:xfrm>
          <a:prstGeom prst="rect">
            <a:avLst/>
          </a:prstGeom>
          <a:noFill/>
        </p:spPr>
        <p:txBody>
          <a:bodyPr wrap="square" lIns="0" rIns="0" tIns="0" bIns="0">
            <a:spAutoFit/>
          </a:bodyPr>
          <a:lstStyle/>
          <a:p>
            <a:pPr algn="l">
              <a:spcAft>
                <a:spcPts val="1000"/>
              </a:spcAft>
              <a:defRPr sz="2900" b="1">
                <a:solidFill>
                  <a:srgbClr val="162C46"/>
                </a:solidFill>
                <a:latin typeface="Aptos"/>
              </a:defRPr>
            </a:pPr>
            <a:r>
              <a:t>Next: separate the objective, calibration and evaluation questions</a:t>
            </a:r>
          </a:p>
        </p:txBody>
      </p:sp>
      <p:sp>
        <p:nvSpPr>
          <p:cNvPr id="5" name="TextBox 4"/>
          <p:cNvSpPr txBox="1"/>
          <p:nvPr/>
        </p:nvSpPr>
        <p:spPr>
          <a:xfrm>
            <a:off x="502920" y="6519672"/>
            <a:ext cx="10698480" cy="201168"/>
          </a:xfrm>
          <a:prstGeom prst="rect">
            <a:avLst/>
          </a:prstGeom>
          <a:noFill/>
        </p:spPr>
        <p:txBody>
          <a:bodyPr wrap="square" lIns="0" rIns="0" tIns="0" bIns="0">
            <a:spAutoFit/>
          </a:bodyPr>
          <a:lstStyle/>
          <a:p>
            <a:pPr algn="l">
              <a:spcAft>
                <a:spcPts val="1000"/>
              </a:spcAft>
              <a:defRPr sz="1000" b="0">
                <a:solidFill>
                  <a:srgbClr val="526174"/>
                </a:solidFill>
                <a:latin typeface="Aptos"/>
              </a:defRPr>
            </a:pPr>
            <a:r>
              <a:t>COMSOL z = 3 → 0.5 µm  •  Same-sample reconstruction; no independent test set</a:t>
            </a:r>
          </a:p>
        </p:txBody>
      </p:sp>
      <p:sp>
        <p:nvSpPr>
          <p:cNvPr id="6" name="TextBox 5"/>
          <p:cNvSpPr txBox="1"/>
          <p:nvPr/>
        </p:nvSpPr>
        <p:spPr>
          <a:xfrm>
            <a:off x="11109960" y="6492240"/>
            <a:ext cx="548640" cy="228600"/>
          </a:xfrm>
          <a:prstGeom prst="rect">
            <a:avLst/>
          </a:prstGeom>
          <a:noFill/>
        </p:spPr>
        <p:txBody>
          <a:bodyPr wrap="square" lIns="0" rIns="0" tIns="0" bIns="0">
            <a:spAutoFit/>
          </a:bodyPr>
          <a:lstStyle/>
          <a:p>
            <a:pPr algn="r">
              <a:spcAft>
                <a:spcPts val="1000"/>
              </a:spcAft>
              <a:defRPr sz="1100" b="0">
                <a:solidFill>
                  <a:srgbClr val="526174"/>
                </a:solidFill>
                <a:latin typeface="Aptos"/>
              </a:defRPr>
            </a:pPr>
            <a:r>
              <a:t>20</a:t>
            </a:r>
          </a:p>
        </p:txBody>
      </p:sp>
      <p:sp>
        <p:nvSpPr>
          <p:cNvPr id="7" name="TextBox 6"/>
          <p:cNvSpPr txBox="1"/>
          <p:nvPr/>
        </p:nvSpPr>
        <p:spPr>
          <a:xfrm>
            <a:off x="685800" y="1828800"/>
            <a:ext cx="10698480" cy="640080"/>
          </a:xfrm>
          <a:prstGeom prst="rect">
            <a:avLst/>
          </a:prstGeom>
          <a:noFill/>
        </p:spPr>
        <p:txBody>
          <a:bodyPr wrap="square" lIns="0" rIns="0" tIns="0" bIns="0">
            <a:spAutoFit/>
          </a:bodyPr>
          <a:lstStyle/>
          <a:p>
            <a:pPr algn="l">
              <a:spcAft>
                <a:spcPts val="1000"/>
              </a:spcAft>
              <a:defRPr sz="2300" b="0">
                <a:solidFill>
                  <a:srgbClr val="18293B"/>
                </a:solidFill>
                <a:latin typeface="Aptos"/>
              </a:defRPr>
            </a:pPr>
            <a:r>
              <a:t>•  Choose the target: approximate the L1 optimizer or recover a sharp reference.</a:t>
            </a:r>
          </a:p>
        </p:txBody>
      </p:sp>
      <p:sp>
        <p:nvSpPr>
          <p:cNvPr id="8" name="TextBox 7"/>
          <p:cNvSpPr txBox="1"/>
          <p:nvPr/>
        </p:nvSpPr>
        <p:spPr>
          <a:xfrm>
            <a:off x="685800" y="2679192"/>
            <a:ext cx="10698480" cy="640080"/>
          </a:xfrm>
          <a:prstGeom prst="rect">
            <a:avLst/>
          </a:prstGeom>
          <a:noFill/>
        </p:spPr>
        <p:txBody>
          <a:bodyPr wrap="square" lIns="0" rIns="0" tIns="0" bIns="0">
            <a:spAutoFit/>
          </a:bodyPr>
          <a:lstStyle/>
          <a:p>
            <a:pPr algn="l">
              <a:spcAft>
                <a:spcPts val="1000"/>
              </a:spcAft>
              <a:defRPr sz="2300" b="0">
                <a:solidFill>
                  <a:srgbClr val="18293B"/>
                </a:solidFill>
                <a:latin typeface="Aptos"/>
              </a:defRPr>
            </a:pPr>
            <a:r>
              <a:t>•  Validate λ and stopping rules separately from final evaluation.</a:t>
            </a:r>
          </a:p>
        </p:txBody>
      </p:sp>
      <p:sp>
        <p:nvSpPr>
          <p:cNvPr id="9" name="TextBox 8"/>
          <p:cNvSpPr txBox="1"/>
          <p:nvPr/>
        </p:nvSpPr>
        <p:spPr>
          <a:xfrm>
            <a:off x="685800" y="3529584"/>
            <a:ext cx="10698480" cy="640080"/>
          </a:xfrm>
          <a:prstGeom prst="rect">
            <a:avLst/>
          </a:prstGeom>
          <a:noFill/>
        </p:spPr>
        <p:txBody>
          <a:bodyPr wrap="square" lIns="0" rIns="0" tIns="0" bIns="0">
            <a:spAutoFit/>
          </a:bodyPr>
          <a:lstStyle/>
          <a:p>
            <a:pPr algn="l">
              <a:spcAft>
                <a:spcPts val="1000"/>
              </a:spcAft>
              <a:defRPr sz="2300" b="0">
                <a:solidFill>
                  <a:srgbClr val="18293B"/>
                </a:solidFill>
                <a:latin typeface="Aptos"/>
              </a:defRPr>
            </a:pPr>
            <a:r>
              <a:t>•  Test independently calibrated models on unseen observations.</a:t>
            </a:r>
          </a:p>
        </p:txBody>
      </p:sp>
      <p:sp>
        <p:nvSpPr>
          <p:cNvPr id="10" name="TextBox 9"/>
          <p:cNvSpPr txBox="1"/>
          <p:nvPr/>
        </p:nvSpPr>
        <p:spPr>
          <a:xfrm>
            <a:off x="685800" y="4379976"/>
            <a:ext cx="10698480" cy="640080"/>
          </a:xfrm>
          <a:prstGeom prst="rect">
            <a:avLst/>
          </a:prstGeom>
          <a:noFill/>
        </p:spPr>
        <p:txBody>
          <a:bodyPr wrap="square" lIns="0" rIns="0" tIns="0" bIns="0">
            <a:spAutoFit/>
          </a:bodyPr>
          <a:lstStyle/>
          <a:p>
            <a:pPr algn="l">
              <a:spcAft>
                <a:spcPts val="1000"/>
              </a:spcAft>
              <a:defRPr sz="2300" b="0">
                <a:solidFill>
                  <a:srgbClr val="18293B"/>
                </a:solidFill>
                <a:latin typeface="Aptos"/>
              </a:defRPr>
            </a:pPr>
            <a:r>
              <a:t>•  Compare matched accuracy / latency, with training cost reported.</a:t>
            </a:r>
          </a:p>
        </p:txBody>
      </p:sp>
      <p:sp>
        <p:nvSpPr>
          <p:cNvPr id="11" name="Rectangle 10"/>
          <p:cNvSpPr/>
          <p:nvPr/>
        </p:nvSpPr>
        <p:spPr>
          <a:xfrm>
            <a:off x="502920" y="5833872"/>
            <a:ext cx="11155680" cy="438912"/>
          </a:xfrm>
          <a:prstGeom prst="rect">
            <a:avLst/>
          </a:prstGeom>
          <a:solidFill>
            <a:srgbClr val="EDF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5907024"/>
            <a:ext cx="10835640" cy="274320"/>
          </a:xfrm>
          <a:prstGeom prst="rect">
            <a:avLst/>
          </a:prstGeom>
          <a:noFill/>
        </p:spPr>
        <p:txBody>
          <a:bodyPr wrap="square" lIns="0" rIns="0" tIns="0" bIns="0">
            <a:spAutoFit/>
          </a:bodyPr>
          <a:lstStyle/>
          <a:p>
            <a:pPr algn="l">
              <a:spcAft>
                <a:spcPts val="1000"/>
              </a:spcAft>
              <a:defRPr sz="1500" b="1">
                <a:solidFill>
                  <a:srgbClr val="3478B6"/>
                </a:solidFill>
                <a:latin typeface="Aptos"/>
              </a:defRPr>
            </a:pPr>
            <a:r>
              <a:t>Current result: promising short-budget reconstruction, demonstrated only on the training sample.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972800" cy="274320"/>
          </a:xfrm>
          <a:prstGeom prst="rect">
            <a:avLst/>
          </a:prstGeom>
          <a:noFill/>
        </p:spPr>
        <p:txBody>
          <a:bodyPr wrap="square" lIns="0" rIns="0" tIns="0" bIns="0">
            <a:spAutoFit/>
          </a:bodyPr>
          <a:lstStyle/>
          <a:p>
            <a:pPr algn="l">
              <a:spcAft>
                <a:spcPts val="1000"/>
              </a:spcAft>
              <a:defRPr sz="1100" b="1">
                <a:solidFill>
                  <a:srgbClr val="3478B6"/>
                </a:solidFill>
                <a:latin typeface="Aptos"/>
              </a:defRPr>
            </a:pPr>
            <a:r>
              <a:t>TECHNICAL BACKUP</a:t>
            </a:r>
          </a:p>
        </p:txBody>
      </p:sp>
      <p:sp>
        <p:nvSpPr>
          <p:cNvPr id="4" name="TextBox 3"/>
          <p:cNvSpPr txBox="1"/>
          <p:nvPr/>
        </p:nvSpPr>
        <p:spPr>
          <a:xfrm>
            <a:off x="502920" y="749808"/>
            <a:ext cx="11155680" cy="822960"/>
          </a:xfrm>
          <a:prstGeom prst="rect">
            <a:avLst/>
          </a:prstGeom>
          <a:noFill/>
        </p:spPr>
        <p:txBody>
          <a:bodyPr wrap="square" lIns="0" rIns="0" tIns="0" bIns="0">
            <a:spAutoFit/>
          </a:bodyPr>
          <a:lstStyle/>
          <a:p>
            <a:pPr algn="l">
              <a:spcAft>
                <a:spcPts val="1000"/>
              </a:spcAft>
              <a:defRPr sz="2900" b="1">
                <a:solidFill>
                  <a:srgbClr val="162C46"/>
                </a:solidFill>
                <a:latin typeface="Aptos"/>
              </a:defRPr>
            </a:pPr>
            <a:r>
              <a:t>Backup: derive shrinkage from the proximal subproblem</a:t>
            </a:r>
          </a:p>
        </p:txBody>
      </p:sp>
      <p:sp>
        <p:nvSpPr>
          <p:cNvPr id="5" name="TextBox 4"/>
          <p:cNvSpPr txBox="1"/>
          <p:nvPr/>
        </p:nvSpPr>
        <p:spPr>
          <a:xfrm>
            <a:off x="502920" y="6519672"/>
            <a:ext cx="10698480" cy="201168"/>
          </a:xfrm>
          <a:prstGeom prst="rect">
            <a:avLst/>
          </a:prstGeom>
          <a:noFill/>
        </p:spPr>
        <p:txBody>
          <a:bodyPr wrap="square" lIns="0" rIns="0" tIns="0" bIns="0">
            <a:spAutoFit/>
          </a:bodyPr>
          <a:lstStyle/>
          <a:p>
            <a:pPr algn="l">
              <a:spcAft>
                <a:spcPts val="1000"/>
              </a:spcAft>
              <a:defRPr sz="1000" b="0">
                <a:solidFill>
                  <a:srgbClr val="526174"/>
                </a:solidFill>
                <a:latin typeface="Aptos"/>
              </a:defRPr>
            </a:pPr>
            <a:r>
              <a:t>COMSOL z = 3 → 0.5 µm  •  Same-sample reconstruction; no independent test set</a:t>
            </a:r>
          </a:p>
        </p:txBody>
      </p:sp>
      <p:sp>
        <p:nvSpPr>
          <p:cNvPr id="6" name="TextBox 5"/>
          <p:cNvSpPr txBox="1"/>
          <p:nvPr/>
        </p:nvSpPr>
        <p:spPr>
          <a:xfrm>
            <a:off x="11109960" y="6492240"/>
            <a:ext cx="548640" cy="228600"/>
          </a:xfrm>
          <a:prstGeom prst="rect">
            <a:avLst/>
          </a:prstGeom>
          <a:noFill/>
        </p:spPr>
        <p:txBody>
          <a:bodyPr wrap="square" lIns="0" rIns="0" tIns="0" bIns="0">
            <a:spAutoFit/>
          </a:bodyPr>
          <a:lstStyle/>
          <a:p>
            <a:pPr algn="r">
              <a:spcAft>
                <a:spcPts val="1000"/>
              </a:spcAft>
              <a:defRPr sz="1100" b="0">
                <a:solidFill>
                  <a:srgbClr val="526174"/>
                </a:solidFill>
                <a:latin typeface="Aptos"/>
              </a:defRPr>
            </a:pPr>
            <a:r>
              <a:t>21</a:t>
            </a:r>
          </a:p>
        </p:txBody>
      </p:sp>
      <p:pic>
        <p:nvPicPr>
          <p:cNvPr id="7" name="Picture 6" descr="eq_46.png"/>
          <p:cNvPicPr>
            <a:picLocks noChangeAspect="1"/>
          </p:cNvPicPr>
          <p:nvPr/>
        </p:nvPicPr>
        <p:blipFill>
          <a:blip r:embed="rId3"/>
          <a:stretch>
            <a:fillRect/>
          </a:stretch>
        </p:blipFill>
        <p:spPr>
          <a:xfrm>
            <a:off x="2019821" y="1737360"/>
            <a:ext cx="8121876" cy="731520"/>
          </a:xfrm>
          <a:prstGeom prst="rect">
            <a:avLst/>
          </a:prstGeom>
        </p:spPr>
      </p:pic>
      <p:pic>
        <p:nvPicPr>
          <p:cNvPr id="8" name="Picture 7" descr="eq_47.png"/>
          <p:cNvPicPr>
            <a:picLocks noChangeAspect="1"/>
          </p:cNvPicPr>
          <p:nvPr/>
        </p:nvPicPr>
        <p:blipFill>
          <a:blip r:embed="rId4"/>
          <a:stretch>
            <a:fillRect/>
          </a:stretch>
        </p:blipFill>
        <p:spPr>
          <a:xfrm>
            <a:off x="1546634" y="2743200"/>
            <a:ext cx="9068250" cy="914400"/>
          </a:xfrm>
          <a:prstGeom prst="rect">
            <a:avLst/>
          </a:prstGeom>
        </p:spPr>
      </p:pic>
      <p:pic>
        <p:nvPicPr>
          <p:cNvPr id="9" name="Picture 8" descr="eq_48.png"/>
          <p:cNvPicPr>
            <a:picLocks noChangeAspect="1"/>
          </p:cNvPicPr>
          <p:nvPr/>
        </p:nvPicPr>
        <p:blipFill>
          <a:blip r:embed="rId5"/>
          <a:stretch>
            <a:fillRect/>
          </a:stretch>
        </p:blipFill>
        <p:spPr>
          <a:xfrm>
            <a:off x="2627913" y="4023360"/>
            <a:ext cx="6905693" cy="777240"/>
          </a:xfrm>
          <a:prstGeom prst="rect">
            <a:avLst/>
          </a:prstGeom>
        </p:spPr>
      </p:pic>
      <p:sp>
        <p:nvSpPr>
          <p:cNvPr id="10" name="Rectangle 9"/>
          <p:cNvSpPr/>
          <p:nvPr/>
        </p:nvSpPr>
        <p:spPr>
          <a:xfrm>
            <a:off x="502920" y="5833872"/>
            <a:ext cx="11155680" cy="438912"/>
          </a:xfrm>
          <a:prstGeom prst="rect">
            <a:avLst/>
          </a:prstGeom>
          <a:solidFill>
            <a:srgbClr val="EDF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5907024"/>
            <a:ext cx="10835640" cy="274320"/>
          </a:xfrm>
          <a:prstGeom prst="rect">
            <a:avLst/>
          </a:prstGeom>
          <a:noFill/>
        </p:spPr>
        <p:txBody>
          <a:bodyPr wrap="square" lIns="0" rIns="0" tIns="0" bIns="0">
            <a:spAutoFit/>
          </a:bodyPr>
          <a:lstStyle/>
          <a:p>
            <a:pPr algn="l">
              <a:spcAft>
                <a:spcPts val="1000"/>
              </a:spcAft>
              <a:defRPr sz="1500" b="1">
                <a:solidFill>
                  <a:srgbClr val="3478B6"/>
                </a:solidFill>
                <a:latin typeface="Aptos"/>
              </a:defRPr>
            </a:pPr>
            <a:r>
              <a:t>For fixed A and λ ≥ 0, the baseline objective is convex.</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972800" cy="274320"/>
          </a:xfrm>
          <a:prstGeom prst="rect">
            <a:avLst/>
          </a:prstGeom>
          <a:noFill/>
        </p:spPr>
        <p:txBody>
          <a:bodyPr wrap="square" lIns="0" rIns="0" tIns="0" bIns="0">
            <a:spAutoFit/>
          </a:bodyPr>
          <a:lstStyle/>
          <a:p>
            <a:pPr algn="l">
              <a:spcAft>
                <a:spcPts val="1000"/>
              </a:spcAft>
              <a:defRPr sz="1100" b="1">
                <a:solidFill>
                  <a:srgbClr val="3478B6"/>
                </a:solidFill>
                <a:latin typeface="Aptos"/>
              </a:defRPr>
            </a:pPr>
            <a:r>
              <a:t>TECHNICAL BACKUP</a:t>
            </a:r>
          </a:p>
        </p:txBody>
      </p:sp>
      <p:sp>
        <p:nvSpPr>
          <p:cNvPr id="4" name="TextBox 3"/>
          <p:cNvSpPr txBox="1"/>
          <p:nvPr/>
        </p:nvSpPr>
        <p:spPr>
          <a:xfrm>
            <a:off x="502920" y="749808"/>
            <a:ext cx="11155680" cy="822960"/>
          </a:xfrm>
          <a:prstGeom prst="rect">
            <a:avLst/>
          </a:prstGeom>
          <a:noFill/>
        </p:spPr>
        <p:txBody>
          <a:bodyPr wrap="square" lIns="0" rIns="0" tIns="0" bIns="0">
            <a:spAutoFit/>
          </a:bodyPr>
          <a:lstStyle/>
          <a:p>
            <a:pPr algn="l">
              <a:spcAft>
                <a:spcPts val="1000"/>
              </a:spcAft>
              <a:defRPr sz="2900" b="1">
                <a:solidFill>
                  <a:srgbClr val="162C46"/>
                </a:solidFill>
                <a:latin typeface="Aptos"/>
              </a:defRPr>
            </a:pPr>
            <a:r>
              <a:t>Backup: norm bound, units and initial threshold</a:t>
            </a:r>
          </a:p>
        </p:txBody>
      </p:sp>
      <p:sp>
        <p:nvSpPr>
          <p:cNvPr id="5" name="TextBox 4"/>
          <p:cNvSpPr txBox="1"/>
          <p:nvPr/>
        </p:nvSpPr>
        <p:spPr>
          <a:xfrm>
            <a:off x="502920" y="6519672"/>
            <a:ext cx="10698480" cy="201168"/>
          </a:xfrm>
          <a:prstGeom prst="rect">
            <a:avLst/>
          </a:prstGeom>
          <a:noFill/>
        </p:spPr>
        <p:txBody>
          <a:bodyPr wrap="square" lIns="0" rIns="0" tIns="0" bIns="0">
            <a:spAutoFit/>
          </a:bodyPr>
          <a:lstStyle/>
          <a:p>
            <a:pPr algn="l">
              <a:spcAft>
                <a:spcPts val="1000"/>
              </a:spcAft>
              <a:defRPr sz="1000" b="0">
                <a:solidFill>
                  <a:srgbClr val="526174"/>
                </a:solidFill>
                <a:latin typeface="Aptos"/>
              </a:defRPr>
            </a:pPr>
            <a:r>
              <a:t>COMSOL z = 3 → 0.5 µm  •  Same-sample reconstruction; no independent test set</a:t>
            </a:r>
          </a:p>
        </p:txBody>
      </p:sp>
      <p:sp>
        <p:nvSpPr>
          <p:cNvPr id="6" name="TextBox 5"/>
          <p:cNvSpPr txBox="1"/>
          <p:nvPr/>
        </p:nvSpPr>
        <p:spPr>
          <a:xfrm>
            <a:off x="11109960" y="6492240"/>
            <a:ext cx="548640" cy="228600"/>
          </a:xfrm>
          <a:prstGeom prst="rect">
            <a:avLst/>
          </a:prstGeom>
          <a:noFill/>
        </p:spPr>
        <p:txBody>
          <a:bodyPr wrap="square" lIns="0" rIns="0" tIns="0" bIns="0">
            <a:spAutoFit/>
          </a:bodyPr>
          <a:lstStyle/>
          <a:p>
            <a:pPr algn="r">
              <a:spcAft>
                <a:spcPts val="1000"/>
              </a:spcAft>
              <a:defRPr sz="1100" b="0">
                <a:solidFill>
                  <a:srgbClr val="526174"/>
                </a:solidFill>
                <a:latin typeface="Aptos"/>
              </a:defRPr>
            </a:pPr>
            <a:r>
              <a:t>22</a:t>
            </a:r>
          </a:p>
        </p:txBody>
      </p:sp>
      <p:pic>
        <p:nvPicPr>
          <p:cNvPr id="7" name="Picture 6" descr="eq_49.png"/>
          <p:cNvPicPr>
            <a:picLocks noChangeAspect="1"/>
          </p:cNvPicPr>
          <p:nvPr/>
        </p:nvPicPr>
        <p:blipFill>
          <a:blip r:embed="rId3"/>
          <a:stretch>
            <a:fillRect/>
          </a:stretch>
        </p:blipFill>
        <p:spPr>
          <a:xfrm>
            <a:off x="2010507" y="1737360"/>
            <a:ext cx="8140504" cy="731520"/>
          </a:xfrm>
          <a:prstGeom prst="rect">
            <a:avLst/>
          </a:prstGeom>
        </p:spPr>
      </p:pic>
      <p:pic>
        <p:nvPicPr>
          <p:cNvPr id="8" name="Picture 7" descr="eq_50.png"/>
          <p:cNvPicPr>
            <a:picLocks noChangeAspect="1"/>
          </p:cNvPicPr>
          <p:nvPr/>
        </p:nvPicPr>
        <p:blipFill>
          <a:blip r:embed="rId4"/>
          <a:stretch>
            <a:fillRect/>
          </a:stretch>
        </p:blipFill>
        <p:spPr>
          <a:xfrm>
            <a:off x="1714499" y="2743200"/>
            <a:ext cx="8732520" cy="914400"/>
          </a:xfrm>
          <a:prstGeom prst="rect">
            <a:avLst/>
          </a:prstGeom>
        </p:spPr>
      </p:pic>
      <p:graphicFrame>
        <p:nvGraphicFramePr>
          <p:cNvPr id="9" name="Table 8"/>
          <p:cNvGraphicFramePr>
            <a:graphicFrameLocks noGrp="1"/>
          </p:cNvGraphicFramePr>
          <p:nvPr/>
        </p:nvGraphicFramePr>
        <p:xfrm>
          <a:off x="594360" y="4023360"/>
          <a:ext cx="10972800" cy="1508760"/>
        </p:xfrm>
        <a:graphic>
          <a:graphicData uri="http://schemas.openxmlformats.org/drawingml/2006/table">
            <a:tbl>
              <a:tblPr firstRow="1" bandRow="1">
                <a:tableStyleId>{5C22544A-7EE6-4342-B048-85BDC9FD1C3A}</a:tableStyleId>
              </a:tblPr>
              <a:tblGrid>
                <a:gridCol w="5486400"/>
                <a:gridCol w="5486400"/>
              </a:tblGrid>
              <a:tr h="377190">
                <a:tc>
                  <a:txBody>
                    <a:bodyPr/>
                    <a:lstStyle/>
                    <a:p>
                      <a:pPr>
                        <a:defRPr sz="1700" b="1">
                          <a:solidFill>
                            <a:srgbClr val="FFFFFF"/>
                          </a:solidFill>
                          <a:latin typeface="Aptos"/>
                        </a:defRPr>
                      </a:pPr>
                      <a:r>
                        <a:t>Quantity</a:t>
                      </a:r>
                    </a:p>
                  </a:txBody>
                  <a:tcPr marL="109728" marR="73152" marT="73152" marB="27432">
                    <a:solidFill>
                      <a:srgbClr val="162C46"/>
                    </a:solidFill>
                  </a:tcPr>
                </a:tc>
                <a:tc>
                  <a:txBody>
                    <a:bodyPr/>
                    <a:lstStyle/>
                    <a:p>
                      <a:pPr>
                        <a:defRPr sz="1700" b="1">
                          <a:solidFill>
                            <a:srgbClr val="FFFFFF"/>
                          </a:solidFill>
                          <a:latin typeface="Aptos"/>
                        </a:defRPr>
                      </a:pPr>
                      <a:r>
                        <a:t>Both runs</a:t>
                      </a:r>
                    </a:p>
                  </a:txBody>
                  <a:tcPr marL="109728" marR="73152" marT="73152" marB="27432">
                    <a:solidFill>
                      <a:srgbClr val="162C46"/>
                    </a:solidFill>
                  </a:tcPr>
                </a:tc>
              </a:tr>
              <a:tr h="377190">
                <a:tc>
                  <a:txBody>
                    <a:bodyPr/>
                    <a:lstStyle/>
                    <a:p>
                      <a:pPr>
                        <a:defRPr sz="1700" b="0">
                          <a:solidFill>
                            <a:srgbClr val="18293B"/>
                          </a:solidFill>
                          <a:latin typeface="Aptos"/>
                        </a:defRPr>
                      </a:pPr>
                      <a:r>
                        <a:t>q / normalized λ</a:t>
                      </a:r>
                    </a:p>
                  </a:txBody>
                  <a:tcPr marL="109728" marR="73152" marT="73152" marB="27432">
                    <a:solidFill>
                      <a:srgbClr val="EDF2F6"/>
                    </a:solidFill>
                  </a:tcPr>
                </a:tc>
                <a:tc>
                  <a:txBody>
                    <a:bodyPr/>
                    <a:lstStyle/>
                    <a:p>
                      <a:pPr>
                        <a:defRPr sz="1700" b="0">
                          <a:solidFill>
                            <a:srgbClr val="18293B"/>
                          </a:solidFill>
                          <a:latin typeface="Aptos"/>
                        </a:defRPr>
                      </a:pPr>
                      <a:r>
                        <a:t>215.1441 µT / 4.64805 × 10⁻⁷</a:t>
                      </a:r>
                    </a:p>
                  </a:txBody>
                  <a:tcPr marL="109728" marR="73152" marT="73152" marB="27432">
                    <a:solidFill>
                      <a:srgbClr val="EDF2F6"/>
                    </a:solidFill>
                  </a:tcPr>
                </a:tc>
              </a:tr>
              <a:tr h="377190">
                <a:tc>
                  <a:txBody>
                    <a:bodyPr/>
                    <a:lstStyle/>
                    <a:p>
                      <a:pPr>
                        <a:defRPr sz="1700" b="0">
                          <a:solidFill>
                            <a:srgbClr val="18293B"/>
                          </a:solidFill>
                          <a:latin typeface="Aptos"/>
                        </a:defRPr>
                      </a:pPr>
                      <a:r>
                        <a:t>Lbound / α</a:t>
                      </a:r>
                    </a:p>
                  </a:txBody>
                  <a:tcPr marL="109728" marR="73152" marT="73152" marB="27432">
                    <a:solidFill>
                      <a:srgbClr val="FFFFFF"/>
                    </a:solidFill>
                  </a:tcPr>
                </a:tc>
                <a:tc>
                  <a:txBody>
                    <a:bodyPr/>
                    <a:lstStyle/>
                    <a:p>
                      <a:pPr>
                        <a:defRPr sz="1700" b="0">
                          <a:solidFill>
                            <a:srgbClr val="18293B"/>
                          </a:solidFill>
                          <a:latin typeface="Aptos"/>
                        </a:defRPr>
                      </a:pPr>
                      <a:r>
                        <a:t>4.47859 / 0.221052</a:t>
                      </a:r>
                    </a:p>
                  </a:txBody>
                  <a:tcPr marL="109728" marR="73152" marT="73152" marB="27432">
                    <a:solidFill>
                      <a:srgbClr val="FFFFFF"/>
                    </a:solidFill>
                  </a:tcPr>
                </a:tc>
              </a:tr>
              <a:tr h="377190">
                <a:tc>
                  <a:txBody>
                    <a:bodyPr/>
                    <a:lstStyle/>
                    <a:p>
                      <a:pPr>
                        <a:defRPr sz="1700" b="0">
                          <a:solidFill>
                            <a:srgbClr val="18293B"/>
                          </a:solidFill>
                          <a:latin typeface="Aptos"/>
                        </a:defRPr>
                      </a:pPr>
                      <a:r>
                        <a:t>Initial threshold in normalized units</a:t>
                      </a:r>
                    </a:p>
                  </a:txBody>
                  <a:tcPr marL="109728" marR="73152" marT="73152" marB="27432">
                    <a:solidFill>
                      <a:srgbClr val="EDF2F6"/>
                    </a:solidFill>
                  </a:tcPr>
                </a:tc>
                <a:tc>
                  <a:txBody>
                    <a:bodyPr/>
                    <a:lstStyle/>
                    <a:p>
                      <a:pPr>
                        <a:defRPr sz="1700" b="0">
                          <a:solidFill>
                            <a:srgbClr val="18293B"/>
                          </a:solidFill>
                          <a:latin typeface="Aptos"/>
                        </a:defRPr>
                      </a:pPr>
                      <a:r>
                        <a:t>1.02746 × 10⁻⁷</a:t>
                      </a:r>
                    </a:p>
                  </a:txBody>
                  <a:tcPr marL="109728" marR="73152" marT="73152" marB="27432">
                    <a:solidFill>
                      <a:srgbClr val="EDF2F6"/>
                    </a:solidFill>
                  </a:tcPr>
                </a:tc>
              </a:tr>
            </a:tbl>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972800" cy="274320"/>
          </a:xfrm>
          <a:prstGeom prst="rect">
            <a:avLst/>
          </a:prstGeom>
          <a:noFill/>
        </p:spPr>
        <p:txBody>
          <a:bodyPr wrap="square" lIns="0" rIns="0" tIns="0" bIns="0">
            <a:spAutoFit/>
          </a:bodyPr>
          <a:lstStyle/>
          <a:p>
            <a:pPr algn="l">
              <a:spcAft>
                <a:spcPts val="1000"/>
              </a:spcAft>
              <a:defRPr sz="1100" b="1">
                <a:solidFill>
                  <a:srgbClr val="3478B6"/>
                </a:solidFill>
                <a:latin typeface="Aptos"/>
              </a:defRPr>
            </a:pPr>
            <a:r>
              <a:t>TECHNICAL BACKUP</a:t>
            </a:r>
          </a:p>
        </p:txBody>
      </p:sp>
      <p:sp>
        <p:nvSpPr>
          <p:cNvPr id="4" name="TextBox 3"/>
          <p:cNvSpPr txBox="1"/>
          <p:nvPr/>
        </p:nvSpPr>
        <p:spPr>
          <a:xfrm>
            <a:off x="502920" y="749808"/>
            <a:ext cx="11155680" cy="822960"/>
          </a:xfrm>
          <a:prstGeom prst="rect">
            <a:avLst/>
          </a:prstGeom>
          <a:noFill/>
        </p:spPr>
        <p:txBody>
          <a:bodyPr wrap="square" lIns="0" rIns="0" tIns="0" bIns="0">
            <a:spAutoFit/>
          </a:bodyPr>
          <a:lstStyle/>
          <a:p>
            <a:pPr algn="l">
              <a:spcAft>
                <a:spcPts val="1000"/>
              </a:spcAft>
              <a:defRPr sz="2900" b="1">
                <a:solidFill>
                  <a:srgbClr val="162C46"/>
                </a:solidFill>
                <a:latin typeface="Aptos"/>
              </a:defRPr>
            </a:pPr>
            <a:r>
              <a:t>Backup: training and tensor implementation</a:t>
            </a:r>
          </a:p>
        </p:txBody>
      </p:sp>
      <p:sp>
        <p:nvSpPr>
          <p:cNvPr id="5" name="TextBox 4"/>
          <p:cNvSpPr txBox="1"/>
          <p:nvPr/>
        </p:nvSpPr>
        <p:spPr>
          <a:xfrm>
            <a:off x="502920" y="6519672"/>
            <a:ext cx="10698480" cy="201168"/>
          </a:xfrm>
          <a:prstGeom prst="rect">
            <a:avLst/>
          </a:prstGeom>
          <a:noFill/>
        </p:spPr>
        <p:txBody>
          <a:bodyPr wrap="square" lIns="0" rIns="0" tIns="0" bIns="0">
            <a:spAutoFit/>
          </a:bodyPr>
          <a:lstStyle/>
          <a:p>
            <a:pPr algn="l">
              <a:spcAft>
                <a:spcPts val="1000"/>
              </a:spcAft>
              <a:defRPr sz="1000" b="0">
                <a:solidFill>
                  <a:srgbClr val="526174"/>
                </a:solidFill>
                <a:latin typeface="Aptos"/>
              </a:defRPr>
            </a:pPr>
            <a:r>
              <a:t>COMSOL z = 3 → 0.5 µm  •  Same-sample reconstruction; no independent test set</a:t>
            </a:r>
          </a:p>
        </p:txBody>
      </p:sp>
      <p:sp>
        <p:nvSpPr>
          <p:cNvPr id="6" name="TextBox 5"/>
          <p:cNvSpPr txBox="1"/>
          <p:nvPr/>
        </p:nvSpPr>
        <p:spPr>
          <a:xfrm>
            <a:off x="11109960" y="6492240"/>
            <a:ext cx="548640" cy="228600"/>
          </a:xfrm>
          <a:prstGeom prst="rect">
            <a:avLst/>
          </a:prstGeom>
          <a:noFill/>
        </p:spPr>
        <p:txBody>
          <a:bodyPr wrap="square" lIns="0" rIns="0" tIns="0" bIns="0">
            <a:spAutoFit/>
          </a:bodyPr>
          <a:lstStyle/>
          <a:p>
            <a:pPr algn="r">
              <a:spcAft>
                <a:spcPts val="1000"/>
              </a:spcAft>
              <a:defRPr sz="1100" b="0">
                <a:solidFill>
                  <a:srgbClr val="526174"/>
                </a:solidFill>
                <a:latin typeface="Aptos"/>
              </a:defRPr>
            </a:pPr>
            <a:r>
              <a:t>23</a:t>
            </a:r>
          </a:p>
        </p:txBody>
      </p:sp>
      <p:graphicFrame>
        <p:nvGraphicFramePr>
          <p:cNvPr id="7" name="Table 6"/>
          <p:cNvGraphicFramePr>
            <a:graphicFrameLocks noGrp="1"/>
          </p:cNvGraphicFramePr>
          <p:nvPr/>
        </p:nvGraphicFramePr>
        <p:xfrm>
          <a:off x="594360" y="1691640"/>
          <a:ext cx="10972800" cy="3840480"/>
        </p:xfrm>
        <a:graphic>
          <a:graphicData uri="http://schemas.openxmlformats.org/drawingml/2006/table">
            <a:tbl>
              <a:tblPr firstRow="1" bandRow="1">
                <a:tableStyleId>{5C22544A-7EE6-4342-B048-85BDC9FD1C3A}</a:tableStyleId>
              </a:tblPr>
              <a:tblGrid>
                <a:gridCol w="3511296"/>
                <a:gridCol w="7461504"/>
              </a:tblGrid>
              <a:tr h="548640">
                <a:tc>
                  <a:txBody>
                    <a:bodyPr/>
                    <a:lstStyle/>
                    <a:p>
                      <a:pPr>
                        <a:defRPr sz="1700" b="1">
                          <a:solidFill>
                            <a:srgbClr val="FFFFFF"/>
                          </a:solidFill>
                          <a:latin typeface="Aptos"/>
                        </a:defRPr>
                      </a:pPr>
                      <a:r>
                        <a:t>Detail</a:t>
                      </a:r>
                    </a:p>
                  </a:txBody>
                  <a:tcPr marL="109728" marR="73152" marT="73152" marB="27432">
                    <a:solidFill>
                      <a:srgbClr val="162C46"/>
                    </a:solidFill>
                  </a:tcPr>
                </a:tc>
                <a:tc>
                  <a:txBody>
                    <a:bodyPr/>
                    <a:lstStyle/>
                    <a:p>
                      <a:pPr>
                        <a:defRPr sz="1700" b="1">
                          <a:solidFill>
                            <a:srgbClr val="FFFFFF"/>
                          </a:solidFill>
                          <a:latin typeface="Aptos"/>
                        </a:defRPr>
                      </a:pPr>
                      <a:r>
                        <a:t>Implementation</a:t>
                      </a:r>
                    </a:p>
                  </a:txBody>
                  <a:tcPr marL="109728" marR="73152" marT="73152" marB="27432">
                    <a:solidFill>
                      <a:srgbClr val="162C46"/>
                    </a:solidFill>
                  </a:tcPr>
                </a:tc>
              </a:tr>
              <a:tr h="548640">
                <a:tc>
                  <a:txBody>
                    <a:bodyPr/>
                    <a:lstStyle/>
                    <a:p>
                      <a:pPr>
                        <a:defRPr sz="1700" b="0">
                          <a:solidFill>
                            <a:srgbClr val="18293B"/>
                          </a:solidFill>
                          <a:latin typeface="Aptos"/>
                        </a:defRPr>
                      </a:pPr>
                      <a:r>
                        <a:t>Input / component handling</a:t>
                      </a:r>
                    </a:p>
                  </a:txBody>
                  <a:tcPr marL="109728" marR="73152" marT="73152" marB="27432">
                    <a:solidFill>
                      <a:srgbClr val="EDF2F6"/>
                    </a:solidFill>
                  </a:tcPr>
                </a:tc>
                <a:tc>
                  <a:txBody>
                    <a:bodyPr/>
                    <a:lstStyle/>
                    <a:p>
                      <a:pPr>
                        <a:defRPr sz="1700" b="0">
                          <a:solidFill>
                            <a:srgbClr val="18293B"/>
                          </a:solidFill>
                          <a:latin typeface="Aptos"/>
                        </a:defRPr>
                      </a:pPr>
                      <a:r>
                        <a:t>[3, 1, 1400, 1400]; shared weights, no channel mixing</a:t>
                      </a:r>
                    </a:p>
                  </a:txBody>
                  <a:tcPr marL="109728" marR="73152" marT="73152" marB="27432">
                    <a:solidFill>
                      <a:srgbClr val="EDF2F6"/>
                    </a:solidFill>
                  </a:tcPr>
                </a:tc>
              </a:tr>
              <a:tr h="548640">
                <a:tc>
                  <a:txBody>
                    <a:bodyPr/>
                    <a:lstStyle/>
                    <a:p>
                      <a:pPr>
                        <a:defRPr sz="1700" b="0">
                          <a:solidFill>
                            <a:srgbClr val="18293B"/>
                          </a:solidFill>
                          <a:latin typeface="Aptos"/>
                        </a:defRPr>
                      </a:pPr>
                      <a:r>
                        <a:t>Correction convolutions</a:t>
                      </a:r>
                    </a:p>
                  </a:txBody>
                  <a:tcPr marL="109728" marR="73152" marT="73152" marB="27432">
                    <a:solidFill>
                      <a:srgbClr val="FFFFFF"/>
                    </a:solidFill>
                  </a:tcPr>
                </a:tc>
                <a:tc>
                  <a:txBody>
                    <a:bodyPr/>
                    <a:lstStyle/>
                    <a:p>
                      <a:pPr>
                        <a:defRPr sz="1700" b="0">
                          <a:solidFill>
                            <a:srgbClr val="18293B"/>
                          </a:solidFill>
                          <a:latin typeface="Aptos"/>
                        </a:defRPr>
                      </a:pPr>
                      <a:r>
                        <a:t>9 × 9, stride 1, no bias; 4-pixel zero padding</a:t>
                      </a:r>
                    </a:p>
                  </a:txBody>
                  <a:tcPr marL="109728" marR="73152" marT="73152" marB="27432">
                    <a:solidFill>
                      <a:srgbClr val="FFFFFF"/>
                    </a:solidFill>
                  </a:tcPr>
                </a:tc>
              </a:tr>
              <a:tr h="548640">
                <a:tc>
                  <a:txBody>
                    <a:bodyPr/>
                    <a:lstStyle/>
                    <a:p>
                      <a:pPr>
                        <a:defRPr sz="1700" b="0">
                          <a:solidFill>
                            <a:srgbClr val="18293B"/>
                          </a:solidFill>
                          <a:latin typeface="Aptos"/>
                        </a:defRPr>
                      </a:pPr>
                      <a:r>
                        <a:t>Parameter sharing</a:t>
                      </a:r>
                    </a:p>
                  </a:txBody>
                  <a:tcPr marL="109728" marR="73152" marT="73152" marB="27432">
                    <a:solidFill>
                      <a:srgbClr val="EDF2F6"/>
                    </a:solidFill>
                  </a:tcPr>
                </a:tc>
                <a:tc>
                  <a:txBody>
                    <a:bodyPr/>
                    <a:lstStyle/>
                    <a:p>
                      <a:pPr>
                        <a:defRPr sz="1700" b="0">
                          <a:solidFill>
                            <a:srgbClr val="18293B"/>
                          </a:solidFill>
                          <a:latin typeface="Aptos"/>
                        </a:defRPr>
                      </a:pPr>
                      <a:r>
                        <a:t>Two filters + one θ reused at every layer</a:t>
                      </a:r>
                    </a:p>
                  </a:txBody>
                  <a:tcPr marL="109728" marR="73152" marT="73152" marB="27432">
                    <a:solidFill>
                      <a:srgbClr val="EDF2F6"/>
                    </a:solidFill>
                  </a:tcPr>
                </a:tc>
              </a:tr>
              <a:tr h="548640">
                <a:tc>
                  <a:txBody>
                    <a:bodyPr/>
                    <a:lstStyle/>
                    <a:p>
                      <a:pPr>
                        <a:defRPr sz="1700" b="0">
                          <a:solidFill>
                            <a:srgbClr val="18293B"/>
                          </a:solidFill>
                          <a:latin typeface="Aptos"/>
                        </a:defRPr>
                      </a:pPr>
                      <a:r>
                        <a:t>Optimizer</a:t>
                      </a:r>
                    </a:p>
                  </a:txBody>
                  <a:tcPr marL="109728" marR="73152" marT="73152" marB="27432">
                    <a:solidFill>
                      <a:srgbClr val="FFFFFF"/>
                    </a:solidFill>
                  </a:tcPr>
                </a:tc>
                <a:tc>
                  <a:txBody>
                    <a:bodyPr/>
                    <a:lstStyle/>
                    <a:p>
                      <a:pPr>
                        <a:defRPr sz="1700" b="0">
                          <a:solidFill>
                            <a:srgbClr val="18293B"/>
                          </a:solidFill>
                          <a:latin typeface="Aptos"/>
                        </a:defRPr>
                      </a:pPr>
                      <a:r>
                        <a:t>Adam lr 10⁻⁴; gradient-norm clipping at 1</a:t>
                      </a:r>
                    </a:p>
                  </a:txBody>
                  <a:tcPr marL="109728" marR="73152" marT="73152" marB="27432">
                    <a:solidFill>
                      <a:srgbClr val="FFFFFF"/>
                    </a:solidFill>
                  </a:tcPr>
                </a:tc>
              </a:tr>
              <a:tr h="548640">
                <a:tc>
                  <a:txBody>
                    <a:bodyPr/>
                    <a:lstStyle/>
                    <a:p>
                      <a:pPr>
                        <a:defRPr sz="1700" b="0">
                          <a:solidFill>
                            <a:srgbClr val="18293B"/>
                          </a:solidFill>
                          <a:latin typeface="Aptos"/>
                        </a:defRPr>
                      </a:pPr>
                      <a:r>
                        <a:t>Selection / memory</a:t>
                      </a:r>
                    </a:p>
                  </a:txBody>
                  <a:tcPr marL="109728" marR="73152" marT="73152" marB="27432">
                    <a:solidFill>
                      <a:srgbClr val="EDF2F6"/>
                    </a:solidFill>
                  </a:tcPr>
                </a:tc>
                <a:tc>
                  <a:txBody>
                    <a:bodyPr/>
                    <a:lstStyle/>
                    <a:p>
                      <a:pPr>
                        <a:defRPr sz="1700" b="0">
                          <a:solidFill>
                            <a:srgbClr val="18293B"/>
                          </a:solidFill>
                          <a:latin typeface="Aptos"/>
                        </a:defRPr>
                      </a:pPr>
                      <a:r>
                        <a:t>Best post-update training MSE; activation checkpointing</a:t>
                      </a:r>
                    </a:p>
                  </a:txBody>
                  <a:tcPr marL="109728" marR="73152" marT="73152" marB="27432">
                    <a:solidFill>
                      <a:srgbClr val="EDF2F6"/>
                    </a:solidFill>
                  </a:tcPr>
                </a:tc>
              </a:tr>
              <a:tr h="548640">
                <a:tc>
                  <a:txBody>
                    <a:bodyPr/>
                    <a:lstStyle/>
                    <a:p>
                      <a:pPr>
                        <a:defRPr sz="1700" b="0">
                          <a:solidFill>
                            <a:srgbClr val="18293B"/>
                          </a:solidFill>
                          <a:latin typeface="Aptos"/>
                        </a:defRPr>
                      </a:pPr>
                      <a:r>
                        <a:t>Numeric execution</a:t>
                      </a:r>
                    </a:p>
                  </a:txBody>
                  <a:tcPr marL="109728" marR="73152" marT="73152" marB="27432">
                    <a:solidFill>
                      <a:srgbClr val="FFFFFF"/>
                    </a:solidFill>
                  </a:tcPr>
                </a:tc>
                <a:tc>
                  <a:txBody>
                    <a:bodyPr/>
                    <a:lstStyle/>
                    <a:p>
                      <a:pPr>
                        <a:defRPr sz="1700" b="0">
                          <a:solidFill>
                            <a:srgbClr val="18293B"/>
                          </a:solidFill>
                          <a:latin typeface="Aptos"/>
                        </a:defRPr>
                      </a:pPr>
                      <a:r>
                        <a:t>Float32 GPU; fixed H buffers; no AMP / TF32</a:t>
                      </a:r>
                    </a:p>
                  </a:txBody>
                  <a:tcPr marL="109728" marR="73152" marT="73152" marB="27432">
                    <a:solidFill>
                      <a:srgbClr val="FFFFFF"/>
                    </a:solidFill>
                  </a:tcPr>
                </a:tc>
              </a:tr>
            </a:tbl>
          </a:graphicData>
        </a:graphic>
      </p:graphicFrame>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972800" cy="274320"/>
          </a:xfrm>
          <a:prstGeom prst="rect">
            <a:avLst/>
          </a:prstGeom>
          <a:noFill/>
        </p:spPr>
        <p:txBody>
          <a:bodyPr wrap="square" lIns="0" rIns="0" tIns="0" bIns="0">
            <a:spAutoFit/>
          </a:bodyPr>
          <a:lstStyle/>
          <a:p>
            <a:pPr algn="l">
              <a:spcAft>
                <a:spcPts val="1000"/>
              </a:spcAft>
              <a:defRPr sz="1100" b="1">
                <a:solidFill>
                  <a:srgbClr val="3478B6"/>
                </a:solidFill>
                <a:latin typeface="Aptos"/>
              </a:defRPr>
            </a:pPr>
            <a:r>
              <a:t>TECHNICAL BACKUP</a:t>
            </a:r>
          </a:p>
        </p:txBody>
      </p:sp>
      <p:sp>
        <p:nvSpPr>
          <p:cNvPr id="4" name="TextBox 3"/>
          <p:cNvSpPr txBox="1"/>
          <p:nvPr/>
        </p:nvSpPr>
        <p:spPr>
          <a:xfrm>
            <a:off x="502920" y="749808"/>
            <a:ext cx="11155680" cy="822960"/>
          </a:xfrm>
          <a:prstGeom prst="rect">
            <a:avLst/>
          </a:prstGeom>
          <a:noFill/>
        </p:spPr>
        <p:txBody>
          <a:bodyPr wrap="square" lIns="0" rIns="0" tIns="0" bIns="0">
            <a:spAutoFit/>
          </a:bodyPr>
          <a:lstStyle/>
          <a:p>
            <a:pPr algn="l">
              <a:spcAft>
                <a:spcPts val="1000"/>
              </a:spcAft>
              <a:defRPr sz="2900" b="1">
                <a:solidFill>
                  <a:srgbClr val="162C46"/>
                </a:solidFill>
                <a:latin typeface="Aptos"/>
              </a:defRPr>
            </a:pPr>
            <a:r>
              <a:t>Backup: the metrics answer different questions</a:t>
            </a:r>
          </a:p>
        </p:txBody>
      </p:sp>
      <p:sp>
        <p:nvSpPr>
          <p:cNvPr id="5" name="TextBox 4"/>
          <p:cNvSpPr txBox="1"/>
          <p:nvPr/>
        </p:nvSpPr>
        <p:spPr>
          <a:xfrm>
            <a:off x="502920" y="6519672"/>
            <a:ext cx="10698480" cy="201168"/>
          </a:xfrm>
          <a:prstGeom prst="rect">
            <a:avLst/>
          </a:prstGeom>
          <a:noFill/>
        </p:spPr>
        <p:txBody>
          <a:bodyPr wrap="square" lIns="0" rIns="0" tIns="0" bIns="0">
            <a:spAutoFit/>
          </a:bodyPr>
          <a:lstStyle/>
          <a:p>
            <a:pPr algn="l">
              <a:spcAft>
                <a:spcPts val="1000"/>
              </a:spcAft>
              <a:defRPr sz="1000" b="0">
                <a:solidFill>
                  <a:srgbClr val="526174"/>
                </a:solidFill>
                <a:latin typeface="Aptos"/>
              </a:defRPr>
            </a:pPr>
            <a:r>
              <a:t>COMSOL z = 3 → 0.5 µm  •  Same-sample reconstruction; no independent test set</a:t>
            </a:r>
          </a:p>
        </p:txBody>
      </p:sp>
      <p:sp>
        <p:nvSpPr>
          <p:cNvPr id="6" name="TextBox 5"/>
          <p:cNvSpPr txBox="1"/>
          <p:nvPr/>
        </p:nvSpPr>
        <p:spPr>
          <a:xfrm>
            <a:off x="11109960" y="6492240"/>
            <a:ext cx="548640" cy="228600"/>
          </a:xfrm>
          <a:prstGeom prst="rect">
            <a:avLst/>
          </a:prstGeom>
          <a:noFill/>
        </p:spPr>
        <p:txBody>
          <a:bodyPr wrap="square" lIns="0" rIns="0" tIns="0" bIns="0">
            <a:spAutoFit/>
          </a:bodyPr>
          <a:lstStyle/>
          <a:p>
            <a:pPr algn="r">
              <a:spcAft>
                <a:spcPts val="1000"/>
              </a:spcAft>
              <a:defRPr sz="1100" b="0">
                <a:solidFill>
                  <a:srgbClr val="526174"/>
                </a:solidFill>
                <a:latin typeface="Aptos"/>
              </a:defRPr>
            </a:pPr>
            <a:r>
              <a:t>24</a:t>
            </a:r>
          </a:p>
        </p:txBody>
      </p:sp>
      <p:pic>
        <p:nvPicPr>
          <p:cNvPr id="7" name="Picture 6" descr="eq_51.png"/>
          <p:cNvPicPr>
            <a:picLocks noChangeAspect="1"/>
          </p:cNvPicPr>
          <p:nvPr/>
        </p:nvPicPr>
        <p:blipFill>
          <a:blip r:embed="rId3"/>
          <a:stretch>
            <a:fillRect/>
          </a:stretch>
        </p:blipFill>
        <p:spPr>
          <a:xfrm>
            <a:off x="640080" y="1850845"/>
            <a:ext cx="10881360" cy="870309"/>
          </a:xfrm>
          <a:prstGeom prst="rect">
            <a:avLst/>
          </a:prstGeom>
        </p:spPr>
      </p:pic>
      <p:pic>
        <p:nvPicPr>
          <p:cNvPr id="8" name="Picture 7" descr="eq_52.png"/>
          <p:cNvPicPr>
            <a:picLocks noChangeAspect="1"/>
          </p:cNvPicPr>
          <p:nvPr/>
        </p:nvPicPr>
        <p:blipFill>
          <a:blip r:embed="rId4"/>
          <a:stretch>
            <a:fillRect/>
          </a:stretch>
        </p:blipFill>
        <p:spPr>
          <a:xfrm>
            <a:off x="3192732" y="3154680"/>
            <a:ext cx="5776054" cy="914399"/>
          </a:xfrm>
          <a:prstGeom prst="rect">
            <a:avLst/>
          </a:prstGeom>
        </p:spPr>
      </p:pic>
      <p:sp>
        <p:nvSpPr>
          <p:cNvPr id="9" name="TextBox 8"/>
          <p:cNvSpPr txBox="1"/>
          <p:nvPr/>
        </p:nvSpPr>
        <p:spPr>
          <a:xfrm>
            <a:off x="731520" y="4572000"/>
            <a:ext cx="10698480" cy="914400"/>
          </a:xfrm>
          <a:prstGeom prst="rect">
            <a:avLst/>
          </a:prstGeom>
          <a:noFill/>
        </p:spPr>
        <p:txBody>
          <a:bodyPr wrap="square" lIns="0" rIns="0" tIns="0" bIns="0">
            <a:spAutoFit/>
          </a:bodyPr>
          <a:lstStyle/>
          <a:p>
            <a:pPr algn="l">
              <a:spcAft>
                <a:spcPts val="1000"/>
              </a:spcAft>
              <a:defRPr sz="2300" b="0">
                <a:solidFill>
                  <a:srgbClr val="18293B"/>
                </a:solidFill>
                <a:latin typeface="Aptos"/>
              </a:defRPr>
            </a:pPr>
            <a:r>
              <a:t>Stationarity RMS = ||Gα(x)||₂ / √N</a:t>
            </a:r>
          </a:p>
          <a:p>
            <a:pPr algn="l">
              <a:spcAft>
                <a:spcPts val="1000"/>
              </a:spcAft>
              <a:defRPr sz="2300" b="0">
                <a:solidFill>
                  <a:srgbClr val="18293B"/>
                </a:solidFill>
                <a:latin typeface="Aptos"/>
              </a:defRPr>
            </a:pPr>
            <a:r>
              <a:t>LISTA 16 relative L2: 42.15% (Bx), 43.95% (By), 48.44% (Bz)</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972800" cy="274320"/>
          </a:xfrm>
          <a:prstGeom prst="rect">
            <a:avLst/>
          </a:prstGeom>
          <a:noFill/>
        </p:spPr>
        <p:txBody>
          <a:bodyPr wrap="square" lIns="0" rIns="0" tIns="0" bIns="0">
            <a:spAutoFit/>
          </a:bodyPr>
          <a:lstStyle/>
          <a:p>
            <a:pPr algn="l">
              <a:spcAft>
                <a:spcPts val="1000"/>
              </a:spcAft>
              <a:defRPr sz="1100" b="1">
                <a:solidFill>
                  <a:srgbClr val="3478B6"/>
                </a:solidFill>
                <a:latin typeface="Aptos"/>
              </a:defRPr>
            </a:pPr>
            <a:r>
              <a:t>CODE MAP</a:t>
            </a:r>
          </a:p>
        </p:txBody>
      </p:sp>
      <p:sp>
        <p:nvSpPr>
          <p:cNvPr id="4" name="TextBox 3"/>
          <p:cNvSpPr txBox="1"/>
          <p:nvPr/>
        </p:nvSpPr>
        <p:spPr>
          <a:xfrm>
            <a:off x="502920" y="749808"/>
            <a:ext cx="11155680" cy="822960"/>
          </a:xfrm>
          <a:prstGeom prst="rect">
            <a:avLst/>
          </a:prstGeom>
          <a:noFill/>
        </p:spPr>
        <p:txBody>
          <a:bodyPr wrap="square" lIns="0" rIns="0" tIns="0" bIns="0">
            <a:spAutoFit/>
          </a:bodyPr>
          <a:lstStyle/>
          <a:p>
            <a:pPr algn="l">
              <a:spcAft>
                <a:spcPts val="1000"/>
              </a:spcAft>
              <a:defRPr sz="2900" b="1">
                <a:solidFill>
                  <a:srgbClr val="162C46"/>
                </a:solidFill>
                <a:latin typeface="Aptos"/>
              </a:defRPr>
            </a:pPr>
            <a:r>
              <a:t>Backup: map the mathematics to source files</a:t>
            </a:r>
          </a:p>
        </p:txBody>
      </p:sp>
      <p:sp>
        <p:nvSpPr>
          <p:cNvPr id="5" name="TextBox 4"/>
          <p:cNvSpPr txBox="1"/>
          <p:nvPr/>
        </p:nvSpPr>
        <p:spPr>
          <a:xfrm>
            <a:off x="502920" y="6519672"/>
            <a:ext cx="10698480" cy="201168"/>
          </a:xfrm>
          <a:prstGeom prst="rect">
            <a:avLst/>
          </a:prstGeom>
          <a:noFill/>
        </p:spPr>
        <p:txBody>
          <a:bodyPr wrap="square" lIns="0" rIns="0" tIns="0" bIns="0">
            <a:spAutoFit/>
          </a:bodyPr>
          <a:lstStyle/>
          <a:p>
            <a:pPr algn="l">
              <a:spcAft>
                <a:spcPts val="1000"/>
              </a:spcAft>
              <a:defRPr sz="1000" b="0">
                <a:solidFill>
                  <a:srgbClr val="526174"/>
                </a:solidFill>
                <a:latin typeface="Aptos"/>
              </a:defRPr>
            </a:pPr>
            <a:r>
              <a:t>COMSOL z = 3 → 0.5 µm  •  Same-sample reconstruction; no independent test set</a:t>
            </a:r>
          </a:p>
        </p:txBody>
      </p:sp>
      <p:sp>
        <p:nvSpPr>
          <p:cNvPr id="6" name="TextBox 5"/>
          <p:cNvSpPr txBox="1"/>
          <p:nvPr/>
        </p:nvSpPr>
        <p:spPr>
          <a:xfrm>
            <a:off x="11109960" y="6492240"/>
            <a:ext cx="548640" cy="228600"/>
          </a:xfrm>
          <a:prstGeom prst="rect">
            <a:avLst/>
          </a:prstGeom>
          <a:noFill/>
        </p:spPr>
        <p:txBody>
          <a:bodyPr wrap="square" lIns="0" rIns="0" tIns="0" bIns="0">
            <a:spAutoFit/>
          </a:bodyPr>
          <a:lstStyle/>
          <a:p>
            <a:pPr algn="r">
              <a:spcAft>
                <a:spcPts val="1000"/>
              </a:spcAft>
              <a:defRPr sz="1100" b="0">
                <a:solidFill>
                  <a:srgbClr val="526174"/>
                </a:solidFill>
                <a:latin typeface="Aptos"/>
              </a:defRPr>
            </a:pPr>
            <a:r>
              <a:t>25</a:t>
            </a:r>
          </a:p>
        </p:txBody>
      </p:sp>
      <p:graphicFrame>
        <p:nvGraphicFramePr>
          <p:cNvPr id="7" name="Table 6"/>
          <p:cNvGraphicFramePr>
            <a:graphicFrameLocks noGrp="1"/>
          </p:cNvGraphicFramePr>
          <p:nvPr/>
        </p:nvGraphicFramePr>
        <p:xfrm>
          <a:off x="594360" y="1691640"/>
          <a:ext cx="10972799" cy="3931920"/>
        </p:xfrm>
        <a:graphic>
          <a:graphicData uri="http://schemas.openxmlformats.org/drawingml/2006/table">
            <a:tbl>
              <a:tblPr firstRow="1" bandRow="1">
                <a:tableStyleId>{5C22544A-7EE6-4342-B048-85BDC9FD1C3A}</a:tableStyleId>
              </a:tblPr>
              <a:tblGrid>
                <a:gridCol w="3840479"/>
                <a:gridCol w="7132320"/>
              </a:tblGrid>
              <a:tr h="561702">
                <a:tc>
                  <a:txBody>
                    <a:bodyPr/>
                    <a:lstStyle/>
                    <a:p>
                      <a:pPr>
                        <a:defRPr sz="1500" b="1">
                          <a:solidFill>
                            <a:srgbClr val="FFFFFF"/>
                          </a:solidFill>
                          <a:latin typeface="Aptos"/>
                        </a:defRPr>
                      </a:pPr>
                      <a:r>
                        <a:t>File</a:t>
                      </a:r>
                    </a:p>
                  </a:txBody>
                  <a:tcPr marL="109728" marR="73152" marT="73152" marB="27432">
                    <a:solidFill>
                      <a:srgbClr val="162C46"/>
                    </a:solidFill>
                  </a:tcPr>
                </a:tc>
                <a:tc>
                  <a:txBody>
                    <a:bodyPr/>
                    <a:lstStyle/>
                    <a:p>
                      <a:pPr>
                        <a:defRPr sz="1500" b="1">
                          <a:solidFill>
                            <a:srgbClr val="FFFFFF"/>
                          </a:solidFill>
                          <a:latin typeface="Aptos"/>
                        </a:defRPr>
                      </a:pPr>
                      <a:r>
                        <a:t>Responsibility</a:t>
                      </a:r>
                    </a:p>
                  </a:txBody>
                  <a:tcPr marL="109728" marR="73152" marT="73152" marB="27432">
                    <a:solidFill>
                      <a:srgbClr val="162C46"/>
                    </a:solidFill>
                  </a:tcPr>
                </a:tc>
              </a:tr>
              <a:tr h="561702">
                <a:tc>
                  <a:txBody>
                    <a:bodyPr/>
                    <a:lstStyle/>
                    <a:p>
                      <a:pPr>
                        <a:defRPr sz="1500" b="0">
                          <a:solidFill>
                            <a:srgbClr val="18293B"/>
                          </a:solidFill>
                          <a:latin typeface="Aptos"/>
                        </a:defRPr>
                      </a:pPr>
                      <a:r>
                        <a:t>compare_lista.py</a:t>
                      </a:r>
                    </a:p>
                  </a:txBody>
                  <a:tcPr marL="109728" marR="73152" marT="73152" marB="27432">
                    <a:solidFill>
                      <a:srgbClr val="EDF2F6"/>
                    </a:solidFill>
                  </a:tcPr>
                </a:tc>
                <a:tc>
                  <a:txBody>
                    <a:bodyPr/>
                    <a:lstStyle/>
                    <a:p>
                      <a:pPr>
                        <a:defRPr sz="1500" b="0">
                          <a:solidFill>
                            <a:srgbClr val="18293B"/>
                          </a:solidFill>
                          <a:latin typeface="Aptos"/>
                        </a:defRPr>
                      </a:pPr>
                      <a:r>
                        <a:t>Data, fit, normalization, training, metrics, timing, export</a:t>
                      </a:r>
                    </a:p>
                  </a:txBody>
                  <a:tcPr marL="109728" marR="73152" marT="73152" marB="27432">
                    <a:solidFill>
                      <a:srgbClr val="EDF2F6"/>
                    </a:solidFill>
                  </a:tcPr>
                </a:tc>
              </a:tr>
              <a:tr h="561702">
                <a:tc>
                  <a:txBody>
                    <a:bodyPr/>
                    <a:lstStyle/>
                    <a:p>
                      <a:pPr>
                        <a:defRPr sz="1500" b="0">
                          <a:solidFill>
                            <a:srgbClr val="18293B"/>
                          </a:solidFill>
                          <a:latin typeface="Aptos"/>
                        </a:defRPr>
                      </a:pPr>
                      <a:r>
                        <a:t>lista.py</a:t>
                      </a:r>
                    </a:p>
                  </a:txBody>
                  <a:tcPr marL="109728" marR="73152" marT="73152" marB="27432">
                    <a:solidFill>
                      <a:srgbClr val="FFFFFF"/>
                    </a:solidFill>
                  </a:tcPr>
                </a:tc>
                <a:tc>
                  <a:txBody>
                    <a:bodyPr/>
                    <a:lstStyle/>
                    <a:p>
                      <a:pPr>
                        <a:defRPr sz="1500" b="0">
                          <a:solidFill>
                            <a:srgbClr val="18293B"/>
                          </a:solidFill>
                          <a:latin typeface="Aptos"/>
                        </a:defRPr>
                      </a:pPr>
                      <a:r>
                        <a:t>ConvLISTA recurrence, tied parameters, checkpoint loading</a:t>
                      </a:r>
                    </a:p>
                  </a:txBody>
                  <a:tcPr marL="109728" marR="73152" marT="73152" marB="27432">
                    <a:solidFill>
                      <a:srgbClr val="FFFFFF"/>
                    </a:solidFill>
                  </a:tcPr>
                </a:tc>
              </a:tr>
              <a:tr h="561702">
                <a:tc>
                  <a:txBody>
                    <a:bodyPr/>
                    <a:lstStyle/>
                    <a:p>
                      <a:pPr>
                        <a:defRPr sz="1500" b="0">
                          <a:solidFill>
                            <a:srgbClr val="18293B"/>
                          </a:solidFill>
                          <a:latin typeface="Aptos"/>
                        </a:defRPr>
                      </a:pPr>
                      <a:r>
                        <a:t>torch_inverse.py</a:t>
                      </a:r>
                    </a:p>
                  </a:txBody>
                  <a:tcPr marL="109728" marR="73152" marT="73152" marB="27432">
                    <a:solidFill>
                      <a:srgbClr val="EDF2F6"/>
                    </a:solidFill>
                  </a:tcPr>
                </a:tc>
                <a:tc>
                  <a:txBody>
                    <a:bodyPr/>
                    <a:lstStyle/>
                    <a:p>
                      <a:pPr>
                        <a:defRPr sz="1500" b="0">
                          <a:solidFill>
                            <a:srgbClr val="18293B"/>
                          </a:solidFill>
                          <a:latin typeface="Aptos"/>
                        </a:defRPr>
                      </a:pPr>
                      <a:r>
                        <a:t>Batched padded A / A*, GPU ISTA/FISTA and metrics</a:t>
                      </a:r>
                    </a:p>
                  </a:txBody>
                  <a:tcPr marL="109728" marR="73152" marT="73152" marB="27432">
                    <a:solidFill>
                      <a:srgbClr val="EDF2F6"/>
                    </a:solidFill>
                  </a:tcPr>
                </a:tc>
              </a:tr>
              <a:tr h="561702">
                <a:tc>
                  <a:txBody>
                    <a:bodyPr/>
                    <a:lstStyle/>
                    <a:p>
                      <a:pPr>
                        <a:defRPr sz="1500" b="0">
                          <a:solidFill>
                            <a:srgbClr val="18293B"/>
                          </a:solidFill>
                          <a:latin typeface="Aptos"/>
                        </a:defRPr>
                      </a:pPr>
                      <a:r>
                        <a:t>deblur.py</a:t>
                      </a:r>
                    </a:p>
                  </a:txBody>
                  <a:tcPr marL="109728" marR="73152" marT="73152" marB="27432">
                    <a:solidFill>
                      <a:srgbClr val="FFFFFF"/>
                    </a:solidFill>
                  </a:tcPr>
                </a:tc>
                <a:tc>
                  <a:txBody>
                    <a:bodyPr/>
                    <a:lstStyle/>
                    <a:p>
                      <a:pPr>
                        <a:defRPr sz="1500" b="0">
                          <a:solidFill>
                            <a:srgbClr val="18293B"/>
                          </a:solidFill>
                          <a:latin typeface="Aptos"/>
                        </a:defRPr>
                      </a:pPr>
                      <a:r>
                        <a:t>Original fit, NumPy operators and ISTA</a:t>
                      </a:r>
                    </a:p>
                  </a:txBody>
                  <a:tcPr marL="109728" marR="73152" marT="73152" marB="27432">
                    <a:solidFill>
                      <a:srgbClr val="FFFFFF"/>
                    </a:solidFill>
                  </a:tcPr>
                </a:tc>
              </a:tr>
              <a:tr h="561702">
                <a:tc>
                  <a:txBody>
                    <a:bodyPr/>
                    <a:lstStyle/>
                    <a:p>
                      <a:pPr>
                        <a:defRPr sz="1500" b="0">
                          <a:solidFill>
                            <a:srgbClr val="18293B"/>
                          </a:solidFill>
                          <a:latin typeface="Aptos"/>
                        </a:defRPr>
                      </a:pPr>
                      <a:r>
                        <a:t>iterative.py / fista.py</a:t>
                      </a:r>
                    </a:p>
                  </a:txBody>
                  <a:tcPr marL="109728" marR="73152" marT="73152" marB="27432">
                    <a:solidFill>
                      <a:srgbClr val="EDF2F6"/>
                    </a:solidFill>
                  </a:tcPr>
                </a:tc>
                <a:tc>
                  <a:txBody>
                    <a:bodyPr/>
                    <a:lstStyle/>
                    <a:p>
                      <a:pPr>
                        <a:defRPr sz="1500" b="0">
                          <a:solidFill>
                            <a:srgbClr val="18293B"/>
                          </a:solidFill>
                          <a:latin typeface="Aptos"/>
                        </a:defRPr>
                      </a:pPr>
                      <a:r>
                        <a:t>Shared NumPy solvers / standalone FISTA command</a:t>
                      </a:r>
                    </a:p>
                  </a:txBody>
                  <a:tcPr marL="109728" marR="73152" marT="73152" marB="27432">
                    <a:solidFill>
                      <a:srgbClr val="EDF2F6"/>
                    </a:solidFill>
                  </a:tcPr>
                </a:tc>
              </a:tr>
              <a:tr h="561708">
                <a:tc>
                  <a:txBody>
                    <a:bodyPr/>
                    <a:lstStyle/>
                    <a:p>
                      <a:pPr>
                        <a:defRPr sz="1500" b="0">
                          <a:solidFill>
                            <a:srgbClr val="18293B"/>
                          </a:solidFill>
                          <a:latin typeface="Aptos"/>
                        </a:defRPr>
                      </a:pPr>
                      <a:r>
                        <a:t>plot_comparison.py / prepare_kaggle.py</a:t>
                      </a:r>
                    </a:p>
                  </a:txBody>
                  <a:tcPr marL="109728" marR="73152" marT="73152" marB="27432">
                    <a:solidFill>
                      <a:srgbClr val="FFFFFF"/>
                    </a:solidFill>
                  </a:tcPr>
                </a:tc>
                <a:tc>
                  <a:txBody>
                    <a:bodyPr/>
                    <a:lstStyle/>
                    <a:p>
                      <a:pPr>
                        <a:defRPr sz="1500" b="0">
                          <a:solidFill>
                            <a:srgbClr val="18293B"/>
                          </a:solidFill>
                          <a:latin typeface="Aptos"/>
                        </a:defRPr>
                      </a:pPr>
                      <a:r>
                        <a:t>Saved-result figures / notebook and portable bundle</a:t>
                      </a:r>
                    </a:p>
                  </a:txBody>
                  <a:tcPr marL="109728" marR="73152" marT="73152" marB="27432">
                    <a:solidFill>
                      <a:srgbClr val="FFFFFF"/>
                    </a:solidFill>
                  </a:tcPr>
                </a:tc>
              </a:tr>
            </a:tbl>
          </a:graphicData>
        </a:graphic>
      </p:graphicFrame>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972800" cy="274320"/>
          </a:xfrm>
          <a:prstGeom prst="rect">
            <a:avLst/>
          </a:prstGeom>
          <a:noFill/>
        </p:spPr>
        <p:txBody>
          <a:bodyPr wrap="square" lIns="0" rIns="0" tIns="0" bIns="0">
            <a:spAutoFit/>
          </a:bodyPr>
          <a:lstStyle/>
          <a:p>
            <a:pPr algn="l">
              <a:spcAft>
                <a:spcPts val="1000"/>
              </a:spcAft>
              <a:defRPr sz="1100" b="1">
                <a:solidFill>
                  <a:srgbClr val="3478B6"/>
                </a:solidFill>
                <a:latin typeface="Aptos"/>
              </a:defRPr>
            </a:pPr>
            <a:r>
              <a:t>VALIDATION AND ASSUMPTIONS</a:t>
            </a:r>
          </a:p>
        </p:txBody>
      </p:sp>
      <p:sp>
        <p:nvSpPr>
          <p:cNvPr id="4" name="TextBox 3"/>
          <p:cNvSpPr txBox="1"/>
          <p:nvPr/>
        </p:nvSpPr>
        <p:spPr>
          <a:xfrm>
            <a:off x="502920" y="749808"/>
            <a:ext cx="11155680" cy="822960"/>
          </a:xfrm>
          <a:prstGeom prst="rect">
            <a:avLst/>
          </a:prstGeom>
          <a:noFill/>
        </p:spPr>
        <p:txBody>
          <a:bodyPr wrap="square" lIns="0" rIns="0" tIns="0" bIns="0">
            <a:spAutoFit/>
          </a:bodyPr>
          <a:lstStyle/>
          <a:p>
            <a:pPr algn="l">
              <a:spcAft>
                <a:spcPts val="1000"/>
              </a:spcAft>
              <a:defRPr sz="2900" b="1">
                <a:solidFill>
                  <a:srgbClr val="162C46"/>
                </a:solidFill>
                <a:latin typeface="Aptos"/>
              </a:defRPr>
            </a:pPr>
            <a:r>
              <a:t>Backup: checks support implementation, not physical optimality</a:t>
            </a:r>
          </a:p>
        </p:txBody>
      </p:sp>
      <p:sp>
        <p:nvSpPr>
          <p:cNvPr id="5" name="TextBox 4"/>
          <p:cNvSpPr txBox="1"/>
          <p:nvPr/>
        </p:nvSpPr>
        <p:spPr>
          <a:xfrm>
            <a:off x="502920" y="6519672"/>
            <a:ext cx="10698480" cy="201168"/>
          </a:xfrm>
          <a:prstGeom prst="rect">
            <a:avLst/>
          </a:prstGeom>
          <a:noFill/>
        </p:spPr>
        <p:txBody>
          <a:bodyPr wrap="square" lIns="0" rIns="0" tIns="0" bIns="0">
            <a:spAutoFit/>
          </a:bodyPr>
          <a:lstStyle/>
          <a:p>
            <a:pPr algn="l">
              <a:spcAft>
                <a:spcPts val="1000"/>
              </a:spcAft>
              <a:defRPr sz="1000" b="0">
                <a:solidFill>
                  <a:srgbClr val="526174"/>
                </a:solidFill>
                <a:latin typeface="Aptos"/>
              </a:defRPr>
            </a:pPr>
            <a:r>
              <a:t>COMSOL z = 3 → 0.5 µm  •  Same-sample reconstruction; no independent test set</a:t>
            </a:r>
          </a:p>
        </p:txBody>
      </p:sp>
      <p:sp>
        <p:nvSpPr>
          <p:cNvPr id="6" name="TextBox 5"/>
          <p:cNvSpPr txBox="1"/>
          <p:nvPr/>
        </p:nvSpPr>
        <p:spPr>
          <a:xfrm>
            <a:off x="11109960" y="6492240"/>
            <a:ext cx="548640" cy="228600"/>
          </a:xfrm>
          <a:prstGeom prst="rect">
            <a:avLst/>
          </a:prstGeom>
          <a:noFill/>
        </p:spPr>
        <p:txBody>
          <a:bodyPr wrap="square" lIns="0" rIns="0" tIns="0" bIns="0">
            <a:spAutoFit/>
          </a:bodyPr>
          <a:lstStyle/>
          <a:p>
            <a:pPr algn="r">
              <a:spcAft>
                <a:spcPts val="1000"/>
              </a:spcAft>
              <a:defRPr sz="1100" b="0">
                <a:solidFill>
                  <a:srgbClr val="526174"/>
                </a:solidFill>
                <a:latin typeface="Aptos"/>
              </a:defRPr>
            </a:pPr>
            <a:r>
              <a:t>26</a:t>
            </a:r>
          </a:p>
        </p:txBody>
      </p:sp>
      <p:graphicFrame>
        <p:nvGraphicFramePr>
          <p:cNvPr id="7" name="Table 6"/>
          <p:cNvGraphicFramePr>
            <a:graphicFrameLocks noGrp="1"/>
          </p:cNvGraphicFramePr>
          <p:nvPr/>
        </p:nvGraphicFramePr>
        <p:xfrm>
          <a:off x="594360" y="1737360"/>
          <a:ext cx="10972800" cy="3474720"/>
        </p:xfrm>
        <a:graphic>
          <a:graphicData uri="http://schemas.openxmlformats.org/drawingml/2006/table">
            <a:tbl>
              <a:tblPr firstRow="1" bandRow="1">
                <a:tableStyleId>{5C22544A-7EE6-4342-B048-85BDC9FD1C3A}</a:tableStyleId>
              </a:tblPr>
              <a:tblGrid>
                <a:gridCol w="5486400"/>
                <a:gridCol w="5486400"/>
              </a:tblGrid>
              <a:tr h="579120">
                <a:tc>
                  <a:txBody>
                    <a:bodyPr/>
                    <a:lstStyle/>
                    <a:p>
                      <a:pPr>
                        <a:defRPr sz="1800" b="1">
                          <a:solidFill>
                            <a:srgbClr val="FFFFFF"/>
                          </a:solidFill>
                          <a:latin typeface="Aptos"/>
                        </a:defRPr>
                      </a:pPr>
                      <a:r>
                        <a:t>Implementation checks</a:t>
                      </a:r>
                    </a:p>
                  </a:txBody>
                  <a:tcPr marL="109728" marR="73152" marT="73152" marB="27432">
                    <a:solidFill>
                      <a:srgbClr val="162C46"/>
                    </a:solidFill>
                  </a:tcPr>
                </a:tc>
                <a:tc>
                  <a:txBody>
                    <a:bodyPr/>
                    <a:lstStyle/>
                    <a:p>
                      <a:pPr>
                        <a:defRPr sz="1800" b="1">
                          <a:solidFill>
                            <a:srgbClr val="FFFFFF"/>
                          </a:solidFill>
                          <a:latin typeface="Aptos"/>
                        </a:defRPr>
                      </a:pPr>
                      <a:r>
                        <a:t>Modeling / evaluation limits</a:t>
                      </a:r>
                    </a:p>
                  </a:txBody>
                  <a:tcPr marL="109728" marR="73152" marT="73152" marB="27432">
                    <a:solidFill>
                      <a:srgbClr val="162C46"/>
                    </a:solidFill>
                  </a:tcPr>
                </a:tc>
              </a:tr>
              <a:tr h="579120">
                <a:tc>
                  <a:txBody>
                    <a:bodyPr/>
                    <a:lstStyle/>
                    <a:p>
                      <a:pPr>
                        <a:defRPr sz="1800" b="0">
                          <a:solidFill>
                            <a:srgbClr val="18293B"/>
                          </a:solidFill>
                          <a:latin typeface="Aptos"/>
                        </a:defRPr>
                      </a:pPr>
                      <a:r>
                        <a:t>Adjoint and dense reference updates</a:t>
                      </a:r>
                    </a:p>
                  </a:txBody>
                  <a:tcPr marL="109728" marR="73152" marT="73152" marB="27432">
                    <a:solidFill>
                      <a:srgbClr val="EDF2F6"/>
                    </a:solidFill>
                  </a:tcPr>
                </a:tc>
                <a:tc>
                  <a:txBody>
                    <a:bodyPr/>
                    <a:lstStyle/>
                    <a:p>
                      <a:pPr>
                        <a:defRPr sz="1800" b="0">
                          <a:solidFill>
                            <a:srgbClr val="18293B"/>
                          </a:solidFill>
                          <a:latin typeface="Aptos"/>
                        </a:defRPr>
                      </a:pPr>
                      <a:r>
                        <a:t>Finite FOV and zero-extension boundaries</a:t>
                      </a:r>
                    </a:p>
                  </a:txBody>
                  <a:tcPr marL="109728" marR="73152" marT="73152" marB="27432">
                    <a:solidFill>
                      <a:srgbClr val="EDF2F6"/>
                    </a:solidFill>
                  </a:tcPr>
                </a:tc>
              </a:tr>
              <a:tr h="579120">
                <a:tc>
                  <a:txBody>
                    <a:bodyPr/>
                    <a:lstStyle/>
                    <a:p>
                      <a:pPr>
                        <a:defRPr sz="1800" b="0">
                          <a:solidFill>
                            <a:srgbClr val="18293B"/>
                          </a:solidFill>
                          <a:latin typeface="Aptos"/>
                        </a:defRPr>
                      </a:pPr>
                      <a:r>
                        <a:t>Known L1 solution and ISTA parity</a:t>
                      </a:r>
                    </a:p>
                  </a:txBody>
                  <a:tcPr marL="109728" marR="73152" marT="73152" marB="27432">
                    <a:solidFill>
                      <a:srgbClr val="FFFFFF"/>
                    </a:solidFill>
                  </a:tcPr>
                </a:tc>
                <a:tc>
                  <a:txBody>
                    <a:bodyPr/>
                    <a:lstStyle/>
                    <a:p>
                      <a:pPr>
                        <a:defRPr sz="1800" b="0">
                          <a:solidFill>
                            <a:srgbClr val="18293B"/>
                          </a:solidFill>
                          <a:latin typeface="Aptos"/>
                        </a:defRPr>
                      </a:pPr>
                      <a:r>
                        <a:t>Shared fitted transfer; pixel-domain L1 prior</a:t>
                      </a:r>
                    </a:p>
                  </a:txBody>
                  <a:tcPr marL="109728" marR="73152" marT="73152" marB="27432">
                    <a:solidFill>
                      <a:srgbClr val="FFFFFF"/>
                    </a:solidFill>
                  </a:tcPr>
                </a:tc>
              </a:tr>
              <a:tr h="579120">
                <a:tc>
                  <a:txBody>
                    <a:bodyPr/>
                    <a:lstStyle/>
                    <a:p>
                      <a:pPr>
                        <a:defRPr sz="1800" b="0">
                          <a:solidFill>
                            <a:srgbClr val="18293B"/>
                          </a:solidFill>
                          <a:latin typeface="Aptos"/>
                        </a:defRPr>
                      </a:pPr>
                      <a:r>
                        <a:t>Gradients, normalization, checkpoint reload</a:t>
                      </a:r>
                    </a:p>
                  </a:txBody>
                  <a:tcPr marL="109728" marR="73152" marT="73152" marB="27432">
                    <a:solidFill>
                      <a:srgbClr val="EDF2F6"/>
                    </a:solidFill>
                  </a:tcPr>
                </a:tc>
                <a:tc>
                  <a:txBody>
                    <a:bodyPr/>
                    <a:lstStyle/>
                    <a:p>
                      <a:pPr>
                        <a:defRPr sz="1800" b="0">
                          <a:solidFill>
                            <a:srgbClr val="18293B"/>
                          </a:solidFill>
                          <a:latin typeface="Aptos"/>
                        </a:defRPr>
                      </a:pPr>
                      <a:r>
                        <a:t>Only one coil and one height pair</a:t>
                      </a:r>
                    </a:p>
                  </a:txBody>
                  <a:tcPr marL="109728" marR="73152" marT="73152" marB="27432">
                    <a:solidFill>
                      <a:srgbClr val="EDF2F6"/>
                    </a:solidFill>
                  </a:tcPr>
                </a:tc>
              </a:tr>
              <a:tr h="579120">
                <a:tc>
                  <a:txBody>
                    <a:bodyPr/>
                    <a:lstStyle/>
                    <a:p>
                      <a:pPr>
                        <a:defRPr sz="1800" b="0">
                          <a:solidFill>
                            <a:srgbClr val="18293B"/>
                          </a:solidFill>
                          <a:latin typeface="Aptos"/>
                        </a:defRPr>
                      </a:pPr>
                      <a:r>
                        <a:t>Uneven two-GPU gradient test included</a:t>
                      </a:r>
                    </a:p>
                  </a:txBody>
                  <a:tcPr marL="109728" marR="73152" marT="73152" marB="27432">
                    <a:solidFill>
                      <a:srgbClr val="FFFFFF"/>
                    </a:solidFill>
                  </a:tcPr>
                </a:tc>
                <a:tc>
                  <a:txBody>
                    <a:bodyPr/>
                    <a:lstStyle/>
                    <a:p>
                      <a:pPr>
                        <a:defRPr sz="1800" b="0">
                          <a:solidFill>
                            <a:srgbClr val="18293B"/>
                          </a:solidFill>
                          <a:latin typeface="Aptos"/>
                        </a:defRPr>
                      </a:pPr>
                      <a:r>
                        <a:t>Reference used in fitting, scale and training</a:t>
                      </a:r>
                    </a:p>
                  </a:txBody>
                  <a:tcPr marL="109728" marR="73152" marT="73152" marB="27432">
                    <a:solidFill>
                      <a:srgbClr val="FFFFFF"/>
                    </a:solidFill>
                  </a:tcPr>
                </a:tc>
              </a:tr>
              <a:tr h="579120">
                <a:tc>
                  <a:txBody>
                    <a:bodyPr/>
                    <a:lstStyle/>
                    <a:p>
                      <a:pPr>
                        <a:defRPr sz="1800" b="0">
                          <a:solidFill>
                            <a:srgbClr val="18293B"/>
                          </a:solidFill>
                          <a:latin typeface="Aptos"/>
                        </a:defRPr>
                      </a:pPr>
                      <a:r>
                        <a:t>Initialization max difference = 0 in both runs</a:t>
                      </a:r>
                    </a:p>
                  </a:txBody>
                  <a:tcPr marL="109728" marR="73152" marT="73152" marB="27432">
                    <a:solidFill>
                      <a:srgbClr val="EDF2F6"/>
                    </a:solidFill>
                  </a:tcPr>
                </a:tc>
                <a:tc>
                  <a:txBody>
                    <a:bodyPr/>
                    <a:lstStyle/>
                    <a:p>
                      <a:pPr>
                        <a:defRPr sz="1800" b="0">
                          <a:solidFill>
                            <a:srgbClr val="18293B"/>
                          </a:solidFill>
                          <a:latin typeface="Aptos"/>
                        </a:defRPr>
                      </a:pPr>
                      <a:r>
                        <a:t>No validation set, test set or seed variability</a:t>
                      </a:r>
                    </a:p>
                  </a:txBody>
                  <a:tcPr marL="109728" marR="73152" marT="73152" marB="27432">
                    <a:solidFill>
                      <a:srgbClr val="EDF2F6"/>
                    </a:solidFill>
                  </a:tcPr>
                </a:tc>
              </a:tr>
            </a:tbl>
          </a:graphicData>
        </a:graphic>
      </p:graphicFrame>
      <p:sp>
        <p:nvSpPr>
          <p:cNvPr id="8" name="Rectangle 7"/>
          <p:cNvSpPr/>
          <p:nvPr/>
        </p:nvSpPr>
        <p:spPr>
          <a:xfrm>
            <a:off x="502920" y="5833872"/>
            <a:ext cx="11155680" cy="438912"/>
          </a:xfrm>
          <a:prstGeom prst="rect">
            <a:avLst/>
          </a:prstGeom>
          <a:solidFill>
            <a:srgbClr val="EDF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5907024"/>
            <a:ext cx="10835640" cy="274320"/>
          </a:xfrm>
          <a:prstGeom prst="rect">
            <a:avLst/>
          </a:prstGeom>
          <a:noFill/>
        </p:spPr>
        <p:txBody>
          <a:bodyPr wrap="square" lIns="0" rIns="0" tIns="0" bIns="0">
            <a:spAutoFit/>
          </a:bodyPr>
          <a:lstStyle/>
          <a:p>
            <a:pPr algn="l">
              <a:spcAft>
                <a:spcPts val="1000"/>
              </a:spcAft>
              <a:defRPr sz="1500" b="1">
                <a:solidFill>
                  <a:srgbClr val="3478B6"/>
                </a:solidFill>
                <a:latin typeface="Aptos"/>
              </a:defRPr>
            </a:pPr>
            <a:r>
              <a:t>No conclusion of generalization, exact physics, or optimal hyperparameters follows from these checks.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972800" cy="274320"/>
          </a:xfrm>
          <a:prstGeom prst="rect">
            <a:avLst/>
          </a:prstGeom>
          <a:noFill/>
        </p:spPr>
        <p:txBody>
          <a:bodyPr wrap="square" lIns="0" rIns="0" tIns="0" bIns="0">
            <a:spAutoFit/>
          </a:bodyPr>
          <a:lstStyle/>
          <a:p>
            <a:pPr algn="l">
              <a:spcAft>
                <a:spcPts val="1000"/>
              </a:spcAft>
              <a:defRPr sz="1100" b="1">
                <a:solidFill>
                  <a:srgbClr val="3478B6"/>
                </a:solidFill>
                <a:latin typeface="Aptos"/>
              </a:defRPr>
            </a:pPr>
            <a:r>
              <a:t>NUMERICAL RESULTS</a:t>
            </a:r>
          </a:p>
        </p:txBody>
      </p:sp>
      <p:sp>
        <p:nvSpPr>
          <p:cNvPr id="4" name="TextBox 3"/>
          <p:cNvSpPr txBox="1"/>
          <p:nvPr/>
        </p:nvSpPr>
        <p:spPr>
          <a:xfrm>
            <a:off x="502920" y="749808"/>
            <a:ext cx="11155680" cy="822960"/>
          </a:xfrm>
          <a:prstGeom prst="rect">
            <a:avLst/>
          </a:prstGeom>
          <a:noFill/>
        </p:spPr>
        <p:txBody>
          <a:bodyPr wrap="square" lIns="0" rIns="0" tIns="0" bIns="0">
            <a:spAutoFit/>
          </a:bodyPr>
          <a:lstStyle/>
          <a:p>
            <a:pPr algn="l">
              <a:spcAft>
                <a:spcPts val="1000"/>
              </a:spcAft>
              <a:defRPr sz="2900" b="1">
                <a:solidFill>
                  <a:srgbClr val="162C46"/>
                </a:solidFill>
                <a:latin typeface="Aptos"/>
              </a:defRPr>
            </a:pPr>
            <a:r>
              <a:t>Backup: run 1 endpoint metrics</a:t>
            </a:r>
          </a:p>
        </p:txBody>
      </p:sp>
      <p:sp>
        <p:nvSpPr>
          <p:cNvPr id="5" name="TextBox 4"/>
          <p:cNvSpPr txBox="1"/>
          <p:nvPr/>
        </p:nvSpPr>
        <p:spPr>
          <a:xfrm>
            <a:off x="502920" y="6519672"/>
            <a:ext cx="10698480" cy="201168"/>
          </a:xfrm>
          <a:prstGeom prst="rect">
            <a:avLst/>
          </a:prstGeom>
          <a:noFill/>
        </p:spPr>
        <p:txBody>
          <a:bodyPr wrap="square" lIns="0" rIns="0" tIns="0" bIns="0">
            <a:spAutoFit/>
          </a:bodyPr>
          <a:lstStyle/>
          <a:p>
            <a:pPr algn="l">
              <a:spcAft>
                <a:spcPts val="1000"/>
              </a:spcAft>
              <a:defRPr sz="1000" b="0">
                <a:solidFill>
                  <a:srgbClr val="526174"/>
                </a:solidFill>
                <a:latin typeface="Aptos"/>
              </a:defRPr>
            </a:pPr>
            <a:r>
              <a:t>COMSOL z = 3 → 0.5 µm  •  Same-sample reconstruction; no independent test set</a:t>
            </a:r>
          </a:p>
        </p:txBody>
      </p:sp>
      <p:sp>
        <p:nvSpPr>
          <p:cNvPr id="6" name="TextBox 5"/>
          <p:cNvSpPr txBox="1"/>
          <p:nvPr/>
        </p:nvSpPr>
        <p:spPr>
          <a:xfrm>
            <a:off x="11109960" y="6492240"/>
            <a:ext cx="548640" cy="228600"/>
          </a:xfrm>
          <a:prstGeom prst="rect">
            <a:avLst/>
          </a:prstGeom>
          <a:noFill/>
        </p:spPr>
        <p:txBody>
          <a:bodyPr wrap="square" lIns="0" rIns="0" tIns="0" bIns="0">
            <a:spAutoFit/>
          </a:bodyPr>
          <a:lstStyle/>
          <a:p>
            <a:pPr algn="r">
              <a:spcAft>
                <a:spcPts val="1000"/>
              </a:spcAft>
              <a:defRPr sz="1100" b="0">
                <a:solidFill>
                  <a:srgbClr val="526174"/>
                </a:solidFill>
                <a:latin typeface="Aptos"/>
              </a:defRPr>
            </a:pPr>
            <a:r>
              <a:t>27</a:t>
            </a:r>
          </a:p>
        </p:txBody>
      </p:sp>
      <p:graphicFrame>
        <p:nvGraphicFramePr>
          <p:cNvPr id="7" name="Table 6"/>
          <p:cNvGraphicFramePr>
            <a:graphicFrameLocks noGrp="1"/>
          </p:cNvGraphicFramePr>
          <p:nvPr/>
        </p:nvGraphicFramePr>
        <p:xfrm>
          <a:off x="594360" y="1828800"/>
          <a:ext cx="10972800" cy="3291840"/>
        </p:xfrm>
        <a:graphic>
          <a:graphicData uri="http://schemas.openxmlformats.org/drawingml/2006/table">
            <a:tbl>
              <a:tblPr firstRow="1" bandRow="1">
                <a:tableStyleId>{5C22544A-7EE6-4342-B048-85BDC9FD1C3A}</a:tableStyleId>
              </a:tblPr>
              <a:tblGrid>
                <a:gridCol w="2852928"/>
                <a:gridCol w="2084832"/>
                <a:gridCol w="2084832"/>
                <a:gridCol w="2084832"/>
                <a:gridCol w="1865376"/>
              </a:tblGrid>
              <a:tr h="548640">
                <a:tc>
                  <a:txBody>
                    <a:bodyPr/>
                    <a:lstStyle/>
                    <a:p>
                      <a:pPr>
                        <a:defRPr sz="1900" b="1">
                          <a:solidFill>
                            <a:srgbClr val="FFFFFF"/>
                          </a:solidFill>
                          <a:latin typeface="Aptos"/>
                        </a:defRPr>
                      </a:pPr>
                      <a:r>
                        <a:t>Method</a:t>
                      </a:r>
                    </a:p>
                  </a:txBody>
                  <a:tcPr marL="109728" marR="73152" marT="73152" marB="27432">
                    <a:solidFill>
                      <a:srgbClr val="162C46"/>
                    </a:solidFill>
                  </a:tcPr>
                </a:tc>
                <a:tc>
                  <a:txBody>
                    <a:bodyPr/>
                    <a:lstStyle/>
                    <a:p>
                      <a:pPr>
                        <a:defRPr sz="1900" b="1">
                          <a:solidFill>
                            <a:srgbClr val="FFFFFF"/>
                          </a:solidFill>
                          <a:latin typeface="Aptos"/>
                        </a:defRPr>
                      </a:pPr>
                      <a:r>
                        <a:t>Bx NRMSE %</a:t>
                      </a:r>
                    </a:p>
                  </a:txBody>
                  <a:tcPr marL="109728" marR="73152" marT="73152" marB="27432">
                    <a:solidFill>
                      <a:srgbClr val="162C46"/>
                    </a:solidFill>
                  </a:tcPr>
                </a:tc>
                <a:tc>
                  <a:txBody>
                    <a:bodyPr/>
                    <a:lstStyle/>
                    <a:p>
                      <a:pPr>
                        <a:defRPr sz="1900" b="1">
                          <a:solidFill>
                            <a:srgbClr val="FFFFFF"/>
                          </a:solidFill>
                          <a:latin typeface="Aptos"/>
                        </a:defRPr>
                      </a:pPr>
                      <a:r>
                        <a:t>By NRMSE %</a:t>
                      </a:r>
                    </a:p>
                  </a:txBody>
                  <a:tcPr marL="109728" marR="73152" marT="73152" marB="27432">
                    <a:solidFill>
                      <a:srgbClr val="162C46"/>
                    </a:solidFill>
                  </a:tcPr>
                </a:tc>
                <a:tc>
                  <a:txBody>
                    <a:bodyPr/>
                    <a:lstStyle/>
                    <a:p>
                      <a:pPr>
                        <a:defRPr sz="1900" b="1">
                          <a:solidFill>
                            <a:srgbClr val="FFFFFF"/>
                          </a:solidFill>
                          <a:latin typeface="Aptos"/>
                        </a:defRPr>
                      </a:pPr>
                      <a:r>
                        <a:t>Bz NRMSE %</a:t>
                      </a:r>
                    </a:p>
                  </a:txBody>
                  <a:tcPr marL="109728" marR="73152" marT="73152" marB="27432">
                    <a:solidFill>
                      <a:srgbClr val="162C46"/>
                    </a:solidFill>
                  </a:tcPr>
                </a:tc>
                <a:tc>
                  <a:txBody>
                    <a:bodyPr/>
                    <a:lstStyle/>
                    <a:p>
                      <a:pPr>
                        <a:defRPr sz="1900" b="1">
                          <a:solidFill>
                            <a:srgbClr val="FFFFFF"/>
                          </a:solidFill>
                          <a:latin typeface="Aptos"/>
                        </a:defRPr>
                      </a:pPr>
                      <a:r>
                        <a:t>Time (s)</a:t>
                      </a:r>
                    </a:p>
                  </a:txBody>
                  <a:tcPr marL="109728" marR="73152" marT="73152" marB="27432">
                    <a:solidFill>
                      <a:srgbClr val="162C46"/>
                    </a:solidFill>
                  </a:tcPr>
                </a:tc>
              </a:tr>
              <a:tr h="548640">
                <a:tc>
                  <a:txBody>
                    <a:bodyPr/>
                    <a:lstStyle/>
                    <a:p>
                      <a:pPr>
                        <a:defRPr sz="1900" b="0">
                          <a:solidFill>
                            <a:srgbClr val="18293B"/>
                          </a:solidFill>
                          <a:latin typeface="Aptos"/>
                        </a:defRPr>
                      </a:pPr>
                      <a:r>
                        <a:t>LISTA 8</a:t>
                      </a:r>
                    </a:p>
                  </a:txBody>
                  <a:tcPr marL="109728" marR="73152" marT="73152" marB="27432">
                    <a:solidFill>
                      <a:srgbClr val="EDF2F6"/>
                    </a:solidFill>
                  </a:tcPr>
                </a:tc>
                <a:tc>
                  <a:txBody>
                    <a:bodyPr/>
                    <a:lstStyle/>
                    <a:p>
                      <a:pPr>
                        <a:defRPr sz="1900" b="0">
                          <a:solidFill>
                            <a:srgbClr val="18293B"/>
                          </a:solidFill>
                          <a:latin typeface="Aptos"/>
                        </a:defRPr>
                      </a:pPr>
                      <a:r>
                        <a:t>2.059</a:t>
                      </a:r>
                    </a:p>
                  </a:txBody>
                  <a:tcPr marL="109728" marR="73152" marT="73152" marB="27432">
                    <a:solidFill>
                      <a:srgbClr val="EDF2F6"/>
                    </a:solidFill>
                  </a:tcPr>
                </a:tc>
                <a:tc>
                  <a:txBody>
                    <a:bodyPr/>
                    <a:lstStyle/>
                    <a:p>
                      <a:pPr>
                        <a:defRPr sz="1900" b="0">
                          <a:solidFill>
                            <a:srgbClr val="18293B"/>
                          </a:solidFill>
                          <a:latin typeface="Aptos"/>
                        </a:defRPr>
                      </a:pPr>
                      <a:r>
                        <a:t>1.799</a:t>
                      </a:r>
                    </a:p>
                  </a:txBody>
                  <a:tcPr marL="109728" marR="73152" marT="73152" marB="27432">
                    <a:solidFill>
                      <a:srgbClr val="EDF2F6"/>
                    </a:solidFill>
                  </a:tcPr>
                </a:tc>
                <a:tc>
                  <a:txBody>
                    <a:bodyPr/>
                    <a:lstStyle/>
                    <a:p>
                      <a:pPr>
                        <a:defRPr sz="1900" b="0">
                          <a:solidFill>
                            <a:srgbClr val="18293B"/>
                          </a:solidFill>
                          <a:latin typeface="Aptos"/>
                        </a:defRPr>
                      </a:pPr>
                      <a:r>
                        <a:t>2.962</a:t>
                      </a:r>
                    </a:p>
                  </a:txBody>
                  <a:tcPr marL="109728" marR="73152" marT="73152" marB="27432">
                    <a:solidFill>
                      <a:srgbClr val="EDF2F6"/>
                    </a:solidFill>
                  </a:tcPr>
                </a:tc>
                <a:tc>
                  <a:txBody>
                    <a:bodyPr/>
                    <a:lstStyle/>
                    <a:p>
                      <a:pPr>
                        <a:defRPr sz="1900" b="0">
                          <a:solidFill>
                            <a:srgbClr val="18293B"/>
                          </a:solidFill>
                          <a:latin typeface="Aptos"/>
                        </a:defRPr>
                      </a:pPr>
                      <a:r>
                        <a:t>0.240</a:t>
                      </a:r>
                    </a:p>
                  </a:txBody>
                  <a:tcPr marL="109728" marR="73152" marT="73152" marB="27432">
                    <a:solidFill>
                      <a:srgbClr val="EDF2F6"/>
                    </a:solidFill>
                  </a:tcPr>
                </a:tc>
              </a:tr>
              <a:tr h="548640">
                <a:tc>
                  <a:txBody>
                    <a:bodyPr/>
                    <a:lstStyle/>
                    <a:p>
                      <a:pPr>
                        <a:defRPr sz="1900" b="0">
                          <a:solidFill>
                            <a:srgbClr val="18293B"/>
                          </a:solidFill>
                          <a:latin typeface="Aptos"/>
                        </a:defRPr>
                      </a:pPr>
                      <a:r>
                        <a:t>ISTA 8</a:t>
                      </a:r>
                    </a:p>
                  </a:txBody>
                  <a:tcPr marL="109728" marR="73152" marT="73152" marB="27432">
                    <a:solidFill>
                      <a:srgbClr val="FFFFFF"/>
                    </a:solidFill>
                  </a:tcPr>
                </a:tc>
                <a:tc>
                  <a:txBody>
                    <a:bodyPr/>
                    <a:lstStyle/>
                    <a:p>
                      <a:pPr>
                        <a:defRPr sz="1900" b="0">
                          <a:solidFill>
                            <a:srgbClr val="18293B"/>
                          </a:solidFill>
                          <a:latin typeface="Aptos"/>
                        </a:defRPr>
                      </a:pPr>
                      <a:r>
                        <a:t>3.179</a:t>
                      </a:r>
                    </a:p>
                  </a:txBody>
                  <a:tcPr marL="109728" marR="73152" marT="73152" marB="27432">
                    <a:solidFill>
                      <a:srgbClr val="FFFFFF"/>
                    </a:solidFill>
                  </a:tcPr>
                </a:tc>
                <a:tc>
                  <a:txBody>
                    <a:bodyPr/>
                    <a:lstStyle/>
                    <a:p>
                      <a:pPr>
                        <a:defRPr sz="1900" b="0">
                          <a:solidFill>
                            <a:srgbClr val="18293B"/>
                          </a:solidFill>
                          <a:latin typeface="Aptos"/>
                        </a:defRPr>
                      </a:pPr>
                      <a:r>
                        <a:t>2.687</a:t>
                      </a:r>
                    </a:p>
                  </a:txBody>
                  <a:tcPr marL="109728" marR="73152" marT="73152" marB="27432">
                    <a:solidFill>
                      <a:srgbClr val="FFFFFF"/>
                    </a:solidFill>
                  </a:tcPr>
                </a:tc>
                <a:tc>
                  <a:txBody>
                    <a:bodyPr/>
                    <a:lstStyle/>
                    <a:p>
                      <a:pPr>
                        <a:defRPr sz="1900" b="0">
                          <a:solidFill>
                            <a:srgbClr val="18293B"/>
                          </a:solidFill>
                          <a:latin typeface="Aptos"/>
                        </a:defRPr>
                      </a:pPr>
                      <a:r>
                        <a:t>4.119</a:t>
                      </a:r>
                    </a:p>
                  </a:txBody>
                  <a:tcPr marL="109728" marR="73152" marT="73152" marB="27432">
                    <a:solidFill>
                      <a:srgbClr val="FFFFFF"/>
                    </a:solidFill>
                  </a:tcPr>
                </a:tc>
                <a:tc>
                  <a:txBody>
                    <a:bodyPr/>
                    <a:lstStyle/>
                    <a:p>
                      <a:pPr>
                        <a:defRPr sz="1900" b="0">
                          <a:solidFill>
                            <a:srgbClr val="18293B"/>
                          </a:solidFill>
                          <a:latin typeface="Aptos"/>
                        </a:defRPr>
                      </a:pPr>
                      <a:r>
                        <a:t>0.216</a:t>
                      </a:r>
                    </a:p>
                  </a:txBody>
                  <a:tcPr marL="109728" marR="73152" marT="73152" marB="27432">
                    <a:solidFill>
                      <a:srgbClr val="FFFFFF"/>
                    </a:solidFill>
                  </a:tcPr>
                </a:tc>
              </a:tr>
              <a:tr h="548640">
                <a:tc>
                  <a:txBody>
                    <a:bodyPr/>
                    <a:lstStyle/>
                    <a:p>
                      <a:pPr>
                        <a:defRPr sz="1900" b="0">
                          <a:solidFill>
                            <a:srgbClr val="18293B"/>
                          </a:solidFill>
                          <a:latin typeface="Aptos"/>
                        </a:defRPr>
                      </a:pPr>
                      <a:r>
                        <a:t>ISTA 200</a:t>
                      </a:r>
                    </a:p>
                  </a:txBody>
                  <a:tcPr marL="109728" marR="73152" marT="73152" marB="27432">
                    <a:solidFill>
                      <a:srgbClr val="EDF2F6"/>
                    </a:solidFill>
                  </a:tcPr>
                </a:tc>
                <a:tc>
                  <a:txBody>
                    <a:bodyPr/>
                    <a:lstStyle/>
                    <a:p>
                      <a:pPr>
                        <a:defRPr sz="1900" b="0">
                          <a:solidFill>
                            <a:srgbClr val="18293B"/>
                          </a:solidFill>
                          <a:latin typeface="Aptos"/>
                        </a:defRPr>
                      </a:pPr>
                      <a:r>
                        <a:t>1.704</a:t>
                      </a:r>
                    </a:p>
                  </a:txBody>
                  <a:tcPr marL="109728" marR="73152" marT="73152" marB="27432">
                    <a:solidFill>
                      <a:srgbClr val="EDF2F6"/>
                    </a:solidFill>
                  </a:tcPr>
                </a:tc>
                <a:tc>
                  <a:txBody>
                    <a:bodyPr/>
                    <a:lstStyle/>
                    <a:p>
                      <a:pPr>
                        <a:defRPr sz="1900" b="0">
                          <a:solidFill>
                            <a:srgbClr val="18293B"/>
                          </a:solidFill>
                          <a:latin typeface="Aptos"/>
                        </a:defRPr>
                      </a:pPr>
                      <a:r>
                        <a:t>1.526</a:t>
                      </a:r>
                    </a:p>
                  </a:txBody>
                  <a:tcPr marL="109728" marR="73152" marT="73152" marB="27432">
                    <a:solidFill>
                      <a:srgbClr val="EDF2F6"/>
                    </a:solidFill>
                  </a:tcPr>
                </a:tc>
                <a:tc>
                  <a:txBody>
                    <a:bodyPr/>
                    <a:lstStyle/>
                    <a:p>
                      <a:pPr>
                        <a:defRPr sz="1900" b="0">
                          <a:solidFill>
                            <a:srgbClr val="18293B"/>
                          </a:solidFill>
                          <a:latin typeface="Aptos"/>
                        </a:defRPr>
                      </a:pPr>
                      <a:r>
                        <a:t>2.364</a:t>
                      </a:r>
                    </a:p>
                  </a:txBody>
                  <a:tcPr marL="109728" marR="73152" marT="73152" marB="27432">
                    <a:solidFill>
                      <a:srgbClr val="EDF2F6"/>
                    </a:solidFill>
                  </a:tcPr>
                </a:tc>
                <a:tc>
                  <a:txBody>
                    <a:bodyPr/>
                    <a:lstStyle/>
                    <a:p>
                      <a:pPr>
                        <a:defRPr sz="1900" b="0">
                          <a:solidFill>
                            <a:srgbClr val="18293B"/>
                          </a:solidFill>
                          <a:latin typeface="Aptos"/>
                        </a:defRPr>
                      </a:pPr>
                      <a:r>
                        <a:t>5.181</a:t>
                      </a:r>
                    </a:p>
                  </a:txBody>
                  <a:tcPr marL="109728" marR="73152" marT="73152" marB="27432">
                    <a:solidFill>
                      <a:srgbClr val="EDF2F6"/>
                    </a:solidFill>
                  </a:tcPr>
                </a:tc>
              </a:tr>
              <a:tr h="548640">
                <a:tc>
                  <a:txBody>
                    <a:bodyPr/>
                    <a:lstStyle/>
                    <a:p>
                      <a:pPr>
                        <a:defRPr sz="1900" b="0">
                          <a:solidFill>
                            <a:srgbClr val="18293B"/>
                          </a:solidFill>
                          <a:latin typeface="Aptos"/>
                        </a:defRPr>
                      </a:pPr>
                      <a:r>
                        <a:t>FISTA 8</a:t>
                      </a:r>
                    </a:p>
                  </a:txBody>
                  <a:tcPr marL="109728" marR="73152" marT="73152" marB="27432">
                    <a:solidFill>
                      <a:srgbClr val="FFFFFF"/>
                    </a:solidFill>
                  </a:tcPr>
                </a:tc>
                <a:tc>
                  <a:txBody>
                    <a:bodyPr/>
                    <a:lstStyle/>
                    <a:p>
                      <a:pPr>
                        <a:defRPr sz="1900" b="0">
                          <a:solidFill>
                            <a:srgbClr val="18293B"/>
                          </a:solidFill>
                          <a:latin typeface="Aptos"/>
                        </a:defRPr>
                      </a:pPr>
                      <a:r>
                        <a:t>2.977</a:t>
                      </a:r>
                    </a:p>
                  </a:txBody>
                  <a:tcPr marL="109728" marR="73152" marT="73152" marB="27432">
                    <a:solidFill>
                      <a:srgbClr val="FFFFFF"/>
                    </a:solidFill>
                  </a:tcPr>
                </a:tc>
                <a:tc>
                  <a:txBody>
                    <a:bodyPr/>
                    <a:lstStyle/>
                    <a:p>
                      <a:pPr>
                        <a:defRPr sz="1900" b="0">
                          <a:solidFill>
                            <a:srgbClr val="18293B"/>
                          </a:solidFill>
                          <a:latin typeface="Aptos"/>
                        </a:defRPr>
                      </a:pPr>
                      <a:r>
                        <a:t>2.521</a:t>
                      </a:r>
                    </a:p>
                  </a:txBody>
                  <a:tcPr marL="109728" marR="73152" marT="73152" marB="27432">
                    <a:solidFill>
                      <a:srgbClr val="FFFFFF"/>
                    </a:solidFill>
                  </a:tcPr>
                </a:tc>
                <a:tc>
                  <a:txBody>
                    <a:bodyPr/>
                    <a:lstStyle/>
                    <a:p>
                      <a:pPr>
                        <a:defRPr sz="1900" b="0">
                          <a:solidFill>
                            <a:srgbClr val="18293B"/>
                          </a:solidFill>
                          <a:latin typeface="Aptos"/>
                        </a:defRPr>
                      </a:pPr>
                      <a:r>
                        <a:t>3.882</a:t>
                      </a:r>
                    </a:p>
                  </a:txBody>
                  <a:tcPr marL="109728" marR="73152" marT="73152" marB="27432">
                    <a:solidFill>
                      <a:srgbClr val="FFFFFF"/>
                    </a:solidFill>
                  </a:tcPr>
                </a:tc>
                <a:tc>
                  <a:txBody>
                    <a:bodyPr/>
                    <a:lstStyle/>
                    <a:p>
                      <a:pPr>
                        <a:defRPr sz="1900" b="0">
                          <a:solidFill>
                            <a:srgbClr val="18293B"/>
                          </a:solidFill>
                          <a:latin typeface="Aptos"/>
                        </a:defRPr>
                      </a:pPr>
                      <a:r>
                        <a:t>0.211</a:t>
                      </a:r>
                    </a:p>
                  </a:txBody>
                  <a:tcPr marL="109728" marR="73152" marT="73152" marB="27432">
                    <a:solidFill>
                      <a:srgbClr val="FFFFFF"/>
                    </a:solidFill>
                  </a:tcPr>
                </a:tc>
              </a:tr>
              <a:tr h="548640">
                <a:tc>
                  <a:txBody>
                    <a:bodyPr/>
                    <a:lstStyle/>
                    <a:p>
                      <a:pPr>
                        <a:defRPr sz="1900" b="0">
                          <a:solidFill>
                            <a:srgbClr val="18293B"/>
                          </a:solidFill>
                          <a:latin typeface="Aptos"/>
                        </a:defRPr>
                      </a:pPr>
                      <a:r>
                        <a:t>FISTA 200</a:t>
                      </a:r>
                    </a:p>
                  </a:txBody>
                  <a:tcPr marL="109728" marR="73152" marT="73152" marB="27432">
                    <a:solidFill>
                      <a:srgbClr val="EDF2F6"/>
                    </a:solidFill>
                  </a:tcPr>
                </a:tc>
                <a:tc>
                  <a:txBody>
                    <a:bodyPr/>
                    <a:lstStyle/>
                    <a:p>
                      <a:pPr>
                        <a:defRPr sz="1900" b="0">
                          <a:solidFill>
                            <a:srgbClr val="18293B"/>
                          </a:solidFill>
                          <a:latin typeface="Aptos"/>
                        </a:defRPr>
                      </a:pPr>
                      <a:r>
                        <a:t>1.870</a:t>
                      </a:r>
                    </a:p>
                  </a:txBody>
                  <a:tcPr marL="109728" marR="73152" marT="73152" marB="27432">
                    <a:solidFill>
                      <a:srgbClr val="EDF2F6"/>
                    </a:solidFill>
                  </a:tcPr>
                </a:tc>
                <a:tc>
                  <a:txBody>
                    <a:bodyPr/>
                    <a:lstStyle/>
                    <a:p>
                      <a:pPr>
                        <a:defRPr sz="1900" b="0">
                          <a:solidFill>
                            <a:srgbClr val="18293B"/>
                          </a:solidFill>
                          <a:latin typeface="Aptos"/>
                        </a:defRPr>
                      </a:pPr>
                      <a:r>
                        <a:t>1.811</a:t>
                      </a:r>
                    </a:p>
                  </a:txBody>
                  <a:tcPr marL="109728" marR="73152" marT="73152" marB="27432">
                    <a:solidFill>
                      <a:srgbClr val="EDF2F6"/>
                    </a:solidFill>
                  </a:tcPr>
                </a:tc>
                <a:tc>
                  <a:txBody>
                    <a:bodyPr/>
                    <a:lstStyle/>
                    <a:p>
                      <a:pPr>
                        <a:defRPr sz="1900" b="0">
                          <a:solidFill>
                            <a:srgbClr val="18293B"/>
                          </a:solidFill>
                          <a:latin typeface="Aptos"/>
                        </a:defRPr>
                      </a:pPr>
                      <a:r>
                        <a:t>1.816</a:t>
                      </a:r>
                    </a:p>
                  </a:txBody>
                  <a:tcPr marL="109728" marR="73152" marT="73152" marB="27432">
                    <a:solidFill>
                      <a:srgbClr val="EDF2F6"/>
                    </a:solidFill>
                  </a:tcPr>
                </a:tc>
                <a:tc>
                  <a:txBody>
                    <a:bodyPr/>
                    <a:lstStyle/>
                    <a:p>
                      <a:pPr>
                        <a:defRPr sz="1900" b="0">
                          <a:solidFill>
                            <a:srgbClr val="18293B"/>
                          </a:solidFill>
                          <a:latin typeface="Aptos"/>
                        </a:defRPr>
                      </a:pPr>
                      <a:r>
                        <a:t>5.303</a:t>
                      </a:r>
                    </a:p>
                  </a:txBody>
                  <a:tcPr marL="109728" marR="73152" marT="73152" marB="27432">
                    <a:solidFill>
                      <a:srgbClr val="EDF2F6"/>
                    </a:solidFill>
                  </a:tcPr>
                </a:tc>
              </a:tr>
            </a:tbl>
          </a:graphicData>
        </a:graphic>
      </p:graphicFrame>
      <p:sp>
        <p:nvSpPr>
          <p:cNvPr id="8" name="Rectangle 7"/>
          <p:cNvSpPr/>
          <p:nvPr/>
        </p:nvSpPr>
        <p:spPr>
          <a:xfrm>
            <a:off x="502920" y="5833872"/>
            <a:ext cx="11155680" cy="438912"/>
          </a:xfrm>
          <a:prstGeom prst="rect">
            <a:avLst/>
          </a:prstGeom>
          <a:solidFill>
            <a:srgbClr val="EDF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5907024"/>
            <a:ext cx="10835640" cy="274320"/>
          </a:xfrm>
          <a:prstGeom prst="rect">
            <a:avLst/>
          </a:prstGeom>
          <a:noFill/>
        </p:spPr>
        <p:txBody>
          <a:bodyPr wrap="square" lIns="0" rIns="0" tIns="0" bIns="0">
            <a:spAutoFit/>
          </a:bodyPr>
          <a:lstStyle/>
          <a:p>
            <a:pPr algn="l">
              <a:spcAft>
                <a:spcPts val="1000"/>
              </a:spcAft>
              <a:defRPr sz="1500" b="1">
                <a:solidFill>
                  <a:srgbClr val="3478B6"/>
                </a:solidFill>
                <a:latin typeface="Aptos"/>
              </a:defRPr>
            </a:pPr>
            <a:r>
              <a:t>Short-depth comparisons and long-run endpoints serve different comparison questions.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972800" cy="274320"/>
          </a:xfrm>
          <a:prstGeom prst="rect">
            <a:avLst/>
          </a:prstGeom>
          <a:noFill/>
        </p:spPr>
        <p:txBody>
          <a:bodyPr wrap="square" lIns="0" rIns="0" tIns="0" bIns="0">
            <a:spAutoFit/>
          </a:bodyPr>
          <a:lstStyle/>
          <a:p>
            <a:pPr algn="l">
              <a:spcAft>
                <a:spcPts val="1000"/>
              </a:spcAft>
              <a:defRPr sz="1100" b="1">
                <a:solidFill>
                  <a:srgbClr val="3478B6"/>
                </a:solidFill>
                <a:latin typeface="Aptos"/>
              </a:defRPr>
            </a:pPr>
            <a:r>
              <a:t>NUMERICAL RESULTS</a:t>
            </a:r>
          </a:p>
        </p:txBody>
      </p:sp>
      <p:sp>
        <p:nvSpPr>
          <p:cNvPr id="4" name="TextBox 3"/>
          <p:cNvSpPr txBox="1"/>
          <p:nvPr/>
        </p:nvSpPr>
        <p:spPr>
          <a:xfrm>
            <a:off x="502920" y="749808"/>
            <a:ext cx="11155680" cy="822960"/>
          </a:xfrm>
          <a:prstGeom prst="rect">
            <a:avLst/>
          </a:prstGeom>
          <a:noFill/>
        </p:spPr>
        <p:txBody>
          <a:bodyPr wrap="square" lIns="0" rIns="0" tIns="0" bIns="0">
            <a:spAutoFit/>
          </a:bodyPr>
          <a:lstStyle/>
          <a:p>
            <a:pPr algn="l">
              <a:spcAft>
                <a:spcPts val="1000"/>
              </a:spcAft>
              <a:defRPr sz="2900" b="1">
                <a:solidFill>
                  <a:srgbClr val="162C46"/>
                </a:solidFill>
                <a:latin typeface="Aptos"/>
              </a:defRPr>
            </a:pPr>
            <a:r>
              <a:t>Backup: run 2 endpoint metrics</a:t>
            </a:r>
          </a:p>
        </p:txBody>
      </p:sp>
      <p:sp>
        <p:nvSpPr>
          <p:cNvPr id="5" name="TextBox 4"/>
          <p:cNvSpPr txBox="1"/>
          <p:nvPr/>
        </p:nvSpPr>
        <p:spPr>
          <a:xfrm>
            <a:off x="502920" y="6519672"/>
            <a:ext cx="10698480" cy="201168"/>
          </a:xfrm>
          <a:prstGeom prst="rect">
            <a:avLst/>
          </a:prstGeom>
          <a:noFill/>
        </p:spPr>
        <p:txBody>
          <a:bodyPr wrap="square" lIns="0" rIns="0" tIns="0" bIns="0">
            <a:spAutoFit/>
          </a:bodyPr>
          <a:lstStyle/>
          <a:p>
            <a:pPr algn="l">
              <a:spcAft>
                <a:spcPts val="1000"/>
              </a:spcAft>
              <a:defRPr sz="1000" b="0">
                <a:solidFill>
                  <a:srgbClr val="526174"/>
                </a:solidFill>
                <a:latin typeface="Aptos"/>
              </a:defRPr>
            </a:pPr>
            <a:r>
              <a:t>COMSOL z = 3 → 0.5 µm  •  Same-sample reconstruction; no independent test set</a:t>
            </a:r>
          </a:p>
        </p:txBody>
      </p:sp>
      <p:sp>
        <p:nvSpPr>
          <p:cNvPr id="6" name="TextBox 5"/>
          <p:cNvSpPr txBox="1"/>
          <p:nvPr/>
        </p:nvSpPr>
        <p:spPr>
          <a:xfrm>
            <a:off x="11109960" y="6492240"/>
            <a:ext cx="548640" cy="228600"/>
          </a:xfrm>
          <a:prstGeom prst="rect">
            <a:avLst/>
          </a:prstGeom>
          <a:noFill/>
        </p:spPr>
        <p:txBody>
          <a:bodyPr wrap="square" lIns="0" rIns="0" tIns="0" bIns="0">
            <a:spAutoFit/>
          </a:bodyPr>
          <a:lstStyle/>
          <a:p>
            <a:pPr algn="r">
              <a:spcAft>
                <a:spcPts val="1000"/>
              </a:spcAft>
              <a:defRPr sz="1100" b="0">
                <a:solidFill>
                  <a:srgbClr val="526174"/>
                </a:solidFill>
                <a:latin typeface="Aptos"/>
              </a:defRPr>
            </a:pPr>
            <a:r>
              <a:t>28</a:t>
            </a:r>
          </a:p>
        </p:txBody>
      </p:sp>
      <p:graphicFrame>
        <p:nvGraphicFramePr>
          <p:cNvPr id="7" name="Table 6"/>
          <p:cNvGraphicFramePr>
            <a:graphicFrameLocks noGrp="1"/>
          </p:cNvGraphicFramePr>
          <p:nvPr/>
        </p:nvGraphicFramePr>
        <p:xfrm>
          <a:off x="594360" y="1828800"/>
          <a:ext cx="10972800" cy="3291840"/>
        </p:xfrm>
        <a:graphic>
          <a:graphicData uri="http://schemas.openxmlformats.org/drawingml/2006/table">
            <a:tbl>
              <a:tblPr firstRow="1" bandRow="1">
                <a:tableStyleId>{5C22544A-7EE6-4342-B048-85BDC9FD1C3A}</a:tableStyleId>
              </a:tblPr>
              <a:tblGrid>
                <a:gridCol w="2852928"/>
                <a:gridCol w="2084832"/>
                <a:gridCol w="2084832"/>
                <a:gridCol w="2084832"/>
                <a:gridCol w="1865376"/>
              </a:tblGrid>
              <a:tr h="548640">
                <a:tc>
                  <a:txBody>
                    <a:bodyPr/>
                    <a:lstStyle/>
                    <a:p>
                      <a:pPr>
                        <a:defRPr sz="1900" b="1">
                          <a:solidFill>
                            <a:srgbClr val="FFFFFF"/>
                          </a:solidFill>
                          <a:latin typeface="Aptos"/>
                        </a:defRPr>
                      </a:pPr>
                      <a:r>
                        <a:t>Method</a:t>
                      </a:r>
                    </a:p>
                  </a:txBody>
                  <a:tcPr marL="109728" marR="73152" marT="73152" marB="27432">
                    <a:solidFill>
                      <a:srgbClr val="162C46"/>
                    </a:solidFill>
                  </a:tcPr>
                </a:tc>
                <a:tc>
                  <a:txBody>
                    <a:bodyPr/>
                    <a:lstStyle/>
                    <a:p>
                      <a:pPr>
                        <a:defRPr sz="1900" b="1">
                          <a:solidFill>
                            <a:srgbClr val="FFFFFF"/>
                          </a:solidFill>
                          <a:latin typeface="Aptos"/>
                        </a:defRPr>
                      </a:pPr>
                      <a:r>
                        <a:t>Bx NRMSE %</a:t>
                      </a:r>
                    </a:p>
                  </a:txBody>
                  <a:tcPr marL="109728" marR="73152" marT="73152" marB="27432">
                    <a:solidFill>
                      <a:srgbClr val="162C46"/>
                    </a:solidFill>
                  </a:tcPr>
                </a:tc>
                <a:tc>
                  <a:txBody>
                    <a:bodyPr/>
                    <a:lstStyle/>
                    <a:p>
                      <a:pPr>
                        <a:defRPr sz="1900" b="1">
                          <a:solidFill>
                            <a:srgbClr val="FFFFFF"/>
                          </a:solidFill>
                          <a:latin typeface="Aptos"/>
                        </a:defRPr>
                      </a:pPr>
                      <a:r>
                        <a:t>By NRMSE %</a:t>
                      </a:r>
                    </a:p>
                  </a:txBody>
                  <a:tcPr marL="109728" marR="73152" marT="73152" marB="27432">
                    <a:solidFill>
                      <a:srgbClr val="162C46"/>
                    </a:solidFill>
                  </a:tcPr>
                </a:tc>
                <a:tc>
                  <a:txBody>
                    <a:bodyPr/>
                    <a:lstStyle/>
                    <a:p>
                      <a:pPr>
                        <a:defRPr sz="1900" b="1">
                          <a:solidFill>
                            <a:srgbClr val="FFFFFF"/>
                          </a:solidFill>
                          <a:latin typeface="Aptos"/>
                        </a:defRPr>
                      </a:pPr>
                      <a:r>
                        <a:t>Bz NRMSE %</a:t>
                      </a:r>
                    </a:p>
                  </a:txBody>
                  <a:tcPr marL="109728" marR="73152" marT="73152" marB="27432">
                    <a:solidFill>
                      <a:srgbClr val="162C46"/>
                    </a:solidFill>
                  </a:tcPr>
                </a:tc>
                <a:tc>
                  <a:txBody>
                    <a:bodyPr/>
                    <a:lstStyle/>
                    <a:p>
                      <a:pPr>
                        <a:defRPr sz="1900" b="1">
                          <a:solidFill>
                            <a:srgbClr val="FFFFFF"/>
                          </a:solidFill>
                          <a:latin typeface="Aptos"/>
                        </a:defRPr>
                      </a:pPr>
                      <a:r>
                        <a:t>Time (s)</a:t>
                      </a:r>
                    </a:p>
                  </a:txBody>
                  <a:tcPr marL="109728" marR="73152" marT="73152" marB="27432">
                    <a:solidFill>
                      <a:srgbClr val="162C46"/>
                    </a:solidFill>
                  </a:tcPr>
                </a:tc>
              </a:tr>
              <a:tr h="548640">
                <a:tc>
                  <a:txBody>
                    <a:bodyPr/>
                    <a:lstStyle/>
                    <a:p>
                      <a:pPr>
                        <a:defRPr sz="1900" b="0">
                          <a:solidFill>
                            <a:srgbClr val="18293B"/>
                          </a:solidFill>
                          <a:latin typeface="Aptos"/>
                        </a:defRPr>
                      </a:pPr>
                      <a:r>
                        <a:t>LISTA 16</a:t>
                      </a:r>
                    </a:p>
                  </a:txBody>
                  <a:tcPr marL="109728" marR="73152" marT="73152" marB="27432">
                    <a:solidFill>
                      <a:srgbClr val="EDF2F6"/>
                    </a:solidFill>
                  </a:tcPr>
                </a:tc>
                <a:tc>
                  <a:txBody>
                    <a:bodyPr/>
                    <a:lstStyle/>
                    <a:p>
                      <a:pPr>
                        <a:defRPr sz="1900" b="0">
                          <a:solidFill>
                            <a:srgbClr val="18293B"/>
                          </a:solidFill>
                          <a:latin typeface="Aptos"/>
                        </a:defRPr>
                      </a:pPr>
                      <a:r>
                        <a:t>1.988</a:t>
                      </a:r>
                    </a:p>
                  </a:txBody>
                  <a:tcPr marL="109728" marR="73152" marT="73152" marB="27432">
                    <a:solidFill>
                      <a:srgbClr val="EDF2F6"/>
                    </a:solidFill>
                  </a:tcPr>
                </a:tc>
                <a:tc>
                  <a:txBody>
                    <a:bodyPr/>
                    <a:lstStyle/>
                    <a:p>
                      <a:pPr>
                        <a:defRPr sz="1900" b="0">
                          <a:solidFill>
                            <a:srgbClr val="18293B"/>
                          </a:solidFill>
                          <a:latin typeface="Aptos"/>
                        </a:defRPr>
                      </a:pPr>
                      <a:r>
                        <a:t>1.751</a:t>
                      </a:r>
                    </a:p>
                  </a:txBody>
                  <a:tcPr marL="109728" marR="73152" marT="73152" marB="27432">
                    <a:solidFill>
                      <a:srgbClr val="EDF2F6"/>
                    </a:solidFill>
                  </a:tcPr>
                </a:tc>
                <a:tc>
                  <a:txBody>
                    <a:bodyPr/>
                    <a:lstStyle/>
                    <a:p>
                      <a:pPr>
                        <a:defRPr sz="1900" b="0">
                          <a:solidFill>
                            <a:srgbClr val="18293B"/>
                          </a:solidFill>
                          <a:latin typeface="Aptos"/>
                        </a:defRPr>
                      </a:pPr>
                      <a:r>
                        <a:t>2.861</a:t>
                      </a:r>
                    </a:p>
                  </a:txBody>
                  <a:tcPr marL="109728" marR="73152" marT="73152" marB="27432">
                    <a:solidFill>
                      <a:srgbClr val="EDF2F6"/>
                    </a:solidFill>
                  </a:tcPr>
                </a:tc>
                <a:tc>
                  <a:txBody>
                    <a:bodyPr/>
                    <a:lstStyle/>
                    <a:p>
                      <a:pPr>
                        <a:defRPr sz="1900" b="0">
                          <a:solidFill>
                            <a:srgbClr val="18293B"/>
                          </a:solidFill>
                          <a:latin typeface="Aptos"/>
                        </a:defRPr>
                      </a:pPr>
                      <a:r>
                        <a:t>0.460</a:t>
                      </a:r>
                    </a:p>
                  </a:txBody>
                  <a:tcPr marL="109728" marR="73152" marT="73152" marB="27432">
                    <a:solidFill>
                      <a:srgbClr val="EDF2F6"/>
                    </a:solidFill>
                  </a:tcPr>
                </a:tc>
              </a:tr>
              <a:tr h="548640">
                <a:tc>
                  <a:txBody>
                    <a:bodyPr/>
                    <a:lstStyle/>
                    <a:p>
                      <a:pPr>
                        <a:defRPr sz="1900" b="0">
                          <a:solidFill>
                            <a:srgbClr val="18293B"/>
                          </a:solidFill>
                          <a:latin typeface="Aptos"/>
                        </a:defRPr>
                      </a:pPr>
                      <a:r>
                        <a:t>ISTA 16</a:t>
                      </a:r>
                    </a:p>
                  </a:txBody>
                  <a:tcPr marL="109728" marR="73152" marT="73152" marB="27432">
                    <a:solidFill>
                      <a:srgbClr val="FFFFFF"/>
                    </a:solidFill>
                  </a:tcPr>
                </a:tc>
                <a:tc>
                  <a:txBody>
                    <a:bodyPr/>
                    <a:lstStyle/>
                    <a:p>
                      <a:pPr>
                        <a:defRPr sz="1900" b="0">
                          <a:solidFill>
                            <a:srgbClr val="18293B"/>
                          </a:solidFill>
                          <a:latin typeface="Aptos"/>
                        </a:defRPr>
                      </a:pPr>
                      <a:r>
                        <a:t>2.920</a:t>
                      </a:r>
                    </a:p>
                  </a:txBody>
                  <a:tcPr marL="109728" marR="73152" marT="73152" marB="27432">
                    <a:solidFill>
                      <a:srgbClr val="FFFFFF"/>
                    </a:solidFill>
                  </a:tcPr>
                </a:tc>
                <a:tc>
                  <a:txBody>
                    <a:bodyPr/>
                    <a:lstStyle/>
                    <a:p>
                      <a:pPr>
                        <a:defRPr sz="1900" b="0">
                          <a:solidFill>
                            <a:srgbClr val="18293B"/>
                          </a:solidFill>
                          <a:latin typeface="Aptos"/>
                        </a:defRPr>
                      </a:pPr>
                      <a:r>
                        <a:t>2.475</a:t>
                      </a:r>
                    </a:p>
                  </a:txBody>
                  <a:tcPr marL="109728" marR="73152" marT="73152" marB="27432">
                    <a:solidFill>
                      <a:srgbClr val="FFFFFF"/>
                    </a:solidFill>
                  </a:tcPr>
                </a:tc>
                <a:tc>
                  <a:txBody>
                    <a:bodyPr/>
                    <a:lstStyle/>
                    <a:p>
                      <a:pPr>
                        <a:defRPr sz="1900" b="0">
                          <a:solidFill>
                            <a:srgbClr val="18293B"/>
                          </a:solidFill>
                          <a:latin typeface="Aptos"/>
                        </a:defRPr>
                      </a:pPr>
                      <a:r>
                        <a:t>3.815</a:t>
                      </a:r>
                    </a:p>
                  </a:txBody>
                  <a:tcPr marL="109728" marR="73152" marT="73152" marB="27432">
                    <a:solidFill>
                      <a:srgbClr val="FFFFFF"/>
                    </a:solidFill>
                  </a:tcPr>
                </a:tc>
                <a:tc>
                  <a:txBody>
                    <a:bodyPr/>
                    <a:lstStyle/>
                    <a:p>
                      <a:pPr>
                        <a:defRPr sz="1900" b="0">
                          <a:solidFill>
                            <a:srgbClr val="18293B"/>
                          </a:solidFill>
                          <a:latin typeface="Aptos"/>
                        </a:defRPr>
                      </a:pPr>
                      <a:r>
                        <a:t>0.418</a:t>
                      </a:r>
                    </a:p>
                  </a:txBody>
                  <a:tcPr marL="109728" marR="73152" marT="73152" marB="27432">
                    <a:solidFill>
                      <a:srgbClr val="FFFFFF"/>
                    </a:solidFill>
                  </a:tcPr>
                </a:tc>
              </a:tr>
              <a:tr h="548640">
                <a:tc>
                  <a:txBody>
                    <a:bodyPr/>
                    <a:lstStyle/>
                    <a:p>
                      <a:pPr>
                        <a:defRPr sz="1900" b="0">
                          <a:solidFill>
                            <a:srgbClr val="18293B"/>
                          </a:solidFill>
                          <a:latin typeface="Aptos"/>
                        </a:defRPr>
                      </a:pPr>
                      <a:r>
                        <a:t>ISTA 500</a:t>
                      </a:r>
                    </a:p>
                  </a:txBody>
                  <a:tcPr marL="109728" marR="73152" marT="73152" marB="27432">
                    <a:solidFill>
                      <a:srgbClr val="EDF2F6"/>
                    </a:solidFill>
                  </a:tcPr>
                </a:tc>
                <a:tc>
                  <a:txBody>
                    <a:bodyPr/>
                    <a:lstStyle/>
                    <a:p>
                      <a:pPr>
                        <a:defRPr sz="1900" b="0">
                          <a:solidFill>
                            <a:srgbClr val="18293B"/>
                          </a:solidFill>
                          <a:latin typeface="Aptos"/>
                        </a:defRPr>
                      </a:pPr>
                      <a:r>
                        <a:t>1.595</a:t>
                      </a:r>
                    </a:p>
                  </a:txBody>
                  <a:tcPr marL="109728" marR="73152" marT="73152" marB="27432">
                    <a:solidFill>
                      <a:srgbClr val="EDF2F6"/>
                    </a:solidFill>
                  </a:tcPr>
                </a:tc>
                <a:tc>
                  <a:txBody>
                    <a:bodyPr/>
                    <a:lstStyle/>
                    <a:p>
                      <a:pPr>
                        <a:defRPr sz="1900" b="0">
                          <a:solidFill>
                            <a:srgbClr val="18293B"/>
                          </a:solidFill>
                          <a:latin typeface="Aptos"/>
                        </a:defRPr>
                      </a:pPr>
                      <a:r>
                        <a:t>1.443</a:t>
                      </a:r>
                    </a:p>
                  </a:txBody>
                  <a:tcPr marL="109728" marR="73152" marT="73152" marB="27432">
                    <a:solidFill>
                      <a:srgbClr val="EDF2F6"/>
                    </a:solidFill>
                  </a:tcPr>
                </a:tc>
                <a:tc>
                  <a:txBody>
                    <a:bodyPr/>
                    <a:lstStyle/>
                    <a:p>
                      <a:pPr>
                        <a:defRPr sz="1900" b="0">
                          <a:solidFill>
                            <a:srgbClr val="18293B"/>
                          </a:solidFill>
                          <a:latin typeface="Aptos"/>
                        </a:defRPr>
                      </a:pPr>
                      <a:r>
                        <a:t>2.145</a:t>
                      </a:r>
                    </a:p>
                  </a:txBody>
                  <a:tcPr marL="109728" marR="73152" marT="73152" marB="27432">
                    <a:solidFill>
                      <a:srgbClr val="EDF2F6"/>
                    </a:solidFill>
                  </a:tcPr>
                </a:tc>
                <a:tc>
                  <a:txBody>
                    <a:bodyPr/>
                    <a:lstStyle/>
                    <a:p>
                      <a:pPr>
                        <a:defRPr sz="1900" b="0">
                          <a:solidFill>
                            <a:srgbClr val="18293B"/>
                          </a:solidFill>
                          <a:latin typeface="Aptos"/>
                        </a:defRPr>
                      </a:pPr>
                      <a:r>
                        <a:t>13.074</a:t>
                      </a:r>
                    </a:p>
                  </a:txBody>
                  <a:tcPr marL="109728" marR="73152" marT="73152" marB="27432">
                    <a:solidFill>
                      <a:srgbClr val="EDF2F6"/>
                    </a:solidFill>
                  </a:tcPr>
                </a:tc>
              </a:tr>
              <a:tr h="548640">
                <a:tc>
                  <a:txBody>
                    <a:bodyPr/>
                    <a:lstStyle/>
                    <a:p>
                      <a:pPr>
                        <a:defRPr sz="1900" b="0">
                          <a:solidFill>
                            <a:srgbClr val="18293B"/>
                          </a:solidFill>
                          <a:latin typeface="Aptos"/>
                        </a:defRPr>
                      </a:pPr>
                      <a:r>
                        <a:t>FISTA 16</a:t>
                      </a:r>
                    </a:p>
                  </a:txBody>
                  <a:tcPr marL="109728" marR="73152" marT="73152" marB="27432">
                    <a:solidFill>
                      <a:srgbClr val="FFFFFF"/>
                    </a:solidFill>
                  </a:tcPr>
                </a:tc>
                <a:tc>
                  <a:txBody>
                    <a:bodyPr/>
                    <a:lstStyle/>
                    <a:p>
                      <a:pPr>
                        <a:defRPr sz="1900" b="0">
                          <a:solidFill>
                            <a:srgbClr val="18293B"/>
                          </a:solidFill>
                          <a:latin typeface="Aptos"/>
                        </a:defRPr>
                      </a:pPr>
                      <a:r>
                        <a:t>2.310</a:t>
                      </a:r>
                    </a:p>
                  </a:txBody>
                  <a:tcPr marL="109728" marR="73152" marT="73152" marB="27432">
                    <a:solidFill>
                      <a:srgbClr val="FFFFFF"/>
                    </a:solidFill>
                  </a:tcPr>
                </a:tc>
                <a:tc>
                  <a:txBody>
                    <a:bodyPr/>
                    <a:lstStyle/>
                    <a:p>
                      <a:pPr>
                        <a:defRPr sz="1900" b="0">
                          <a:solidFill>
                            <a:srgbClr val="18293B"/>
                          </a:solidFill>
                          <a:latin typeface="Aptos"/>
                        </a:defRPr>
                      </a:pPr>
                      <a:r>
                        <a:t>1.998</a:t>
                      </a:r>
                    </a:p>
                  </a:txBody>
                  <a:tcPr marL="109728" marR="73152" marT="73152" marB="27432">
                    <a:solidFill>
                      <a:srgbClr val="FFFFFF"/>
                    </a:solidFill>
                  </a:tcPr>
                </a:tc>
                <a:tc>
                  <a:txBody>
                    <a:bodyPr/>
                    <a:lstStyle/>
                    <a:p>
                      <a:pPr>
                        <a:defRPr sz="1900" b="0">
                          <a:solidFill>
                            <a:srgbClr val="18293B"/>
                          </a:solidFill>
                          <a:latin typeface="Aptos"/>
                        </a:defRPr>
                      </a:pPr>
                      <a:r>
                        <a:t>3.109</a:t>
                      </a:r>
                    </a:p>
                  </a:txBody>
                  <a:tcPr marL="109728" marR="73152" marT="73152" marB="27432">
                    <a:solidFill>
                      <a:srgbClr val="FFFFFF"/>
                    </a:solidFill>
                  </a:tcPr>
                </a:tc>
                <a:tc>
                  <a:txBody>
                    <a:bodyPr/>
                    <a:lstStyle/>
                    <a:p>
                      <a:pPr>
                        <a:defRPr sz="1900" b="0">
                          <a:solidFill>
                            <a:srgbClr val="18293B"/>
                          </a:solidFill>
                          <a:latin typeface="Aptos"/>
                        </a:defRPr>
                      </a:pPr>
                      <a:r>
                        <a:t>0.431</a:t>
                      </a:r>
                    </a:p>
                  </a:txBody>
                  <a:tcPr marL="109728" marR="73152" marT="73152" marB="27432">
                    <a:solidFill>
                      <a:srgbClr val="FFFFFF"/>
                    </a:solidFill>
                  </a:tcPr>
                </a:tc>
              </a:tr>
              <a:tr h="548640">
                <a:tc>
                  <a:txBody>
                    <a:bodyPr/>
                    <a:lstStyle/>
                    <a:p>
                      <a:pPr>
                        <a:defRPr sz="1900" b="0">
                          <a:solidFill>
                            <a:srgbClr val="18293B"/>
                          </a:solidFill>
                          <a:latin typeface="Aptos"/>
                        </a:defRPr>
                      </a:pPr>
                      <a:r>
                        <a:t>FISTA 500</a:t>
                      </a:r>
                    </a:p>
                  </a:txBody>
                  <a:tcPr marL="109728" marR="73152" marT="73152" marB="27432">
                    <a:solidFill>
                      <a:srgbClr val="EDF2F6"/>
                    </a:solidFill>
                  </a:tcPr>
                </a:tc>
                <a:tc>
                  <a:txBody>
                    <a:bodyPr/>
                    <a:lstStyle/>
                    <a:p>
                      <a:pPr>
                        <a:defRPr sz="1900" b="0">
                          <a:solidFill>
                            <a:srgbClr val="18293B"/>
                          </a:solidFill>
                          <a:latin typeface="Aptos"/>
                        </a:defRPr>
                      </a:pPr>
                      <a:r>
                        <a:t>2.484</a:t>
                      </a:r>
                    </a:p>
                  </a:txBody>
                  <a:tcPr marL="109728" marR="73152" marT="73152" marB="27432">
                    <a:solidFill>
                      <a:srgbClr val="EDF2F6"/>
                    </a:solidFill>
                  </a:tcPr>
                </a:tc>
                <a:tc>
                  <a:txBody>
                    <a:bodyPr/>
                    <a:lstStyle/>
                    <a:p>
                      <a:pPr>
                        <a:defRPr sz="1900" b="0">
                          <a:solidFill>
                            <a:srgbClr val="18293B"/>
                          </a:solidFill>
                          <a:latin typeface="Aptos"/>
                        </a:defRPr>
                      </a:pPr>
                      <a:r>
                        <a:t>2.443</a:t>
                      </a:r>
                    </a:p>
                  </a:txBody>
                  <a:tcPr marL="109728" marR="73152" marT="73152" marB="27432">
                    <a:solidFill>
                      <a:srgbClr val="EDF2F6"/>
                    </a:solidFill>
                  </a:tcPr>
                </a:tc>
                <a:tc>
                  <a:txBody>
                    <a:bodyPr/>
                    <a:lstStyle/>
                    <a:p>
                      <a:pPr>
                        <a:defRPr sz="1900" b="0">
                          <a:solidFill>
                            <a:srgbClr val="18293B"/>
                          </a:solidFill>
                          <a:latin typeface="Aptos"/>
                        </a:defRPr>
                      </a:pPr>
                      <a:r>
                        <a:t>2.026</a:t>
                      </a:r>
                    </a:p>
                  </a:txBody>
                  <a:tcPr marL="109728" marR="73152" marT="73152" marB="27432">
                    <a:solidFill>
                      <a:srgbClr val="EDF2F6"/>
                    </a:solidFill>
                  </a:tcPr>
                </a:tc>
                <a:tc>
                  <a:txBody>
                    <a:bodyPr/>
                    <a:lstStyle/>
                    <a:p>
                      <a:pPr>
                        <a:defRPr sz="1900" b="0">
                          <a:solidFill>
                            <a:srgbClr val="18293B"/>
                          </a:solidFill>
                          <a:latin typeface="Aptos"/>
                        </a:defRPr>
                      </a:pPr>
                      <a:r>
                        <a:t>13.486</a:t>
                      </a:r>
                    </a:p>
                  </a:txBody>
                  <a:tcPr marL="109728" marR="73152" marT="73152" marB="27432">
                    <a:solidFill>
                      <a:srgbClr val="EDF2F6"/>
                    </a:solidFill>
                  </a:tcPr>
                </a:tc>
              </a:tr>
            </a:tbl>
          </a:graphicData>
        </a:graphic>
      </p:graphicFrame>
      <p:sp>
        <p:nvSpPr>
          <p:cNvPr id="8" name="Rectangle 7"/>
          <p:cNvSpPr/>
          <p:nvPr/>
        </p:nvSpPr>
        <p:spPr>
          <a:xfrm>
            <a:off x="502920" y="5833872"/>
            <a:ext cx="11155680" cy="438912"/>
          </a:xfrm>
          <a:prstGeom prst="rect">
            <a:avLst/>
          </a:prstGeom>
          <a:solidFill>
            <a:srgbClr val="EDF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5907024"/>
            <a:ext cx="10835640" cy="274320"/>
          </a:xfrm>
          <a:prstGeom prst="rect">
            <a:avLst/>
          </a:prstGeom>
          <a:noFill/>
        </p:spPr>
        <p:txBody>
          <a:bodyPr wrap="square" lIns="0" rIns="0" tIns="0" bIns="0">
            <a:spAutoFit/>
          </a:bodyPr>
          <a:lstStyle/>
          <a:p>
            <a:pPr algn="l">
              <a:spcAft>
                <a:spcPts val="1000"/>
              </a:spcAft>
              <a:defRPr sz="1500" b="1">
                <a:solidFill>
                  <a:srgbClr val="3478B6"/>
                </a:solidFill>
                <a:latin typeface="Aptos"/>
              </a:defRPr>
            </a:pPr>
            <a:r>
              <a:t>Short-depth comparisons and long-run endpoints serve different comparison questions.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972800" cy="274320"/>
          </a:xfrm>
          <a:prstGeom prst="rect">
            <a:avLst/>
          </a:prstGeom>
          <a:noFill/>
        </p:spPr>
        <p:txBody>
          <a:bodyPr wrap="square" lIns="0" rIns="0" tIns="0" bIns="0">
            <a:spAutoFit/>
          </a:bodyPr>
          <a:lstStyle/>
          <a:p>
            <a:pPr algn="l">
              <a:spcAft>
                <a:spcPts val="1000"/>
              </a:spcAft>
              <a:defRPr sz="1100" b="1">
                <a:solidFill>
                  <a:srgbClr val="3478B6"/>
                </a:solidFill>
                <a:latin typeface="Aptos"/>
              </a:defRPr>
            </a:pPr>
            <a:r>
              <a:t>VISUAL RESULTS</a:t>
            </a:r>
          </a:p>
        </p:txBody>
      </p:sp>
      <p:sp>
        <p:nvSpPr>
          <p:cNvPr id="4" name="TextBox 3"/>
          <p:cNvSpPr txBox="1"/>
          <p:nvPr/>
        </p:nvSpPr>
        <p:spPr>
          <a:xfrm>
            <a:off x="502920" y="749808"/>
            <a:ext cx="11155680" cy="822960"/>
          </a:xfrm>
          <a:prstGeom prst="rect">
            <a:avLst/>
          </a:prstGeom>
          <a:noFill/>
        </p:spPr>
        <p:txBody>
          <a:bodyPr wrap="square" lIns="0" rIns="0" tIns="0" bIns="0">
            <a:spAutoFit/>
          </a:bodyPr>
          <a:lstStyle/>
          <a:p>
            <a:pPr algn="l">
              <a:spcAft>
                <a:spcPts val="1000"/>
              </a:spcAft>
              <a:defRPr sz="2900" b="1">
                <a:solidFill>
                  <a:srgbClr val="162C46"/>
                </a:solidFill>
                <a:latin typeface="Aptos"/>
              </a:defRPr>
            </a:pPr>
            <a:r>
              <a:t>Backup: complete reconstruction grid — run 1</a:t>
            </a:r>
          </a:p>
        </p:txBody>
      </p:sp>
      <p:sp>
        <p:nvSpPr>
          <p:cNvPr id="5" name="TextBox 4"/>
          <p:cNvSpPr txBox="1"/>
          <p:nvPr/>
        </p:nvSpPr>
        <p:spPr>
          <a:xfrm>
            <a:off x="502920" y="6519672"/>
            <a:ext cx="10698480" cy="201168"/>
          </a:xfrm>
          <a:prstGeom prst="rect">
            <a:avLst/>
          </a:prstGeom>
          <a:noFill/>
        </p:spPr>
        <p:txBody>
          <a:bodyPr wrap="square" lIns="0" rIns="0" tIns="0" bIns="0">
            <a:spAutoFit/>
          </a:bodyPr>
          <a:lstStyle/>
          <a:p>
            <a:pPr algn="l">
              <a:spcAft>
                <a:spcPts val="1000"/>
              </a:spcAft>
              <a:defRPr sz="1000" b="0">
                <a:solidFill>
                  <a:srgbClr val="526174"/>
                </a:solidFill>
                <a:latin typeface="Aptos"/>
              </a:defRPr>
            </a:pPr>
            <a:r>
              <a:t>COMSOL z = 3 → 0.5 µm  •  Same-sample reconstruction; no independent test set</a:t>
            </a:r>
          </a:p>
        </p:txBody>
      </p:sp>
      <p:sp>
        <p:nvSpPr>
          <p:cNvPr id="6" name="TextBox 5"/>
          <p:cNvSpPr txBox="1"/>
          <p:nvPr/>
        </p:nvSpPr>
        <p:spPr>
          <a:xfrm>
            <a:off x="11109960" y="6492240"/>
            <a:ext cx="548640" cy="228600"/>
          </a:xfrm>
          <a:prstGeom prst="rect">
            <a:avLst/>
          </a:prstGeom>
          <a:noFill/>
        </p:spPr>
        <p:txBody>
          <a:bodyPr wrap="square" lIns="0" rIns="0" tIns="0" bIns="0">
            <a:spAutoFit/>
          </a:bodyPr>
          <a:lstStyle/>
          <a:p>
            <a:pPr algn="r">
              <a:spcAft>
                <a:spcPts val="1000"/>
              </a:spcAft>
              <a:defRPr sz="1100" b="0">
                <a:solidFill>
                  <a:srgbClr val="526174"/>
                </a:solidFill>
                <a:latin typeface="Aptos"/>
              </a:defRPr>
            </a:pPr>
            <a:r>
              <a:t>29</a:t>
            </a:r>
          </a:p>
        </p:txBody>
      </p:sp>
      <p:pic>
        <p:nvPicPr>
          <p:cNvPr id="7" name="Picture 6" descr="reconstructions.png"/>
          <p:cNvPicPr>
            <a:picLocks noChangeAspect="1"/>
          </p:cNvPicPr>
          <p:nvPr/>
        </p:nvPicPr>
        <p:blipFill>
          <a:blip r:embed="rId3"/>
          <a:stretch>
            <a:fillRect/>
          </a:stretch>
        </p:blipFill>
        <p:spPr>
          <a:xfrm>
            <a:off x="1974272" y="1554480"/>
            <a:ext cx="8212974" cy="475488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972800" cy="274320"/>
          </a:xfrm>
          <a:prstGeom prst="rect">
            <a:avLst/>
          </a:prstGeom>
          <a:noFill/>
        </p:spPr>
        <p:txBody>
          <a:bodyPr wrap="square" lIns="0" rIns="0" tIns="0" bIns="0">
            <a:spAutoFit/>
          </a:bodyPr>
          <a:lstStyle/>
          <a:p>
            <a:pPr algn="l">
              <a:spcAft>
                <a:spcPts val="1000"/>
              </a:spcAft>
              <a:defRPr sz="1100" b="1">
                <a:solidFill>
                  <a:srgbClr val="3478B6"/>
                </a:solidFill>
                <a:latin typeface="Aptos"/>
              </a:defRPr>
            </a:pPr>
            <a:r>
              <a:t>VISUAL RESULTS</a:t>
            </a:r>
          </a:p>
        </p:txBody>
      </p:sp>
      <p:sp>
        <p:nvSpPr>
          <p:cNvPr id="4" name="TextBox 3"/>
          <p:cNvSpPr txBox="1"/>
          <p:nvPr/>
        </p:nvSpPr>
        <p:spPr>
          <a:xfrm>
            <a:off x="502920" y="749808"/>
            <a:ext cx="11155680" cy="822960"/>
          </a:xfrm>
          <a:prstGeom prst="rect">
            <a:avLst/>
          </a:prstGeom>
          <a:noFill/>
        </p:spPr>
        <p:txBody>
          <a:bodyPr wrap="square" lIns="0" rIns="0" tIns="0" bIns="0">
            <a:spAutoFit/>
          </a:bodyPr>
          <a:lstStyle/>
          <a:p>
            <a:pPr algn="l">
              <a:spcAft>
                <a:spcPts val="1000"/>
              </a:spcAft>
              <a:defRPr sz="2900" b="1">
                <a:solidFill>
                  <a:srgbClr val="162C46"/>
                </a:solidFill>
                <a:latin typeface="Aptos"/>
              </a:defRPr>
            </a:pPr>
            <a:r>
              <a:t>Backup: complete reconstruction grid — run 2</a:t>
            </a:r>
          </a:p>
        </p:txBody>
      </p:sp>
      <p:sp>
        <p:nvSpPr>
          <p:cNvPr id="5" name="TextBox 4"/>
          <p:cNvSpPr txBox="1"/>
          <p:nvPr/>
        </p:nvSpPr>
        <p:spPr>
          <a:xfrm>
            <a:off x="502920" y="6519672"/>
            <a:ext cx="10698480" cy="201168"/>
          </a:xfrm>
          <a:prstGeom prst="rect">
            <a:avLst/>
          </a:prstGeom>
          <a:noFill/>
        </p:spPr>
        <p:txBody>
          <a:bodyPr wrap="square" lIns="0" rIns="0" tIns="0" bIns="0">
            <a:spAutoFit/>
          </a:bodyPr>
          <a:lstStyle/>
          <a:p>
            <a:pPr algn="l">
              <a:spcAft>
                <a:spcPts val="1000"/>
              </a:spcAft>
              <a:defRPr sz="1000" b="0">
                <a:solidFill>
                  <a:srgbClr val="526174"/>
                </a:solidFill>
                <a:latin typeface="Aptos"/>
              </a:defRPr>
            </a:pPr>
            <a:r>
              <a:t>COMSOL z = 3 → 0.5 µm  •  Same-sample reconstruction; no independent test set</a:t>
            </a:r>
          </a:p>
        </p:txBody>
      </p:sp>
      <p:sp>
        <p:nvSpPr>
          <p:cNvPr id="6" name="TextBox 5"/>
          <p:cNvSpPr txBox="1"/>
          <p:nvPr/>
        </p:nvSpPr>
        <p:spPr>
          <a:xfrm>
            <a:off x="11109960" y="6492240"/>
            <a:ext cx="548640" cy="228600"/>
          </a:xfrm>
          <a:prstGeom prst="rect">
            <a:avLst/>
          </a:prstGeom>
          <a:noFill/>
        </p:spPr>
        <p:txBody>
          <a:bodyPr wrap="square" lIns="0" rIns="0" tIns="0" bIns="0">
            <a:spAutoFit/>
          </a:bodyPr>
          <a:lstStyle/>
          <a:p>
            <a:pPr algn="r">
              <a:spcAft>
                <a:spcPts val="1000"/>
              </a:spcAft>
              <a:defRPr sz="1100" b="0">
                <a:solidFill>
                  <a:srgbClr val="526174"/>
                </a:solidFill>
                <a:latin typeface="Aptos"/>
              </a:defRPr>
            </a:pPr>
            <a:r>
              <a:t>30</a:t>
            </a:r>
          </a:p>
        </p:txBody>
      </p:sp>
      <p:pic>
        <p:nvPicPr>
          <p:cNvPr id="7" name="Picture 6" descr="reconstructions-2.png"/>
          <p:cNvPicPr>
            <a:picLocks noChangeAspect="1"/>
          </p:cNvPicPr>
          <p:nvPr/>
        </p:nvPicPr>
        <p:blipFill>
          <a:blip r:embed="rId3"/>
          <a:stretch>
            <a:fillRect/>
          </a:stretch>
        </p:blipFill>
        <p:spPr>
          <a:xfrm>
            <a:off x="1974272" y="1554480"/>
            <a:ext cx="8212974" cy="475488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972800" cy="274320"/>
          </a:xfrm>
          <a:prstGeom prst="rect">
            <a:avLst/>
          </a:prstGeom>
          <a:noFill/>
        </p:spPr>
        <p:txBody>
          <a:bodyPr wrap="square" lIns="0" rIns="0" tIns="0" bIns="0">
            <a:spAutoFit/>
          </a:bodyPr>
          <a:lstStyle/>
          <a:p>
            <a:pPr algn="l">
              <a:spcAft>
                <a:spcPts val="1000"/>
              </a:spcAft>
              <a:defRPr sz="1100" b="1">
                <a:solidFill>
                  <a:srgbClr val="3478B6"/>
                </a:solidFill>
                <a:latin typeface="Aptos"/>
              </a:defRPr>
            </a:pPr>
            <a:r>
              <a:t>REFERENCES</a:t>
            </a:r>
          </a:p>
        </p:txBody>
      </p:sp>
      <p:sp>
        <p:nvSpPr>
          <p:cNvPr id="4" name="TextBox 3"/>
          <p:cNvSpPr txBox="1"/>
          <p:nvPr/>
        </p:nvSpPr>
        <p:spPr>
          <a:xfrm>
            <a:off x="502920" y="749808"/>
            <a:ext cx="11155680" cy="822960"/>
          </a:xfrm>
          <a:prstGeom prst="rect">
            <a:avLst/>
          </a:prstGeom>
          <a:noFill/>
        </p:spPr>
        <p:txBody>
          <a:bodyPr wrap="square" lIns="0" rIns="0" tIns="0" bIns="0">
            <a:spAutoFit/>
          </a:bodyPr>
          <a:lstStyle/>
          <a:p>
            <a:pPr algn="l">
              <a:spcAft>
                <a:spcPts val="1000"/>
              </a:spcAft>
              <a:defRPr sz="2900" b="1">
                <a:solidFill>
                  <a:srgbClr val="162C46"/>
                </a:solidFill>
                <a:latin typeface="Aptos"/>
              </a:defRPr>
            </a:pPr>
            <a:r>
              <a:t>Backup: provenance and primary references</a:t>
            </a:r>
          </a:p>
        </p:txBody>
      </p:sp>
      <p:sp>
        <p:nvSpPr>
          <p:cNvPr id="5" name="TextBox 4"/>
          <p:cNvSpPr txBox="1"/>
          <p:nvPr/>
        </p:nvSpPr>
        <p:spPr>
          <a:xfrm>
            <a:off x="502920" y="6519672"/>
            <a:ext cx="10698480" cy="201168"/>
          </a:xfrm>
          <a:prstGeom prst="rect">
            <a:avLst/>
          </a:prstGeom>
          <a:noFill/>
        </p:spPr>
        <p:txBody>
          <a:bodyPr wrap="square" lIns="0" rIns="0" tIns="0" bIns="0">
            <a:spAutoFit/>
          </a:bodyPr>
          <a:lstStyle/>
          <a:p>
            <a:pPr algn="l">
              <a:spcAft>
                <a:spcPts val="1000"/>
              </a:spcAft>
              <a:defRPr sz="1000" b="0">
                <a:solidFill>
                  <a:srgbClr val="526174"/>
                </a:solidFill>
                <a:latin typeface="Aptos"/>
              </a:defRPr>
            </a:pPr>
            <a:r>
              <a:t>COMSOL z = 3 → 0.5 µm  •  Same-sample reconstruction; no independent test set</a:t>
            </a:r>
          </a:p>
        </p:txBody>
      </p:sp>
      <p:sp>
        <p:nvSpPr>
          <p:cNvPr id="6" name="TextBox 5"/>
          <p:cNvSpPr txBox="1"/>
          <p:nvPr/>
        </p:nvSpPr>
        <p:spPr>
          <a:xfrm>
            <a:off x="11109960" y="6492240"/>
            <a:ext cx="548640" cy="228600"/>
          </a:xfrm>
          <a:prstGeom prst="rect">
            <a:avLst/>
          </a:prstGeom>
          <a:noFill/>
        </p:spPr>
        <p:txBody>
          <a:bodyPr wrap="square" lIns="0" rIns="0" tIns="0" bIns="0">
            <a:spAutoFit/>
          </a:bodyPr>
          <a:lstStyle/>
          <a:p>
            <a:pPr algn="r">
              <a:spcAft>
                <a:spcPts val="1000"/>
              </a:spcAft>
              <a:defRPr sz="1100" b="0">
                <a:solidFill>
                  <a:srgbClr val="526174"/>
                </a:solidFill>
                <a:latin typeface="Aptos"/>
              </a:defRPr>
            </a:pPr>
            <a:r>
              <a:t>31</a:t>
            </a:r>
          </a:p>
        </p:txBody>
      </p:sp>
      <p:sp>
        <p:nvSpPr>
          <p:cNvPr id="7" name="TextBox 6"/>
          <p:cNvSpPr txBox="1"/>
          <p:nvPr/>
        </p:nvSpPr>
        <p:spPr>
          <a:xfrm>
            <a:off x="731520" y="1783080"/>
            <a:ext cx="10698480" cy="914400"/>
          </a:xfrm>
          <a:prstGeom prst="rect">
            <a:avLst/>
          </a:prstGeom>
          <a:noFill/>
        </p:spPr>
        <p:txBody>
          <a:bodyPr wrap="square" lIns="0" rIns="0" tIns="0" bIns="0">
            <a:spAutoFit/>
          </a:bodyPr>
          <a:lstStyle/>
          <a:p>
            <a:pPr algn="l">
              <a:spcAft>
                <a:spcPts val="1000"/>
              </a:spcAft>
              <a:defRPr sz="1900" b="0">
                <a:solidFill>
                  <a:srgbClr val="18293B"/>
                </a:solidFill>
                <a:latin typeface="Aptos"/>
              </a:defRPr>
            </a:pPr>
            <a:r>
              <a:t>Gregor &amp; LeCun (2010) — Learning Fast Approximations of Sparse Coding</a:t>
            </a:r>
          </a:p>
          <a:p>
            <a:pPr algn="l">
              <a:spcAft>
                <a:spcPts val="1000"/>
              </a:spcAft>
              <a:defRPr sz="1900" b="0">
                <a:solidFill>
                  <a:srgbClr val="18293B"/>
                </a:solidFill>
                <a:latin typeface="Aptos"/>
              </a:defRPr>
            </a:pPr>
            <a:r>
              <a:t>https://icml.cc/Conferences/2010/papers/449.pdf</a:t>
            </a:r>
          </a:p>
        </p:txBody>
      </p:sp>
      <p:sp>
        <p:nvSpPr>
          <p:cNvPr id="8" name="TextBox 7"/>
          <p:cNvSpPr txBox="1"/>
          <p:nvPr/>
        </p:nvSpPr>
        <p:spPr>
          <a:xfrm>
            <a:off x="731520" y="2880360"/>
            <a:ext cx="10698480" cy="914400"/>
          </a:xfrm>
          <a:prstGeom prst="rect">
            <a:avLst/>
          </a:prstGeom>
          <a:noFill/>
        </p:spPr>
        <p:txBody>
          <a:bodyPr wrap="square" lIns="0" rIns="0" tIns="0" bIns="0">
            <a:spAutoFit/>
          </a:bodyPr>
          <a:lstStyle/>
          <a:p>
            <a:pPr algn="l">
              <a:spcAft>
                <a:spcPts val="1000"/>
              </a:spcAft>
              <a:defRPr sz="1900" b="0">
                <a:solidFill>
                  <a:srgbClr val="18293B"/>
                </a:solidFill>
                <a:latin typeface="Aptos"/>
              </a:defRPr>
            </a:pPr>
            <a:r>
              <a:t>Beck &amp; Teboulle (2009) — A Fast Iterative Shrinkage-Thresholding Algorithm</a:t>
            </a:r>
          </a:p>
          <a:p>
            <a:pPr algn="l">
              <a:spcAft>
                <a:spcPts val="1000"/>
              </a:spcAft>
              <a:defRPr sz="1900" b="0">
                <a:solidFill>
                  <a:srgbClr val="18293B"/>
                </a:solidFill>
                <a:latin typeface="Aptos"/>
              </a:defRPr>
            </a:pPr>
            <a:r>
              <a:t>https://www.ceremade.dauphine.fr/~carlier/FISTA</a:t>
            </a:r>
          </a:p>
        </p:txBody>
      </p:sp>
      <p:sp>
        <p:nvSpPr>
          <p:cNvPr id="9" name="TextBox 8"/>
          <p:cNvSpPr txBox="1"/>
          <p:nvPr/>
        </p:nvSpPr>
        <p:spPr>
          <a:xfrm>
            <a:off x="731520" y="3977639"/>
            <a:ext cx="10698480" cy="914400"/>
          </a:xfrm>
          <a:prstGeom prst="rect">
            <a:avLst/>
          </a:prstGeom>
          <a:noFill/>
        </p:spPr>
        <p:txBody>
          <a:bodyPr wrap="square" lIns="0" rIns="0" tIns="0" bIns="0">
            <a:spAutoFit/>
          </a:bodyPr>
          <a:lstStyle/>
          <a:p>
            <a:pPr algn="l">
              <a:spcAft>
                <a:spcPts val="1000"/>
              </a:spcAft>
              <a:defRPr sz="1900" b="0">
                <a:solidFill>
                  <a:srgbClr val="18293B"/>
                </a:solidFill>
                <a:latin typeface="Aptos"/>
              </a:defRPr>
            </a:pPr>
            <a:r>
              <a:t>PyTorch 2.10 — Conv2d and Adam implementation documentation</a:t>
            </a:r>
          </a:p>
          <a:p>
            <a:pPr algn="l">
              <a:spcAft>
                <a:spcPts val="1000"/>
              </a:spcAft>
              <a:defRPr sz="1900" b="0">
                <a:solidFill>
                  <a:srgbClr val="18293B"/>
                </a:solidFill>
                <a:latin typeface="Aptos"/>
              </a:defRPr>
            </a:pPr>
            <a:r>
              <a:t>https://docs.pytorch.org/docs/2.10/</a:t>
            </a:r>
          </a:p>
        </p:txBody>
      </p:sp>
      <p:sp>
        <p:nvSpPr>
          <p:cNvPr id="10" name="TextBox 9"/>
          <p:cNvSpPr txBox="1"/>
          <p:nvPr/>
        </p:nvSpPr>
        <p:spPr>
          <a:xfrm>
            <a:off x="731520" y="5120640"/>
            <a:ext cx="10698480" cy="457200"/>
          </a:xfrm>
          <a:prstGeom prst="rect">
            <a:avLst/>
          </a:prstGeom>
          <a:noFill/>
        </p:spPr>
        <p:txBody>
          <a:bodyPr wrap="square" lIns="0" rIns="0" tIns="0" bIns="0">
            <a:spAutoFit/>
          </a:bodyPr>
          <a:lstStyle/>
          <a:p>
            <a:pPr algn="l">
              <a:spcAft>
                <a:spcPts val="1000"/>
              </a:spcAft>
              <a:defRPr sz="1800" b="1">
                <a:solidFill>
                  <a:srgbClr val="18293B"/>
                </a:solidFill>
                <a:latin typeface="Aptos"/>
              </a:defRPr>
            </a:pPr>
            <a:r>
              <a:t>Data: notebooks/runs_results/  •  Identical input and source hashes across runs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ISTA, FISTA and supervised ConvLISTA: COMSOL reconstruction</dc:title>
  <dc:subject>Two controlled same-sample experiments, z=3 to 0.5 micrometres</dc:subject>
  <dc:creator>Abhay</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