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4.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5.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915a86a9842437f" /><Relationship Type="http://schemas.openxmlformats.org/officeDocument/2006/relationships/extended-properties" Target="/docProps/app.xml" Id="R2621b9d759d3446c" /><Relationship Type="http://schemas.openxmlformats.org/officeDocument/2006/relationships/officeDocument" Target="/ppt/presentation.xml" Id="Rb3b2ecd883d54d8f" /></Relationships>
</file>

<file path=ppt/presentation.xml><?xml version="1.0" encoding="utf-8"?>
<p:presentation xmlns:p="http://schemas.openxmlformats.org/presentationml/2006/main">
  <p:sldMasterIdLst>
    <p:sldMasterId xmlns:r="http://schemas.openxmlformats.org/officeDocument/2006/relationships" id="2147483648" r:id="Rca467f296cb84d9b"/>
  </p:sldMasterIdLst>
  <p:notesMasterIdLst>
    <p:notesMasterId xmlns:r="http://schemas.openxmlformats.org/officeDocument/2006/relationships" r:id="R7914c141567d4b73"/>
  </p:notesMasterIdLst>
  <p:sldIdLst>
    <p:sldId xmlns:r="http://schemas.openxmlformats.org/officeDocument/2006/relationships" id="256" r:id="R8dff25273adf4725"/>
    <p:sldId xmlns:r="http://schemas.openxmlformats.org/officeDocument/2006/relationships" id="257" r:id="R8fae3fba24644324"/>
    <p:sldId xmlns:r="http://schemas.openxmlformats.org/officeDocument/2006/relationships" id="258" r:id="Radb5d9581907412e"/>
    <p:sldId xmlns:r="http://schemas.openxmlformats.org/officeDocument/2006/relationships" id="259" r:id="R6a2bb4b890a34466"/>
    <p:sldId xmlns:r="http://schemas.openxmlformats.org/officeDocument/2006/relationships" id="260" r:id="R14fd63b25a65436f"/>
    <p:sldId xmlns:r="http://schemas.openxmlformats.org/officeDocument/2006/relationships" id="261" r:id="R204e8f78d43e410c"/>
    <p:sldId xmlns:r="http://schemas.openxmlformats.org/officeDocument/2006/relationships" id="262" r:id="R00c32b1e7bf34c12"/>
    <p:sldId xmlns:r="http://schemas.openxmlformats.org/officeDocument/2006/relationships" id="263" r:id="R879f0946d57e46ec"/>
    <p:sldId xmlns:r="http://schemas.openxmlformats.org/officeDocument/2006/relationships" id="264" r:id="R465760a430f5412b"/>
    <p:sldId xmlns:r="http://schemas.openxmlformats.org/officeDocument/2006/relationships" id="265" r:id="Rd4cbd0c251474cb6"/>
    <p:sldId xmlns:r="http://schemas.openxmlformats.org/officeDocument/2006/relationships" id="266" r:id="R925ac49119a14526"/>
    <p:sldId xmlns:r="http://schemas.openxmlformats.org/officeDocument/2006/relationships" id="267" r:id="Reb277265d7c54d71"/>
    <p:sldId xmlns:r="http://schemas.openxmlformats.org/officeDocument/2006/relationships" id="268" r:id="Rd7212ca185ce4783"/>
    <p:sldId xmlns:r="http://schemas.openxmlformats.org/officeDocument/2006/relationships" id="269" r:id="R01b13d20b90143c0"/>
    <p:sldId xmlns:r="http://schemas.openxmlformats.org/officeDocument/2006/relationships" id="270" r:id="R745724b43299469c"/>
    <p:sldId xmlns:r="http://schemas.openxmlformats.org/officeDocument/2006/relationships" id="271" r:id="Re2c2c65833c74a1e"/>
    <p:sldId xmlns:r="http://schemas.openxmlformats.org/officeDocument/2006/relationships" id="272" r:id="Rfe3b9eb64c844a04"/>
    <p:sldId xmlns:r="http://schemas.openxmlformats.org/officeDocument/2006/relationships" id="273" r:id="Rda4e6d27c5a74c72"/>
    <p:sldId xmlns:r="http://schemas.openxmlformats.org/officeDocument/2006/relationships" id="274" r:id="Rae8bdda4db684e6f"/>
    <p:sldId xmlns:r="http://schemas.openxmlformats.org/officeDocument/2006/relationships" id="275" r:id="R57c2eda55baf421f"/>
    <p:sldId xmlns:r="http://schemas.openxmlformats.org/officeDocument/2006/relationships" id="276" r:id="R14eab74276404c1f"/>
    <p:sldId xmlns:r="http://schemas.openxmlformats.org/officeDocument/2006/relationships" id="277" r:id="Rb4d0bb84e910496a"/>
    <p:sldId xmlns:r="http://schemas.openxmlformats.org/officeDocument/2006/relationships" id="278" r:id="Ra803a267af584dc3"/>
    <p:sldId xmlns:r="http://schemas.openxmlformats.org/officeDocument/2006/relationships" id="279" r:id="Rdd9d816ce6694a79"/>
    <p:sldId xmlns:r="http://schemas.openxmlformats.org/officeDocument/2006/relationships" id="280" r:id="R40861a506a7e4514"/>
    <p:sldId xmlns:r="http://schemas.openxmlformats.org/officeDocument/2006/relationships" id="281" r:id="R53906bdeebb84498"/>
    <p:sldId xmlns:r="http://schemas.openxmlformats.org/officeDocument/2006/relationships" id="282" r:id="Rd6990aa1882048fd"/>
    <p:sldId xmlns:r="http://schemas.openxmlformats.org/officeDocument/2006/relationships" id="283" r:id="R0d910b6e60e841b6"/>
    <p:sldId xmlns:r="http://schemas.openxmlformats.org/officeDocument/2006/relationships" id="284" r:id="R91577737cdbd498d"/>
    <p:sldId xmlns:r="http://schemas.openxmlformats.org/officeDocument/2006/relationships" id="285" r:id="Rc59d3284db114dcc"/>
    <p:sldId xmlns:r="http://schemas.openxmlformats.org/officeDocument/2006/relationships" id="286" r:id="Rf820602b8a8a49cc"/>
    <p:sldId xmlns:r="http://schemas.openxmlformats.org/officeDocument/2006/relationships" id="287" r:id="Rb36a3903c6364a26"/>
    <p:sldId xmlns:r="http://schemas.openxmlformats.org/officeDocument/2006/relationships" id="288" r:id="Rf4a74171f3954700"/>
    <p:sldId xmlns:r="http://schemas.openxmlformats.org/officeDocument/2006/relationships" id="289" r:id="Rf606f3c123144a6c"/>
    <p:sldId xmlns:r="http://schemas.openxmlformats.org/officeDocument/2006/relationships" id="290" r:id="R570637ec7e2f4088"/>
    <p:sldId xmlns:r="http://schemas.openxmlformats.org/officeDocument/2006/relationships" id="291" r:id="Rabd810c03d314ff8"/>
    <p:sldId xmlns:r="http://schemas.openxmlformats.org/officeDocument/2006/relationships" id="292" r:id="R0f0d7c8291ab45d9"/>
    <p:sldId xmlns:r="http://schemas.openxmlformats.org/officeDocument/2006/relationships" id="293" r:id="Rf8c397f0de8d4a04"/>
    <p:sldId xmlns:r="http://schemas.openxmlformats.org/officeDocument/2006/relationships" id="294" r:id="R67a75e64b7ef4fb8"/>
    <p:sldId xmlns:r="http://schemas.openxmlformats.org/officeDocument/2006/relationships" id="295" r:id="Rc41ebf77311c4de8"/>
    <p:sldId xmlns:r="http://schemas.openxmlformats.org/officeDocument/2006/relationships" id="296" r:id="Rdfd283ad0eb34269"/>
    <p:sldId xmlns:r="http://schemas.openxmlformats.org/officeDocument/2006/relationships" id="297" r:id="R18af9478a5f248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6d77b274da4809" /><Relationship Type="http://schemas.openxmlformats.org/officeDocument/2006/relationships/slideMaster" Target="/ppt/slideMasters/slideMaster1.xml" Id="Rca467f296cb84d9b" /><Relationship Type="http://schemas.openxmlformats.org/officeDocument/2006/relationships/notesMaster" Target="/ppt/notesMasters/notesMaster1.xml" Id="R7914c141567d4b73" /><Relationship Type="http://schemas.openxmlformats.org/officeDocument/2006/relationships/presProps" Target="/ppt/presProps.xml" Id="R2bd54b269a1e4c75" /><Relationship Type="http://schemas.openxmlformats.org/officeDocument/2006/relationships/tableStyles" Target="/ppt/tableStyles.xml" Id="R2c50dcfba21e4f99" /><Relationship Type="http://schemas.openxmlformats.org/officeDocument/2006/relationships/slide" Target="/ppt/slides/slide1.xml" Id="R8dff25273adf4725" /><Relationship Type="http://schemas.openxmlformats.org/officeDocument/2006/relationships/slide" Target="/ppt/slides/slide2.xml" Id="R8fae3fba24644324" /><Relationship Type="http://schemas.openxmlformats.org/officeDocument/2006/relationships/slide" Target="/ppt/slides/slide3.xml" Id="Radb5d9581907412e" /><Relationship Type="http://schemas.openxmlformats.org/officeDocument/2006/relationships/slide" Target="/ppt/slides/slide4.xml" Id="R6a2bb4b890a34466" /><Relationship Type="http://schemas.openxmlformats.org/officeDocument/2006/relationships/slide" Target="/ppt/slides/slide5.xml" Id="R14fd63b25a65436f" /><Relationship Type="http://schemas.openxmlformats.org/officeDocument/2006/relationships/slide" Target="/ppt/slides/slide6.xml" Id="R204e8f78d43e410c" /><Relationship Type="http://schemas.openxmlformats.org/officeDocument/2006/relationships/slide" Target="/ppt/slides/slide7.xml" Id="R00c32b1e7bf34c12" /><Relationship Type="http://schemas.openxmlformats.org/officeDocument/2006/relationships/slide" Target="/ppt/slides/slide8.xml" Id="R879f0946d57e46ec" /><Relationship Type="http://schemas.openxmlformats.org/officeDocument/2006/relationships/slide" Target="/ppt/slides/slide9.xml" Id="R465760a430f5412b" /><Relationship Type="http://schemas.openxmlformats.org/officeDocument/2006/relationships/slide" Target="/ppt/slides/slide10.xml" Id="Rd4cbd0c251474cb6" /><Relationship Type="http://schemas.openxmlformats.org/officeDocument/2006/relationships/slide" Target="/ppt/slides/slide11.xml" Id="R925ac49119a14526" /><Relationship Type="http://schemas.openxmlformats.org/officeDocument/2006/relationships/slide" Target="/ppt/slides/slide12.xml" Id="Reb277265d7c54d71" /><Relationship Type="http://schemas.openxmlformats.org/officeDocument/2006/relationships/slide" Target="/ppt/slides/slide13.xml" Id="Rd7212ca185ce4783" /><Relationship Type="http://schemas.openxmlformats.org/officeDocument/2006/relationships/slide" Target="/ppt/slides/slide14.xml" Id="R01b13d20b90143c0" /><Relationship Type="http://schemas.openxmlformats.org/officeDocument/2006/relationships/slide" Target="/ppt/slides/slide15.xml" Id="R745724b43299469c" /><Relationship Type="http://schemas.openxmlformats.org/officeDocument/2006/relationships/slide" Target="/ppt/slides/slide16.xml" Id="Re2c2c65833c74a1e" /><Relationship Type="http://schemas.openxmlformats.org/officeDocument/2006/relationships/slide" Target="/ppt/slides/slide17.xml" Id="Rfe3b9eb64c844a04" /><Relationship Type="http://schemas.openxmlformats.org/officeDocument/2006/relationships/slide" Target="/ppt/slides/slide18.xml" Id="Rda4e6d27c5a74c72" /><Relationship Type="http://schemas.openxmlformats.org/officeDocument/2006/relationships/slide" Target="/ppt/slides/slide19.xml" Id="Rae8bdda4db684e6f" /><Relationship Type="http://schemas.openxmlformats.org/officeDocument/2006/relationships/slide" Target="/ppt/slides/slide20.xml" Id="R57c2eda55baf421f" /><Relationship Type="http://schemas.openxmlformats.org/officeDocument/2006/relationships/slide" Target="/ppt/slides/slide21.xml" Id="R14eab74276404c1f" /><Relationship Type="http://schemas.openxmlformats.org/officeDocument/2006/relationships/slide" Target="/ppt/slides/slide22.xml" Id="Rb4d0bb84e910496a" /><Relationship Type="http://schemas.openxmlformats.org/officeDocument/2006/relationships/slide" Target="/ppt/slides/slide23.xml" Id="Ra803a267af584dc3" /><Relationship Type="http://schemas.openxmlformats.org/officeDocument/2006/relationships/slide" Target="/ppt/slides/slide24.xml" Id="Rdd9d816ce6694a79" /><Relationship Type="http://schemas.openxmlformats.org/officeDocument/2006/relationships/slide" Target="/ppt/slides/slide25.xml" Id="R40861a506a7e4514" /><Relationship Type="http://schemas.openxmlformats.org/officeDocument/2006/relationships/slide" Target="/ppt/slides/slide26.xml" Id="R53906bdeebb84498" /><Relationship Type="http://schemas.openxmlformats.org/officeDocument/2006/relationships/slide" Target="/ppt/slides/slide27.xml" Id="Rd6990aa1882048fd" /><Relationship Type="http://schemas.openxmlformats.org/officeDocument/2006/relationships/slide" Target="/ppt/slides/slide28.xml" Id="R0d910b6e60e841b6" /><Relationship Type="http://schemas.openxmlformats.org/officeDocument/2006/relationships/slide" Target="/ppt/slides/slide29.xml" Id="R91577737cdbd498d" /><Relationship Type="http://schemas.openxmlformats.org/officeDocument/2006/relationships/slide" Target="/ppt/slides/slide30.xml" Id="Rc59d3284db114dcc" /><Relationship Type="http://schemas.openxmlformats.org/officeDocument/2006/relationships/slide" Target="/ppt/slides/slide31.xml" Id="Rf820602b8a8a49cc" /><Relationship Type="http://schemas.openxmlformats.org/officeDocument/2006/relationships/slide" Target="/ppt/slides/slide32.xml" Id="Rb36a3903c6364a26" /><Relationship Type="http://schemas.openxmlformats.org/officeDocument/2006/relationships/slide" Target="/ppt/slides/slide33.xml" Id="Rf4a74171f3954700" /><Relationship Type="http://schemas.openxmlformats.org/officeDocument/2006/relationships/slide" Target="/ppt/slides/slide34.xml" Id="Rf606f3c123144a6c" /><Relationship Type="http://schemas.openxmlformats.org/officeDocument/2006/relationships/slide" Target="/ppt/slides/slide35.xml" Id="R570637ec7e2f4088" /><Relationship Type="http://schemas.openxmlformats.org/officeDocument/2006/relationships/slide" Target="/ppt/slides/slide36.xml" Id="Rabd810c03d314ff8" /><Relationship Type="http://schemas.openxmlformats.org/officeDocument/2006/relationships/slide" Target="/ppt/slides/slide37.xml" Id="R0f0d7c8291ab45d9" /><Relationship Type="http://schemas.openxmlformats.org/officeDocument/2006/relationships/slide" Target="/ppt/slides/slide38.xml" Id="Rf8c397f0de8d4a04" /><Relationship Type="http://schemas.openxmlformats.org/officeDocument/2006/relationships/slide" Target="/ppt/slides/slide39.xml" Id="R67a75e64b7ef4fb8" /><Relationship Type="http://schemas.openxmlformats.org/officeDocument/2006/relationships/slide" Target="/ppt/slides/slide40.xml" Id="Rc41ebf77311c4de8" /><Relationship Type="http://schemas.openxmlformats.org/officeDocument/2006/relationships/slide" Target="/ppt/slides/slide41.xml" Id="Rdfd283ad0eb34269" /><Relationship Type="http://schemas.openxmlformats.org/officeDocument/2006/relationships/slide" Target="/ppt/slides/slide42.xml" Id="R18af9478a5f248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3a84b770974f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4a42bc166e4918" /><Relationship Type="http://schemas.openxmlformats.org/officeDocument/2006/relationships/notesMaster" Target="/ppt/notesMasters/notesMaster1.xml" Id="R0918353ca21345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c8f2ed2f51440b" /><Relationship Type="http://schemas.openxmlformats.org/officeDocument/2006/relationships/notesMaster" Target="/ppt/notesMasters/notesMaster1.xml" Id="Rb70c5c9a0d474e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57823c423543d3" /><Relationship Type="http://schemas.openxmlformats.org/officeDocument/2006/relationships/notesMaster" Target="/ppt/notesMasters/notesMaster1.xml" Id="Ra64a4eed1f1a4b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822a45a84c4263" /><Relationship Type="http://schemas.openxmlformats.org/officeDocument/2006/relationships/notesMaster" Target="/ppt/notesMasters/notesMaster1.xml" Id="Rbd29ba6e28464c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fe3d1ee65c4a7a" /><Relationship Type="http://schemas.openxmlformats.org/officeDocument/2006/relationships/notesMaster" Target="/ppt/notesMasters/notesMaster1.xml" Id="Rc4ccb271f4dd45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eb11c198974b54" /><Relationship Type="http://schemas.openxmlformats.org/officeDocument/2006/relationships/notesMaster" Target="/ppt/notesMasters/notesMaster1.xml" Id="R3f45c43a2d774b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f777b7016a4bb9" /><Relationship Type="http://schemas.openxmlformats.org/officeDocument/2006/relationships/notesMaster" Target="/ppt/notesMasters/notesMaster1.xml" Id="Rd619448993624b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55d650c3804f74" /><Relationship Type="http://schemas.openxmlformats.org/officeDocument/2006/relationships/notesMaster" Target="/ppt/notesMasters/notesMaster1.xml" Id="Ra327a57bc54c42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bce31edf8244c7" /><Relationship Type="http://schemas.openxmlformats.org/officeDocument/2006/relationships/notesMaster" Target="/ppt/notesMasters/notesMaster1.xml" Id="R13449ee6233948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fbc4285285470a" /><Relationship Type="http://schemas.openxmlformats.org/officeDocument/2006/relationships/notesMaster" Target="/ppt/notesMasters/notesMaster1.xml" Id="R8c6c44d4c73345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80318aab7e4cc5" /><Relationship Type="http://schemas.openxmlformats.org/officeDocument/2006/relationships/notesMaster" Target="/ppt/notesMasters/notesMaster1.xml" Id="Ree867fb449e746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7ac988a0e34ee5" /><Relationship Type="http://schemas.openxmlformats.org/officeDocument/2006/relationships/notesMaster" Target="/ppt/notesMasters/notesMaster1.xml" Id="Rab184926588e4ad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2cfea71a5849d1" /><Relationship Type="http://schemas.openxmlformats.org/officeDocument/2006/relationships/notesMaster" Target="/ppt/notesMasters/notesMaster1.xml" Id="Ra5cdf0bc515942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be2f5baab384bc9" /><Relationship Type="http://schemas.openxmlformats.org/officeDocument/2006/relationships/notesMaster" Target="/ppt/notesMasters/notesMaster1.xml" Id="Ra6f481188a2549c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bc656242a841c0" /><Relationship Type="http://schemas.openxmlformats.org/officeDocument/2006/relationships/notesMaster" Target="/ppt/notesMasters/notesMaster1.xml" Id="Rc2ff65f80d6146c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29eb9a2e54b416c" /><Relationship Type="http://schemas.openxmlformats.org/officeDocument/2006/relationships/notesMaster" Target="/ppt/notesMasters/notesMaster1.xml" Id="R98954fa1c18a4b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5ae0a9c39746c6" /><Relationship Type="http://schemas.openxmlformats.org/officeDocument/2006/relationships/notesMaster" Target="/ppt/notesMasters/notesMaster1.xml" Id="R40a34f0f692549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27d8357ce4c433f" /><Relationship Type="http://schemas.openxmlformats.org/officeDocument/2006/relationships/notesMaster" Target="/ppt/notesMasters/notesMaster1.xml" Id="R4d54bda76d96427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2881e66d5704bca" /><Relationship Type="http://schemas.openxmlformats.org/officeDocument/2006/relationships/notesMaster" Target="/ppt/notesMasters/notesMaster1.xml" Id="R3240b6f666e1413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85dafc30a0d4c48" /><Relationship Type="http://schemas.openxmlformats.org/officeDocument/2006/relationships/notesMaster" Target="/ppt/notesMasters/notesMaster1.xml" Id="Re3e5eb62a283418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4bba79076734f60" /><Relationship Type="http://schemas.openxmlformats.org/officeDocument/2006/relationships/notesMaster" Target="/ppt/notesMasters/notesMaster1.xml" Id="Rfc8b614921904cf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fd547e69889435b" /><Relationship Type="http://schemas.openxmlformats.org/officeDocument/2006/relationships/notesMaster" Target="/ppt/notesMasters/notesMaster1.xml" Id="R48964ee61688427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dd18100175d4f29" /><Relationship Type="http://schemas.openxmlformats.org/officeDocument/2006/relationships/notesMaster" Target="/ppt/notesMasters/notesMaster1.xml" Id="R070945880e444ba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fe64c0ac2d448f5" /><Relationship Type="http://schemas.openxmlformats.org/officeDocument/2006/relationships/notesMaster" Target="/ppt/notesMasters/notesMaster1.xml" Id="R69d6976e092a474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08ff6fda5f84f39" /><Relationship Type="http://schemas.openxmlformats.org/officeDocument/2006/relationships/notesMaster" Target="/ppt/notesMasters/notesMaster1.xml" Id="Re7399cd0d7d14a5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fbc9e654a444d2b" /><Relationship Type="http://schemas.openxmlformats.org/officeDocument/2006/relationships/notesMaster" Target="/ppt/notesMasters/notesMaster1.xml" Id="Rcabd6e04d88e457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2a5d961cac94354" /><Relationship Type="http://schemas.openxmlformats.org/officeDocument/2006/relationships/notesMaster" Target="/ppt/notesMasters/notesMaster1.xml" Id="R09edec100ede44d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4269ccec4ec438b" /><Relationship Type="http://schemas.openxmlformats.org/officeDocument/2006/relationships/notesMaster" Target="/ppt/notesMasters/notesMaster1.xml" Id="Rc7fd2b1c10f2429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4450747e03947a3" /><Relationship Type="http://schemas.openxmlformats.org/officeDocument/2006/relationships/notesMaster" Target="/ppt/notesMasters/notesMaster1.xml" Id="R7f1b24d233bf421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fbc53e9261a4be2" /><Relationship Type="http://schemas.openxmlformats.org/officeDocument/2006/relationships/notesMaster" Target="/ppt/notesMasters/notesMaster1.xml" Id="Ra3a3ad1882cb474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85aa2b8ddc741cd" /><Relationship Type="http://schemas.openxmlformats.org/officeDocument/2006/relationships/notesMaster" Target="/ppt/notesMasters/notesMaster1.xml" Id="R69cfad502604416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9cc56b901034e8d" /><Relationship Type="http://schemas.openxmlformats.org/officeDocument/2006/relationships/notesMaster" Target="/ppt/notesMasters/notesMaster1.xml" Id="R5b0e681080dc4c8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7b0916d62b44e43" /><Relationship Type="http://schemas.openxmlformats.org/officeDocument/2006/relationships/notesMaster" Target="/ppt/notesMasters/notesMaster1.xml" Id="R3d8b3bd6bfac442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073a853c1974007" /><Relationship Type="http://schemas.openxmlformats.org/officeDocument/2006/relationships/notesMaster" Target="/ppt/notesMasters/notesMaster1.xml" Id="R22c627ab441f4f2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27970cfcb7b4466" /><Relationship Type="http://schemas.openxmlformats.org/officeDocument/2006/relationships/notesMaster" Target="/ppt/notesMasters/notesMaster1.xml" Id="Rf005ff6815c04be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337d07f70a042ea" /><Relationship Type="http://schemas.openxmlformats.org/officeDocument/2006/relationships/notesMaster" Target="/ppt/notesMasters/notesMaster1.xml" Id="Rad664333cf5c433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9b472b2cbb84a6b" /><Relationship Type="http://schemas.openxmlformats.org/officeDocument/2006/relationships/notesMaster" Target="/ppt/notesMasters/notesMaster1.xml" Id="R9d7bb01a3b35419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7e37db44b93475b" /><Relationship Type="http://schemas.openxmlformats.org/officeDocument/2006/relationships/notesMaster" Target="/ppt/notesMasters/notesMaster1.xml" Id="Re444f0d8ff4647e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7105adda1e04323" /><Relationship Type="http://schemas.openxmlformats.org/officeDocument/2006/relationships/notesMaster" Target="/ppt/notesMasters/notesMaster1.xml" Id="R1007bf1b846a4c6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2d0cfd65e4e4eb4" /><Relationship Type="http://schemas.openxmlformats.org/officeDocument/2006/relationships/notesMaster" Target="/ppt/notesMasters/notesMaster1.xml" Id="R2e754d5dae2146c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fb3b5b952534a92" /><Relationship Type="http://schemas.openxmlformats.org/officeDocument/2006/relationships/notesMaster" Target="/ppt/notesMasters/notesMaster1.xml" Id="Rb1764f488ebf46a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f5e9ea36a0d40b1" /><Relationship Type="http://schemas.openxmlformats.org/officeDocument/2006/relationships/notesMaster" Target="/ppt/notesMasters/notesMaster1.xml" Id="R5dd93b59999241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the mathematical lineage, exact project choices and archived results. The magnetic-field experiment and the synthetic sparse-recovery benchmark answer different questions. The presentation uses results already produced in this project, rather than claiming a new experiment or a reproduction of the published numerical tables.</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scientific question is whether a small learned reconstruction procedure can improve the recovery of a sharp magnetic field from a blurred measurement. The ConvLISTA run evaluates a local design on one set of COMSOL fields. ALISTA is a separate controlled benchmark used to investigate how much learning is required when the sensing dictionary is fixed. We must retain this separation throughout the talk.</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experiment reconstructs the signed Bx, By and Bz fields at 0.5 micrometres using corresponding measurements at 3 micrometres. Each component has 1400 by 1400 pixels at a 0.1 micrometre pitch. A predicts how the sharp field produces the measurement. The current transfer H is empirically fitted from paired COMSOL fields. Calling this a fixed physics operator during training must not imply that it is an independently known exact analytical propagation model.</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half-squared data term encourages a predicted measurement Ax to agree with b. The L1 penalty encourages entries of x itself to be zero and also shrinks retained values. This is a modelling assumption, not a measured fact about magnetic-field sparsity. The objective supplies a clear baseline, although minimizing it need not minimize error relative to the sharp COMSOL target.</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Differentiate only the smooth data term: the gradient is A*(Ax-b). Apply a gradient step, then the proximal operator of alpha lambda times the L1 norm. This proximal operator is elementwise soft thresholding. Our fixed step is 0.99 divided by max absolute H squared, an upper bound on the squared operator norm. Crop and zero-padding are nonexpansive, which justifies the bound for the underlying ISTA step.</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evaluates the soft-threshold function at theta equal to one. It is a deterministic illustration, not experimental data. Values between minus one and one become zero. Larger values retain their signs but lose one unit of magnitude. This explains why repeated shrinkage can bias the amplitudes of true nonzero coefficients. Support selection later addresses this bias for a selected set of entries.</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Expanding the ISTA update yields a linear map applied to the current state and a second linear map applied to the observation, followed by a nonlinear threshold. Gregor and LeCun unfolded a finite sequence of such operations and trained maps and thresholds to approximate sparse codes produced by an optimizer. Their paper supplies the learned-iteration idea. Our project later changes both the map parameterization and the supervision target.</a:t>
            </a:r>
          </a:p>
          <a:p xmlns:a="http://schemas.openxmlformats.org/drawingml/2006/main">
            <a:r>
              <a:t/>
            </a:r>
          </a:p>
          <a:p xmlns:a="http://schemas.openxmlformats.org/drawingml/2006/main">
            <a:r>
              <a:t>Sources</a:t>
            </a:r>
          </a:p>
          <a:p xmlns:a="http://schemas.openxmlformats.org/drawingml/2006/main">
            <a:r>
              <a:t>Gregor, K. and LeCun, Y. (2010). Learning Fast Approximations of Sparse Coding. ICML. https://icml.cc/Conferences/2010/papers/449.pdf</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1400 by 1400 image has 1,960,000 entries. A single unrestricted square linear map on this space needs 3,841,600,000,000 weights. Float32 storage alone is approximately 15.37 decimal terabytes. Two such maps would need approximately 30.73 TB, before gradients or optimizer states. This calculation motivates structure such as convolutions, but does not imply convolution is the only possible structure. Fixed Fourier operators already avoid dense storage in the current pipeline.</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derivation. Define the learned LISTA maps as the fixed ISTA maps plus convolutional corrections. Substitution gives the project equation exactly. Algebra explains how the equation relates to LISTA, while the additive convolutional parameterization remains a design choice. The original L1 objective does not require these additional terms. The project documentation records this choice explicitly.</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correction uses the unchanged measurement, so the implementation computes it once per forward pass. The state correction acts on the current reconstruction at every layer. Both are learned linear maps before the nonlinear threshold. Descriptions such as sharpening or artifact removal are hypotheses about what the filters may learn, not established properties of their learned coefficients. A residual term in the network does not enforce exact final data consistency.</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defines two bias-free Conv2d layers, each with one input channel, one output channel and a 9 by 9 kernel. PyTorch uses cross-correlation for Conv2d, which is harmless for freely learned coefficients. Weights are tied across depth and the threshold is one shared nonnegative scalar. The default depth is eight, whereas the archived reported run used sixteen. The component images form a batch, rather than a three-channel vector field.</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convolution filters initialize to zero and the threshold initializes to alpha lambda. This makes every initial layer exactly ISTA, including the padded boundaries. Training minimizes final-layer MSE against the sharp COMSOL fields after consistent normalization. Adam updates the filters and threshold. The implementation clips the gradient norm to one, projects the threshold to nonnegative values, and chooses the best checkpoint using post-update training MSE. It has no held-out validation selection in this magnetic experiment.</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 commit 86a0907ff6bc7f8f67f599280f04a9a27858dfe7, dated 24 September 2026, introduced the implementation and its document. The original document cites Gregor and LeCun and already describes a structured convolutional reconstruction variant. Sreter and Giryes provide related convolutional LISTA literature, but no evidence in the reviewed project history identifies that paper as the direct source of this exact block. Their encoder and convolutional decoder also differ from our direct field-image state. This is a defensible adaptation, without an established novelty claim.</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Gregor, K. and LeCun, Y. (2010). Learning Fast Approximations of Sparse Coding. ICML. https://icml.cc/Conferences/2010/papers/449.pdf</a:t>
            </a:r>
          </a:p>
          <a:p xmlns:a="http://schemas.openxmlformats.org/drawingml/2006/main">
            <a:r>
              <a:t/>
            </a:r>
          </a:p>
          <a:p xmlns:a="http://schemas.openxmlformats.org/drawingml/2006/main">
            <a:r>
              <a:t>Sreter, H. and Giryes, R. (2018). Learned Convolutional Sparse Coding. ICASSP. https://arxiv.org/abs/1711.00328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a strong initial reference point, few trainable weights and explicit use of the fitted forward model. These are reasons to test it. They are not proofs that the learned system is stable or that it recovers information lost by the forward operator. Arbitrary learned corrections can change effective gain and fixed points. The ISTA step-size bound only guarantees the underlying base step under its usual assumptions. The final trained block is not constrained to minimize the original objective or to be contractive.</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settings come from metrics-2.json, the archived run dated 24 September, rather than the later epsilon-stopping pipeline. The model used sixteen layers, two tied 9 by 9 filters, 200 epochs, Adam learning rate 1e-4 and blurred-image initialization. The baseline physical lambda was 1e-4. Training used two T4 GPUs but inference timing used one GPU for the three-image batch. All three sharp component images supervised training and helped fit H. This is a same-sample fitting experiment.</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plotted numbers are relative L2 reconstruction error in percent. For Bx, By and Bz respectively, ISTA16 yields 61.9211, 62.1335 and 64.6125 percent. FISTA16 yields 48.9948, 50.1595 and 52.6459 percent. The trained ConvLISTA yields 42.1482, 43.9495 and 48.4433 percent. This supports a limited-depth improvement on the same training fields. The network also has supervised access to the sharp references and each learned layer costs more than a baseline iteration.</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complete table includes both short and longer fixed-budget baselines. ISTA500 improves on ConvLISTA for every field component. FISTA500 improves on ConvLISTA for Bz but is worse for Bx and By. More objective optimization need not monotonically improve reference-field reconstruction when the objective, regularizer or forward model is imperfect. The archived 500-step methods are fixed-budget runs, not a claim of exact convergence.</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Times are synchronized median inference for the three-component batch on the same single GPU. Values in the CSV are 0.417535778 seconds for ISTA16, 0.431067230 seconds for FISTA16 and 0.459688001 seconds for ConvLISTA16. The learned method performs the original physics operations plus convolutional corrections, explaining the modest overhead at equal depth. ISTA500 and FISTA500 take approximately 13.07 and 13.49 seconds. No training time or kernel fitting time is included in these inference measurements.</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image is the original reconstruction figure from the archived experiment, embedded without changing its data or display ranges. Rows show Bx, By and Bz. Columns show the observation, sharp reference, ISTA500, ConvLISTA16 and FISTA500. The original figure uses a shared display range within each row. It supports qualitative inspection, while error tables carry the quantitative comparisons. Visible smoothness is not itself proof of accurate amplitudes. Iteration counts differ in this figure, and all methods use the operator fitted from the same paired data.</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/Users/abhay/Desktop/bsp/learning_ker/notebooks/runs_results/reconstructions-2.png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Bz, ConvLISTA has relative L2 error 48.4433 percent and objective 4,014,342.75. FISTA16 has relative L2 error 52.6459 percent and objective 2,999,860.75. Thus the method with the smaller optimization objective has the larger sharp-reference error. This is consistent with different training and evaluation targets. Range NRMSE divides RMSE by the reference range, whereas relative L2 divides the error norm by the reference norm. Bz ConvLISTA range NRMSE is 2.86065 percent, which cannot be interpreted as 97.14 percent accuracy.</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defensible conclusion is that the learned correction architecture improves limited-depth reconstruction on the same fields used for fitting. There is no independent validation or test set for this run. The reference fields also fit H, meaning the operator itself already uses information from the evaluation pair. New measurements, heights or geometries require a separate evaluation protocol and may require a different forward operator. A low number of trainable parameters does not remove this generalization question.</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ALISTA asks whether the main weight matrix needs data-driven learning at all. It computes a suitable weight from the fixed sensing dictionary, then trains a step size and a threshold at each layer. This is valuable scientifically because it separates operator-dependent structure from learned scalar tuning. In our project it provides a controlled sparse-recovery benchmark. It is not selected because our existing ConvLISTA already has an excessive number of trainable parameters: that model has only 163.</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D for the ALISTA dictionary to avoid confusing it with the magnetic forward operator A. D has N rows and M columns, with unit-norm columns. The benchmark uses N=250 and M=500. x is a sparse coefficient vector, rather than a full magnetic field image. Approximately ten percent of entries are nonzero under the Bernoulli-Gaussian generator. Many vectors can explain an underdetermined measurement, so the sparsity assumption helps select a solution.</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noiseless model b=Dx*, before thresholding, u=x+gamma W transpose times (b-Dx). Subtract x* to obtain u-x*=(I-gamma W transpose D)(x-x*). This identity reveals how the matrix mixes coordinate errors. Its diagonal controls each coordinate response, while off-diagonal entries transfer error between coordinates. A fat dictionary cannot generally make W transpose D equal the identity over all M coordinates. ALISTA uses sparsity and low cross-coordinate interference rather than assuming a full inverse.</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implemented target is Equation 16: minimize the squared Frobenius norm of W transpose D subject to d_j transpose w_j equal one for every column. The constraints fix the diagonal of W transpose D to one, so minimizing the full norm minimizes the sum of squared off-diagonal entries plus a constant. This quadratic formulation is related to the paper’s coherence motivation, but should not be conflated with an identical minimax coherence objective. No training signals enter this optimization. The implementation checks feasibility and constrained stationarity.</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Equation 15 fixes the computed W and the sensing dictionary D, then learns gamma_k and theta_k per layer. x0 is zero. Our sixteen-layer models therefore have thirty-two trainable scalars. This count excludes fixed buffers: D and W each contain 125,000 float32 entries, or a combined one million bytes. Thresholds are nonnegative in our implementation. Learned step sizes are not bounded by an additional convergence restriction, so theoretical results do not imply arbitrary trained scalars are guaranteed to converge.</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support of a vector is the index set of its nonzero entries. Support selection in this context protects a selected set of large candidate entries from shrinkage. Entries outside the selected set still undergo ordinary soft thresholding, so this is not equivalent to keeping only the largest entries and zeroing everything else. This toy example sets theta to one and explicitly protects the two largest magnitudes. It illustrates the mechanism rather than the exact percentile rank behavior of the released code.</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explicit ALISTA-SS option uses the authors’ released schedule with percentage min(1.2 times k,13), where layer numbering begins at one. Selection compares each magnitude strictly against both theta and a nearest-percentile cutoff. The implementation preserves TensorFlow 1.12 descending-sort and ties-to-even rank rounding. Ties at the cutoff are not protected, so the percentage does not always give an exact count. Protecting large false entries can preserve errors, especially when assumptions about sparsity or noise fail.</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separates analytic weight computation, the model, data generation, training and evaluation. Stage one uses the same constrained quadratic as Equation 16, with projected gradient descent or an independent SVD solution. The paper appendix has a projection-direction discrepancy: projecting onto d_j transpose w_j equal one requires the direction d_j, which agrees with the released MATLAB implementation. We retain equation fidelity and document numerical and training choices, rather than claim a bitwise reproduction. The local suite previously completed 55 passes and one unavailable two-GPU skip, including all 22 ALISTA tests.</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experiment uses a fixed normalized Gaussian dictionary of shape 250 by 500, Bernoulli-Gaussian coefficients with nonzero probability 0.1, noiseless measurements and seed zero. It uses sixteen layers, fresh training batches of 64, one thousand validation samples and one thousand independent test samples. Training uses three stages at each depth with two hundred updates per stage, for a maximum 9600 updates. This is a bounded local run, much shorter than the authors’ maximum budget, and not a reproduction of the paper’s reported tables.</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native chart uses actual aggregate test NMSE in decibels, not an inverted score. More negative values mean lower error, so the best bars extend further downward. Plain ALISTA is -28.0063 dB, ALISTA with support selection is -54.6781 dB, learned ISTA is -12.1351 dB, ISTA16 is -6.2607 dB, FISTA16 is -10.9823 dB, ISTA500 is -22.2125 dB and FISTA500 is -55.3376 dB. The next slide supplies exact rounded values and the norm-error interpretation.</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NMSE is the total squared prediction error divided by total squared ground-truth energy across the test set. The reported dB value is ten log10 NMSE. The relative norm error shown here is one hundred times the square root of aggregate NMSE, equivalently one hundred times ten raised to dB/20. It is not an average of per-example relative errors. ALISTA-SS gives approximately 0.1845 percent aggregate relative norm error, versus 0.1710 percent for FISTA500. These percentages are errors, not accuracy scores.</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learned-ISTA control uses W=D, learns the same two scalars per layer and starts with the ISTA step. Its sixteen-layer NMSE is -12.1351 dB, while plain ALISTA reaches -28.0063 dB. The difference is approximately 15.87 dB, or a factor of 38.65 in squared error. This supports the usefulness of the analytic map under this fixed dictionary and training protocol. Because the methods use different initial maps and steps and only one seed, it does not prove a universal advantage or isolate every optimization factor. Support selection produces a further large improvement in this noiseless sparse regime.</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timings on this slide are median inference for a batch of one thousand test examples, CPU with one thread, after warmup and excluding metrics and disk I/O. Plain ALISTA16 takes 24.8584 ms, ALISTA-SS16 takes 335.6716 ms, and FISTA500 takes 793.0289 ms. Thus ALISTA-SS is approximately 13.5 times slower than plain ALISTA in this implementation, and about 2.36 times faster than FISTA500. Sorting or ranking entries for support selection adds work. Do not compare these milliseconds with the full-resolution GPU field timings. Concurrent training makes training wall times unsuitable for speed comparisons.</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result demonstrates that the implemented pipeline can recover independent sparse signals under one fixed dictionary. It also demonstrates an accuracy and runtime trade-off across plain ALISTA, support selection and longer iterative baselines. It does not establish robustness to noise, changes in sparsity, new dictionaries or the magnetic forward model. Baseline lambda values were selected independently for each method and budget using validation data and a declared finite grid. FISTA500 is a fixed-budget reference rather than a certified optimum. The experiment is deliberately short relative to the authors’ maximum training budget.</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architecture comparison is meaningful, while a direct ranking of their numerical errors is not. ConvLISTA updates a magnetic image directly, retains a padded FFT operator and learns two tied local maps plus a threshold. ALISTA updates a sparse coefficient vector, uses a dense analytic W computed for D, and learns two scalars per layer. Training targets, datasets, metrics, devices and batch sizes differ. No result in this deck shows that ALISTA outperforms ConvLISTA on the same magnetic task.</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plausible route introduces a justified sparse representation x=Psi z and applies sparse recovery to z with effective operator D=A Psi. This is a research direction, not an implemented field method. It requires handling normalization and coefficient units, respecting the pad/crop boundaries and constructing W without forming huge dense matrices. The ALISTA paper has a convolutional formulation, but our current implementation is the dense sparse-recovery branch. A compact convolutional dictionary should not silently replace the long-range magnetic propagation operator. If a square D is invertible, unrestricted Equation 16 can produce W transpose equal D inverse, which may amplify noise.</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priority is controlled evaluation rather than collecting method names. Split by independent simulations or geometries where possible. Fit the operator on the training or calibration partition, then keep it fixed for the appropriate test setting. Compare fixed ISTA, learned scalar parameters, input correction only, state correction only and both correction branches. Match validation effort, report measured latency and peak memory, and include noise and multiple seeds. HyperLISTA can later test adaptive scalar choices on the same sparse benchmark, but it does not answer the missing magnetic representation question.</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conclusions supported by the current work. The convolutional architecture has a clear derivation as a structured parameterization of LISTA maps and exact ISTA initialization. The archived field experiment supports finite-depth fitting benefits, not held-out generalization. The separate dense ALISTA implementation follows the defining analytic optimization and scalar update, with a successful independent synthetic test. None of these points establish that the overall architecture is optimal. The next thesis contribution should connect justified representation, accurate operator construction and held-out evaluation.</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slide-specific sources appear in the speaker notes. The repository experiment files contain full-precision values, configurations and provenance. The field figures and table come from the archived sixteen-layer run, before the later epsilon-based stopping revision. The ALISTA values come from comparison_verified, which records evaluation after the support-percentile edge-case correction. All saved predictions for this particular schedule remained identical to the earlier comparison. This deck reports existing results and does not claim new training.</a:t>
            </a:r>
          </a:p>
          <a:p xmlns:a="http://schemas.openxmlformats.org/drawingml/2006/main">
            <a:r>
              <a:t/>
            </a:r>
          </a:p>
          <a:p xmlns:a="http://schemas.openxmlformats.org/drawingml/2006/main">
            <a:r>
              <a:t>Sources</a:t>
            </a:r>
          </a:p>
          <a:p xmlns:a="http://schemas.openxmlformats.org/drawingml/2006/main">
            <a:r>
              <a:t>Gregor, K. and LeCun, Y. (2010). Learning Fast Approximations of Sparse Coding. ICML. https://icml.cc/Conferences/2010/papers/449.pdf</a:t>
            </a:r>
          </a:p>
          <a:p xmlns:a="http://schemas.openxmlformats.org/drawingml/2006/main">
            <a:r>
              <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Sreter, H. and Giryes, R. (2018). Learned Convolutional Sparse Coding. ICASSP. https://arxiv.org/abs/1711.00328</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full-row-rank dictionary, define G=D D transpose. The objective separates over columns of W into w_j transpose G w_j. Apply a Lagrange multiplier to the constraint d_j transpose w_j equal one. Stationarity gives G w_j proportional to d_j, and normalization gives w_j=G inverse d_j divided by d_j transpose G inverse d_j. A pseudoinverse supplies a valid normalized solution for rank-deficient dictionaries under the applicable range conditions, since columns of D lie in range(G). Our independent SVD solver implements the same quadratic problem without adding ridge regularization. This appendix explains why the weights are analytic even when we compute them numerically.</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ConvLISTA source defaults to eight layers, while the cited archived result uses sixteen. The magnetic operator is empirically fitted from the same paired fields, and the original comparison uses sixteen and five hundred fixed iterations. The current code later added epsilon stopping, so those protocols must not be conflated. The ALISTA experiment uses one seed, one dictionary and noiseless data with two hundred updates per training stage. Its test stream is independent of both training and validation streams. It follows the defining equations and records deliberate deviations from the released training implementation. Checkpoints and result files record source hashes.</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03b7f8ec23451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a0c52e8881148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e093a66b694d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63767ec50a49f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dc847359714d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befbebf31b942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EAD1E7-BFD5-48DA-9874-57A3B7CD7A6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454793-3466-451D-870D-01B93614842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5C73781-8B13-4B2E-AF04-DE71170AD7B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E1A17D-4BBE-4E3B-B257-C9727F0AE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9ACE989-4B1C-4BBA-8FBD-B241EC35404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A035967-0B48-4670-B86C-478EBB11EB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FA06E7-644B-495B-8565-B6BA2B3C27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65A5EFE-4232-433A-BE54-12765DB5503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A83746-B958-4700-BE7E-9968E44DFD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5AD9E3-54CC-43CE-B1F4-37B4AEF43F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f89af014b14418" /><Relationship Type="http://schemas.openxmlformats.org/officeDocument/2006/relationships/slideLayout" Target="/ppt/slideLayouts/slideLayout1.xml" Id="Raec94e825f4b401a" /><Relationship Type="http://schemas.openxmlformats.org/officeDocument/2006/relationships/slideLayout" Target="/ppt/slideLayouts/slideLayout2.xml" Id="Rc78dc294fb694ac2" /><Relationship Type="http://schemas.openxmlformats.org/officeDocument/2006/relationships/slideLayout" Target="/ppt/slideLayouts/slideLayout3.xml" Id="Re4faace7a35b43d4" /><Relationship Type="http://schemas.openxmlformats.org/officeDocument/2006/relationships/slideLayout" Target="/ppt/slideLayouts/slideLayout4.xml" Id="R2276cea0078242d2" /><Relationship Type="http://schemas.openxmlformats.org/officeDocument/2006/relationships/slideLayout" Target="/ppt/slideLayouts/slideLayout5.xml" Id="Rd702c038717a4b96" /><Relationship Type="http://schemas.openxmlformats.org/officeDocument/2006/relationships/slideLayout" Target="/ppt/slideLayouts/slideLayout6.xml" Id="Rc1bbb0cb831a43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c94e825f4b401a"/>
    <p:sldLayoutId xmlns:r="http://schemas.openxmlformats.org/officeDocument/2006/relationships" id="2147483650" r:id="Rc78dc294fb694ac2"/>
    <p:sldLayoutId xmlns:r="http://schemas.openxmlformats.org/officeDocument/2006/relationships" id="2147483651" r:id="Re4faace7a35b43d4"/>
    <p:sldLayoutId xmlns:r="http://schemas.openxmlformats.org/officeDocument/2006/relationships" id="2147483652" r:id="R2276cea0078242d2"/>
    <p:sldLayoutId xmlns:r="http://schemas.openxmlformats.org/officeDocument/2006/relationships" id="2147483653" r:id="Rd702c038717a4b96"/>
    <p:sldLayoutId xmlns:r="http://schemas.openxmlformats.org/officeDocument/2006/relationships" id="2147483654" r:id="Rc1bbb0cb831a43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3753de51a54e84" /><Relationship Type="http://schemas.openxmlformats.org/officeDocument/2006/relationships/notesSlide" Target="/ppt/notesSlides/notesSlide1.xml" Id="R8566f6d686b442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32b7df1f1c54455" /><Relationship Type="http://schemas.openxmlformats.org/officeDocument/2006/relationships/notesSlide" Target="/ppt/notesSlides/notesSlide2.xml" Id="R552a4711f5c842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c9787546db346c3" /><Relationship Type="http://schemas.openxmlformats.org/officeDocument/2006/relationships/notesSlide" Target="/ppt/notesSlides/notesSlide3.xml" Id="Re72e7718202344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69ec6b997b94074" /><Relationship Type="http://schemas.openxmlformats.org/officeDocument/2006/relationships/notesSlide" Target="/ppt/notesSlides/notesSlide4.xml" Id="Rc72b6bde32d945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3381d3e7ec74d25" /><Relationship Type="http://schemas.openxmlformats.org/officeDocument/2006/relationships/notesSlide" Target="/ppt/notesSlides/notesSlide5.xml" Id="Re7e1011de33b42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7c7fbf1662b459d" /><Relationship Type="http://schemas.openxmlformats.org/officeDocument/2006/relationships/chart" Target="/ppt/slides/charts/chart1.xml" Id="Rf3dca55497f747af" /><Relationship Type="http://schemas.openxmlformats.org/officeDocument/2006/relationships/notesSlide" Target="/ppt/notesSlides/notesSlide6.xml" Id="Rff7fd52336714c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4e90fcb37104878" /><Relationship Type="http://schemas.openxmlformats.org/officeDocument/2006/relationships/notesSlide" Target="/ppt/notesSlides/notesSlide7.xml" Id="R2bb0595a94cb49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c9f1041e6144c8d" /><Relationship Type="http://schemas.openxmlformats.org/officeDocument/2006/relationships/notesSlide" Target="/ppt/notesSlides/notesSlide8.xml" Id="R7cdb4fd92b004f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a057b1410144de4" /><Relationship Type="http://schemas.openxmlformats.org/officeDocument/2006/relationships/notesSlide" Target="/ppt/notesSlides/notesSlide9.xml" Id="Re6ed91e91d0045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f3ed48f50424606" /><Relationship Type="http://schemas.openxmlformats.org/officeDocument/2006/relationships/notesSlide" Target="/ppt/notesSlides/notesSlide10.xml" Id="Rfdab8997d4674f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15a3f791a89497b" /><Relationship Type="http://schemas.openxmlformats.org/officeDocument/2006/relationships/notesSlide" Target="/ppt/notesSlides/notesSlide11.xml" Id="Rda156e5d6d4c4d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59a802e3da444ee" /><Relationship Type="http://schemas.openxmlformats.org/officeDocument/2006/relationships/notesSlide" Target="/ppt/notesSlides/notesSlide12.xml" Id="R72525d95678a475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03c1da9187a45bc" /><Relationship Type="http://schemas.openxmlformats.org/officeDocument/2006/relationships/notesSlide" Target="/ppt/notesSlides/notesSlide13.xml" Id="R2cf9911bb4234ca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3bdf53bc26948e6" /><Relationship Type="http://schemas.openxmlformats.org/officeDocument/2006/relationships/notesSlide" Target="/ppt/notesSlides/notesSlide14.xml" Id="R474412420e2d42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7b12bd1f5094033" /><Relationship Type="http://schemas.openxmlformats.org/officeDocument/2006/relationships/notesSlide" Target="/ppt/notesSlides/notesSlide15.xml" Id="R9e12367abd6643f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2e442d327854601" /><Relationship Type="http://schemas.openxmlformats.org/officeDocument/2006/relationships/chart" Target="/ppt/slides/charts/chart2.xml" Id="Rb613bcbb74544d23" /><Relationship Type="http://schemas.openxmlformats.org/officeDocument/2006/relationships/notesSlide" Target="/ppt/notesSlides/notesSlide16.xml" Id="Rc690ff2fc3ee4c6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adf3702b93a4a38" /><Relationship Type="http://schemas.openxmlformats.org/officeDocument/2006/relationships/notesSlide" Target="/ppt/notesSlides/notesSlide17.xml" Id="R540a4fb342e545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a2933ae8fac40b7" /><Relationship Type="http://schemas.openxmlformats.org/officeDocument/2006/relationships/chart" Target="/ppt/slides/charts/chart3.xml" Id="Rb1400897a00b4114" /><Relationship Type="http://schemas.openxmlformats.org/officeDocument/2006/relationships/notesSlide" Target="/ppt/notesSlides/notesSlide18.xml" Id="Rabc0ee91ee4848d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89e7b07203b4d19" /><Relationship Type="http://schemas.openxmlformats.org/officeDocument/2006/relationships/image" Target="/ppt/media/image.png" Id="R191ed0f866664fb2" /><Relationship Type="http://schemas.openxmlformats.org/officeDocument/2006/relationships/notesSlide" Target="/ppt/notesSlides/notesSlide19.xml" Id="R535b70cb9bb743b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2003103c71c44dd" /><Relationship Type="http://schemas.openxmlformats.org/officeDocument/2006/relationships/notesSlide" Target="/ppt/notesSlides/notesSlide20.xml" Id="R33df2b3a7734408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c4febb2d1b64fbe" /><Relationship Type="http://schemas.openxmlformats.org/officeDocument/2006/relationships/notesSlide" Target="/ppt/notesSlides/notesSlide21.xml" Id="Rd443742316394d1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12b3988854f469a" /><Relationship Type="http://schemas.openxmlformats.org/officeDocument/2006/relationships/notesSlide" Target="/ppt/notesSlides/notesSlide22.xml" Id="R6626f881fad3428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98aa2e675694a82" /><Relationship Type="http://schemas.openxmlformats.org/officeDocument/2006/relationships/notesSlide" Target="/ppt/notesSlides/notesSlide23.xml" Id="R190da67a1e44480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4fb3dcd11164117" /><Relationship Type="http://schemas.openxmlformats.org/officeDocument/2006/relationships/notesSlide" Target="/ppt/notesSlides/notesSlide24.xml" Id="R49a3f5497801446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b3ac0ed7d2e4cf3" /><Relationship Type="http://schemas.openxmlformats.org/officeDocument/2006/relationships/notesSlide" Target="/ppt/notesSlides/notesSlide25.xml" Id="R93738271b72c409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7ba486659fc4d6a" /><Relationship Type="http://schemas.openxmlformats.org/officeDocument/2006/relationships/notesSlide" Target="/ppt/notesSlides/notesSlide26.xml" Id="R5486730fa00642f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03914f70c7249b8" /><Relationship Type="http://schemas.openxmlformats.org/officeDocument/2006/relationships/notesSlide" Target="/ppt/notesSlides/notesSlide27.xml" Id="R8816fbee44fb499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88440b6aeba4dc2" /><Relationship Type="http://schemas.openxmlformats.org/officeDocument/2006/relationships/notesSlide" Target="/ppt/notesSlides/notesSlide28.xml" Id="R5e61826a6fb5462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101a0ebd1824537" /><Relationship Type="http://schemas.openxmlformats.org/officeDocument/2006/relationships/notesSlide" Target="/ppt/notesSlides/notesSlide29.xml" Id="Reae89c80e2e04b8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abca9b3fccd4224" /><Relationship Type="http://schemas.openxmlformats.org/officeDocument/2006/relationships/notesSlide" Target="/ppt/notesSlides/notesSlide30.xml" Id="R0fa58b6707bd4ff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c6454208b6445be" /><Relationship Type="http://schemas.openxmlformats.org/officeDocument/2006/relationships/chart" Target="/ppt/slides/charts/chart4.xml" Id="Rddaade6876f94c7d" /><Relationship Type="http://schemas.openxmlformats.org/officeDocument/2006/relationships/notesSlide" Target="/ppt/notesSlides/notesSlide31.xml" Id="R97975a6bd36a44e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0bee24ede204d1e" /><Relationship Type="http://schemas.openxmlformats.org/officeDocument/2006/relationships/notesSlide" Target="/ppt/notesSlides/notesSlide32.xml" Id="R02af355acaca449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3552efcc1c64452" /><Relationship Type="http://schemas.openxmlformats.org/officeDocument/2006/relationships/notesSlide" Target="/ppt/notesSlides/notesSlide33.xml" Id="R1d71c437fbe7403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23b98380aeb41d8" /><Relationship Type="http://schemas.openxmlformats.org/officeDocument/2006/relationships/chart" Target="/ppt/slides/charts/chart5.xml" Id="R1fd5c34b1a624f73" /><Relationship Type="http://schemas.openxmlformats.org/officeDocument/2006/relationships/notesSlide" Target="/ppt/notesSlides/notesSlide34.xml" Id="R0acb1a21ae6146b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672212fda0f421f" /><Relationship Type="http://schemas.openxmlformats.org/officeDocument/2006/relationships/notesSlide" Target="/ppt/notesSlides/notesSlide35.xml" Id="R98dfee05f5b5423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0e9474cf00c4739" /><Relationship Type="http://schemas.openxmlformats.org/officeDocument/2006/relationships/notesSlide" Target="/ppt/notesSlides/notesSlide36.xml" Id="Raf635f15d85e481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a151a3be19b4dae" /><Relationship Type="http://schemas.openxmlformats.org/officeDocument/2006/relationships/notesSlide" Target="/ppt/notesSlides/notesSlide37.xml" Id="R0793c6f4cd90404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9c3c04b0b9b45a6" /><Relationship Type="http://schemas.openxmlformats.org/officeDocument/2006/relationships/notesSlide" Target="/ppt/notesSlides/notesSlide38.xml" Id="R7dbe949fd8f74bd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8749cd578454380" /><Relationship Type="http://schemas.openxmlformats.org/officeDocument/2006/relationships/notesSlide" Target="/ppt/notesSlides/notesSlide39.xml" Id="R69c34b4f1d63471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ebb28441bc76481b" /><Relationship Type="http://schemas.openxmlformats.org/officeDocument/2006/relationships/notesSlide" Target="/ppt/notesSlides/notesSlide40.xml" Id="R2812aa5ecc4f4db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7ebd55ca38be4ea4" /><Relationship Type="http://schemas.openxmlformats.org/officeDocument/2006/relationships/notesSlide" Target="/ppt/notesSlides/notesSlide41.xml" Id="R688bce4c0d69411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22afcaa41ed46aa" /><Relationship Type="http://schemas.openxmlformats.org/officeDocument/2006/relationships/notesSlide" Target="/ppt/notesSlides/notesSlide42.xml" Id="Rfe0c17925dda4cf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Input</c:v>
          </c:tx>
          <c:spPr>
            <a:ln xmlns:a="http://schemas.openxmlformats.org/drawingml/2006/main" w="28575">
              <a:solidFill>
                <a:srgbClr val="AAB7BE"/>
              </a:solidFill>
            </a:ln>
          </c:spPr>
          <c:marker>
            <c:symbol val="none"/>
          </c:marker>
          <c:cat>
            <c:strRef>
              <c:f>'Chart Data'!$A$2:$A$8</c:f>
              <c:strCache>
                <c:ptCount val="7"/>
                <c:pt idx="0">
                  <c:v>−3</c:v>
                </c:pt>
                <c:pt idx="1">
                  <c:v>−2</c:v>
                </c:pt>
                <c:pt idx="2">
                  <c:v>−1</c:v>
                </c:pt>
                <c:pt idx="3">
                  <c:v>0</c:v>
                </c:pt>
                <c:pt idx="4">
                  <c:v>1</c:v>
                </c:pt>
                <c:pt idx="5">
                  <c:v>2</c:v>
                </c:pt>
                <c:pt idx="6">
                  <c:v>3</c:v>
                </c:pt>
              </c:strCache>
            </c:strRef>
          </c:cat>
          <c:val>
            <c:numRef>
              <c:f>'Chart Data'!$B$2:$B$8</c:f>
              <c:numCache>
                <c:formatCode>0</c:formatCode>
                <c:ptCount val="7"/>
                <c:pt idx="0">
                  <c:v>-3</c:v>
                </c:pt>
                <c:pt idx="1">
                  <c:v>-2</c:v>
                </c:pt>
                <c:pt idx="2">
                  <c:v>-1</c:v>
                </c:pt>
                <c:pt idx="3">
                  <c:v>0</c:v>
                </c:pt>
                <c:pt idx="4">
                  <c:v>1</c:v>
                </c:pt>
                <c:pt idx="5">
                  <c:v>2</c:v>
                </c:pt>
                <c:pt idx="6">
                  <c:v>3</c:v>
                </c:pt>
              </c:numCache>
            </c:numRef>
          </c:val>
          <c:smooth val="0"/>
        </c:ser>
        <c:ser>
          <c:idx val="1"/>
          <c:order val="1"/>
          <c:tx>
            <c:v>Soft threshold, θ = 1</c:v>
          </c:tx>
          <c:spPr>
            <a:ln xmlns:a="http://schemas.openxmlformats.org/drawingml/2006/main" w="38100">
              <a:solidFill>
                <a:srgbClr val="087F8C"/>
              </a:solidFill>
            </a:ln>
          </c:spPr>
          <c:marker>
            <c:symbol val="none"/>
          </c:marker>
          <c:cat>
            <c:strRef>
              <c:f>'Chart Data'!$C$2:$C$8</c:f>
              <c:strCache>
                <c:ptCount val="7"/>
                <c:pt idx="0">
                  <c:v>−3</c:v>
                </c:pt>
                <c:pt idx="1">
                  <c:v>−2</c:v>
                </c:pt>
                <c:pt idx="2">
                  <c:v>−1</c:v>
                </c:pt>
                <c:pt idx="3">
                  <c:v>0</c:v>
                </c:pt>
                <c:pt idx="4">
                  <c:v>1</c:v>
                </c:pt>
                <c:pt idx="5">
                  <c:v>2</c:v>
                </c:pt>
                <c:pt idx="6">
                  <c:v>3</c:v>
                </c:pt>
              </c:strCache>
            </c:strRef>
          </c:cat>
          <c:val>
            <c:numRef>
              <c:f>'Chart Data'!$D$2:$D$8</c:f>
              <c:numCache>
                <c:formatCode>0</c:formatCode>
                <c:ptCount val="7"/>
                <c:pt idx="0">
                  <c:v>-2</c:v>
                </c:pt>
                <c:pt idx="1">
                  <c:v>-1</c:v>
                </c:pt>
                <c:pt idx="2">
                  <c:v>0</c:v>
                </c:pt>
                <c:pt idx="3">
                  <c:v>0</c:v>
                </c:pt>
                <c:pt idx="4">
                  <c:v>0</c:v>
                </c:pt>
                <c:pt idx="5">
                  <c:v>1</c:v>
                </c:pt>
                <c:pt idx="6">
                  <c:v>2</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3"/>
          <c:min val="-3"/>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Output value</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52B3B"/>
              </a:solidFill>
              <a:latin typeface="Arial"/>
              <a:ea typeface="Arial"/>
              <a:cs typeface="Arial"/>
            </a:defRPr>
          </a:pPr>
        </a:p>
      </c:txPr>
    </c:legend>
    <c:plotVisOnly val="1"/>
  </c:chart>
  <c:spPr>
    <a:solidFill xmlns:a="http://schemas.openxmlformats.org/drawingml/2006/main">
      <a:srgbClr val="F7F7F2"/>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ISTA 16</c:v>
          </c:tx>
          <c:spPr>
            <a:solidFill xmlns:a="http://schemas.openxmlformats.org/drawingml/2006/main">
              <a:srgbClr val="AAB7BE"/>
            </a:solidFill>
          </c:spPr>
          <c:invertIfNegative val="0"/>
          <c:cat>
            <c:strRef>
              <c:f>'Chart Data'!$A$2:$A$4</c:f>
              <c:strCache>
                <c:ptCount val="3"/>
                <c:pt idx="0">
                  <c:v>Bx</c:v>
                </c:pt>
                <c:pt idx="1">
                  <c:v>By</c:v>
                </c:pt>
                <c:pt idx="2">
                  <c:v>Bz</c:v>
                </c:pt>
              </c:strCache>
            </c:strRef>
          </c:cat>
          <c:val>
            <c:numRef>
              <c:f>'Chart Data'!$B$2:$B$4</c:f>
              <c:numCache>
                <c:formatCode>0</c:formatCode>
                <c:ptCount val="3"/>
                <c:pt idx="0">
                  <c:v>61.9211</c:v>
                </c:pt>
                <c:pt idx="1">
                  <c:v>62.1335</c:v>
                </c:pt>
                <c:pt idx="2">
                  <c:v>64.6125</c:v>
                </c:pt>
              </c:numCache>
            </c:numRef>
          </c:val>
        </c:ser>
        <c:ser>
          <c:idx val="1"/>
          <c:order val="1"/>
          <c:tx>
            <c:v>FISTA 16</c:v>
          </c:tx>
          <c:spPr>
            <a:solidFill xmlns:a="http://schemas.openxmlformats.org/drawingml/2006/main">
              <a:srgbClr val="4477AA"/>
            </a:solidFill>
          </c:spPr>
          <c:invertIfNegative val="0"/>
          <c:cat>
            <c:strRef>
              <c:f>'Chart Data'!$C$2:$C$4</c:f>
              <c:strCache>
                <c:ptCount val="3"/>
                <c:pt idx="0">
                  <c:v>Bx</c:v>
                </c:pt>
                <c:pt idx="1">
                  <c:v>By</c:v>
                </c:pt>
                <c:pt idx="2">
                  <c:v>Bz</c:v>
                </c:pt>
              </c:strCache>
            </c:strRef>
          </c:cat>
          <c:val>
            <c:numRef>
              <c:f>'Chart Data'!$D$2:$D$4</c:f>
              <c:numCache>
                <c:formatCode>0</c:formatCode>
                <c:ptCount val="3"/>
                <c:pt idx="0">
                  <c:v>48.9948</c:v>
                </c:pt>
                <c:pt idx="1">
                  <c:v>50.1595</c:v>
                </c:pt>
                <c:pt idx="2">
                  <c:v>52.6459</c:v>
                </c:pt>
              </c:numCache>
            </c:numRef>
          </c:val>
        </c:ser>
        <c:ser>
          <c:idx val="2"/>
          <c:order val="2"/>
          <c:tx>
            <c:v>ConvLISTA 16</c:v>
          </c:tx>
          <c:spPr>
            <a:solidFill xmlns:a="http://schemas.openxmlformats.org/drawingml/2006/main">
              <a:srgbClr val="087F8C"/>
            </a:solidFill>
          </c:spPr>
          <c:invertIfNegative val="0"/>
          <c:cat>
            <c:strRef>
              <c:f>'Chart Data'!$E$2:$E$4</c:f>
              <c:strCache>
                <c:ptCount val="3"/>
                <c:pt idx="0">
                  <c:v>Bx</c:v>
                </c:pt>
                <c:pt idx="1">
                  <c:v>By</c:v>
                </c:pt>
                <c:pt idx="2">
                  <c:v>Bz</c:v>
                </c:pt>
              </c:strCache>
            </c:strRef>
          </c:cat>
          <c:val>
            <c:numRef>
              <c:f>'Chart Data'!$F$2:$F$4</c:f>
              <c:numCache>
                <c:formatCode>0</c:formatCode>
                <c:ptCount val="3"/>
                <c:pt idx="0">
                  <c:v>42.1482</c:v>
                </c:pt>
                <c:pt idx="1">
                  <c:v>43.9495</c:v>
                </c:pt>
                <c:pt idx="2">
                  <c:v>48.4433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70"/>
          <c:min val="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Relative L₂ error (%)</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52B3B"/>
              </a:solidFill>
              <a:latin typeface="Arial"/>
              <a:ea typeface="Arial"/>
              <a:cs typeface="Arial"/>
            </a:defRPr>
          </a:pPr>
        </a:p>
      </c:txPr>
    </c:legend>
    <c:plotVisOnly val="1"/>
  </c:chart>
  <c:spPr>
    <a:solidFill xmlns:a="http://schemas.openxmlformats.org/drawingml/2006/main">
      <a:srgbClr val="F7F7F2"/>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Inference</c:v>
          </c:tx>
          <c:spPr>
            <a:solidFill xmlns:a="http://schemas.openxmlformats.org/drawingml/2006/main">
              <a:srgbClr val="087F8C"/>
            </a:solidFill>
          </c:spPr>
          <c:invertIfNegative val="0"/>
          <c:cat>
            <c:strRef>
              <c:f>'Chart Data'!$A$2:$A$4</c:f>
              <c:strCache>
                <c:ptCount val="3"/>
                <c:pt idx="0">
                  <c:v>ISTA 16</c:v>
                </c:pt>
                <c:pt idx="1">
                  <c:v>FISTA 16</c:v>
                </c:pt>
                <c:pt idx="2">
                  <c:v>ConvLISTA 16</c:v>
                </c:pt>
              </c:strCache>
            </c:strRef>
          </c:cat>
          <c:val>
            <c:numRef>
              <c:f>'Chart Data'!$B$2:$B$4</c:f>
              <c:numCache>
                <c:formatCode>0.0</c:formatCode>
                <c:ptCount val="3"/>
                <c:pt idx="0">
                  <c:v>0.417536</c:v>
                </c:pt>
                <c:pt idx="1">
                  <c:v>0.431067</c:v>
                </c:pt>
                <c:pt idx="2">
                  <c:v>0.459688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0.55"/>
          <c:min val="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Batch inference (seconds)</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plotVisOnly val="1"/>
  </c:chart>
  <c:spPr>
    <a:solidFill xmlns:a="http://schemas.openxmlformats.org/drawingml/2006/main">
      <a:srgbClr val="F7F7F2"/>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Test NMSE</c:v>
          </c:tx>
          <c:spPr>
            <a:solidFill xmlns:a="http://schemas.openxmlformats.org/drawingml/2006/main">
              <a:srgbClr val="087F8C"/>
            </a:solidFill>
          </c:spPr>
          <c:invertIfNegative val="0"/>
          <c:cat>
            <c:strRef>
              <c:f>'Chart Data'!$A$2:$A$8</c:f>
              <c:strCache>
                <c:ptCount val="7"/>
                <c:pt idx="0">
                  <c:v>ISTA 16</c:v>
                </c:pt>
                <c:pt idx="1">
                  <c:v>FISTA 16</c:v>
                </c:pt>
                <c:pt idx="2">
                  <c:v>Learned
ISTA 16</c:v>
                </c:pt>
                <c:pt idx="3">
                  <c:v>ALISTA 16</c:v>
                </c:pt>
                <c:pt idx="4">
                  <c:v>ALISTA-SS
16</c:v>
                </c:pt>
                <c:pt idx="5">
                  <c:v>ISTA 500</c:v>
                </c:pt>
                <c:pt idx="6">
                  <c:v>FISTA 500</c:v>
                </c:pt>
              </c:strCache>
            </c:strRef>
          </c:cat>
          <c:val>
            <c:numRef>
              <c:f>'Chart Data'!$B$2:$B$8</c:f>
              <c:numCache>
                <c:formatCode>0</c:formatCode>
                <c:ptCount val="7"/>
                <c:pt idx="0">
                  <c:v>-6.260679</c:v>
                </c:pt>
                <c:pt idx="1">
                  <c:v>-10.982283</c:v>
                </c:pt>
                <c:pt idx="2">
                  <c:v>-12.13513</c:v>
                </c:pt>
                <c:pt idx="3">
                  <c:v>-28.006284</c:v>
                </c:pt>
                <c:pt idx="4">
                  <c:v>-54.678104</c:v>
                </c:pt>
                <c:pt idx="5">
                  <c:v>-22.212529</c:v>
                </c:pt>
                <c:pt idx="6">
                  <c:v>-55.337602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0"/>
          <c:min val="-6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NMSE (dB)</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plotVisOnly val="1"/>
  </c:chart>
  <c:spPr>
    <a:solidFill xmlns:a="http://schemas.openxmlformats.org/drawingml/2006/main">
      <a:srgbClr val="F7F7F2"/>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Inference</c:v>
          </c:tx>
          <c:spPr>
            <a:solidFill xmlns:a="http://schemas.openxmlformats.org/drawingml/2006/main">
              <a:srgbClr val="087F8C"/>
            </a:solidFill>
          </c:spPr>
          <c:invertIfNegative val="0"/>
          <c:cat>
            <c:strRef>
              <c:f>'Chart Data'!$A$2:$A$4</c:f>
              <c:strCache>
                <c:ptCount val="3"/>
                <c:pt idx="0">
                  <c:v>ALISTA 16</c:v>
                </c:pt>
                <c:pt idx="1">
                  <c:v>ALISTA-SS 16</c:v>
                </c:pt>
                <c:pt idx="2">
                  <c:v>FISTA 500</c:v>
                </c:pt>
              </c:strCache>
            </c:strRef>
          </c:cat>
          <c:val>
            <c:numRef>
              <c:f>'Chart Data'!$B$2:$B$4</c:f>
              <c:numCache>
                <c:formatCode>0</c:formatCode>
                <c:ptCount val="3"/>
                <c:pt idx="0">
                  <c:v>24.858416</c:v>
                </c:pt>
                <c:pt idx="1">
                  <c:v>335.671583</c:v>
                </c:pt>
                <c:pt idx="2">
                  <c:v>793.028875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900"/>
          <c:min val="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Batch inference (ms)</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plotVisOnly val="1"/>
  </c:chart>
  <c:spPr>
    <a:solidFill xmlns:a="http://schemas.openxmlformats.org/drawingml/2006/main">
      <a:srgbClr val="F7F7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7125048B-5DE5-44E1-B5D7-ACFF777632E5}"/>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00" b="1">
                <a:solidFill>
                  <a:srgbClr val="152B3B"/>
                </a:solidFill>
                <a:latin typeface="Arial"/>
                <a:ea typeface="Arial"/>
                <a:cs typeface="Arial"/>
              </a:defRPr>
            </a:defPPr>
          </a:lstStyle>
          <a:p xmlns:a="http://schemas.openxmlformats.org/drawingml/2006/main">
            <a:pPr>
              <a:defRPr sz="4200" b="1">
                <a:solidFill>
                  <a:srgbClr val="152B3B"/>
                </a:solidFill>
                <a:latin typeface="Arial"/>
                <a:ea typeface="Arial"/>
                <a:cs typeface="Arial"/>
              </a:defRPr>
            </a:pPr>
            <a:r>
              <a:rPr sz="4200" b="1">
                <a:solidFill>
                  <a:srgbClr val="152B3B"/>
                </a:solidFill>
                <a:latin typeface="Arial"/>
                <a:ea typeface="Arial"/>
                <a:cs typeface="Arial"/>
              </a:rPr>
              <a:t>Convolutional LISTA and ALISTA</a:t>
            </a:r>
          </a:p>
        </p:txBody>
      </p:sp>
      <p:sp>
        <p:nvSpPr>
          <p:cNvPr id="2" name="text-1">
            <a:extLst xmlns:a="http://schemas.openxmlformats.org/drawingml/2006/main">
              <a:ext uri="{FF2B5EF4-FFF2-40B4-BE49-F238E27FC236}">
                <a16:creationId xmlns:a16="http://schemas.microsoft.com/office/drawing/2014/main" id="{9B87CA94-5C61-4A3A-9CF4-3E72B9652B92}"/>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2CA13759-4597-470A-BCE4-6FEC61BCF3C4}"/>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477E0E68-FEDF-47BB-B944-2764529803DF}"/>
              </a:ext>
            </a:extLst>
          </p:cNvPr>
          <p:cNvSpPr>
            <a:spLocks xmlns:a="http://schemas.openxmlformats.org/drawingml/2006/main" noGrp="1"/>
          </p:cNvSpPr>
          <p:nvPr/>
        </p:nvSpPr>
        <p:spPr>
          <a:xfrm xmlns:a="http://schemas.openxmlformats.org/drawingml/2006/main">
            <a:off x="609600" y="2114550"/>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Mathematical motivation, implementation</a:t>
            </a:r>
          </a:p>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and experimental evidence</a:t>
            </a:r>
          </a:p>
        </p:txBody>
      </p:sp>
      <p:sp>
        <p:nvSpPr>
          <p:cNvPr id="5" name="text-4">
            <a:extLst xmlns:a="http://schemas.openxmlformats.org/drawingml/2006/main">
              <a:ext uri="{FF2B5EF4-FFF2-40B4-BE49-F238E27FC236}">
                <a16:creationId xmlns:a16="http://schemas.microsoft.com/office/drawing/2014/main" id="{BD2D44F7-2519-41A3-AB18-9979CD3344D4}"/>
              </a:ext>
            </a:extLst>
          </p:cNvPr>
          <p:cNvSpPr>
            <a:spLocks xmlns:a="http://schemas.openxmlformats.org/drawingml/2006/main" noGrp="1"/>
          </p:cNvSpPr>
          <p:nvPr/>
        </p:nvSpPr>
        <p:spPr>
          <a:xfrm xmlns:a="http://schemas.openxmlformats.org/drawingml/2006/main">
            <a:off x="609600" y="4695825"/>
            <a:ext cx="857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26572"/>
                </a:solidFill>
                <a:latin typeface="Arial"/>
                <a:ea typeface="Arial"/>
                <a:cs typeface="Arial"/>
              </a:defRPr>
            </a:defPPr>
          </a:lstStyle>
          <a:p xmlns:a="http://schemas.openxmlformats.org/drawingml/2006/main">
            <a:pPr>
              <a:defRPr sz="2025" b="0">
                <a:solidFill>
                  <a:srgbClr val="526572"/>
                </a:solidFill>
                <a:latin typeface="Arial"/>
                <a:ea typeface="Arial"/>
                <a:cs typeface="Arial"/>
              </a:defRPr>
            </a:pPr>
            <a:r>
              <a:rPr sz="2025" b="0">
                <a:solidFill>
                  <a:srgbClr val="526572"/>
                </a:solidFill>
                <a:latin typeface="Arial"/>
                <a:ea typeface="Arial"/>
                <a:cs typeface="Arial"/>
              </a:rPr>
              <a:t>Bachelor’s thesis project</a:t>
            </a:r>
          </a:p>
          <a:p xmlns:a="http://schemas.openxmlformats.org/drawingml/2006/main">
            <a:pPr>
              <a:defRPr sz="2025" b="0">
                <a:solidFill>
                  <a:srgbClr val="526572"/>
                </a:solidFill>
                <a:latin typeface="Arial"/>
                <a:ea typeface="Arial"/>
                <a:cs typeface="Arial"/>
              </a:defRPr>
            </a:pPr>
            <a:r>
              <a:rPr sz="2025" b="0">
                <a:solidFill>
                  <a:srgbClr val="526572"/>
                </a:solidFill>
                <a:latin typeface="Arial"/>
                <a:ea typeface="Arial"/>
                <a:cs typeface="Arial"/>
              </a:rPr>
              <a:t>Abhay, October 2026</a:t>
            </a:r>
          </a:p>
        </p:txBody>
      </p:sp>
    </p:spTree>
    <p:extLst>
      <p:ext uri="{BB962C8B-B14F-4D97-AF65-F5344CB8AC3E}">
        <p14:creationId xmlns:p14="http://schemas.microsoft.com/office/powerpoint/2010/main" val="577312565"/>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85D0EF3-AD21-4CED-B721-C6D5E5133043}"/>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research questions</a:t>
            </a:r>
          </a:p>
        </p:txBody>
      </p:sp>
      <p:sp>
        <p:nvSpPr>
          <p:cNvPr id="2" name="text-1">
            <a:extLst xmlns:a="http://schemas.openxmlformats.org/drawingml/2006/main">
              <a:ext uri="{FF2B5EF4-FFF2-40B4-BE49-F238E27FC236}">
                <a16:creationId xmlns:a16="http://schemas.microsoft.com/office/drawing/2014/main" id="{12075364-8AD9-45A6-B7E0-208B2590AE1E}"/>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B0589971-8099-40CC-BBD7-EDA6C2211A1E}"/>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02</a:t>
            </a:r>
          </a:p>
        </p:txBody>
      </p:sp>
      <p:sp>
        <p:nvSpPr>
          <p:cNvPr id="4" name="text-3">
            <a:extLst xmlns:a="http://schemas.openxmlformats.org/drawingml/2006/main">
              <a:ext uri="{FF2B5EF4-FFF2-40B4-BE49-F238E27FC236}">
                <a16:creationId xmlns:a16="http://schemas.microsoft.com/office/drawing/2014/main" id="{C43E744D-50A4-4710-8852-768F6FF5DED8}"/>
              </a:ext>
            </a:extLst>
          </p:cNvPr>
          <p:cNvSpPr>
            <a:spLocks xmlns:a="http://schemas.openxmlformats.org/drawingml/2006/main" noGrp="1"/>
          </p:cNvSpPr>
          <p:nvPr/>
        </p:nvSpPr>
        <p:spPr>
          <a:xfrm xmlns:a="http://schemas.openxmlformats.org/drawingml/2006/main">
            <a:off x="609600" y="1590675"/>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Can learned iterations improve reconstruction at a limited runtime?</a:t>
            </a:r>
          </a:p>
        </p:txBody>
      </p:sp>
      <p:sp>
        <p:nvSpPr>
          <p:cNvPr id="5" name="text-4">
            <a:extLst xmlns:a="http://schemas.openxmlformats.org/drawingml/2006/main">
              <a:ext uri="{FF2B5EF4-FFF2-40B4-BE49-F238E27FC236}">
                <a16:creationId xmlns:a16="http://schemas.microsoft.com/office/drawing/2014/main" id="{B8619D43-AC1E-4B20-80E4-D88068ECDBE2}"/>
              </a:ext>
            </a:extLst>
          </p:cNvPr>
          <p:cNvSpPr>
            <a:spLocks xmlns:a="http://schemas.openxmlformats.org/drawingml/2006/main" noGrp="1"/>
          </p:cNvSpPr>
          <p:nvPr/>
        </p:nvSpPr>
        <p:spPr>
          <a:xfrm xmlns:a="http://schemas.openxmlformats.org/drawingml/2006/main">
            <a:off x="609600" y="266700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Can operator structure replace most trainable weights?</a:t>
            </a:r>
          </a:p>
        </p:txBody>
      </p:sp>
      <p:sp>
        <p:nvSpPr>
          <p:cNvPr id="6" name="text-5">
            <a:extLst xmlns:a="http://schemas.openxmlformats.org/drawingml/2006/main">
              <a:ext uri="{FF2B5EF4-FFF2-40B4-BE49-F238E27FC236}">
                <a16:creationId xmlns:a16="http://schemas.microsoft.com/office/drawing/2014/main" id="{402C6EB3-6E42-4A8B-9DC7-1F0486DBE3C6}"/>
              </a:ext>
            </a:extLst>
          </p:cNvPr>
          <p:cNvSpPr>
            <a:spLocks xmlns:a="http://schemas.openxmlformats.org/drawingml/2006/main" noGrp="1"/>
          </p:cNvSpPr>
          <p:nvPr/>
        </p:nvSpPr>
        <p:spPr>
          <a:xfrm xmlns:a="http://schemas.openxmlformats.org/drawingml/2006/main">
            <a:off x="609600" y="3743325"/>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What evidence supports using either method for magnetic fields?</a:t>
            </a:r>
          </a:p>
        </p:txBody>
      </p:sp>
      <p:sp>
        <p:nvSpPr>
          <p:cNvPr id="7" name="text-6">
            <a:extLst xmlns:a="http://schemas.openxmlformats.org/drawingml/2006/main">
              <a:ext uri="{FF2B5EF4-FFF2-40B4-BE49-F238E27FC236}">
                <a16:creationId xmlns:a16="http://schemas.microsoft.com/office/drawing/2014/main" id="{ED287DA5-C679-4996-A7CB-911DD20E1650}"/>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Two experiments: magnetic-field fitting and synthetic sparse recovery</a:t>
            </a:r>
          </a:p>
        </p:txBody>
      </p:sp>
    </p:spTree>
    <p:extLst>
      <p:ext uri="{BB962C8B-B14F-4D97-AF65-F5344CB8AC3E}">
        <p14:creationId xmlns:p14="http://schemas.microsoft.com/office/powerpoint/2010/main" val="1959526297"/>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0EDA872-EA31-4135-87BD-7A98F3DB5D8B}"/>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magnetic inverse problem</a:t>
            </a:r>
          </a:p>
        </p:txBody>
      </p:sp>
      <p:sp>
        <p:nvSpPr>
          <p:cNvPr id="2" name="text-1">
            <a:extLst xmlns:a="http://schemas.openxmlformats.org/drawingml/2006/main">
              <a:ext uri="{FF2B5EF4-FFF2-40B4-BE49-F238E27FC236}">
                <a16:creationId xmlns:a16="http://schemas.microsoft.com/office/drawing/2014/main" id="{EF55CE4F-0DF2-4537-9D47-D2D9840D5942}"/>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A9CF13A3-6DBD-469E-A5B3-E061ECF2358A}"/>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03</a:t>
            </a:r>
          </a:p>
        </p:txBody>
      </p:sp>
      <p:sp>
        <p:nvSpPr>
          <p:cNvPr id="4" name="text-3">
            <a:extLst xmlns:a="http://schemas.openxmlformats.org/drawingml/2006/main">
              <a:ext uri="{FF2B5EF4-FFF2-40B4-BE49-F238E27FC236}">
                <a16:creationId xmlns:a16="http://schemas.microsoft.com/office/drawing/2014/main" id="{0F575288-C200-4959-B56B-ED5B3D0672E8}"/>
              </a:ext>
            </a:extLst>
          </p:cNvPr>
          <p:cNvSpPr>
            <a:spLocks xmlns:a="http://schemas.openxmlformats.org/drawingml/2006/main" noGrp="1"/>
          </p:cNvSpPr>
          <p:nvPr/>
        </p:nvSpPr>
        <p:spPr>
          <a:xfrm xmlns:a="http://schemas.openxmlformats.org/drawingml/2006/main">
            <a:off x="609600" y="1885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b ≈ Ax</a:t>
            </a:r>
          </a:p>
        </p:txBody>
      </p:sp>
      <p:sp>
        <p:nvSpPr>
          <p:cNvPr id="5" name="text-4">
            <a:extLst xmlns:a="http://schemas.openxmlformats.org/drawingml/2006/main">
              <a:ext uri="{FF2B5EF4-FFF2-40B4-BE49-F238E27FC236}">
                <a16:creationId xmlns:a16="http://schemas.microsoft.com/office/drawing/2014/main" id="{6AD339BB-6779-47DA-88CD-4C004BAB0237}"/>
              </a:ext>
            </a:extLst>
          </p:cNvPr>
          <p:cNvSpPr>
            <a:spLocks xmlns:a="http://schemas.openxmlformats.org/drawingml/2006/main" noGrp="1"/>
          </p:cNvSpPr>
          <p:nvPr/>
        </p:nvSpPr>
        <p:spPr>
          <a:xfrm xmlns:a="http://schemas.openxmlformats.org/drawingml/2006/main">
            <a:off x="609600" y="30384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x: sharp field at 0.5 µm       b: observed field at 3 µm</a:t>
            </a:r>
          </a:p>
        </p:txBody>
      </p:sp>
      <p:sp>
        <p:nvSpPr>
          <p:cNvPr id="6" name="text-5">
            <a:extLst xmlns:a="http://schemas.openxmlformats.org/drawingml/2006/main">
              <a:ext uri="{FF2B5EF4-FFF2-40B4-BE49-F238E27FC236}">
                <a16:creationId xmlns:a16="http://schemas.microsoft.com/office/drawing/2014/main" id="{4776DEEB-CDCE-4EB1-A91C-87979EF5B1FB}"/>
              </a:ext>
            </a:extLst>
          </p:cNvPr>
          <p:cNvSpPr>
            <a:spLocks xmlns:a="http://schemas.openxmlformats.org/drawingml/2006/main" noGrp="1"/>
          </p:cNvSpPr>
          <p:nvPr/>
        </p:nvSpPr>
        <p:spPr>
          <a:xfrm xmlns:a="http://schemas.openxmlformats.org/drawingml/2006/main">
            <a:off x="609600" y="39338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 fitted Fourier transfer with zero-padding and cropping</a:t>
            </a:r>
          </a:p>
        </p:txBody>
      </p:sp>
      <p:sp>
        <p:nvSpPr>
          <p:cNvPr id="7" name="text-6">
            <a:extLst xmlns:a="http://schemas.openxmlformats.org/drawingml/2006/main">
              <a:ext uri="{FF2B5EF4-FFF2-40B4-BE49-F238E27FC236}">
                <a16:creationId xmlns:a16="http://schemas.microsoft.com/office/drawing/2014/main" id="{AC6B7735-58E2-4245-B1DF-6BC36F1E0B5E}"/>
              </a:ext>
            </a:extLst>
          </p:cNvPr>
          <p:cNvSpPr>
            <a:spLocks xmlns:a="http://schemas.openxmlformats.org/drawingml/2006/main" noGrp="1"/>
          </p:cNvSpPr>
          <p:nvPr/>
        </p:nvSpPr>
        <p:spPr>
          <a:xfrm xmlns:a="http://schemas.openxmlformats.org/drawingml/2006/main">
            <a:off x="609600" y="48291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adjoint A* backprojects errors. It does not invert the blur.</a:t>
            </a:r>
          </a:p>
        </p:txBody>
      </p:sp>
    </p:spTree>
    <p:extLst>
      <p:ext uri="{BB962C8B-B14F-4D97-AF65-F5344CB8AC3E}">
        <p14:creationId xmlns:p14="http://schemas.microsoft.com/office/powerpoint/2010/main" val="2146874961"/>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C0269F8-7F0B-4CD0-A990-BA0BB0ED89CF}"/>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optimization model behind ISTA</a:t>
            </a:r>
          </a:p>
        </p:txBody>
      </p:sp>
      <p:sp>
        <p:nvSpPr>
          <p:cNvPr id="2" name="text-1">
            <a:extLst xmlns:a="http://schemas.openxmlformats.org/drawingml/2006/main">
              <a:ext uri="{FF2B5EF4-FFF2-40B4-BE49-F238E27FC236}">
                <a16:creationId xmlns:a16="http://schemas.microsoft.com/office/drawing/2014/main" id="{4584C123-954F-4A65-BCED-33578CC93063}"/>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9D8FE27A-33DB-42EA-BBF9-7C53551684CE}"/>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04</a:t>
            </a:r>
          </a:p>
        </p:txBody>
      </p:sp>
      <p:sp>
        <p:nvSpPr>
          <p:cNvPr id="4" name="text-3">
            <a:extLst xmlns:a="http://schemas.openxmlformats.org/drawingml/2006/main">
              <a:ext uri="{FF2B5EF4-FFF2-40B4-BE49-F238E27FC236}">
                <a16:creationId xmlns:a16="http://schemas.microsoft.com/office/drawing/2014/main" id="{9F95B490-876A-4B16-9E3C-D3FA01D7360F}"/>
              </a:ext>
            </a:extLst>
          </p:cNvPr>
          <p:cNvSpPr>
            <a:spLocks xmlns:a="http://schemas.openxmlformats.org/drawingml/2006/main" noGrp="1"/>
          </p:cNvSpPr>
          <p:nvPr/>
        </p:nvSpPr>
        <p:spPr>
          <a:xfrm xmlns:a="http://schemas.openxmlformats.org/drawingml/2006/main">
            <a:off x="609600" y="1885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J(x) = ½ ‖Ax − b‖₂² + λ ‖x‖₁</a:t>
            </a:r>
          </a:p>
        </p:txBody>
      </p:sp>
      <p:sp>
        <p:nvSpPr>
          <p:cNvPr id="5" name="text-4">
            <a:extLst xmlns:a="http://schemas.openxmlformats.org/drawingml/2006/main">
              <a:ext uri="{FF2B5EF4-FFF2-40B4-BE49-F238E27FC236}">
                <a16:creationId xmlns:a16="http://schemas.microsoft.com/office/drawing/2014/main" id="{82E1D200-62FA-4285-9CA1-DCD87D4A4083}"/>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Data term: agreement with the measured field</a:t>
            </a:r>
          </a:p>
        </p:txBody>
      </p:sp>
      <p:sp>
        <p:nvSpPr>
          <p:cNvPr id="6" name="text-5">
            <a:extLst xmlns:a="http://schemas.openxmlformats.org/drawingml/2006/main">
              <a:ext uri="{FF2B5EF4-FFF2-40B4-BE49-F238E27FC236}">
                <a16:creationId xmlns:a16="http://schemas.microsoft.com/office/drawing/2014/main" id="{B29272BC-2F3B-4F93-ABAB-A2094AD10876}"/>
              </a:ext>
            </a:extLst>
          </p:cNvPr>
          <p:cNvSpPr>
            <a:spLocks xmlns:a="http://schemas.openxmlformats.org/drawingml/2006/main" noGrp="1"/>
          </p:cNvSpPr>
          <p:nvPr/>
        </p:nvSpPr>
        <p:spPr>
          <a:xfrm xmlns:a="http://schemas.openxmlformats.org/drawingml/2006/main">
            <a:off x="609600" y="40005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L₁ penalty: preference for sparse field values</a:t>
            </a:r>
          </a:p>
        </p:txBody>
      </p:sp>
      <p:sp>
        <p:nvSpPr>
          <p:cNvPr id="7" name="text-6">
            <a:extLst xmlns:a="http://schemas.openxmlformats.org/drawingml/2006/main">
              <a:ext uri="{FF2B5EF4-FFF2-40B4-BE49-F238E27FC236}">
                <a16:creationId xmlns:a16="http://schemas.microsoft.com/office/drawing/2014/main" id="{ECE469F9-7C8D-48CD-B165-9A031F519C23}"/>
              </a:ext>
            </a:extLst>
          </p:cNvPr>
          <p:cNvSpPr>
            <a:spLocks xmlns:a="http://schemas.openxmlformats.org/drawingml/2006/main" noGrp="1"/>
          </p:cNvSpPr>
          <p:nvPr/>
        </p:nvSpPr>
        <p:spPr>
          <a:xfrm xmlns:a="http://schemas.openxmlformats.org/drawingml/2006/main">
            <a:off x="609600" y="48577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λ controls the trade-off between fit and shrinkage</a:t>
            </a:r>
          </a:p>
        </p:txBody>
      </p:sp>
    </p:spTree>
    <p:extLst>
      <p:ext uri="{BB962C8B-B14F-4D97-AF65-F5344CB8AC3E}">
        <p14:creationId xmlns:p14="http://schemas.microsoft.com/office/powerpoint/2010/main" val="1089674135"/>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8CA5BEF-69A8-45F5-A664-623D8FB28104}"/>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ISTA combines a gradient step and shrinkage</a:t>
            </a:r>
          </a:p>
        </p:txBody>
      </p:sp>
      <p:sp>
        <p:nvSpPr>
          <p:cNvPr id="2" name="text-1">
            <a:extLst xmlns:a="http://schemas.openxmlformats.org/drawingml/2006/main">
              <a:ext uri="{FF2B5EF4-FFF2-40B4-BE49-F238E27FC236}">
                <a16:creationId xmlns:a16="http://schemas.microsoft.com/office/drawing/2014/main" id="{C68EE34B-02A2-4754-A88C-EB76DED44D1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A32D543B-EB27-42C0-85CE-CD9D0A1F921E}"/>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05</a:t>
            </a:r>
          </a:p>
        </p:txBody>
      </p:sp>
      <p:sp>
        <p:nvSpPr>
          <p:cNvPr id="4" name="text-3">
            <a:extLst xmlns:a="http://schemas.openxmlformats.org/drawingml/2006/main">
              <a:ext uri="{FF2B5EF4-FFF2-40B4-BE49-F238E27FC236}">
                <a16:creationId xmlns:a16="http://schemas.microsoft.com/office/drawing/2014/main" id="{8FD9FDB3-913D-458A-9D3B-953723F9244E}"/>
              </a:ext>
            </a:extLst>
          </p:cNvPr>
          <p:cNvSpPr>
            <a:spLocks xmlns:a="http://schemas.openxmlformats.org/drawingml/2006/main" noGrp="1"/>
          </p:cNvSpPr>
          <p:nvPr/>
        </p:nvSpPr>
        <p:spPr>
          <a:xfrm xmlns:a="http://schemas.openxmlformats.org/drawingml/2006/main">
            <a:off x="609600" y="18097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vₖ = xₖ − α A*(Axₖ − b)</a:t>
            </a:r>
          </a:p>
        </p:txBody>
      </p:sp>
      <p:sp>
        <p:nvSpPr>
          <p:cNvPr id="5" name="text-4">
            <a:extLst xmlns:a="http://schemas.openxmlformats.org/drawingml/2006/main">
              <a:ext uri="{FF2B5EF4-FFF2-40B4-BE49-F238E27FC236}">
                <a16:creationId xmlns:a16="http://schemas.microsoft.com/office/drawing/2014/main" id="{823C6182-0176-4FC9-A77C-6228281CB1D1}"/>
              </a:ext>
            </a:extLst>
          </p:cNvPr>
          <p:cNvSpPr>
            <a:spLocks xmlns:a="http://schemas.openxmlformats.org/drawingml/2006/main" noGrp="1"/>
          </p:cNvSpPr>
          <p:nvPr/>
        </p:nvSpPr>
        <p:spPr>
          <a:xfrm xmlns:a="http://schemas.openxmlformats.org/drawingml/2006/main">
            <a:off x="609600" y="30003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xₖ₊₁ = soft₍αλ₎(vₖ)</a:t>
            </a:r>
          </a:p>
        </p:txBody>
      </p:sp>
      <p:sp>
        <p:nvSpPr>
          <p:cNvPr id="6" name="text-5">
            <a:extLst xmlns:a="http://schemas.openxmlformats.org/drawingml/2006/main">
              <a:ext uri="{FF2B5EF4-FFF2-40B4-BE49-F238E27FC236}">
                <a16:creationId xmlns:a16="http://schemas.microsoft.com/office/drawing/2014/main" id="{B9A7EE16-2727-4201-9826-942675E84DD3}"/>
              </a:ext>
            </a:extLst>
          </p:cNvPr>
          <p:cNvSpPr>
            <a:spLocks xmlns:a="http://schemas.openxmlformats.org/drawingml/2006/main" noGrp="1"/>
          </p:cNvSpPr>
          <p:nvPr/>
        </p:nvSpPr>
        <p:spPr>
          <a:xfrm xmlns:a="http://schemas.openxmlformats.org/drawingml/2006/main">
            <a:off x="609600" y="43338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2B3B"/>
                </a:solidFill>
                <a:latin typeface="Arial"/>
                <a:ea typeface="Arial"/>
                <a:cs typeface="Arial"/>
              </a:defRPr>
            </a:defPPr>
          </a:lstStyle>
          <a:p xmlns:a="http://schemas.openxmlformats.org/drawingml/2006/main">
            <a:pPr>
              <a:defRPr sz="2250" b="0">
                <a:solidFill>
                  <a:srgbClr val="152B3B"/>
                </a:solidFill>
                <a:latin typeface="Arial"/>
                <a:ea typeface="Arial"/>
                <a:cs typeface="Arial"/>
              </a:defRPr>
            </a:pPr>
            <a:r>
              <a:rPr sz="2250" b="0">
                <a:solidFill>
                  <a:srgbClr val="152B3B"/>
                </a:solidFill>
                <a:latin typeface="Arial"/>
                <a:ea typeface="Arial"/>
                <a:cs typeface="Arial"/>
              </a:rPr>
              <a:t>Predict the measurement, calculate its error,</a:t>
            </a:r>
          </a:p>
          <a:p xmlns:a="http://schemas.openxmlformats.org/drawingml/2006/main">
            <a:pPr>
              <a:defRPr sz="2250" b="0">
                <a:solidFill>
                  <a:srgbClr val="152B3B"/>
                </a:solidFill>
                <a:latin typeface="Arial"/>
                <a:ea typeface="Arial"/>
                <a:cs typeface="Arial"/>
              </a:defRPr>
            </a:pPr>
            <a:r>
              <a:rPr sz="2250" b="0">
                <a:solidFill>
                  <a:srgbClr val="152B3B"/>
                </a:solidFill>
                <a:latin typeface="Arial"/>
                <a:ea typeface="Arial"/>
                <a:cs typeface="Arial"/>
              </a:rPr>
              <a:t>backproject the error, then apply shrinkage.</a:t>
            </a:r>
          </a:p>
        </p:txBody>
      </p:sp>
    </p:spTree>
    <p:extLst>
      <p:ext uri="{BB962C8B-B14F-4D97-AF65-F5344CB8AC3E}">
        <p14:creationId xmlns:p14="http://schemas.microsoft.com/office/powerpoint/2010/main" val="1615668925"/>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4996C05-43B5-4039-9C75-2FFBC59140D2}"/>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Soft thresholding changes amplitudes</a:t>
            </a:r>
          </a:p>
        </p:txBody>
      </p:sp>
      <p:sp>
        <p:nvSpPr>
          <p:cNvPr id="2" name="text-1">
            <a:extLst xmlns:a="http://schemas.openxmlformats.org/drawingml/2006/main">
              <a:ext uri="{FF2B5EF4-FFF2-40B4-BE49-F238E27FC236}">
                <a16:creationId xmlns:a16="http://schemas.microsoft.com/office/drawing/2014/main" id="{1858ED0D-2AD7-4624-8D58-4DB72ABD942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F7EB90A1-807B-475F-B4BA-DB55036358E7}"/>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06</a:t>
            </a:r>
          </a:p>
        </p:txBody>
      </p:sp>
      <p:graphicFrame>
        <p:nvGraphicFramePr>
          <p:cNvPr id="4" name="Chart">
            <a:extLst xmlns:a="http://schemas.openxmlformats.org/drawingml/2006/main">
              <a:ext uri="{FF2B5EF4-FFF2-40B4-BE49-F238E27FC236}">
                <a16:creationId xmlns:a16="http://schemas.microsoft.com/office/drawing/2014/main" id="{EC514A76-45FC-40B7-842A-8F14E5FB4225}"/>
              </a:ext>
            </a:extLst>
          </p:cNvPr>
          <p:cNvGraphicFramePr/>
          <p:nvPr/>
        </p:nvGraphicFramePr>
        <p:xfrm>
          <a:off xmlns:a="http://schemas.openxmlformats.org/drawingml/2006/main" x="609600" y="1676400"/>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f3dca55497f747af"/>
          </a:graphicData>
        </a:graphic>
      </p:graphicFrame>
      <p:sp>
        <p:nvSpPr>
          <p:cNvPr id="5" name="text-3">
            <a:extLst xmlns:a="http://schemas.openxmlformats.org/drawingml/2006/main">
              <a:ext uri="{FF2B5EF4-FFF2-40B4-BE49-F238E27FC236}">
                <a16:creationId xmlns:a16="http://schemas.microsoft.com/office/drawing/2014/main" id="{514692C1-9D34-4848-8181-D934C356C3F0}"/>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softθ(v) = sign(v) max(|v| − θ, 0)</a:t>
            </a:r>
          </a:p>
        </p:txBody>
      </p:sp>
    </p:spTree>
    <p:extLst>
      <p:ext uri="{BB962C8B-B14F-4D97-AF65-F5344CB8AC3E}">
        <p14:creationId xmlns:p14="http://schemas.microsoft.com/office/powerpoint/2010/main" val="653406476"/>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0ED973A-0B75-4003-BB47-FC88BF4F17A5}"/>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LISTA learns the iteration maps</a:t>
            </a:r>
          </a:p>
        </p:txBody>
      </p:sp>
      <p:sp>
        <p:nvSpPr>
          <p:cNvPr id="2" name="text-1">
            <a:extLst xmlns:a="http://schemas.openxmlformats.org/drawingml/2006/main">
              <a:ext uri="{FF2B5EF4-FFF2-40B4-BE49-F238E27FC236}">
                <a16:creationId xmlns:a16="http://schemas.microsoft.com/office/drawing/2014/main" id="{C923177D-B225-4300-A267-79ED688AAFF1}"/>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Foundation: Gregor and LeCun, ICML 2010</a:t>
            </a:r>
          </a:p>
        </p:txBody>
      </p:sp>
      <p:sp>
        <p:nvSpPr>
          <p:cNvPr id="3" name="text-2">
            <a:extLst xmlns:a="http://schemas.openxmlformats.org/drawingml/2006/main">
              <a:ext uri="{FF2B5EF4-FFF2-40B4-BE49-F238E27FC236}">
                <a16:creationId xmlns:a16="http://schemas.microsoft.com/office/drawing/2014/main" id="{53CF4D92-679C-48DF-86DC-D10E340C0119}"/>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07</a:t>
            </a:r>
          </a:p>
        </p:txBody>
      </p:sp>
      <p:sp>
        <p:nvSpPr>
          <p:cNvPr id="4" name="text-3">
            <a:extLst xmlns:a="http://schemas.openxmlformats.org/drawingml/2006/main">
              <a:ext uri="{FF2B5EF4-FFF2-40B4-BE49-F238E27FC236}">
                <a16:creationId xmlns:a16="http://schemas.microsoft.com/office/drawing/2014/main" id="{29A50510-88E1-4F7A-9712-BC7950E4E51A}"/>
              </a:ext>
            </a:extLst>
          </p:cNvPr>
          <p:cNvSpPr>
            <a:spLocks xmlns:a="http://schemas.openxmlformats.org/drawingml/2006/main" noGrp="1"/>
          </p:cNvSpPr>
          <p:nvPr/>
        </p:nvSpPr>
        <p:spPr>
          <a:xfrm xmlns:a="http://schemas.openxmlformats.org/drawingml/2006/main">
            <a:off x="609600" y="16764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87F8C"/>
                </a:solidFill>
                <a:latin typeface="Arial"/>
                <a:ea typeface="Arial"/>
                <a:cs typeface="Arial"/>
              </a:defRPr>
            </a:def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x − α A*(Ax − b) = (I − α A*A)x + α A*b</a:t>
            </a:r>
          </a:p>
        </p:txBody>
      </p:sp>
      <p:sp>
        <p:nvSpPr>
          <p:cNvPr id="5" name="text-4">
            <a:extLst xmlns:a="http://schemas.openxmlformats.org/drawingml/2006/main">
              <a:ext uri="{FF2B5EF4-FFF2-40B4-BE49-F238E27FC236}">
                <a16:creationId xmlns:a16="http://schemas.microsoft.com/office/drawing/2014/main" id="{3176544F-FA05-4274-AF5D-FAA5EAD2F132}"/>
              </a:ext>
            </a:extLst>
          </p:cNvPr>
          <p:cNvSpPr>
            <a:spLocks xmlns:a="http://schemas.openxmlformats.org/drawingml/2006/main" noGrp="1"/>
          </p:cNvSpPr>
          <p:nvPr/>
        </p:nvSpPr>
        <p:spPr>
          <a:xfrm xmlns:a="http://schemas.openxmlformats.org/drawingml/2006/main">
            <a:off x="609600" y="2857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087F8C"/>
                </a:solidFill>
                <a:latin typeface="Arial"/>
                <a:ea typeface="Arial"/>
                <a:cs typeface="Arial"/>
              </a:defRPr>
            </a:defPPr>
          </a:lstStyle>
          <a:p xmlns:a="http://schemas.openxmlformats.org/drawingml/2006/main">
            <a:pPr>
              <a:defRPr sz="3000" b="1">
                <a:solidFill>
                  <a:srgbClr val="087F8C"/>
                </a:solidFill>
                <a:latin typeface="Arial"/>
                <a:ea typeface="Arial"/>
                <a:cs typeface="Arial"/>
              </a:defRPr>
            </a:pPr>
            <a:r>
              <a:rPr sz="3000" b="1">
                <a:solidFill>
                  <a:srgbClr val="087F8C"/>
                </a:solidFill>
                <a:latin typeface="Arial"/>
                <a:ea typeface="Arial"/>
                <a:cs typeface="Arial"/>
              </a:rPr>
              <a:t>xₖ₊₁ = softθ(W_x xₖ + W_b b)</a:t>
            </a:r>
          </a:p>
        </p:txBody>
      </p:sp>
      <p:sp>
        <p:nvSpPr>
          <p:cNvPr id="6" name="text-5">
            <a:extLst xmlns:a="http://schemas.openxmlformats.org/drawingml/2006/main">
              <a:ext uri="{FF2B5EF4-FFF2-40B4-BE49-F238E27FC236}">
                <a16:creationId xmlns:a16="http://schemas.microsoft.com/office/drawing/2014/main" id="{2D5E33BA-DB7B-41EA-9CDB-3BA901DEAFAA}"/>
              </a:ext>
            </a:extLst>
          </p:cNvPr>
          <p:cNvSpPr>
            <a:spLocks xmlns:a="http://schemas.openxmlformats.org/drawingml/2006/main" noGrp="1"/>
          </p:cNvSpPr>
          <p:nvPr/>
        </p:nvSpPr>
        <p:spPr>
          <a:xfrm xmlns:a="http://schemas.openxmlformats.org/drawingml/2006/main">
            <a:off x="609600" y="423862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ISTA fixes W_x, W_b and θ from the optimization problem.</a:t>
            </a:r>
          </a:p>
        </p:txBody>
      </p:sp>
      <p:sp>
        <p:nvSpPr>
          <p:cNvPr id="7" name="text-6">
            <a:extLst xmlns:a="http://schemas.openxmlformats.org/drawingml/2006/main">
              <a:ext uri="{FF2B5EF4-FFF2-40B4-BE49-F238E27FC236}">
                <a16:creationId xmlns:a16="http://schemas.microsoft.com/office/drawing/2014/main" id="{6BBA711B-C788-4970-BAD1-D5BAB2B6A0B6}"/>
              </a:ext>
            </a:extLst>
          </p:cNvPr>
          <p:cNvSpPr>
            <a:spLocks xmlns:a="http://schemas.openxmlformats.org/drawingml/2006/main" noGrp="1"/>
          </p:cNvSpPr>
          <p:nvPr/>
        </p:nvSpPr>
        <p:spPr>
          <a:xfrm xmlns:a="http://schemas.openxmlformats.org/drawingml/2006/main">
            <a:off x="609600" y="50292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LISTA learns them for a chosen number of layers.</a:t>
            </a:r>
          </a:p>
        </p:txBody>
      </p:sp>
    </p:spTree>
    <p:extLst>
      <p:ext uri="{BB962C8B-B14F-4D97-AF65-F5344CB8AC3E}">
        <p14:creationId xmlns:p14="http://schemas.microsoft.com/office/powerpoint/2010/main" val="1685373764"/>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6CD9A1F9-B8D3-4EEE-8EEB-6492DAFB0DD7}"/>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Dense maps are too large for these images</a:t>
            </a:r>
          </a:p>
        </p:txBody>
      </p:sp>
      <p:sp>
        <p:nvSpPr>
          <p:cNvPr id="2" name="text-1">
            <a:extLst xmlns:a="http://schemas.openxmlformats.org/drawingml/2006/main">
              <a:ext uri="{FF2B5EF4-FFF2-40B4-BE49-F238E27FC236}">
                <a16:creationId xmlns:a16="http://schemas.microsoft.com/office/drawing/2014/main" id="{F7F2FA68-EA8C-43B5-AAA8-C36FB2ABFA5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7512E9A3-94CD-4253-854F-67DD39C6A17E}"/>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08</a:t>
            </a:r>
          </a:p>
        </p:txBody>
      </p:sp>
      <p:sp>
        <p:nvSpPr>
          <p:cNvPr id="4" name="text-3">
            <a:extLst xmlns:a="http://schemas.openxmlformats.org/drawingml/2006/main">
              <a:ext uri="{FF2B5EF4-FFF2-40B4-BE49-F238E27FC236}">
                <a16:creationId xmlns:a16="http://schemas.microsoft.com/office/drawing/2014/main" id="{C4D645F2-CACB-4622-A477-5DF31FBF9BD9}"/>
              </a:ext>
            </a:extLst>
          </p:cNvPr>
          <p:cNvSpPr>
            <a:spLocks xmlns:a="http://schemas.openxmlformats.org/drawingml/2006/main" noGrp="1"/>
          </p:cNvSpPr>
          <p:nvPr/>
        </p:nvSpPr>
        <p:spPr>
          <a:xfrm xmlns:a="http://schemas.openxmlformats.org/drawingml/2006/main">
            <a:off x="609600" y="17145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950" b="1">
                <a:solidFill>
                  <a:srgbClr val="087F8C"/>
                </a:solidFill>
                <a:latin typeface="Arial"/>
                <a:ea typeface="Arial"/>
                <a:cs typeface="Arial"/>
              </a:defRPr>
            </a:defPPr>
          </a:lstStyle>
          <a:p xmlns:a="http://schemas.openxmlformats.org/drawingml/2006/main">
            <a:pPr>
              <a:defRPr sz="4950" b="1">
                <a:solidFill>
                  <a:srgbClr val="087F8C"/>
                </a:solidFill>
                <a:latin typeface="Arial"/>
                <a:ea typeface="Arial"/>
                <a:cs typeface="Arial"/>
              </a:defRPr>
            </a:pPr>
            <a:r>
              <a:rPr sz="4950" b="1">
                <a:solidFill>
                  <a:srgbClr val="087F8C"/>
                </a:solidFill>
                <a:latin typeface="Arial"/>
                <a:ea typeface="Arial"/>
                <a:cs typeface="Arial"/>
              </a:rPr>
              <a:t>1,960,000</a:t>
            </a:r>
          </a:p>
        </p:txBody>
      </p:sp>
      <p:sp>
        <p:nvSpPr>
          <p:cNvPr id="5" name="text-4">
            <a:extLst xmlns:a="http://schemas.openxmlformats.org/drawingml/2006/main">
              <a:ext uri="{FF2B5EF4-FFF2-40B4-BE49-F238E27FC236}">
                <a16:creationId xmlns:a16="http://schemas.microsoft.com/office/drawing/2014/main" id="{AF2A2D0B-B594-4E7E-8B26-FB43D19BEF4D}"/>
              </a:ext>
            </a:extLst>
          </p:cNvPr>
          <p:cNvSpPr>
            <a:spLocks xmlns:a="http://schemas.openxmlformats.org/drawingml/2006/main" noGrp="1"/>
          </p:cNvSpPr>
          <p:nvPr/>
        </p:nvSpPr>
        <p:spPr>
          <a:xfrm xmlns:a="http://schemas.openxmlformats.org/drawingml/2006/main">
            <a:off x="609600" y="26955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pixels in one field image</a:t>
            </a:r>
          </a:p>
        </p:txBody>
      </p:sp>
      <p:sp>
        <p:nvSpPr>
          <p:cNvPr id="6" name="text-5">
            <a:extLst xmlns:a="http://schemas.openxmlformats.org/drawingml/2006/main">
              <a:ext uri="{FF2B5EF4-FFF2-40B4-BE49-F238E27FC236}">
                <a16:creationId xmlns:a16="http://schemas.microsoft.com/office/drawing/2014/main" id="{3B77EC76-67DC-4270-8034-2682E5590FB2}"/>
              </a:ext>
            </a:extLst>
          </p:cNvPr>
          <p:cNvSpPr>
            <a:spLocks xmlns:a="http://schemas.openxmlformats.org/drawingml/2006/main" noGrp="1"/>
          </p:cNvSpPr>
          <p:nvPr/>
        </p:nvSpPr>
        <p:spPr>
          <a:xfrm xmlns:a="http://schemas.openxmlformats.org/drawingml/2006/main">
            <a:off x="609600" y="36099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00" b="1">
                <a:solidFill>
                  <a:srgbClr val="BB572B"/>
                </a:solidFill>
                <a:latin typeface="Arial"/>
                <a:ea typeface="Arial"/>
                <a:cs typeface="Arial"/>
              </a:defRPr>
            </a:defPPr>
          </a:lstStyle>
          <a:p xmlns:a="http://schemas.openxmlformats.org/drawingml/2006/main">
            <a:pPr>
              <a:defRPr sz="4800" b="1">
                <a:solidFill>
                  <a:srgbClr val="BB572B"/>
                </a:solidFill>
                <a:latin typeface="Arial"/>
                <a:ea typeface="Arial"/>
                <a:cs typeface="Arial"/>
              </a:defRPr>
            </a:pPr>
            <a:r>
              <a:rPr sz="4800" b="1">
                <a:solidFill>
                  <a:srgbClr val="BB572B"/>
                </a:solidFill>
                <a:latin typeface="Arial"/>
                <a:ea typeface="Arial"/>
                <a:cs typeface="Arial"/>
              </a:rPr>
              <a:t>15.4 TB</a:t>
            </a:r>
          </a:p>
        </p:txBody>
      </p:sp>
      <p:sp>
        <p:nvSpPr>
          <p:cNvPr id="7" name="text-6">
            <a:extLst xmlns:a="http://schemas.openxmlformats.org/drawingml/2006/main">
              <a:ext uri="{FF2B5EF4-FFF2-40B4-BE49-F238E27FC236}">
                <a16:creationId xmlns:a16="http://schemas.microsoft.com/office/drawing/2014/main" id="{4FEED3DF-9031-421D-A8E4-D0FB640B081C}"/>
              </a:ext>
            </a:extLst>
          </p:cNvPr>
          <p:cNvSpPr>
            <a:spLocks xmlns:a="http://schemas.openxmlformats.org/drawingml/2006/main" noGrp="1"/>
          </p:cNvSpPr>
          <p:nvPr/>
        </p:nvSpPr>
        <p:spPr>
          <a:xfrm xmlns:a="http://schemas.openxmlformats.org/drawingml/2006/main">
            <a:off x="609600" y="45243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for one dense float32 image-to-image matrix</a:t>
            </a:r>
          </a:p>
        </p:txBody>
      </p:sp>
      <p:sp>
        <p:nvSpPr>
          <p:cNvPr id="8" name="text-7">
            <a:extLst xmlns:a="http://schemas.openxmlformats.org/drawingml/2006/main">
              <a:ext uri="{FF2B5EF4-FFF2-40B4-BE49-F238E27FC236}">
                <a16:creationId xmlns:a16="http://schemas.microsoft.com/office/drawing/2014/main" id="{ABD23B2C-0478-427F-8365-485EA4A64FA2}"/>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Parameter sharing makes full-resolution learning feasible</a:t>
            </a:r>
          </a:p>
        </p:txBody>
      </p:sp>
    </p:spTree>
    <p:extLst>
      <p:ext uri="{BB962C8B-B14F-4D97-AF65-F5344CB8AC3E}">
        <p14:creationId xmlns:p14="http://schemas.microsoft.com/office/powerpoint/2010/main" val="1906041957"/>
      </p:ext>
    </p:extLst>
  </p:cSld>
</p:sld>
</file>

<file path=ppt/slides/slide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1E15E9A-A84C-41F6-9F7B-EFE187714A01}"/>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Our equation follows from a parameterization</a:t>
            </a:r>
          </a:p>
        </p:txBody>
      </p:sp>
      <p:sp>
        <p:nvSpPr>
          <p:cNvPr id="2" name="text-1">
            <a:extLst xmlns:a="http://schemas.openxmlformats.org/drawingml/2006/main">
              <a:ext uri="{FF2B5EF4-FFF2-40B4-BE49-F238E27FC236}">
                <a16:creationId xmlns:a16="http://schemas.microsoft.com/office/drawing/2014/main" id="{CBDC32F6-A46F-441A-AD72-882EF89D1D2E}"/>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12A83B69-300D-4C8A-8465-95949265D6C3}"/>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09</a:t>
            </a:r>
          </a:p>
        </p:txBody>
      </p:sp>
      <p:sp>
        <p:nvSpPr>
          <p:cNvPr id="4" name="text-3">
            <a:extLst xmlns:a="http://schemas.openxmlformats.org/drawingml/2006/main">
              <a:ext uri="{FF2B5EF4-FFF2-40B4-BE49-F238E27FC236}">
                <a16:creationId xmlns:a16="http://schemas.microsoft.com/office/drawing/2014/main" id="{9C78C2B7-9A9D-431B-9A9B-286DEE1F8BE2}"/>
              </a:ext>
            </a:extLst>
          </p:cNvPr>
          <p:cNvSpPr>
            <a:spLocks xmlns:a="http://schemas.openxmlformats.org/drawingml/2006/main" noGrp="1"/>
          </p:cNvSpPr>
          <p:nvPr/>
        </p:nvSpPr>
        <p:spPr>
          <a:xfrm xmlns:a="http://schemas.openxmlformats.org/drawingml/2006/main">
            <a:off x="609600" y="16478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87F8C"/>
                </a:solidFill>
                <a:latin typeface="Arial"/>
                <a:ea typeface="Arial"/>
                <a:cs typeface="Arial"/>
              </a:defRPr>
            </a:defPPr>
          </a:lstStyle>
          <a:p xmlns:a="http://schemas.openxmlformats.org/drawingml/2006/main">
            <a:pPr>
              <a:defRPr sz="2775" b="1">
                <a:solidFill>
                  <a:srgbClr val="087F8C"/>
                </a:solidFill>
                <a:latin typeface="Arial"/>
                <a:ea typeface="Arial"/>
                <a:cs typeface="Arial"/>
              </a:defRPr>
            </a:pPr>
            <a:r>
              <a:rPr sz="2775" b="1">
                <a:solidFill>
                  <a:srgbClr val="087F8C"/>
                </a:solidFill>
                <a:latin typeface="Arial"/>
                <a:ea typeface="Arial"/>
                <a:cs typeface="Arial"/>
              </a:rPr>
              <a:t>W_b = α A* + C_b</a:t>
            </a:r>
          </a:p>
        </p:txBody>
      </p:sp>
      <p:sp>
        <p:nvSpPr>
          <p:cNvPr id="5" name="text-4">
            <a:extLst xmlns:a="http://schemas.openxmlformats.org/drawingml/2006/main">
              <a:ext uri="{FF2B5EF4-FFF2-40B4-BE49-F238E27FC236}">
                <a16:creationId xmlns:a16="http://schemas.microsoft.com/office/drawing/2014/main" id="{A594FAA2-B9C3-44F3-A127-C746F5EFB9D1}"/>
              </a:ext>
            </a:extLst>
          </p:cNvPr>
          <p:cNvSpPr>
            <a:spLocks xmlns:a="http://schemas.openxmlformats.org/drawingml/2006/main" noGrp="1"/>
          </p:cNvSpPr>
          <p:nvPr/>
        </p:nvSpPr>
        <p:spPr>
          <a:xfrm xmlns:a="http://schemas.openxmlformats.org/drawingml/2006/main">
            <a:off x="609600" y="26098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87F8C"/>
                </a:solidFill>
                <a:latin typeface="Arial"/>
                <a:ea typeface="Arial"/>
                <a:cs typeface="Arial"/>
              </a:defRPr>
            </a:defPPr>
          </a:lstStyle>
          <a:p xmlns:a="http://schemas.openxmlformats.org/drawingml/2006/main">
            <a:pPr>
              <a:defRPr sz="2775" b="1">
                <a:solidFill>
                  <a:srgbClr val="087F8C"/>
                </a:solidFill>
                <a:latin typeface="Arial"/>
                <a:ea typeface="Arial"/>
                <a:cs typeface="Arial"/>
              </a:defRPr>
            </a:pPr>
            <a:r>
              <a:rPr sz="2775" b="1">
                <a:solidFill>
                  <a:srgbClr val="087F8C"/>
                </a:solidFill>
                <a:latin typeface="Arial"/>
                <a:ea typeface="Arial"/>
                <a:cs typeface="Arial"/>
              </a:rPr>
              <a:t>W_x = I − α A*A + C_x</a:t>
            </a:r>
          </a:p>
        </p:txBody>
      </p:sp>
      <p:sp>
        <p:nvSpPr>
          <p:cNvPr id="6" name="text-5">
            <a:extLst xmlns:a="http://schemas.openxmlformats.org/drawingml/2006/main">
              <a:ext uri="{FF2B5EF4-FFF2-40B4-BE49-F238E27FC236}">
                <a16:creationId xmlns:a16="http://schemas.microsoft.com/office/drawing/2014/main" id="{36E822B8-8BBC-483C-8FF2-E36436FCF840}"/>
              </a:ext>
            </a:extLst>
          </p:cNvPr>
          <p:cNvSpPr>
            <a:spLocks xmlns:a="http://schemas.openxmlformats.org/drawingml/2006/main" noGrp="1"/>
          </p:cNvSpPr>
          <p:nvPr/>
        </p:nvSpPr>
        <p:spPr>
          <a:xfrm xmlns:a="http://schemas.openxmlformats.org/drawingml/2006/main">
            <a:off x="609600" y="38385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xₖ₊₁ = softθ[xₖ − α A*(Axₖ − b) + C_b b + C_x xₖ]</a:t>
            </a:r>
          </a:p>
        </p:txBody>
      </p:sp>
      <p:sp>
        <p:nvSpPr>
          <p:cNvPr id="7" name="text-6">
            <a:extLst xmlns:a="http://schemas.openxmlformats.org/drawingml/2006/main">
              <a:ext uri="{FF2B5EF4-FFF2-40B4-BE49-F238E27FC236}">
                <a16:creationId xmlns:a16="http://schemas.microsoft.com/office/drawing/2014/main" id="{DD0DAEBE-A270-4C4A-845C-571F4262EE70}"/>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design retains the ISTA update and learns corrections around it</a:t>
            </a:r>
          </a:p>
        </p:txBody>
      </p:sp>
    </p:spTree>
    <p:extLst>
      <p:ext uri="{BB962C8B-B14F-4D97-AF65-F5344CB8AC3E}">
        <p14:creationId xmlns:p14="http://schemas.microsoft.com/office/powerpoint/2010/main" val="1450001286"/>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894CAA5-2CDB-47BB-A88A-E9B2E63F93AA}"/>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role of each term</a:t>
            </a:r>
          </a:p>
        </p:txBody>
      </p:sp>
      <p:sp>
        <p:nvSpPr>
          <p:cNvPr id="2" name="text-1">
            <a:extLst xmlns:a="http://schemas.openxmlformats.org/drawingml/2006/main">
              <a:ext uri="{FF2B5EF4-FFF2-40B4-BE49-F238E27FC236}">
                <a16:creationId xmlns:a16="http://schemas.microsoft.com/office/drawing/2014/main" id="{3A2D05AF-E33D-4A7D-A0C2-0F0709B0D2AE}"/>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CCB1FF98-0D40-470D-9850-385794019849}"/>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917F29DE-9C88-42DE-AF89-3F16E38DD4C1}"/>
              </a:ext>
            </a:extLst>
          </p:cNvPr>
          <p:cNvGraphicFramePr/>
          <p:nvPr/>
        </p:nvGraphicFramePr>
        <p:xfrm>
          <a:off xmlns:a="http://schemas.openxmlformats.org/drawingml/2006/main" x="609600" y="1600200"/>
          <a:ext xmlns:a="http://schemas.openxmlformats.org/drawingml/2006/main" cx="10972800" cy="3429000"/>
        </p:xfrm>
        <a:graphic xmlns:a="http://schemas.openxmlformats.org/drawingml/2006/main">
          <a:graphicData uri="http://schemas.openxmlformats.org/drawingml/2006/table">
            <a:tbl>
              <a:tblPr/>
              <a:tblGrid>
                <a:gridCol w="3190875"/>
                <a:gridCol w="7781925"/>
              </a:tblGrid>
              <a:tr h="685800">
                <a:tc>
                  <a:txBody>
                    <a:bodyPr lIns="114300" tIns="114300" rIns="114300" bIns="114300"/>
                    <a:lstStyle/>
                    <a:p>
                      <a:r>
                        <a:rPr sz="1875" b="1">
                          <a:solidFill>
                            <a:srgbClr val="FFFFFF"/>
                          </a:solidFill>
                          <a:latin typeface="Arial"/>
                          <a:ea typeface="Arial"/>
                          <a:cs typeface="Arial"/>
                        </a:rPr>
                        <a:t>Term</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Role</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85800">
                <a:tc>
                  <a:txBody>
                    <a:bodyPr lIns="114300" tIns="114300" rIns="114300" bIns="114300"/>
                    <a:lstStyle/>
                    <a:p>
                      <a:r>
                        <a:rPr sz="1875" b="0">
                          <a:solidFill>
                            <a:srgbClr val="152B3B"/>
                          </a:solidFill>
                          <a:latin typeface="Arial"/>
                          <a:ea typeface="Arial"/>
                          <a:cs typeface="Arial"/>
                        </a:rPr>
                        <a:t>−α A*(Axₖ − b)</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Correction from measurement disagreement</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85800">
                <a:tc>
                  <a:txBody>
                    <a:bodyPr lIns="114300" tIns="114300" rIns="114300" bIns="114300"/>
                    <a:lstStyle/>
                    <a:p>
                      <a:r>
                        <a:rPr sz="1875" b="0">
                          <a:solidFill>
                            <a:srgbClr val="152B3B"/>
                          </a:solidFill>
                          <a:latin typeface="Arial"/>
                          <a:ea typeface="Arial"/>
                          <a:cs typeface="Arial"/>
                        </a:rPr>
                        <a:t>C_b b</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Learned local filtering of the observation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85800">
                <a:tc>
                  <a:txBody>
                    <a:bodyPr lIns="114300" tIns="114300" rIns="114300" bIns="114300"/>
                    <a:lstStyle/>
                    <a:p>
                      <a:r>
                        <a:rPr sz="1875" b="0">
                          <a:solidFill>
                            <a:srgbClr val="152B3B"/>
                          </a:solidFill>
                          <a:latin typeface="Arial"/>
                          <a:ea typeface="Arial"/>
                          <a:cs typeface="Arial"/>
                        </a:rPr>
                        <a:t>C_x xₖ</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Learned local filtering of the current estimate</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85800">
                <a:tc>
                  <a:txBody>
                    <a:bodyPr lIns="114300" tIns="114300" rIns="114300" bIns="114300"/>
                    <a:lstStyle/>
                    <a:p>
                      <a:r>
                        <a:rPr sz="1875" b="0">
                          <a:solidFill>
                            <a:srgbClr val="152B3B"/>
                          </a:solidFill>
                          <a:latin typeface="Arial"/>
                          <a:ea typeface="Arial"/>
                          <a:cs typeface="Arial"/>
                        </a:rPr>
                        <a:t>softθ</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Nonlinear shrinkage with a learned threshold</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B4C8FB8C-DEFE-4C13-87DF-CEBB15185C29}"/>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Fourier operator still supplies the long-range response</a:t>
            </a:r>
          </a:p>
        </p:txBody>
      </p:sp>
    </p:spTree>
    <p:extLst>
      <p:ext uri="{BB962C8B-B14F-4D97-AF65-F5344CB8AC3E}">
        <p14:creationId xmlns:p14="http://schemas.microsoft.com/office/powerpoint/2010/main" val="2055833274"/>
      </p:ext>
    </p:extLst>
  </p:cSld>
</p:sld>
</file>

<file path=ppt/slides/slide1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EA9C1BB1-A90B-4073-93E7-0C221D8232E6}"/>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implemented ConvLISTA block</a:t>
            </a:r>
          </a:p>
        </p:txBody>
      </p:sp>
      <p:sp>
        <p:nvSpPr>
          <p:cNvPr id="2" name="text-1">
            <a:extLst xmlns:a="http://schemas.openxmlformats.org/drawingml/2006/main">
              <a:ext uri="{FF2B5EF4-FFF2-40B4-BE49-F238E27FC236}">
                <a16:creationId xmlns:a16="http://schemas.microsoft.com/office/drawing/2014/main" id="{6FEA7DF3-3AB6-48DD-81AB-485808B5BF35}"/>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593AA542-6ABA-4E6B-B959-4B2A1161A312}"/>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11</a:t>
            </a:r>
          </a:p>
        </p:txBody>
      </p:sp>
      <p:sp>
        <p:nvSpPr>
          <p:cNvPr id="4" name="text-3">
            <a:extLst xmlns:a="http://schemas.openxmlformats.org/drawingml/2006/main">
              <a:ext uri="{FF2B5EF4-FFF2-40B4-BE49-F238E27FC236}">
                <a16:creationId xmlns:a16="http://schemas.microsoft.com/office/drawing/2014/main" id="{7515CDA9-725C-4A67-8FD1-FF45F2BC6861}"/>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Two shared 9 × 9 filters and one shared threshold</a:t>
            </a:r>
          </a:p>
        </p:txBody>
      </p:sp>
      <p:sp>
        <p:nvSpPr>
          <p:cNvPr id="5" name="text-4">
            <a:extLst xmlns:a="http://schemas.openxmlformats.org/drawingml/2006/main">
              <a:ext uri="{FF2B5EF4-FFF2-40B4-BE49-F238E27FC236}">
                <a16:creationId xmlns:a16="http://schemas.microsoft.com/office/drawing/2014/main" id="{118EAAB0-2CD9-40E6-830A-6E78E24C82F6}"/>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163 trainable parameters at either 8 or 16 layers</a:t>
            </a:r>
          </a:p>
        </p:txBody>
      </p:sp>
      <p:sp>
        <p:nvSpPr>
          <p:cNvPr id="6" name="text-5">
            <a:extLst xmlns:a="http://schemas.openxmlformats.org/drawingml/2006/main">
              <a:ext uri="{FF2B5EF4-FFF2-40B4-BE49-F238E27FC236}">
                <a16:creationId xmlns:a16="http://schemas.microsoft.com/office/drawing/2014/main" id="{C360B3CC-EB7A-416F-B4C3-11BB66BBB10A}"/>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Default x₀ = b. The same update repeats K times.</a:t>
            </a:r>
          </a:p>
        </p:txBody>
      </p:sp>
      <p:sp>
        <p:nvSpPr>
          <p:cNvPr id="7" name="text-6">
            <a:extLst xmlns:a="http://schemas.openxmlformats.org/drawingml/2006/main">
              <a:ext uri="{FF2B5EF4-FFF2-40B4-BE49-F238E27FC236}">
                <a16:creationId xmlns:a16="http://schemas.microsoft.com/office/drawing/2014/main" id="{D8D3BD31-E53A-47DE-B5C7-BBD0F0BF9804}"/>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Bx, By and Bz use one model as separate single-channel inputs.</a:t>
            </a:r>
          </a:p>
        </p:txBody>
      </p:sp>
      <p:sp>
        <p:nvSpPr>
          <p:cNvPr id="8" name="text-7">
            <a:extLst xmlns:a="http://schemas.openxmlformats.org/drawingml/2006/main">
              <a:ext uri="{FF2B5EF4-FFF2-40B4-BE49-F238E27FC236}">
                <a16:creationId xmlns:a16="http://schemas.microsoft.com/office/drawing/2014/main" id="{FEA149CF-540B-4694-85FA-870D9B61BE56}"/>
              </a:ext>
            </a:extLst>
          </p:cNvPr>
          <p:cNvSpPr>
            <a:spLocks xmlns:a="http://schemas.openxmlformats.org/drawingml/2006/main" noGrp="1"/>
          </p:cNvSpPr>
          <p:nvPr/>
        </p:nvSpPr>
        <p:spPr>
          <a:xfrm xmlns:a="http://schemas.openxmlformats.org/drawingml/2006/main">
            <a:off x="609600" y="55245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Filter size and depth are starting choices, not proven optima.</a:t>
            </a:r>
          </a:p>
        </p:txBody>
      </p:sp>
    </p:spTree>
    <p:extLst>
      <p:ext uri="{BB962C8B-B14F-4D97-AF65-F5344CB8AC3E}">
        <p14:creationId xmlns:p14="http://schemas.microsoft.com/office/powerpoint/2010/main" val="886172464"/>
      </p:ext>
    </p:extLst>
  </p:cSld>
</p:sld>
</file>

<file path=ppt/slides/slide1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8C9384E-BE6E-4BDD-AFAE-75FA777069CA}"/>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Training starts at ISTA</a:t>
            </a:r>
          </a:p>
        </p:txBody>
      </p:sp>
      <p:sp>
        <p:nvSpPr>
          <p:cNvPr id="2" name="text-1">
            <a:extLst xmlns:a="http://schemas.openxmlformats.org/drawingml/2006/main">
              <a:ext uri="{FF2B5EF4-FFF2-40B4-BE49-F238E27FC236}">
                <a16:creationId xmlns:a16="http://schemas.microsoft.com/office/drawing/2014/main" id="{A622906A-5EB2-4194-BC51-FB0E8780423C}"/>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31BA4926-3D31-44FB-9F94-FE12CBA28CAE}"/>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12</a:t>
            </a:r>
          </a:p>
        </p:txBody>
      </p:sp>
      <p:sp>
        <p:nvSpPr>
          <p:cNvPr id="4" name="text-3">
            <a:extLst xmlns:a="http://schemas.openxmlformats.org/drawingml/2006/main">
              <a:ext uri="{FF2B5EF4-FFF2-40B4-BE49-F238E27FC236}">
                <a16:creationId xmlns:a16="http://schemas.microsoft.com/office/drawing/2014/main" id="{7EBC9061-0666-4E12-9692-5C894CEAF4B6}"/>
              </a:ext>
            </a:extLst>
          </p:cNvPr>
          <p:cNvSpPr>
            <a:spLocks xmlns:a="http://schemas.openxmlformats.org/drawingml/2006/main" noGrp="1"/>
          </p:cNvSpPr>
          <p:nvPr/>
        </p:nvSpPr>
        <p:spPr>
          <a:xfrm xmlns:a="http://schemas.openxmlformats.org/drawingml/2006/main">
            <a:off x="609600" y="16668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C_b = 0,   C_x = 0,   θ = αλ</a:t>
            </a:r>
          </a:p>
        </p:txBody>
      </p:sp>
      <p:sp>
        <p:nvSpPr>
          <p:cNvPr id="5" name="text-4">
            <a:extLst xmlns:a="http://schemas.openxmlformats.org/drawingml/2006/main">
              <a:ext uri="{FF2B5EF4-FFF2-40B4-BE49-F238E27FC236}">
                <a16:creationId xmlns:a16="http://schemas.microsoft.com/office/drawing/2014/main" id="{A054423B-2F87-457E-B83E-4A1C73E2E575}"/>
              </a:ext>
            </a:extLst>
          </p:cNvPr>
          <p:cNvSpPr>
            <a:spLocks xmlns:a="http://schemas.openxmlformats.org/drawingml/2006/main" noGrp="1"/>
          </p:cNvSpPr>
          <p:nvPr/>
        </p:nvSpPr>
        <p:spPr>
          <a:xfrm xmlns:a="http://schemas.openxmlformats.org/drawingml/2006/main">
            <a:off x="609600" y="27241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F8C"/>
                </a:solidFill>
                <a:latin typeface="Arial"/>
                <a:ea typeface="Arial"/>
                <a:cs typeface="Arial"/>
              </a:defRPr>
            </a:def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Before training: exactly K ISTA steps</a:t>
            </a:r>
          </a:p>
        </p:txBody>
      </p:sp>
      <p:sp>
        <p:nvSpPr>
          <p:cNvPr id="6" name="text-5">
            <a:extLst xmlns:a="http://schemas.openxmlformats.org/drawingml/2006/main">
              <a:ext uri="{FF2B5EF4-FFF2-40B4-BE49-F238E27FC236}">
                <a16:creationId xmlns:a16="http://schemas.microsoft.com/office/drawing/2014/main" id="{E0426699-DF51-40D1-94B3-AB1F04E5C3EC}"/>
              </a:ext>
            </a:extLst>
          </p:cNvPr>
          <p:cNvSpPr>
            <a:spLocks xmlns:a="http://schemas.openxmlformats.org/drawingml/2006/main" noGrp="1"/>
          </p:cNvSpPr>
          <p:nvPr/>
        </p:nvSpPr>
        <p:spPr>
          <a:xfrm xmlns:a="http://schemas.openxmlformats.org/drawingml/2006/main">
            <a:off x="609600" y="37052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087F8C"/>
                </a:solidFill>
                <a:latin typeface="Arial"/>
                <a:ea typeface="Arial"/>
                <a:cs typeface="Arial"/>
              </a:defRPr>
            </a:defPPr>
          </a:lstStyle>
          <a:p xmlns:a="http://schemas.openxmlformats.org/drawingml/2006/main">
            <a:pPr>
              <a:defRPr sz="2625" b="1">
                <a:solidFill>
                  <a:srgbClr val="087F8C"/>
                </a:solidFill>
                <a:latin typeface="Arial"/>
                <a:ea typeface="Arial"/>
                <a:cs typeface="Arial"/>
              </a:defRPr>
            </a:pPr>
            <a:r>
              <a:rPr sz="2625" b="1">
                <a:solidFill>
                  <a:srgbClr val="087F8C"/>
                </a:solidFill>
                <a:latin typeface="Arial"/>
                <a:ea typeface="Arial"/>
                <a:cs typeface="Arial"/>
              </a:rPr>
              <a:t>Training loss = mean[(xᴷ − x_ref)²]</a:t>
            </a:r>
          </a:p>
        </p:txBody>
      </p:sp>
      <p:sp>
        <p:nvSpPr>
          <p:cNvPr id="7" name="text-6">
            <a:extLst xmlns:a="http://schemas.openxmlformats.org/drawingml/2006/main">
              <a:ext uri="{FF2B5EF4-FFF2-40B4-BE49-F238E27FC236}">
                <a16:creationId xmlns:a16="http://schemas.microsoft.com/office/drawing/2014/main" id="{3124DE3D-B696-41F7-A3E4-C9D4AEB06FA7}"/>
              </a:ext>
            </a:extLst>
          </p:cNvPr>
          <p:cNvSpPr>
            <a:spLocks xmlns:a="http://schemas.openxmlformats.org/drawingml/2006/main" noGrp="1"/>
          </p:cNvSpPr>
          <p:nvPr/>
        </p:nvSpPr>
        <p:spPr>
          <a:xfrm xmlns:a="http://schemas.openxmlformats.org/drawingml/2006/main">
            <a:off x="609600" y="48577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The network learns sharp-field reconstruction.</a:t>
            </a:r>
          </a:p>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Its loss differs from the baseline L₁ objective.</a:t>
            </a:r>
          </a:p>
        </p:txBody>
      </p:sp>
    </p:spTree>
    <p:extLst>
      <p:ext uri="{BB962C8B-B14F-4D97-AF65-F5344CB8AC3E}">
        <p14:creationId xmlns:p14="http://schemas.microsoft.com/office/powerpoint/2010/main" val="840333304"/>
      </p:ext>
    </p:extLst>
  </p:cSld>
</p:sld>
</file>

<file path=ppt/slides/slide1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8CB358E-A7F2-4D8C-AA19-C09AE56EA06F}"/>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Documented origin and related literature</a:t>
            </a:r>
          </a:p>
        </p:txBody>
      </p:sp>
      <p:sp>
        <p:nvSpPr>
          <p:cNvPr id="2" name="text-1">
            <a:extLst xmlns:a="http://schemas.openxmlformats.org/drawingml/2006/main">
              <a:ext uri="{FF2B5EF4-FFF2-40B4-BE49-F238E27FC236}">
                <a16:creationId xmlns:a16="http://schemas.microsoft.com/office/drawing/2014/main" id="{3CA13CCF-AFC5-431E-809E-A5120DFF7C9C}"/>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Project provenance: commit 86a0907, 24 September 2026</a:t>
            </a:r>
          </a:p>
        </p:txBody>
      </p:sp>
      <p:sp>
        <p:nvSpPr>
          <p:cNvPr id="3" name="text-2">
            <a:extLst xmlns:a="http://schemas.openxmlformats.org/drawingml/2006/main">
              <a:ext uri="{FF2B5EF4-FFF2-40B4-BE49-F238E27FC236}">
                <a16:creationId xmlns:a16="http://schemas.microsoft.com/office/drawing/2014/main" id="{2EA061AC-093D-43B6-85A6-F0BE50279ACB}"/>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13</a:t>
            </a:r>
          </a:p>
        </p:txBody>
      </p:sp>
      <p:sp>
        <p:nvSpPr>
          <p:cNvPr id="4" name="text-3">
            <a:extLst xmlns:a="http://schemas.openxmlformats.org/drawingml/2006/main">
              <a:ext uri="{FF2B5EF4-FFF2-40B4-BE49-F238E27FC236}">
                <a16:creationId xmlns:a16="http://schemas.microsoft.com/office/drawing/2014/main" id="{2642F89E-A21B-40D9-88D8-5113744535B6}"/>
              </a:ext>
            </a:extLst>
          </p:cNvPr>
          <p:cNvSpPr>
            <a:spLocks xmlns:a="http://schemas.openxmlformats.org/drawingml/2006/main" noGrp="1"/>
          </p:cNvSpPr>
          <p:nvPr/>
        </p:nvSpPr>
        <p:spPr>
          <a:xfrm xmlns:a="http://schemas.openxmlformats.org/drawingml/2006/main">
            <a:off x="609600" y="1590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Gregor and LeCun (2010): learned unfolded sparse-recovery iterations</a:t>
            </a:r>
          </a:p>
        </p:txBody>
      </p:sp>
      <p:sp>
        <p:nvSpPr>
          <p:cNvPr id="5" name="text-4">
            <a:extLst xmlns:a="http://schemas.openxmlformats.org/drawingml/2006/main">
              <a:ext uri="{FF2B5EF4-FFF2-40B4-BE49-F238E27FC236}">
                <a16:creationId xmlns:a16="http://schemas.microsoft.com/office/drawing/2014/main" id="{0F2A62A4-124A-4A91-BAFA-D80500F103DE}"/>
              </a:ext>
            </a:extLst>
          </p:cNvPr>
          <p:cNvSpPr>
            <a:spLocks xmlns:a="http://schemas.openxmlformats.org/drawingml/2006/main" noGrp="1"/>
          </p:cNvSpPr>
          <p:nvPr/>
        </p:nvSpPr>
        <p:spPr>
          <a:xfrm xmlns:a="http://schemas.openxmlformats.org/drawingml/2006/main">
            <a:off x="609600" y="2695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Our project: fixed forward operator plus shared convolutional corrections</a:t>
            </a:r>
          </a:p>
        </p:txBody>
      </p:sp>
      <p:sp>
        <p:nvSpPr>
          <p:cNvPr id="6" name="text-5">
            <a:extLst xmlns:a="http://schemas.openxmlformats.org/drawingml/2006/main">
              <a:ext uri="{FF2B5EF4-FFF2-40B4-BE49-F238E27FC236}">
                <a16:creationId xmlns:a16="http://schemas.microsoft.com/office/drawing/2014/main" id="{BD8A0DE9-1456-4B47-9975-2391A95AF4BF}"/>
              </a:ext>
            </a:extLst>
          </p:cNvPr>
          <p:cNvSpPr>
            <a:spLocks xmlns:a="http://schemas.openxmlformats.org/drawingml/2006/main" noGrp="1"/>
          </p:cNvSpPr>
          <p:nvPr/>
        </p:nvSpPr>
        <p:spPr>
          <a:xfrm xmlns:a="http://schemas.openxmlformats.org/drawingml/2006/main">
            <a:off x="609600" y="38004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Sreter and Giryes (2018): related convolutional sparse-coding literature</a:t>
            </a:r>
          </a:p>
        </p:txBody>
      </p:sp>
      <p:sp>
        <p:nvSpPr>
          <p:cNvPr id="7" name="text-6">
            <a:extLst xmlns:a="http://schemas.openxmlformats.org/drawingml/2006/main">
              <a:ext uri="{FF2B5EF4-FFF2-40B4-BE49-F238E27FC236}">
                <a16:creationId xmlns:a16="http://schemas.microsoft.com/office/drawing/2014/main" id="{1727F64A-7BFD-4287-A074-3B0285AC12D8}"/>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exact correction block is a documented project adaptation</a:t>
            </a:r>
          </a:p>
        </p:txBody>
      </p:sp>
    </p:spTree>
    <p:extLst>
      <p:ext uri="{BB962C8B-B14F-4D97-AF65-F5344CB8AC3E}">
        <p14:creationId xmlns:p14="http://schemas.microsoft.com/office/powerpoint/2010/main" val="1144642949"/>
      </p:ext>
    </p:extLst>
  </p:cSld>
</p:sld>
</file>

<file path=ppt/slides/slide1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0440B2D-C572-43AD-BDFF-2AC0F5EAE27F}"/>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Advantages and limits of the design</a:t>
            </a:r>
          </a:p>
        </p:txBody>
      </p:sp>
      <p:sp>
        <p:nvSpPr>
          <p:cNvPr id="2" name="text-1">
            <a:extLst xmlns:a="http://schemas.openxmlformats.org/drawingml/2006/main">
              <a:ext uri="{FF2B5EF4-FFF2-40B4-BE49-F238E27FC236}">
                <a16:creationId xmlns:a16="http://schemas.microsoft.com/office/drawing/2014/main" id="{DF8B75A8-43E7-4CC2-AA14-AC86869F208C}"/>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0FBF2C2C-87B0-45AD-928C-AD2C1CAE1F9C}"/>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E09B52E1-F601-4A26-B6F2-7C64376A5E0C}"/>
              </a:ext>
            </a:extLst>
          </p:cNvPr>
          <p:cNvGraphicFramePr/>
          <p:nvPr/>
        </p:nvGraphicFramePr>
        <p:xfrm>
          <a:off xmlns:a="http://schemas.openxmlformats.org/drawingml/2006/main" x="609600" y="1600200"/>
          <a:ext xmlns:a="http://schemas.openxmlformats.org/drawingml/2006/main" cx="10972800" cy="3571875"/>
        </p:xfrm>
        <a:graphic xmlns:a="http://schemas.openxmlformats.org/drawingml/2006/main">
          <a:graphicData uri="http://schemas.openxmlformats.org/drawingml/2006/table">
            <a:tbl>
              <a:tblPr/>
              <a:tblGrid>
                <a:gridCol w="5267325"/>
                <a:gridCol w="5705475"/>
              </a:tblGrid>
              <a:tr h="714375">
                <a:tc>
                  <a:txBody>
                    <a:bodyPr lIns="114300" tIns="114300" rIns="114300" bIns="114300"/>
                    <a:lstStyle/>
                    <a:p>
                      <a:r>
                        <a:rPr sz="1800" b="1">
                          <a:solidFill>
                            <a:srgbClr val="FFFFFF"/>
                          </a:solidFill>
                          <a:latin typeface="Arial"/>
                          <a:ea typeface="Arial"/>
                          <a:cs typeface="Arial"/>
                        </a:rPr>
                        <a:t>Reason to use it</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00" b="1">
                          <a:solidFill>
                            <a:srgbClr val="FFFFFF"/>
                          </a:solidFill>
                          <a:latin typeface="Arial"/>
                          <a:ea typeface="Arial"/>
                          <a:cs typeface="Arial"/>
                        </a:rPr>
                        <a:t>Limit to retain</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14375">
                <a:tc>
                  <a:txBody>
                    <a:bodyPr lIns="114300" tIns="114300" rIns="114300" bIns="114300"/>
                    <a:lstStyle/>
                    <a:p>
                      <a:r>
                        <a:rPr sz="1800" b="0">
                          <a:solidFill>
                            <a:srgbClr val="152B3B"/>
                          </a:solidFill>
                          <a:latin typeface="Arial"/>
                          <a:ea typeface="Arial"/>
                          <a:cs typeface="Arial"/>
                        </a:rPr>
                        <a:t>Exact ISTA initialization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Training changes the iteration dynamics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14375">
                <a:tc>
                  <a:txBody>
                    <a:bodyPr lIns="114300" tIns="114300" rIns="114300" bIns="114300"/>
                    <a:lstStyle/>
                    <a:p>
                      <a:r>
                        <a:rPr sz="1800" b="0">
                          <a:solidFill>
                            <a:srgbClr val="152B3B"/>
                          </a:solidFill>
                          <a:latin typeface="Arial"/>
                          <a:ea typeface="Arial"/>
                          <a:cs typeface="Arial"/>
                        </a:rPr>
                        <a:t>Only 163 learned parameters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Full-image activations and FFTs still cost memory</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714375">
                <a:tc>
                  <a:txBody>
                    <a:bodyPr lIns="114300" tIns="114300" rIns="114300" bIns="114300"/>
                    <a:lstStyle/>
                    <a:p>
                      <a:r>
                        <a:rPr sz="1800" b="0">
                          <a:solidFill>
                            <a:srgbClr val="152B3B"/>
                          </a:solidFill>
                          <a:latin typeface="Arial"/>
                          <a:ea typeface="Arial"/>
                          <a:cs typeface="Arial"/>
                        </a:rPr>
                        <a:t>Forward residual in every layer</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No guarantee of final data consistency</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14375">
                <a:tc>
                  <a:txBody>
                    <a:bodyPr lIns="114300" tIns="114300" rIns="114300" bIns="114300"/>
                    <a:lstStyle/>
                    <a:p>
                      <a:r>
                        <a:rPr sz="1800" b="0">
                          <a:solidFill>
                            <a:srgbClr val="152B3B"/>
                          </a:solidFill>
                          <a:latin typeface="Arial"/>
                          <a:ea typeface="Arial"/>
                          <a:cs typeface="Arial"/>
                        </a:rPr>
                        <a:t>Direct sharp-field supervision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Performance may depend on the training fields</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671236E1-0E3F-4343-8954-6C10DA31E9D4}"/>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Extra iterations beyond the trained depth have no established guarantee</a:t>
            </a:r>
          </a:p>
        </p:txBody>
      </p:sp>
    </p:spTree>
    <p:extLst>
      <p:ext uri="{BB962C8B-B14F-4D97-AF65-F5344CB8AC3E}">
        <p14:creationId xmlns:p14="http://schemas.microsoft.com/office/powerpoint/2010/main" val="1607011155"/>
      </p:ext>
    </p:extLst>
  </p:cSld>
</p:sld>
</file>

<file path=ppt/slides/slide1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049D858-99EA-4B95-94FA-ED05AD5064E7}"/>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Magnetic-field experiment settings</a:t>
            </a:r>
          </a:p>
        </p:txBody>
      </p:sp>
      <p:sp>
        <p:nvSpPr>
          <p:cNvPr id="2" name="text-1">
            <a:extLst xmlns:a="http://schemas.openxmlformats.org/drawingml/2006/main">
              <a:ext uri="{FF2B5EF4-FFF2-40B4-BE49-F238E27FC236}">
                <a16:creationId xmlns:a16="http://schemas.microsoft.com/office/drawing/2014/main" id="{D54C8E60-DAC7-430C-BBF1-3A3D0B4ED57C}"/>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COMSOL magnetic fields, same-sample evaluation</a:t>
            </a:r>
          </a:p>
        </p:txBody>
      </p:sp>
      <p:sp>
        <p:nvSpPr>
          <p:cNvPr id="3" name="text-2">
            <a:extLst xmlns:a="http://schemas.openxmlformats.org/drawingml/2006/main">
              <a:ext uri="{FF2B5EF4-FFF2-40B4-BE49-F238E27FC236}">
                <a16:creationId xmlns:a16="http://schemas.microsoft.com/office/drawing/2014/main" id="{9C1ED61C-EB17-4BDB-83B8-54AEB28C727E}"/>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15</a:t>
            </a:r>
          </a:p>
        </p:txBody>
      </p:sp>
      <p:sp>
        <p:nvSpPr>
          <p:cNvPr id="4" name="text-3">
            <a:extLst xmlns:a="http://schemas.openxmlformats.org/drawingml/2006/main">
              <a:ext uri="{FF2B5EF4-FFF2-40B4-BE49-F238E27FC236}">
                <a16:creationId xmlns:a16="http://schemas.microsoft.com/office/drawing/2014/main" id="{9451A7F3-CFEE-48B3-8962-59AF5CF3E757}"/>
              </a:ext>
            </a:extLst>
          </p:cNvPr>
          <p:cNvSpPr>
            <a:spLocks xmlns:a="http://schemas.openxmlformats.org/drawingml/2006/main" noGrp="1"/>
          </p:cNvSpPr>
          <p:nvPr/>
        </p:nvSpPr>
        <p:spPr>
          <a:xfrm xmlns:a="http://schemas.openxmlformats.org/drawingml/2006/main">
            <a:off x="609600" y="15906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One coil geometry, three 1400 × 1400 component images</a:t>
            </a:r>
          </a:p>
        </p:txBody>
      </p:sp>
      <p:sp>
        <p:nvSpPr>
          <p:cNvPr id="5" name="text-4">
            <a:extLst xmlns:a="http://schemas.openxmlformats.org/drawingml/2006/main">
              <a:ext uri="{FF2B5EF4-FFF2-40B4-BE49-F238E27FC236}">
                <a16:creationId xmlns:a16="http://schemas.microsoft.com/office/drawing/2014/main" id="{9140A3C4-2FFB-4E95-8ED6-7A92EF095148}"/>
              </a:ext>
            </a:extLst>
          </p:cNvPr>
          <p:cNvSpPr>
            <a:spLocks xmlns:a="http://schemas.openxmlformats.org/drawingml/2006/main" noGrp="1"/>
          </p:cNvSpPr>
          <p:nvPr/>
        </p:nvSpPr>
        <p:spPr>
          <a:xfrm xmlns:a="http://schemas.openxmlformats.org/drawingml/2006/main">
            <a:off x="609600" y="25336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16 layers, 200 epochs, learning rate 10⁻⁴, λ = 10⁻⁴</a:t>
            </a:r>
          </a:p>
        </p:txBody>
      </p:sp>
      <p:sp>
        <p:nvSpPr>
          <p:cNvPr id="6" name="text-5">
            <a:extLst xmlns:a="http://schemas.openxmlformats.org/drawingml/2006/main">
              <a:ext uri="{FF2B5EF4-FFF2-40B4-BE49-F238E27FC236}">
                <a16:creationId xmlns:a16="http://schemas.microsoft.com/office/drawing/2014/main" id="{DB2B1C8C-0B9D-4BF2-AACF-D3D90E5D973A}"/>
              </a:ext>
            </a:extLst>
          </p:cNvPr>
          <p:cNvSpPr>
            <a:spLocks xmlns:a="http://schemas.openxmlformats.org/drawingml/2006/main" noGrp="1"/>
          </p:cNvSpPr>
          <p:nvPr/>
        </p:nvSpPr>
        <p:spPr>
          <a:xfrm xmlns:a="http://schemas.openxmlformats.org/drawingml/2006/main">
            <a:off x="609600" y="3476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All three sharp fields supervise training and contribute to fitting A.</a:t>
            </a:r>
          </a:p>
        </p:txBody>
      </p:sp>
      <p:sp>
        <p:nvSpPr>
          <p:cNvPr id="7" name="text-6">
            <a:extLst xmlns:a="http://schemas.openxmlformats.org/drawingml/2006/main">
              <a:ext uri="{FF2B5EF4-FFF2-40B4-BE49-F238E27FC236}">
                <a16:creationId xmlns:a16="http://schemas.microsoft.com/office/drawing/2014/main" id="{44D32C07-7980-4824-8E07-944427AE8150}"/>
              </a:ext>
            </a:extLst>
          </p:cNvPr>
          <p:cNvSpPr>
            <a:spLocks xmlns:a="http://schemas.openxmlformats.org/drawingml/2006/main" noGrp="1"/>
          </p:cNvSpPr>
          <p:nvPr/>
        </p:nvSpPr>
        <p:spPr>
          <a:xfrm xmlns:a="http://schemas.openxmlformats.org/drawingml/2006/main">
            <a:off x="609600" y="44196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Comparisons: 16-step and 500-step ISTA/FISTA</a:t>
            </a:r>
          </a:p>
        </p:txBody>
      </p:sp>
    </p:spTree>
    <p:extLst>
      <p:ext uri="{BB962C8B-B14F-4D97-AF65-F5344CB8AC3E}">
        <p14:creationId xmlns:p14="http://schemas.microsoft.com/office/powerpoint/2010/main" val="46337074"/>
      </p:ext>
    </p:extLst>
  </p:cSld>
</p:sld>
</file>

<file path=ppt/slides/slide1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51E5D3B-D4BF-4838-BCF3-08B55206C771}"/>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ConvLISTA improves the 16-step result</a:t>
            </a:r>
          </a:p>
        </p:txBody>
      </p:sp>
      <p:sp>
        <p:nvSpPr>
          <p:cNvPr id="2" name="text-1">
            <a:extLst xmlns:a="http://schemas.openxmlformats.org/drawingml/2006/main">
              <a:ext uri="{FF2B5EF4-FFF2-40B4-BE49-F238E27FC236}">
                <a16:creationId xmlns:a16="http://schemas.microsoft.com/office/drawing/2014/main" id="{374DF519-6211-47DF-A269-DEFA1722F582}"/>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same training fields; lower error is better</a:t>
            </a:r>
          </a:p>
        </p:txBody>
      </p:sp>
      <p:sp>
        <p:nvSpPr>
          <p:cNvPr id="3" name="text-2">
            <a:extLst xmlns:a="http://schemas.openxmlformats.org/drawingml/2006/main">
              <a:ext uri="{FF2B5EF4-FFF2-40B4-BE49-F238E27FC236}">
                <a16:creationId xmlns:a16="http://schemas.microsoft.com/office/drawing/2014/main" id="{8822A523-9E2D-44D1-AA49-D9AB71B985C5}"/>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16</a:t>
            </a:r>
          </a:p>
        </p:txBody>
      </p:sp>
      <p:graphicFrame>
        <p:nvGraphicFramePr>
          <p:cNvPr id="4" name="Chart">
            <a:extLst xmlns:a="http://schemas.openxmlformats.org/drawingml/2006/main">
              <a:ext uri="{FF2B5EF4-FFF2-40B4-BE49-F238E27FC236}">
                <a16:creationId xmlns:a16="http://schemas.microsoft.com/office/drawing/2014/main" id="{468E06DD-C735-4594-82F4-8969044B62D6}"/>
              </a:ext>
            </a:extLst>
          </p:cNvPr>
          <p:cNvGraphicFramePr/>
          <p:nvPr/>
        </p:nvGraphicFramePr>
        <p:xfrm>
          <a:off xmlns:a="http://schemas.openxmlformats.org/drawingml/2006/main" x="609600" y="1676400"/>
          <a:ext xmlns:a="http://schemas.openxmlformats.org/drawingml/2006/main" cx="10972800" cy="3676650"/>
        </p:xfrm>
        <a:graphic xmlns:a="http://schemas.openxmlformats.org/drawingml/2006/main">
          <a:graphicData uri="http://schemas.openxmlformats.org/drawingml/2006/chart">
            <c:chart xmlns:r="http://schemas.openxmlformats.org/officeDocument/2006/relationships" xmlns:c="http://schemas.openxmlformats.org/drawingml/2006/chart" r:id="Rb613bcbb74544d23"/>
          </a:graphicData>
        </a:graphic>
      </p:graphicFrame>
      <p:sp>
        <p:nvSpPr>
          <p:cNvPr id="5" name="text-3">
            <a:extLst xmlns:a="http://schemas.openxmlformats.org/drawingml/2006/main">
              <a:ext uri="{FF2B5EF4-FFF2-40B4-BE49-F238E27FC236}">
                <a16:creationId xmlns:a16="http://schemas.microsoft.com/office/drawing/2014/main" id="{8E660FB3-0768-4B4A-84BA-F3B3A888073A}"/>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benefit appears at a fixed, short iteration budget</a:t>
            </a:r>
          </a:p>
        </p:txBody>
      </p:sp>
    </p:spTree>
    <p:extLst>
      <p:ext uri="{BB962C8B-B14F-4D97-AF65-F5344CB8AC3E}">
        <p14:creationId xmlns:p14="http://schemas.microsoft.com/office/powerpoint/2010/main" val="543016096"/>
      </p:ext>
    </p:extLst>
  </p:cSld>
</p:sld>
</file>

<file path=ppt/slides/slide1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FDAC858-1A70-4407-B123-CE1E74CB41AA}"/>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Longer baselines change the comparison</a:t>
            </a:r>
          </a:p>
        </p:txBody>
      </p:sp>
      <p:sp>
        <p:nvSpPr>
          <p:cNvPr id="2" name="text-1">
            <a:extLst xmlns:a="http://schemas.openxmlformats.org/drawingml/2006/main">
              <a:ext uri="{FF2B5EF4-FFF2-40B4-BE49-F238E27FC236}">
                <a16:creationId xmlns:a16="http://schemas.microsoft.com/office/drawing/2014/main" id="{C0ACA51E-E68E-4915-84E7-DF928CC0D81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relative L₂ error (%), lower is better</a:t>
            </a:r>
          </a:p>
        </p:txBody>
      </p:sp>
      <p:sp>
        <p:nvSpPr>
          <p:cNvPr id="3" name="text-2">
            <a:extLst xmlns:a="http://schemas.openxmlformats.org/drawingml/2006/main">
              <a:ext uri="{FF2B5EF4-FFF2-40B4-BE49-F238E27FC236}">
                <a16:creationId xmlns:a16="http://schemas.microsoft.com/office/drawing/2014/main" id="{FADB9D69-4E5A-40DA-9FAE-680AC911B5E4}"/>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17</a:t>
            </a:r>
          </a:p>
        </p:txBody>
      </p:sp>
      <p:graphicFrame>
        <p:nvGraphicFramePr>
          <p:cNvPr id="4" name="">
            <a:extLst xmlns:a="http://schemas.openxmlformats.org/drawingml/2006/main">
              <a:ext uri="{FF2B5EF4-FFF2-40B4-BE49-F238E27FC236}">
                <a16:creationId xmlns:a16="http://schemas.microsoft.com/office/drawing/2014/main" id="{6A8B968B-95C0-4ABF-B810-7E61EDA93562}"/>
              </a:ext>
            </a:extLst>
          </p:cNvPr>
          <p:cNvGraphicFramePr/>
          <p:nvPr/>
        </p:nvGraphicFramePr>
        <p:xfrm>
          <a:off xmlns:a="http://schemas.openxmlformats.org/drawingml/2006/main" x="609600" y="1600200"/>
          <a:ext xmlns:a="http://schemas.openxmlformats.org/drawingml/2006/main" cx="10972800" cy="3600450"/>
        </p:xfrm>
        <a:graphic xmlns:a="http://schemas.openxmlformats.org/drawingml/2006/main">
          <a:graphicData uri="http://schemas.openxmlformats.org/drawingml/2006/table">
            <a:tbl>
              <a:tblPr/>
              <a:tblGrid>
                <a:gridCol w="4714875"/>
                <a:gridCol w="2085975"/>
                <a:gridCol w="2085975"/>
                <a:gridCol w="2085975"/>
              </a:tblGrid>
              <a:tr h="600075">
                <a:tc>
                  <a:txBody>
                    <a:bodyPr lIns="114300" tIns="114300" rIns="114300" bIns="114300"/>
                    <a:lstStyle/>
                    <a:p>
                      <a:r>
                        <a:rPr sz="1875" b="1">
                          <a:solidFill>
                            <a:srgbClr val="FFFFFF"/>
                          </a:solidFill>
                          <a:latin typeface="Arial"/>
                          <a:ea typeface="Arial"/>
                          <a:cs typeface="Arial"/>
                        </a:rPr>
                        <a:t>Method</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Bx</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By</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Bz</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00075">
                <a:tc>
                  <a:txBody>
                    <a:bodyPr lIns="114300" tIns="114300" rIns="114300" bIns="114300"/>
                    <a:lstStyle/>
                    <a:p>
                      <a:r>
                        <a:rPr sz="1875" b="0">
                          <a:solidFill>
                            <a:srgbClr val="152B3B"/>
                          </a:solidFill>
                          <a:latin typeface="Arial"/>
                          <a:ea typeface="Arial"/>
                          <a:cs typeface="Arial"/>
                        </a:rPr>
                        <a:t>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61.92</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62.13</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64.61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00075">
                <a:tc>
                  <a:txBody>
                    <a:bodyPr lIns="114300" tIns="114300" rIns="114300" bIns="114300"/>
                    <a:lstStyle/>
                    <a:p>
                      <a:r>
                        <a:rPr sz="1875" b="0">
                          <a:solidFill>
                            <a:srgbClr val="152B3B"/>
                          </a:solidFill>
                          <a:latin typeface="Arial"/>
                          <a:ea typeface="Arial"/>
                          <a:cs typeface="Arial"/>
                        </a:rPr>
                        <a:t>FISTA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48.99</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50.16</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52.65</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00075">
                <a:tc>
                  <a:txBody>
                    <a:bodyPr lIns="114300" tIns="114300" rIns="114300" bIns="114300"/>
                    <a:lstStyle/>
                    <a:p>
                      <a:r>
                        <a:rPr sz="1875" b="0">
                          <a:solidFill>
                            <a:srgbClr val="152B3B"/>
                          </a:solidFill>
                          <a:latin typeface="Arial"/>
                          <a:ea typeface="Arial"/>
                          <a:cs typeface="Arial"/>
                        </a:rPr>
                        <a:t>ConvLISTA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42.15</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43.95</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48.44</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00075">
                <a:tc>
                  <a:txBody>
                    <a:bodyPr lIns="114300" tIns="114300" rIns="114300" bIns="114300"/>
                    <a:lstStyle/>
                    <a:p>
                      <a:r>
                        <a:rPr sz="1875" b="0">
                          <a:solidFill>
                            <a:srgbClr val="152B3B"/>
                          </a:solidFill>
                          <a:latin typeface="Arial"/>
                          <a:ea typeface="Arial"/>
                          <a:cs typeface="Arial"/>
                        </a:rPr>
                        <a:t>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33.82</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36.22</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36.32</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00075">
                <a:tc>
                  <a:txBody>
                    <a:bodyPr lIns="114300" tIns="114300" rIns="114300" bIns="114300"/>
                    <a:lstStyle/>
                    <a:p>
                      <a:r>
                        <a:rPr sz="1875" b="0">
                          <a:solidFill>
                            <a:srgbClr val="152B3B"/>
                          </a:solidFill>
                          <a:latin typeface="Arial"/>
                          <a:ea typeface="Arial"/>
                          <a:cs typeface="Arial"/>
                        </a:rPr>
                        <a:t>FISTA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52.68</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61.34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34.31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17341735-9E28-4970-94F2-2D53E3DB4A42}"/>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ConvLISTA is not the lowest-error method in this archived experiment</a:t>
            </a:r>
          </a:p>
        </p:txBody>
      </p:sp>
    </p:spTree>
    <p:extLst>
      <p:ext uri="{BB962C8B-B14F-4D97-AF65-F5344CB8AC3E}">
        <p14:creationId xmlns:p14="http://schemas.microsoft.com/office/powerpoint/2010/main" val="1476539087"/>
      </p:ext>
    </p:extLst>
  </p:cSld>
</p:sld>
</file>

<file path=ppt/slides/slide1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DE8052D-734F-465E-8E54-310AE69FDD5C}"/>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Equal depth does not mean equal runtime</a:t>
            </a:r>
          </a:p>
        </p:txBody>
      </p:sp>
      <p:sp>
        <p:nvSpPr>
          <p:cNvPr id="2" name="text-1">
            <a:extLst xmlns:a="http://schemas.openxmlformats.org/drawingml/2006/main">
              <a:ext uri="{FF2B5EF4-FFF2-40B4-BE49-F238E27FC236}">
                <a16:creationId xmlns:a16="http://schemas.microsoft.com/office/drawing/2014/main" id="{04C254A1-7DE2-400C-A24F-85964104401C}"/>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one GPU, batch of three full field images</a:t>
            </a:r>
          </a:p>
        </p:txBody>
      </p:sp>
      <p:sp>
        <p:nvSpPr>
          <p:cNvPr id="3" name="text-2">
            <a:extLst xmlns:a="http://schemas.openxmlformats.org/drawingml/2006/main">
              <a:ext uri="{FF2B5EF4-FFF2-40B4-BE49-F238E27FC236}">
                <a16:creationId xmlns:a16="http://schemas.microsoft.com/office/drawing/2014/main" id="{96EEAA74-09C0-4AC8-B94A-4A0CCB90578B}"/>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18</a:t>
            </a:r>
          </a:p>
        </p:txBody>
      </p:sp>
      <p:graphicFrame>
        <p:nvGraphicFramePr>
          <p:cNvPr id="4" name="Chart">
            <a:extLst xmlns:a="http://schemas.openxmlformats.org/drawingml/2006/main">
              <a:ext uri="{FF2B5EF4-FFF2-40B4-BE49-F238E27FC236}">
                <a16:creationId xmlns:a16="http://schemas.microsoft.com/office/drawing/2014/main" id="{5AD04223-9522-4A91-86B3-A394112E218B}"/>
              </a:ext>
            </a:extLst>
          </p:cNvPr>
          <p:cNvGraphicFramePr/>
          <p:nvPr/>
        </p:nvGraphicFramePr>
        <p:xfrm>
          <a:off xmlns:a="http://schemas.openxmlformats.org/drawingml/2006/main" x="609600" y="1676400"/>
          <a:ext xmlns:a="http://schemas.openxmlformats.org/drawingml/2006/main" cx="10972800" cy="3676650"/>
        </p:xfrm>
        <a:graphic xmlns:a="http://schemas.openxmlformats.org/drawingml/2006/main">
          <a:graphicData uri="http://schemas.openxmlformats.org/drawingml/2006/chart">
            <c:chart xmlns:r="http://schemas.openxmlformats.org/officeDocument/2006/relationships" xmlns:c="http://schemas.openxmlformats.org/drawingml/2006/chart" r:id="Rb1400897a00b4114"/>
          </a:graphicData>
        </a:graphic>
      </p:graphicFrame>
      <p:sp>
        <p:nvSpPr>
          <p:cNvPr id="5" name="text-3">
            <a:extLst xmlns:a="http://schemas.openxmlformats.org/drawingml/2006/main">
              <a:ext uri="{FF2B5EF4-FFF2-40B4-BE49-F238E27FC236}">
                <a16:creationId xmlns:a16="http://schemas.microsoft.com/office/drawing/2014/main" id="{DF2191C6-6A28-488F-AD4C-D8DFA66433B2}"/>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0.418 s, 0.431 s and 0.460 s: similar latency, different reconstruction error</a:t>
            </a:r>
          </a:p>
        </p:txBody>
      </p:sp>
    </p:spTree>
    <p:extLst>
      <p:ext uri="{BB962C8B-B14F-4D97-AF65-F5344CB8AC3E}">
        <p14:creationId xmlns:p14="http://schemas.microsoft.com/office/powerpoint/2010/main" val="757254826"/>
      </p:ext>
    </p:extLst>
  </p:cSld>
</p:sld>
</file>

<file path=ppt/slides/slide1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4F43D6A0-B073-4F54-9DDE-05490EE8DCB8}"/>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Archived field reconstructions</a:t>
            </a:r>
          </a:p>
        </p:txBody>
      </p:sp>
      <p:sp>
        <p:nvSpPr>
          <p:cNvPr id="2" name="text-1">
            <a:extLst xmlns:a="http://schemas.openxmlformats.org/drawingml/2006/main">
              <a:ext uri="{FF2B5EF4-FFF2-40B4-BE49-F238E27FC236}">
                <a16:creationId xmlns:a16="http://schemas.microsoft.com/office/drawing/2014/main" id="{9FF85B1E-0A75-4F06-96A6-71EFA6B3DA8E}"/>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original figure; different iteration budgets across columns</a:t>
            </a:r>
          </a:p>
        </p:txBody>
      </p:sp>
      <p:sp>
        <p:nvSpPr>
          <p:cNvPr id="3" name="text-2">
            <a:extLst xmlns:a="http://schemas.openxmlformats.org/drawingml/2006/main">
              <a:ext uri="{FF2B5EF4-FFF2-40B4-BE49-F238E27FC236}">
                <a16:creationId xmlns:a16="http://schemas.microsoft.com/office/drawing/2014/main" id="{6AC5B84C-1AB1-4385-8999-C6D77FA7CFC9}"/>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19</a:t>
            </a:r>
          </a:p>
        </p:txBody>
      </p:sp>
      <p:pic>
        <p:nvPicPr>
          <p:cNvPr id="4" name="">
            <a:extLst xmlns:a="http://schemas.openxmlformats.org/drawingml/2006/main">
              <a:ext uri="{FF2B5EF4-FFF2-40B4-BE49-F238E27FC236}">
                <a16:creationId xmlns:a16="http://schemas.microsoft.com/office/drawing/2014/main" id="{E9825215-2CA5-47C7-BCF0-E8B416DF8000}"/>
              </a:ext>
            </a:extLst>
          </p:cNvPr>
          <p:cNvPicPr>
            <a:picLocks xmlns:a="http://schemas.openxmlformats.org/drawingml/2006/main" noChangeAspect="1"/>
          </p:cNvPicPr>
          <p:nvPr/>
        </p:nvPicPr>
        <p:blipFill>
          <a:blip xmlns:r="http://schemas.openxmlformats.org/officeDocument/2006/relationships" xmlns:a="http://schemas.openxmlformats.org/drawingml/2006/main" r:embed="R191ed0f866664fb2"/>
          <a:stretch xmlns:a="http://schemas.openxmlformats.org/drawingml/2006/main"/>
        </p:blipFill>
        <p:spPr>
          <a:xfrm xmlns:a="http://schemas.openxmlformats.org/drawingml/2006/main">
            <a:off x="1851314" y="1333500"/>
            <a:ext cx="8489373" cy="4914900"/>
          </a:xfrm>
          <a:prstGeom xmlns:a="http://schemas.openxmlformats.org/drawingml/2006/main" prst="rect">
            <a:avLst/>
          </a:prstGeom>
        </p:spPr>
      </p:pic>
    </p:spTree>
    <p:extLst>
      <p:ext uri="{BB962C8B-B14F-4D97-AF65-F5344CB8AC3E}">
        <p14:creationId xmlns:p14="http://schemas.microsoft.com/office/powerpoint/2010/main" val="727370428"/>
      </p:ext>
    </p:extLst>
  </p:cSld>
</p:sld>
</file>

<file path=ppt/slides/slide2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E678DA2-4562-46BD-B7D0-3C70479E12DE}"/>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Reconstruction error and objective disagree</a:t>
            </a:r>
          </a:p>
        </p:txBody>
      </p:sp>
      <p:sp>
        <p:nvSpPr>
          <p:cNvPr id="2" name="text-1">
            <a:extLst xmlns:a="http://schemas.openxmlformats.org/drawingml/2006/main">
              <a:ext uri="{FF2B5EF4-FFF2-40B4-BE49-F238E27FC236}">
                <a16:creationId xmlns:a16="http://schemas.microsoft.com/office/drawing/2014/main" id="{109C6C78-F4FC-476C-B848-11F9E6CC326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3A3713A0-B4D5-4529-AAF5-AC016D5DA098}"/>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20</a:t>
            </a:r>
          </a:p>
        </p:txBody>
      </p:sp>
      <p:graphicFrame>
        <p:nvGraphicFramePr>
          <p:cNvPr id="4" name="">
            <a:extLst xmlns:a="http://schemas.openxmlformats.org/drawingml/2006/main">
              <a:ext uri="{FF2B5EF4-FFF2-40B4-BE49-F238E27FC236}">
                <a16:creationId xmlns:a16="http://schemas.microsoft.com/office/drawing/2014/main" id="{7AF6F88C-E422-41AC-A51D-AAA5E1AD7713}"/>
              </a:ext>
            </a:extLst>
          </p:cNvPr>
          <p:cNvGraphicFramePr/>
          <p:nvPr/>
        </p:nvGraphicFramePr>
        <p:xfrm>
          <a:off xmlns:a="http://schemas.openxmlformats.org/drawingml/2006/main" x="609600" y="1600200"/>
          <a:ext xmlns:a="http://schemas.openxmlformats.org/drawingml/2006/main" cx="10972800" cy="2190750"/>
        </p:xfrm>
        <a:graphic xmlns:a="http://schemas.openxmlformats.org/drawingml/2006/main">
          <a:graphicData uri="http://schemas.openxmlformats.org/drawingml/2006/table">
            <a:tbl>
              <a:tblPr/>
              <a:tblGrid>
                <a:gridCol w="4972050"/>
                <a:gridCol w="3000375"/>
                <a:gridCol w="3000375"/>
              </a:tblGrid>
              <a:tr h="730250">
                <a:tc>
                  <a:txBody>
                    <a:bodyPr lIns="114300" tIns="114300" rIns="114300" bIns="114300"/>
                    <a:lstStyle/>
                    <a:p>
                      <a:r>
                        <a:rPr sz="1950" b="1">
                          <a:solidFill>
                            <a:srgbClr val="FFFFFF"/>
                          </a:solidFill>
                          <a:latin typeface="Arial"/>
                          <a:ea typeface="Arial"/>
                          <a:cs typeface="Arial"/>
                        </a:rPr>
                        <a:t>Bz metric</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950" b="1">
                          <a:solidFill>
                            <a:srgbClr val="FFFFFF"/>
                          </a:solidFill>
                          <a:latin typeface="Arial"/>
                          <a:ea typeface="Arial"/>
                          <a:cs typeface="Arial"/>
                        </a:rPr>
                        <a:t>ConvLISTA 16</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950" b="1">
                          <a:solidFill>
                            <a:srgbClr val="FFFFFF"/>
                          </a:solidFill>
                          <a:latin typeface="Arial"/>
                          <a:ea typeface="Arial"/>
                          <a:cs typeface="Arial"/>
                        </a:rPr>
                        <a:t>FISTA 16</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30250">
                <a:tc>
                  <a:txBody>
                    <a:bodyPr lIns="114300" tIns="114300" rIns="114300" bIns="114300"/>
                    <a:lstStyle/>
                    <a:p>
                      <a:r>
                        <a:rPr sz="1950" b="0">
                          <a:solidFill>
                            <a:srgbClr val="152B3B"/>
                          </a:solidFill>
                          <a:latin typeface="Arial"/>
                          <a:ea typeface="Arial"/>
                          <a:cs typeface="Arial"/>
                        </a:rPr>
                        <a:t>Relative L₂ error</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48.44%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52.65%</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30250">
                <a:tc>
                  <a:txBody>
                    <a:bodyPr lIns="114300" tIns="114300" rIns="114300" bIns="114300"/>
                    <a:lstStyle/>
                    <a:p>
                      <a:r>
                        <a:rPr sz="1950" b="0">
                          <a:solidFill>
                            <a:srgbClr val="152B3B"/>
                          </a:solidFill>
                          <a:latin typeface="Arial"/>
                          <a:ea typeface="Arial"/>
                          <a:cs typeface="Arial"/>
                        </a:rPr>
                        <a:t>Original L₁ objective</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950" b="0">
                          <a:solidFill>
                            <a:srgbClr val="152B3B"/>
                          </a:solidFill>
                          <a:latin typeface="Arial"/>
                          <a:ea typeface="Arial"/>
                          <a:cs typeface="Arial"/>
                        </a:rPr>
                        <a:t>4.014 million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950" b="0">
                          <a:solidFill>
                            <a:srgbClr val="152B3B"/>
                          </a:solidFill>
                          <a:latin typeface="Arial"/>
                          <a:ea typeface="Arial"/>
                          <a:cs typeface="Arial"/>
                        </a:rPr>
                        <a:t>3.000 million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32ADF1FA-08D6-4B5A-9D06-9DFF385361D7}"/>
              </a:ext>
            </a:extLst>
          </p:cNvPr>
          <p:cNvSpPr>
            <a:spLocks xmlns:a="http://schemas.openxmlformats.org/drawingml/2006/main" noGrp="1"/>
          </p:cNvSpPr>
          <p:nvPr/>
        </p:nvSpPr>
        <p:spPr>
          <a:xfrm xmlns:a="http://schemas.openxmlformats.org/drawingml/2006/main">
            <a:off x="609600" y="43338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F8C"/>
                </a:solidFill>
                <a:latin typeface="Arial"/>
                <a:ea typeface="Arial"/>
                <a:cs typeface="Arial"/>
              </a:defRPr>
            </a:def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Lower objective can coexist with worse reference-field error.</a:t>
            </a:r>
          </a:p>
        </p:txBody>
      </p:sp>
      <p:sp>
        <p:nvSpPr>
          <p:cNvPr id="6" name="text-4">
            <a:extLst xmlns:a="http://schemas.openxmlformats.org/drawingml/2006/main">
              <a:ext uri="{FF2B5EF4-FFF2-40B4-BE49-F238E27FC236}">
                <a16:creationId xmlns:a16="http://schemas.microsoft.com/office/drawing/2014/main" id="{FBC495D7-B6BD-40AE-9E04-5E5717A81055}"/>
              </a:ext>
            </a:extLst>
          </p:cNvPr>
          <p:cNvSpPr>
            <a:spLocks xmlns:a="http://schemas.openxmlformats.org/drawingml/2006/main" noGrp="1"/>
          </p:cNvSpPr>
          <p:nvPr/>
        </p:nvSpPr>
        <p:spPr>
          <a:xfrm xmlns:a="http://schemas.openxmlformats.org/drawingml/2006/main">
            <a:off x="609600" y="53149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A 2.86% range NRMSE does not mean 97.14% accuracy.</a:t>
            </a:r>
          </a:p>
        </p:txBody>
      </p:sp>
    </p:spTree>
    <p:extLst>
      <p:ext uri="{BB962C8B-B14F-4D97-AF65-F5344CB8AC3E}">
        <p14:creationId xmlns:p14="http://schemas.microsoft.com/office/powerpoint/2010/main" val="2042141438"/>
      </p:ext>
    </p:extLst>
  </p:cSld>
</p:sld>
</file>

<file path=ppt/slides/slide2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278BD32-D616-4C3C-8BDA-FF04AF4111EC}"/>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What the field experiment establishes</a:t>
            </a:r>
          </a:p>
        </p:txBody>
      </p:sp>
      <p:sp>
        <p:nvSpPr>
          <p:cNvPr id="2" name="text-1">
            <a:extLst xmlns:a="http://schemas.openxmlformats.org/drawingml/2006/main">
              <a:ext uri="{FF2B5EF4-FFF2-40B4-BE49-F238E27FC236}">
                <a16:creationId xmlns:a16="http://schemas.microsoft.com/office/drawing/2014/main" id="{767805E3-3684-450A-802F-6D0012581313}"/>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03231BBE-1F76-4092-B2AA-3FBED60F86A4}"/>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21</a:t>
            </a:r>
          </a:p>
        </p:txBody>
      </p:sp>
      <p:sp>
        <p:nvSpPr>
          <p:cNvPr id="4" name="text-3">
            <a:extLst xmlns:a="http://schemas.openxmlformats.org/drawingml/2006/main">
              <a:ext uri="{FF2B5EF4-FFF2-40B4-BE49-F238E27FC236}">
                <a16:creationId xmlns:a16="http://schemas.microsoft.com/office/drawing/2014/main" id="{EEA98751-C143-4532-BF25-52EA0503C8C3}"/>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Supported: better 16-step reconstruction on the fitted fields</a:t>
            </a:r>
          </a:p>
        </p:txBody>
      </p:sp>
      <p:sp>
        <p:nvSpPr>
          <p:cNvPr id="5" name="text-4">
            <a:extLst xmlns:a="http://schemas.openxmlformats.org/drawingml/2006/main">
              <a:ext uri="{FF2B5EF4-FFF2-40B4-BE49-F238E27FC236}">
                <a16:creationId xmlns:a16="http://schemas.microsoft.com/office/drawing/2014/main" id="{5A70EF96-2050-4FE3-B8D2-072118FC2702}"/>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performance on a new coil or an unseen measurement</a:t>
            </a:r>
          </a:p>
        </p:txBody>
      </p:sp>
      <p:sp>
        <p:nvSpPr>
          <p:cNvPr id="6" name="text-5">
            <a:extLst xmlns:a="http://schemas.openxmlformats.org/drawingml/2006/main">
              <a:ext uri="{FF2B5EF4-FFF2-40B4-BE49-F238E27FC236}">
                <a16:creationId xmlns:a16="http://schemas.microsoft.com/office/drawing/2014/main" id="{43A2F2D3-AC45-4936-A0F3-AC5128912006}"/>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robustness to noise and operator mismatch</a:t>
            </a:r>
          </a:p>
        </p:txBody>
      </p:sp>
      <p:sp>
        <p:nvSpPr>
          <p:cNvPr id="7" name="text-6">
            <a:extLst xmlns:a="http://schemas.openxmlformats.org/drawingml/2006/main">
              <a:ext uri="{FF2B5EF4-FFF2-40B4-BE49-F238E27FC236}">
                <a16:creationId xmlns:a16="http://schemas.microsoft.com/office/drawing/2014/main" id="{85349773-F1EF-454F-96E6-28DF48F1084C}"/>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whether both convolutional branches are necessary</a:t>
            </a:r>
          </a:p>
        </p:txBody>
      </p:sp>
    </p:spTree>
    <p:extLst>
      <p:ext uri="{BB962C8B-B14F-4D97-AF65-F5344CB8AC3E}">
        <p14:creationId xmlns:p14="http://schemas.microsoft.com/office/powerpoint/2010/main" val="555831527"/>
      </p:ext>
    </p:extLst>
  </p:cSld>
</p:sld>
</file>

<file path=ppt/slides/slide2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1613B57-DD92-4903-AF75-1A514D82A251}"/>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Why ALISTA is a useful next comparison</a:t>
            </a:r>
          </a:p>
        </p:txBody>
      </p:sp>
      <p:sp>
        <p:nvSpPr>
          <p:cNvPr id="2" name="text-1">
            <a:extLst xmlns:a="http://schemas.openxmlformats.org/drawingml/2006/main">
              <a:ext uri="{FF2B5EF4-FFF2-40B4-BE49-F238E27FC236}">
                <a16:creationId xmlns:a16="http://schemas.microsoft.com/office/drawing/2014/main" id="{3AACA32B-3220-4AF5-A486-BD50AD919D7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ALISTA: Liu, Chen, Wang and Yin, ICLR 2019</a:t>
            </a:r>
          </a:p>
        </p:txBody>
      </p:sp>
      <p:sp>
        <p:nvSpPr>
          <p:cNvPr id="3" name="text-2">
            <a:extLst xmlns:a="http://schemas.openxmlformats.org/drawingml/2006/main">
              <a:ext uri="{FF2B5EF4-FFF2-40B4-BE49-F238E27FC236}">
                <a16:creationId xmlns:a16="http://schemas.microsoft.com/office/drawing/2014/main" id="{99730BB3-5874-4FE2-AA3E-4AB7D89F5996}"/>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22</a:t>
            </a:r>
          </a:p>
        </p:txBody>
      </p:sp>
      <p:sp>
        <p:nvSpPr>
          <p:cNvPr id="4" name="text-3">
            <a:extLst xmlns:a="http://schemas.openxmlformats.org/drawingml/2006/main">
              <a:ext uri="{FF2B5EF4-FFF2-40B4-BE49-F238E27FC236}">
                <a16:creationId xmlns:a16="http://schemas.microsoft.com/office/drawing/2014/main" id="{EDD9849A-F4BA-491C-A867-80AB7FCC2856}"/>
              </a:ext>
            </a:extLst>
          </p:cNvPr>
          <p:cNvSpPr>
            <a:spLocks xmlns:a="http://schemas.openxmlformats.org/drawingml/2006/main" noGrp="1"/>
          </p:cNvSpPr>
          <p:nvPr/>
        </p:nvSpPr>
        <p:spPr>
          <a:xfrm xmlns:a="http://schemas.openxmlformats.org/drawingml/2006/main">
            <a:off x="609600" y="159067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LISTA learns its iteration maps from examples.</a:t>
            </a:r>
          </a:p>
        </p:txBody>
      </p:sp>
      <p:sp>
        <p:nvSpPr>
          <p:cNvPr id="5" name="text-4">
            <a:extLst xmlns:a="http://schemas.openxmlformats.org/drawingml/2006/main">
              <a:ext uri="{FF2B5EF4-FFF2-40B4-BE49-F238E27FC236}">
                <a16:creationId xmlns:a16="http://schemas.microsoft.com/office/drawing/2014/main" id="{55398134-449E-4D84-B775-9B94F0DF2F1A}"/>
              </a:ext>
            </a:extLst>
          </p:cNvPr>
          <p:cNvSpPr>
            <a:spLocks xmlns:a="http://schemas.openxmlformats.org/drawingml/2006/main" noGrp="1"/>
          </p:cNvSpPr>
          <p:nvPr/>
        </p:nvSpPr>
        <p:spPr>
          <a:xfrm xmlns:a="http://schemas.openxmlformats.org/drawingml/2006/main">
            <a:off x="609600" y="2686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ALISTA computes the main map from the dictionary alone.</a:t>
            </a:r>
          </a:p>
        </p:txBody>
      </p:sp>
      <p:sp>
        <p:nvSpPr>
          <p:cNvPr id="6" name="text-5">
            <a:extLst xmlns:a="http://schemas.openxmlformats.org/drawingml/2006/main">
              <a:ext uri="{FF2B5EF4-FFF2-40B4-BE49-F238E27FC236}">
                <a16:creationId xmlns:a16="http://schemas.microsoft.com/office/drawing/2014/main" id="{E0B8548D-5309-49F9-83BF-4DE12BD90964}"/>
              </a:ext>
            </a:extLst>
          </p:cNvPr>
          <p:cNvSpPr>
            <a:spLocks xmlns:a="http://schemas.openxmlformats.org/drawingml/2006/main" noGrp="1"/>
          </p:cNvSpPr>
          <p:nvPr/>
        </p:nvSpPr>
        <p:spPr>
          <a:xfrm xmlns:a="http://schemas.openxmlformats.org/drawingml/2006/main">
            <a:off x="609600" y="37814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Training then adjusts only a step size and threshold per layer.</a:t>
            </a:r>
          </a:p>
        </p:txBody>
      </p:sp>
      <p:sp>
        <p:nvSpPr>
          <p:cNvPr id="7" name="text-6">
            <a:extLst xmlns:a="http://schemas.openxmlformats.org/drawingml/2006/main">
              <a:ext uri="{FF2B5EF4-FFF2-40B4-BE49-F238E27FC236}">
                <a16:creationId xmlns:a16="http://schemas.microsoft.com/office/drawing/2014/main" id="{76439353-5B10-4515-A230-601439EA8A55}"/>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question is how much learning the operator really needs</a:t>
            </a:r>
          </a:p>
        </p:txBody>
      </p:sp>
    </p:spTree>
    <p:extLst>
      <p:ext uri="{BB962C8B-B14F-4D97-AF65-F5344CB8AC3E}">
        <p14:creationId xmlns:p14="http://schemas.microsoft.com/office/powerpoint/2010/main" val="1698704250"/>
      </p:ext>
    </p:extLst>
  </p:cSld>
</p:sld>
</file>

<file path=ppt/slides/slide2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C17217D-9ABF-4788-A726-E11644D2FED4}"/>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ALISTA reconstructs sparse coefficients</a:t>
            </a:r>
          </a:p>
        </p:txBody>
      </p:sp>
      <p:sp>
        <p:nvSpPr>
          <p:cNvPr id="2" name="text-1">
            <a:extLst xmlns:a="http://schemas.openxmlformats.org/drawingml/2006/main">
              <a:ext uri="{FF2B5EF4-FFF2-40B4-BE49-F238E27FC236}">
                <a16:creationId xmlns:a16="http://schemas.microsoft.com/office/drawing/2014/main" id="{F3B4FF24-1304-4EF0-82DE-4119C498F86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492B9A6E-C79D-4332-A37D-44B2A5403026}"/>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23</a:t>
            </a:r>
          </a:p>
        </p:txBody>
      </p:sp>
      <p:sp>
        <p:nvSpPr>
          <p:cNvPr id="4" name="text-3">
            <a:extLst xmlns:a="http://schemas.openxmlformats.org/drawingml/2006/main">
              <a:ext uri="{FF2B5EF4-FFF2-40B4-BE49-F238E27FC236}">
                <a16:creationId xmlns:a16="http://schemas.microsoft.com/office/drawing/2014/main" id="{BE70930D-1EAA-49AA-8FF9-D14A92AE46BE}"/>
              </a:ext>
            </a:extLst>
          </p:cNvPr>
          <p:cNvSpPr>
            <a:spLocks xmlns:a="http://schemas.openxmlformats.org/drawingml/2006/main" noGrp="1"/>
          </p:cNvSpPr>
          <p:nvPr/>
        </p:nvSpPr>
        <p:spPr>
          <a:xfrm xmlns:a="http://schemas.openxmlformats.org/drawingml/2006/main">
            <a:off x="609600" y="17621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87F8C"/>
                </a:solidFill>
                <a:latin typeface="Arial"/>
                <a:ea typeface="Arial"/>
                <a:cs typeface="Arial"/>
              </a:defRPr>
            </a:defPPr>
          </a:lstStyle>
          <a:p xmlns:a="http://schemas.openxmlformats.org/drawingml/2006/main">
            <a:pPr>
              <a:defRPr sz="2775" b="1">
                <a:solidFill>
                  <a:srgbClr val="087F8C"/>
                </a:solidFill>
                <a:latin typeface="Arial"/>
                <a:ea typeface="Arial"/>
                <a:cs typeface="Arial"/>
              </a:defRPr>
            </a:pPr>
            <a:r>
              <a:rPr sz="2775" b="1">
                <a:solidFill>
                  <a:srgbClr val="087F8C"/>
                </a:solidFill>
                <a:latin typeface="Arial"/>
                <a:ea typeface="Arial"/>
                <a:cs typeface="Arial"/>
              </a:rPr>
              <a:t>b = Dx + noise,     D ∈ ℝ²⁵⁰ˣ⁵⁰⁰</a:t>
            </a:r>
          </a:p>
        </p:txBody>
      </p:sp>
      <p:sp>
        <p:nvSpPr>
          <p:cNvPr id="5" name="text-4">
            <a:extLst xmlns:a="http://schemas.openxmlformats.org/drawingml/2006/main">
              <a:ext uri="{FF2B5EF4-FFF2-40B4-BE49-F238E27FC236}">
                <a16:creationId xmlns:a16="http://schemas.microsoft.com/office/drawing/2014/main" id="{43011BE0-B1AB-41F6-8F64-F39995E6699C}"/>
              </a:ext>
            </a:extLst>
          </p:cNvPr>
          <p:cNvSpPr>
            <a:spLocks xmlns:a="http://schemas.openxmlformats.org/drawingml/2006/main" noGrp="1"/>
          </p:cNvSpPr>
          <p:nvPr/>
        </p:nvSpPr>
        <p:spPr>
          <a:xfrm xmlns:a="http://schemas.openxmlformats.org/drawingml/2006/main">
            <a:off x="609600" y="31146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250 measurements describe 500 unknown coefficients.</a:t>
            </a:r>
          </a:p>
        </p:txBody>
      </p:sp>
      <p:sp>
        <p:nvSpPr>
          <p:cNvPr id="6" name="text-5">
            <a:extLst xmlns:a="http://schemas.openxmlformats.org/drawingml/2006/main">
              <a:ext uri="{FF2B5EF4-FFF2-40B4-BE49-F238E27FC236}">
                <a16:creationId xmlns:a16="http://schemas.microsoft.com/office/drawing/2014/main" id="{F2E3A3E3-F89E-4D0D-9602-51F7B66038E5}"/>
              </a:ext>
            </a:extLst>
          </p:cNvPr>
          <p:cNvSpPr>
            <a:spLocks xmlns:a="http://schemas.openxmlformats.org/drawingml/2006/main" noGrp="1"/>
          </p:cNvSpPr>
          <p:nvPr/>
        </p:nvSpPr>
        <p:spPr>
          <a:xfrm xmlns:a="http://schemas.openxmlformats.org/drawingml/2006/main">
            <a:off x="609600" y="39909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Each coefficient is nonzero with probability 0.1.</a:t>
            </a:r>
          </a:p>
        </p:txBody>
      </p:sp>
      <p:sp>
        <p:nvSpPr>
          <p:cNvPr id="7" name="text-6">
            <a:extLst xmlns:a="http://schemas.openxmlformats.org/drawingml/2006/main">
              <a:ext uri="{FF2B5EF4-FFF2-40B4-BE49-F238E27FC236}">
                <a16:creationId xmlns:a16="http://schemas.microsoft.com/office/drawing/2014/main" id="{691EF2F7-9BED-4720-95CC-CC89A8F1E7EF}"/>
              </a:ext>
            </a:extLst>
          </p:cNvPr>
          <p:cNvSpPr>
            <a:spLocks xmlns:a="http://schemas.openxmlformats.org/drawingml/2006/main" noGrp="1"/>
          </p:cNvSpPr>
          <p:nvPr/>
        </p:nvSpPr>
        <p:spPr>
          <a:xfrm xmlns:a="http://schemas.openxmlformats.org/drawingml/2006/main">
            <a:off x="609600" y="4867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dictionary stays fixed and its columns have unit norm.</a:t>
            </a:r>
          </a:p>
        </p:txBody>
      </p:sp>
    </p:spTree>
    <p:extLst>
      <p:ext uri="{BB962C8B-B14F-4D97-AF65-F5344CB8AC3E}">
        <p14:creationId xmlns:p14="http://schemas.microsoft.com/office/powerpoint/2010/main" val="1716188483"/>
      </p:ext>
    </p:extLst>
  </p:cSld>
</p:sld>
</file>

<file path=ppt/slides/slide2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AB060DF-FBEB-4F19-830D-BDCC49F4146E}"/>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Why the analytic weight matters</a:t>
            </a:r>
          </a:p>
        </p:txBody>
      </p:sp>
      <p:sp>
        <p:nvSpPr>
          <p:cNvPr id="2" name="text-1">
            <a:extLst xmlns:a="http://schemas.openxmlformats.org/drawingml/2006/main">
              <a:ext uri="{FF2B5EF4-FFF2-40B4-BE49-F238E27FC236}">
                <a16:creationId xmlns:a16="http://schemas.microsoft.com/office/drawing/2014/main" id="{044D52B7-AAF8-49B2-B04B-D5648428805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1CBBE774-579B-4306-A686-6E33F85918C3}"/>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24</a:t>
            </a:r>
          </a:p>
        </p:txBody>
      </p:sp>
      <p:sp>
        <p:nvSpPr>
          <p:cNvPr id="4" name="text-3">
            <a:extLst xmlns:a="http://schemas.openxmlformats.org/drawingml/2006/main">
              <a:ext uri="{FF2B5EF4-FFF2-40B4-BE49-F238E27FC236}">
                <a16:creationId xmlns:a16="http://schemas.microsoft.com/office/drawing/2014/main" id="{41DFA8DA-0533-4A25-8D4C-FDBB864759A0}"/>
              </a:ext>
            </a:extLst>
          </p:cNvPr>
          <p:cNvSpPr>
            <a:spLocks xmlns:a="http://schemas.openxmlformats.org/drawingml/2006/main" noGrp="1"/>
          </p:cNvSpPr>
          <p:nvPr/>
        </p:nvSpPr>
        <p:spPr>
          <a:xfrm xmlns:a="http://schemas.openxmlformats.org/drawingml/2006/main">
            <a:off x="609600" y="1714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087F8C"/>
                </a:solidFill>
                <a:latin typeface="Arial"/>
                <a:ea typeface="Arial"/>
                <a:cs typeface="Arial"/>
              </a:defRPr>
            </a:defPPr>
          </a:lstStyle>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uₖ = xₖ + γₖ Wᵀ(b − Dxₖ)</a:t>
            </a:r>
          </a:p>
        </p:txBody>
      </p:sp>
      <p:sp>
        <p:nvSpPr>
          <p:cNvPr id="5" name="text-4">
            <a:extLst xmlns:a="http://schemas.openxmlformats.org/drawingml/2006/main">
              <a:ext uri="{FF2B5EF4-FFF2-40B4-BE49-F238E27FC236}">
                <a16:creationId xmlns:a16="http://schemas.microsoft.com/office/drawing/2014/main" id="{C00D1EDD-74F6-4DA4-A6DC-AE22C1054526}"/>
              </a:ext>
            </a:extLst>
          </p:cNvPr>
          <p:cNvSpPr>
            <a:spLocks xmlns:a="http://schemas.openxmlformats.org/drawingml/2006/main" noGrp="1"/>
          </p:cNvSpPr>
          <p:nvPr/>
        </p:nvSpPr>
        <p:spPr>
          <a:xfrm xmlns:a="http://schemas.openxmlformats.org/drawingml/2006/main">
            <a:off x="609600" y="2857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87F8C"/>
                </a:solidFill>
                <a:latin typeface="Arial"/>
                <a:ea typeface="Arial"/>
                <a:cs typeface="Arial"/>
              </a:defRPr>
            </a:defPPr>
          </a:lstStyle>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uₖ − x* = (I − γₖ WᵀD)(xₖ − x*)</a:t>
            </a:r>
          </a:p>
        </p:txBody>
      </p:sp>
      <p:sp>
        <p:nvSpPr>
          <p:cNvPr id="6" name="text-5">
            <a:extLst xmlns:a="http://schemas.openxmlformats.org/drawingml/2006/main">
              <a:ext uri="{FF2B5EF4-FFF2-40B4-BE49-F238E27FC236}">
                <a16:creationId xmlns:a16="http://schemas.microsoft.com/office/drawing/2014/main" id="{9D54E59B-E7AF-4CFF-A386-02EFC55EE8C1}"/>
              </a:ext>
            </a:extLst>
          </p:cNvPr>
          <p:cNvSpPr>
            <a:spLocks xmlns:a="http://schemas.openxmlformats.org/drawingml/2006/main" noGrp="1"/>
          </p:cNvSpPr>
          <p:nvPr/>
        </p:nvSpPr>
        <p:spPr>
          <a:xfrm xmlns:a="http://schemas.openxmlformats.org/drawingml/2006/main">
            <a:off x="609600" y="41814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Off-diagonal entries of WᵀD mix errors between coefficients.</a:t>
            </a:r>
          </a:p>
        </p:txBody>
      </p:sp>
      <p:sp>
        <p:nvSpPr>
          <p:cNvPr id="7" name="text-6">
            <a:extLst xmlns:a="http://schemas.openxmlformats.org/drawingml/2006/main">
              <a:ext uri="{FF2B5EF4-FFF2-40B4-BE49-F238E27FC236}">
                <a16:creationId xmlns:a16="http://schemas.microsoft.com/office/drawing/2014/main" id="{8594D173-7A6B-4BA7-A920-073CDEF2AA0D}"/>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ALISTA designs W to reduce this interference</a:t>
            </a:r>
          </a:p>
        </p:txBody>
      </p:sp>
    </p:spTree>
    <p:extLst>
      <p:ext uri="{BB962C8B-B14F-4D97-AF65-F5344CB8AC3E}">
        <p14:creationId xmlns:p14="http://schemas.microsoft.com/office/powerpoint/2010/main" val="247359515"/>
      </p:ext>
    </p:extLst>
  </p:cSld>
</p:sld>
</file>

<file path=ppt/slides/slide2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89B4E11A-064E-463A-833D-F1D44EE90ECA}"/>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analytic-weight optimization</a:t>
            </a:r>
          </a:p>
        </p:txBody>
      </p:sp>
      <p:sp>
        <p:nvSpPr>
          <p:cNvPr id="2" name="text-1">
            <a:extLst xmlns:a="http://schemas.openxmlformats.org/drawingml/2006/main">
              <a:ext uri="{FF2B5EF4-FFF2-40B4-BE49-F238E27FC236}">
                <a16:creationId xmlns:a16="http://schemas.microsoft.com/office/drawing/2014/main" id="{7A61C40C-3AE4-4C10-BFB9-AC2A081B01C1}"/>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9B3B5A7F-A53A-44EE-A22E-0420015D265E}"/>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25</a:t>
            </a:r>
          </a:p>
        </p:txBody>
      </p:sp>
      <p:sp>
        <p:nvSpPr>
          <p:cNvPr id="4" name="text-3">
            <a:extLst xmlns:a="http://schemas.openxmlformats.org/drawingml/2006/main">
              <a:ext uri="{FF2B5EF4-FFF2-40B4-BE49-F238E27FC236}">
                <a16:creationId xmlns:a16="http://schemas.microsoft.com/office/drawing/2014/main" id="{A96545FA-9818-4FA2-94DD-F1019C6EC3DC}"/>
              </a:ext>
            </a:extLst>
          </p:cNvPr>
          <p:cNvSpPr>
            <a:spLocks xmlns:a="http://schemas.openxmlformats.org/drawingml/2006/main" noGrp="1"/>
          </p:cNvSpPr>
          <p:nvPr/>
        </p:nvSpPr>
        <p:spPr>
          <a:xfrm xmlns:a="http://schemas.openxmlformats.org/drawingml/2006/main">
            <a:off x="609600" y="1714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087F8C"/>
                </a:solidFill>
                <a:latin typeface="Arial"/>
                <a:ea typeface="Arial"/>
                <a:cs typeface="Arial"/>
              </a:defRPr>
            </a:defPPr>
          </a:lstStyle>
          <a:p xmlns:a="http://schemas.openxmlformats.org/drawingml/2006/main">
            <a:pPr>
              <a:defRPr sz="3225" b="1">
                <a:solidFill>
                  <a:srgbClr val="087F8C"/>
                </a:solidFill>
                <a:latin typeface="Arial"/>
                <a:ea typeface="Arial"/>
                <a:cs typeface="Arial"/>
              </a:defRPr>
            </a:pPr>
            <a:r>
              <a:rPr sz="3225" b="1">
                <a:solidFill>
                  <a:srgbClr val="087F8C"/>
                </a:solidFill>
                <a:latin typeface="Arial"/>
                <a:ea typeface="Arial"/>
                <a:cs typeface="Arial"/>
              </a:rPr>
              <a:t>minimize   ‖WᵀD‖F²</a:t>
            </a:r>
          </a:p>
        </p:txBody>
      </p:sp>
      <p:sp>
        <p:nvSpPr>
          <p:cNvPr id="5" name="text-4">
            <a:extLst xmlns:a="http://schemas.openxmlformats.org/drawingml/2006/main">
              <a:ext uri="{FF2B5EF4-FFF2-40B4-BE49-F238E27FC236}">
                <a16:creationId xmlns:a16="http://schemas.microsoft.com/office/drawing/2014/main" id="{0D500C1D-8723-42E4-95E9-AA79FF30BF24}"/>
              </a:ext>
            </a:extLst>
          </p:cNvPr>
          <p:cNvSpPr>
            <a:spLocks xmlns:a="http://schemas.openxmlformats.org/drawingml/2006/main" noGrp="1"/>
          </p:cNvSpPr>
          <p:nvPr/>
        </p:nvSpPr>
        <p:spPr>
          <a:xfrm xmlns:a="http://schemas.openxmlformats.org/drawingml/2006/main">
            <a:off x="609600" y="27622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87F8C"/>
                </a:solidFill>
                <a:latin typeface="Arial"/>
                <a:ea typeface="Arial"/>
                <a:cs typeface="Arial"/>
              </a:defRPr>
            </a:defPPr>
          </a:lstStyle>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subject to   wⱼᵀdⱼ = 1   for every j</a:t>
            </a:r>
          </a:p>
        </p:txBody>
      </p:sp>
      <p:sp>
        <p:nvSpPr>
          <p:cNvPr id="6" name="text-5">
            <a:extLst xmlns:a="http://schemas.openxmlformats.org/drawingml/2006/main">
              <a:ext uri="{FF2B5EF4-FFF2-40B4-BE49-F238E27FC236}">
                <a16:creationId xmlns:a16="http://schemas.microsoft.com/office/drawing/2014/main" id="{0D33E311-B3B9-40FF-BA56-26FF7D3BCBA3}"/>
              </a:ext>
            </a:extLst>
          </p:cNvPr>
          <p:cNvSpPr>
            <a:spLocks xmlns:a="http://schemas.openxmlformats.org/drawingml/2006/main" noGrp="1"/>
          </p:cNvSpPr>
          <p:nvPr/>
        </p:nvSpPr>
        <p:spPr>
          <a:xfrm xmlns:a="http://schemas.openxmlformats.org/drawingml/2006/main">
            <a:off x="609600" y="3886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The constraints set each diagonal entry to one.</a:t>
            </a:r>
          </a:p>
        </p:txBody>
      </p:sp>
      <p:sp>
        <p:nvSpPr>
          <p:cNvPr id="7" name="text-6">
            <a:extLst xmlns:a="http://schemas.openxmlformats.org/drawingml/2006/main">
              <a:ext uri="{FF2B5EF4-FFF2-40B4-BE49-F238E27FC236}">
                <a16:creationId xmlns:a16="http://schemas.microsoft.com/office/drawing/2014/main" id="{8F468275-A87C-4A69-9779-4925AA6CE77F}"/>
              </a:ext>
            </a:extLst>
          </p:cNvPr>
          <p:cNvSpPr>
            <a:spLocks xmlns:a="http://schemas.openxmlformats.org/drawingml/2006/main" noGrp="1"/>
          </p:cNvSpPr>
          <p:nvPr/>
        </p:nvSpPr>
        <p:spPr>
          <a:xfrm xmlns:a="http://schemas.openxmlformats.org/drawingml/2006/main">
            <a:off x="609600" y="46101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The objective reduces the remaining cross-coordinate terms.</a:t>
            </a:r>
          </a:p>
        </p:txBody>
      </p:sp>
      <p:sp>
        <p:nvSpPr>
          <p:cNvPr id="8" name="text-7">
            <a:extLst xmlns:a="http://schemas.openxmlformats.org/drawingml/2006/main">
              <a:ext uri="{FF2B5EF4-FFF2-40B4-BE49-F238E27FC236}">
                <a16:creationId xmlns:a16="http://schemas.microsoft.com/office/drawing/2014/main" id="{2D3D26B3-2ED7-4FD9-9200-7C620F164127}"/>
              </a:ext>
            </a:extLst>
          </p:cNvPr>
          <p:cNvSpPr>
            <a:spLocks xmlns:a="http://schemas.openxmlformats.org/drawingml/2006/main" noGrp="1"/>
          </p:cNvSpPr>
          <p:nvPr/>
        </p:nvSpPr>
        <p:spPr>
          <a:xfrm xmlns:a="http://schemas.openxmlformats.org/drawingml/2006/main">
            <a:off x="609600" y="533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W depends on D, without using example signals.</a:t>
            </a:r>
          </a:p>
        </p:txBody>
      </p:sp>
    </p:spTree>
    <p:extLst>
      <p:ext uri="{BB962C8B-B14F-4D97-AF65-F5344CB8AC3E}">
        <p14:creationId xmlns:p14="http://schemas.microsoft.com/office/powerpoint/2010/main" val="108009180"/>
      </p:ext>
    </p:extLst>
  </p:cSld>
</p:sld>
</file>

<file path=ppt/slides/slide2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8CCD828-3140-4A38-B729-2AABD2B9F312}"/>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ALISTA learns only 2K scalars</a:t>
            </a:r>
          </a:p>
        </p:txBody>
      </p:sp>
      <p:sp>
        <p:nvSpPr>
          <p:cNvPr id="2" name="text-1">
            <a:extLst xmlns:a="http://schemas.openxmlformats.org/drawingml/2006/main">
              <a:ext uri="{FF2B5EF4-FFF2-40B4-BE49-F238E27FC236}">
                <a16:creationId xmlns:a16="http://schemas.microsoft.com/office/drawing/2014/main" id="{7DA1803F-3329-40EE-A4CE-8546F7815312}"/>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2F28DE71-2565-4D85-B572-15D1E9D8AEC4}"/>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26</a:t>
            </a:r>
          </a:p>
        </p:txBody>
      </p:sp>
      <p:sp>
        <p:nvSpPr>
          <p:cNvPr id="4" name="text-3">
            <a:extLst xmlns:a="http://schemas.openxmlformats.org/drawingml/2006/main">
              <a:ext uri="{FF2B5EF4-FFF2-40B4-BE49-F238E27FC236}">
                <a16:creationId xmlns:a16="http://schemas.microsoft.com/office/drawing/2014/main" id="{2F6119AF-B85F-4BE9-95A1-9D70B9875DDF}"/>
              </a:ext>
            </a:extLst>
          </p:cNvPr>
          <p:cNvSpPr>
            <a:spLocks xmlns:a="http://schemas.openxmlformats.org/drawingml/2006/main" noGrp="1"/>
          </p:cNvSpPr>
          <p:nvPr/>
        </p:nvSpPr>
        <p:spPr>
          <a:xfrm xmlns:a="http://schemas.openxmlformats.org/drawingml/2006/main">
            <a:off x="609600" y="17430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87F8C"/>
                </a:solidFill>
                <a:latin typeface="Arial"/>
                <a:ea typeface="Arial"/>
                <a:cs typeface="Arial"/>
              </a:defRPr>
            </a:defPPr>
          </a:lstStyle>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xₖ₊₁ = softθₖ[xₖ + γₖ Wᵀ(b − Dxₖ)]</a:t>
            </a:r>
          </a:p>
        </p:txBody>
      </p:sp>
      <p:sp>
        <p:nvSpPr>
          <p:cNvPr id="5" name="text-4">
            <a:extLst xmlns:a="http://schemas.openxmlformats.org/drawingml/2006/main">
              <a:ext uri="{FF2B5EF4-FFF2-40B4-BE49-F238E27FC236}">
                <a16:creationId xmlns:a16="http://schemas.microsoft.com/office/drawing/2014/main" id="{4C0180FE-34FB-4816-8AB3-3D230E0814C2}"/>
              </a:ext>
            </a:extLst>
          </p:cNvPr>
          <p:cNvSpPr>
            <a:spLocks xmlns:a="http://schemas.openxmlformats.org/drawingml/2006/main" noGrp="1"/>
          </p:cNvSpPr>
          <p:nvPr/>
        </p:nvSpPr>
        <p:spPr>
          <a:xfrm xmlns:a="http://schemas.openxmlformats.org/drawingml/2006/main">
            <a:off x="609600" y="3028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2B3B"/>
                </a:solidFill>
                <a:latin typeface="Arial"/>
                <a:ea typeface="Arial"/>
                <a:cs typeface="Arial"/>
              </a:defRPr>
            </a:defPPr>
          </a:lstStyle>
          <a:p xmlns:a="http://schemas.openxmlformats.org/drawingml/2006/main">
            <a:pPr>
              <a:defRPr sz="2475" b="0">
                <a:solidFill>
                  <a:srgbClr val="152B3B"/>
                </a:solidFill>
                <a:latin typeface="Arial"/>
                <a:ea typeface="Arial"/>
                <a:cs typeface="Arial"/>
              </a:defRPr>
            </a:pPr>
            <a:r>
              <a:rPr sz="2475" b="0">
                <a:solidFill>
                  <a:srgbClr val="152B3B"/>
                </a:solidFill>
                <a:latin typeface="Arial"/>
                <a:ea typeface="Arial"/>
                <a:cs typeface="Arial"/>
              </a:rPr>
              <a:t>Fixed: D and W</a:t>
            </a:r>
          </a:p>
        </p:txBody>
      </p:sp>
      <p:sp>
        <p:nvSpPr>
          <p:cNvPr id="6" name="text-5">
            <a:extLst xmlns:a="http://schemas.openxmlformats.org/drawingml/2006/main">
              <a:ext uri="{FF2B5EF4-FFF2-40B4-BE49-F238E27FC236}">
                <a16:creationId xmlns:a16="http://schemas.microsoft.com/office/drawing/2014/main" id="{FADC200F-350E-47BF-A8F8-83B8DAABD314}"/>
              </a:ext>
            </a:extLst>
          </p:cNvPr>
          <p:cNvSpPr>
            <a:spLocks xmlns:a="http://schemas.openxmlformats.org/drawingml/2006/main" noGrp="1"/>
          </p:cNvSpPr>
          <p:nvPr/>
        </p:nvSpPr>
        <p:spPr>
          <a:xfrm xmlns:a="http://schemas.openxmlformats.org/drawingml/2006/main">
            <a:off x="609600" y="38766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2B3B"/>
                </a:solidFill>
                <a:latin typeface="Arial"/>
                <a:ea typeface="Arial"/>
                <a:cs typeface="Arial"/>
              </a:defRPr>
            </a:defPPr>
          </a:lstStyle>
          <a:p xmlns:a="http://schemas.openxmlformats.org/drawingml/2006/main">
            <a:pPr>
              <a:defRPr sz="2475" b="0">
                <a:solidFill>
                  <a:srgbClr val="152B3B"/>
                </a:solidFill>
                <a:latin typeface="Arial"/>
                <a:ea typeface="Arial"/>
                <a:cs typeface="Arial"/>
              </a:defRPr>
            </a:pPr>
            <a:r>
              <a:rPr sz="2475" b="0">
                <a:solidFill>
                  <a:srgbClr val="152B3B"/>
                </a:solidFill>
                <a:latin typeface="Arial"/>
                <a:ea typeface="Arial"/>
                <a:cs typeface="Arial"/>
              </a:rPr>
              <a:t>Learned: γₖ and θₖ at every layer</a:t>
            </a:r>
          </a:p>
        </p:txBody>
      </p:sp>
      <p:sp>
        <p:nvSpPr>
          <p:cNvPr id="7" name="text-6">
            <a:extLst xmlns:a="http://schemas.openxmlformats.org/drawingml/2006/main">
              <a:ext uri="{FF2B5EF4-FFF2-40B4-BE49-F238E27FC236}">
                <a16:creationId xmlns:a16="http://schemas.microsoft.com/office/drawing/2014/main" id="{F971468F-B303-4035-B226-B12124DEDCEE}"/>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16 layers = 32 trainable scalars, plus fixed matrix storage</a:t>
            </a:r>
          </a:p>
        </p:txBody>
      </p:sp>
    </p:spTree>
    <p:extLst>
      <p:ext uri="{BB962C8B-B14F-4D97-AF65-F5344CB8AC3E}">
        <p14:creationId xmlns:p14="http://schemas.microsoft.com/office/powerpoint/2010/main" val="210286600"/>
      </p:ext>
    </p:extLst>
  </p:cSld>
</p:sld>
</file>

<file path=ppt/slides/slide2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25558737-1D79-4C50-BAE1-974DF1407D54}"/>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Support selection reduces shrinkage bias</a:t>
            </a:r>
          </a:p>
        </p:txBody>
      </p:sp>
      <p:sp>
        <p:nvSpPr>
          <p:cNvPr id="2" name="text-1">
            <a:extLst xmlns:a="http://schemas.openxmlformats.org/drawingml/2006/main">
              <a:ext uri="{FF2B5EF4-FFF2-40B4-BE49-F238E27FC236}">
                <a16:creationId xmlns:a16="http://schemas.microsoft.com/office/drawing/2014/main" id="{1191E7EF-6481-4BD5-AF17-12803E51D55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C7D40B29-9BD7-42A1-9801-438911AD3717}"/>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27</a:t>
            </a:r>
          </a:p>
        </p:txBody>
      </p:sp>
      <p:graphicFrame>
        <p:nvGraphicFramePr>
          <p:cNvPr id="4" name="">
            <a:extLst xmlns:a="http://schemas.openxmlformats.org/drawingml/2006/main">
              <a:ext uri="{FF2B5EF4-FFF2-40B4-BE49-F238E27FC236}">
                <a16:creationId xmlns:a16="http://schemas.microsoft.com/office/drawing/2014/main" id="{D131F762-036A-44EC-97BA-4E665758A713}"/>
              </a:ext>
            </a:extLst>
          </p:cNvPr>
          <p:cNvGraphicFramePr/>
          <p:nvPr/>
        </p:nvGraphicFramePr>
        <p:xfrm>
          <a:off xmlns:a="http://schemas.openxmlformats.org/drawingml/2006/main" x="609600" y="1600200"/>
          <a:ext xmlns:a="http://schemas.openxmlformats.org/drawingml/2006/main" cx="10972800" cy="2381250"/>
        </p:xfrm>
        <a:graphic xmlns:a="http://schemas.openxmlformats.org/drawingml/2006/main">
          <a:graphicData uri="http://schemas.openxmlformats.org/drawingml/2006/table">
            <a:tbl>
              <a:tblPr/>
              <a:tblGrid>
                <a:gridCol w="3162300"/>
                <a:gridCol w="1562100"/>
                <a:gridCol w="1562100"/>
                <a:gridCol w="1562100"/>
                <a:gridCol w="1562100"/>
                <a:gridCol w="1562100"/>
              </a:tblGrid>
              <a:tr h="793750">
                <a:tc>
                  <a:txBody>
                    <a:bodyPr lIns="114300" tIns="114300" rIns="114300" bIns="114300"/>
                    <a:lstStyle/>
                    <a:p>
                      <a:r>
                        <a:rPr sz="1875" b="1">
                          <a:solidFill>
                            <a:srgbClr val="FFFFFF"/>
                          </a:solidFill>
                          <a:latin typeface="Arial"/>
                          <a:ea typeface="Arial"/>
                          <a:cs typeface="Arial"/>
                        </a:rPr>
                        <a:t>Candidate v</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5.0</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−3.0</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1.4</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0.6</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−0.2</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93750">
                <a:tc>
                  <a:txBody>
                    <a:bodyPr lIns="114300" tIns="114300" rIns="114300" bIns="114300"/>
                    <a:lstStyle/>
                    <a:p>
                      <a:r>
                        <a:rPr sz="1875" b="0">
                          <a:solidFill>
                            <a:srgbClr val="152B3B"/>
                          </a:solidFill>
                          <a:latin typeface="Arial"/>
                          <a:ea typeface="Arial"/>
                          <a:cs typeface="Arial"/>
                        </a:rPr>
                        <a:t>Ordinary soft</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4.0</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−2.0</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0.4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93750">
                <a:tc>
                  <a:txBody>
                    <a:bodyPr lIns="114300" tIns="114300" rIns="114300" bIns="114300"/>
                    <a:lstStyle/>
                    <a:p>
                      <a:r>
                        <a:rPr sz="1875" b="0">
                          <a:solidFill>
                            <a:srgbClr val="152B3B"/>
                          </a:solidFill>
                          <a:latin typeface="Arial"/>
                          <a:ea typeface="Arial"/>
                          <a:cs typeface="Arial"/>
                        </a:rPr>
                        <a:t>Protect largest 2</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5.0</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−3.0</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0.4</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D995E34B-407F-4E47-8693-90380D9FEB67}"/>
              </a:ext>
            </a:extLst>
          </p:cNvPr>
          <p:cNvSpPr>
            <a:spLocks xmlns:a="http://schemas.openxmlformats.org/drawingml/2006/main" noGrp="1"/>
          </p:cNvSpPr>
          <p:nvPr/>
        </p:nvSpPr>
        <p:spPr>
          <a:xfrm xmlns:a="http://schemas.openxmlformats.org/drawingml/2006/main">
            <a:off x="609600" y="44481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Example with θ = 1: large selected entries retain their amplitudes.</a:t>
            </a:r>
          </a:p>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Other entries still pass through soft thresholding.</a:t>
            </a:r>
          </a:p>
        </p:txBody>
      </p:sp>
    </p:spTree>
    <p:extLst>
      <p:ext uri="{BB962C8B-B14F-4D97-AF65-F5344CB8AC3E}">
        <p14:creationId xmlns:p14="http://schemas.microsoft.com/office/powerpoint/2010/main" val="682199876"/>
      </p:ext>
    </p:extLst>
  </p:cSld>
</p:sld>
</file>

<file path=ppt/slides/slide2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DDF009D7-9127-4644-8E52-C756B76D4AB3}"/>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support-selection schedule</a:t>
            </a:r>
          </a:p>
        </p:txBody>
      </p:sp>
      <p:sp>
        <p:nvSpPr>
          <p:cNvPr id="2" name="text-1">
            <a:extLst xmlns:a="http://schemas.openxmlformats.org/drawingml/2006/main">
              <a:ext uri="{FF2B5EF4-FFF2-40B4-BE49-F238E27FC236}">
                <a16:creationId xmlns:a16="http://schemas.microsoft.com/office/drawing/2014/main" id="{A6F26240-A202-4921-9A4C-4D8F878566A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7854A16F-214B-4115-BCAA-C40B5119C011}"/>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28</a:t>
            </a:r>
          </a:p>
        </p:txBody>
      </p:sp>
      <p:sp>
        <p:nvSpPr>
          <p:cNvPr id="4" name="text-3">
            <a:extLst xmlns:a="http://schemas.openxmlformats.org/drawingml/2006/main">
              <a:ext uri="{FF2B5EF4-FFF2-40B4-BE49-F238E27FC236}">
                <a16:creationId xmlns:a16="http://schemas.microsoft.com/office/drawing/2014/main" id="{8FAF9CEF-BB7B-4F3B-B40C-34DCC66E80E4}"/>
              </a:ext>
            </a:extLst>
          </p:cNvPr>
          <p:cNvSpPr>
            <a:spLocks xmlns:a="http://schemas.openxmlformats.org/drawingml/2006/main" noGrp="1"/>
          </p:cNvSpPr>
          <p:nvPr/>
        </p:nvSpPr>
        <p:spPr>
          <a:xfrm xmlns:a="http://schemas.openxmlformats.org/drawingml/2006/main">
            <a:off x="609600" y="17526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F8C"/>
                </a:solidFill>
                <a:latin typeface="Arial"/>
                <a:ea typeface="Arial"/>
                <a:cs typeface="Arial"/>
              </a:defRPr>
            </a:def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Protected percentage at layer k = min(1.2k, 13)</a:t>
            </a:r>
          </a:p>
        </p:txBody>
      </p:sp>
      <p:sp>
        <p:nvSpPr>
          <p:cNvPr id="5" name="text-4">
            <a:extLst xmlns:a="http://schemas.openxmlformats.org/drawingml/2006/main">
              <a:ext uri="{FF2B5EF4-FFF2-40B4-BE49-F238E27FC236}">
                <a16:creationId xmlns:a16="http://schemas.microsoft.com/office/drawing/2014/main" id="{2E271A97-AD38-4E09-A7D9-C6BB20FEA9B9}"/>
              </a:ext>
            </a:extLst>
          </p:cNvPr>
          <p:cNvSpPr>
            <a:spLocks xmlns:a="http://schemas.openxmlformats.org/drawingml/2006/main" noGrp="1"/>
          </p:cNvSpPr>
          <p:nvPr/>
        </p:nvSpPr>
        <p:spPr>
          <a:xfrm xmlns:a="http://schemas.openxmlformats.org/drawingml/2006/main">
            <a:off x="609600" y="3105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Early layers protect a small subset of large entries.</a:t>
            </a:r>
          </a:p>
        </p:txBody>
      </p:sp>
      <p:sp>
        <p:nvSpPr>
          <p:cNvPr id="6" name="text-5">
            <a:extLst xmlns:a="http://schemas.openxmlformats.org/drawingml/2006/main">
              <a:ext uri="{FF2B5EF4-FFF2-40B4-BE49-F238E27FC236}">
                <a16:creationId xmlns:a16="http://schemas.microsoft.com/office/drawing/2014/main" id="{38C6FC02-7C99-4436-A9B1-BD1C9AC146A9}"/>
              </a:ext>
            </a:extLst>
          </p:cNvPr>
          <p:cNvSpPr>
            <a:spLocks xmlns:a="http://schemas.openxmlformats.org/drawingml/2006/main" noGrp="1"/>
          </p:cNvSpPr>
          <p:nvPr/>
        </p:nvSpPr>
        <p:spPr>
          <a:xfrm xmlns:a="http://schemas.openxmlformats.org/drawingml/2006/main">
            <a:off x="609600" y="39814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Later layers allow a larger protected subset.</a:t>
            </a:r>
          </a:p>
        </p:txBody>
      </p:sp>
      <p:sp>
        <p:nvSpPr>
          <p:cNvPr id="7" name="text-6">
            <a:extLst xmlns:a="http://schemas.openxmlformats.org/drawingml/2006/main">
              <a:ext uri="{FF2B5EF4-FFF2-40B4-BE49-F238E27FC236}">
                <a16:creationId xmlns:a16="http://schemas.microsoft.com/office/drawing/2014/main" id="{2AADEC3E-72B1-44BB-8366-B42CE6A0C607}"/>
              </a:ext>
            </a:extLst>
          </p:cNvPr>
          <p:cNvSpPr>
            <a:spLocks xmlns:a="http://schemas.openxmlformats.org/drawingml/2006/main" noGrp="1"/>
          </p:cNvSpPr>
          <p:nvPr/>
        </p:nvSpPr>
        <p:spPr>
          <a:xfrm xmlns:a="http://schemas.openxmlformats.org/drawingml/2006/main">
            <a:off x="609600" y="48577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This can reduce amplitude bias once the estimated support improves.</a:t>
            </a:r>
          </a:p>
        </p:txBody>
      </p:sp>
      <p:sp>
        <p:nvSpPr>
          <p:cNvPr id="8" name="text-7">
            <a:extLst xmlns:a="http://schemas.openxmlformats.org/drawingml/2006/main">
              <a:ext uri="{FF2B5EF4-FFF2-40B4-BE49-F238E27FC236}">
                <a16:creationId xmlns:a16="http://schemas.microsoft.com/office/drawing/2014/main" id="{31BA167E-E96B-4713-B3D1-D213DDCFC619}"/>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Large magnitude is evidence of support, not proof of correctness</a:t>
            </a:r>
          </a:p>
        </p:txBody>
      </p:sp>
    </p:spTree>
    <p:extLst>
      <p:ext uri="{BB962C8B-B14F-4D97-AF65-F5344CB8AC3E}">
        <p14:creationId xmlns:p14="http://schemas.microsoft.com/office/powerpoint/2010/main" val="1250879452"/>
      </p:ext>
    </p:extLst>
  </p:cSld>
</p:sld>
</file>

<file path=ppt/slides/slide2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FA9212F8-E467-437D-93F7-81CE9199700C}"/>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 modular implementation of the paper</a:t>
            </a:r>
          </a:p>
        </p:txBody>
      </p:sp>
      <p:sp>
        <p:nvSpPr>
          <p:cNvPr id="2" name="text-1">
            <a:extLst xmlns:a="http://schemas.openxmlformats.org/drawingml/2006/main">
              <a:ext uri="{FF2B5EF4-FFF2-40B4-BE49-F238E27FC236}">
                <a16:creationId xmlns:a16="http://schemas.microsoft.com/office/drawing/2014/main" id="{E6EB1BB5-2D24-420D-A891-D4EFB7855CA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2534D092-96B8-41BD-91DB-D28AB3D4476B}"/>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29</a:t>
            </a:r>
          </a:p>
        </p:txBody>
      </p:sp>
      <p:graphicFrame>
        <p:nvGraphicFramePr>
          <p:cNvPr id="4" name="">
            <a:extLst xmlns:a="http://schemas.openxmlformats.org/drawingml/2006/main">
              <a:ext uri="{FF2B5EF4-FFF2-40B4-BE49-F238E27FC236}">
                <a16:creationId xmlns:a16="http://schemas.microsoft.com/office/drawing/2014/main" id="{38F3999A-EA22-40C8-8490-30F87B0F1BF4}"/>
              </a:ext>
            </a:extLst>
          </p:cNvPr>
          <p:cNvGraphicFramePr/>
          <p:nvPr/>
        </p:nvGraphicFramePr>
        <p:xfrm>
          <a:off xmlns:a="http://schemas.openxmlformats.org/drawingml/2006/main" x="609600" y="1600200"/>
          <a:ext xmlns:a="http://schemas.openxmlformats.org/drawingml/2006/main" cx="10972800" cy="3714750"/>
        </p:xfrm>
        <a:graphic xmlns:a="http://schemas.openxmlformats.org/drawingml/2006/main">
          <a:graphicData uri="http://schemas.openxmlformats.org/drawingml/2006/table">
            <a:tbl>
              <a:tblPr/>
              <a:tblGrid>
                <a:gridCol w="4171950"/>
                <a:gridCol w="6800850"/>
              </a:tblGrid>
              <a:tr h="619125">
                <a:tc>
                  <a:txBody>
                    <a:bodyPr lIns="114300" tIns="114300" rIns="114300" bIns="114300"/>
                    <a:lstStyle/>
                    <a:p>
                      <a:r>
                        <a:rPr sz="1800" b="1">
                          <a:solidFill>
                            <a:srgbClr val="FFFFFF"/>
                          </a:solidFill>
                          <a:latin typeface="Arial"/>
                          <a:ea typeface="Arial"/>
                          <a:cs typeface="Arial"/>
                        </a:rPr>
                        <a:t>Module</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00" b="1">
                          <a:solidFill>
                            <a:srgbClr val="FFFFFF"/>
                          </a:solidFill>
                          <a:latin typeface="Arial"/>
                          <a:ea typeface="Arial"/>
                          <a:cs typeface="Arial"/>
                        </a:rPr>
                        <a:t>Responsibility</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19125">
                <a:tc>
                  <a:txBody>
                    <a:bodyPr lIns="114300" tIns="114300" rIns="114300" bIns="114300"/>
                    <a:lstStyle/>
                    <a:p>
                      <a:r>
                        <a:rPr sz="1800" b="0">
                          <a:solidFill>
                            <a:srgbClr val="152B3B"/>
                          </a:solidFill>
                          <a:latin typeface="Arial"/>
                          <a:ea typeface="Arial"/>
                          <a:cs typeface="Arial"/>
                        </a:rPr>
                        <a:t>alista_weights.py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Compute W and check constrained optimality</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19125">
                <a:tc>
                  <a:txBody>
                    <a:bodyPr lIns="114300" tIns="114300" rIns="114300" bIns="114300"/>
                    <a:lstStyle/>
                    <a:p>
                      <a:r>
                        <a:rPr sz="1800" b="0">
                          <a:solidFill>
                            <a:srgbClr val="152B3B"/>
                          </a:solidFill>
                          <a:latin typeface="Arial"/>
                          <a:ea typeface="Arial"/>
                          <a:cs typeface="Arial"/>
                        </a:rPr>
                        <a:t>alista.py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Equation 15 and optional support selection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19125">
                <a:tc>
                  <a:txBody>
                    <a:bodyPr lIns="114300" tIns="114300" rIns="114300" bIns="114300"/>
                    <a:lstStyle/>
                    <a:p>
                      <a:r>
                        <a:rPr sz="1800" b="0">
                          <a:solidFill>
                            <a:srgbClr val="152B3B"/>
                          </a:solidFill>
                          <a:latin typeface="Arial"/>
                          <a:ea typeface="Arial"/>
                          <a:cs typeface="Arial"/>
                        </a:rPr>
                        <a:t>alista_data.py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Sparse signals and independent random streams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19125">
                <a:tc>
                  <a:txBody>
                    <a:bodyPr lIns="114300" tIns="114300" rIns="114300" bIns="114300"/>
                    <a:lstStyle/>
                    <a:p>
                      <a:r>
                        <a:rPr sz="1800" b="0">
                          <a:solidFill>
                            <a:srgbClr val="152B3B"/>
                          </a:solidFill>
                          <a:latin typeface="Arial"/>
                          <a:ea typeface="Arial"/>
                          <a:cs typeface="Arial"/>
                        </a:rPr>
                        <a:t>train_alista.py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Layerwise training with validation selection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19125">
                <a:tc>
                  <a:txBody>
                    <a:bodyPr lIns="114300" tIns="114300" rIns="114300" bIns="114300"/>
                    <a:lstStyle/>
                    <a:p>
                      <a:r>
                        <a:rPr sz="1800" b="0">
                          <a:solidFill>
                            <a:srgbClr val="152B3B"/>
                          </a:solidFill>
                          <a:latin typeface="Arial"/>
                          <a:ea typeface="Arial"/>
                          <a:cs typeface="Arial"/>
                        </a:rPr>
                        <a:t>compare_alista.py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Held-out evaluation and baseline tuning</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Tree>
    <p:extLst>
      <p:ext uri="{BB962C8B-B14F-4D97-AF65-F5344CB8AC3E}">
        <p14:creationId xmlns:p14="http://schemas.microsoft.com/office/powerpoint/2010/main" val="2135957817"/>
      </p:ext>
    </p:extLst>
  </p:cSld>
</p:sld>
</file>

<file path=ppt/slides/slide3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935B4D3-BEA5-47ED-9081-8B33D0154280}"/>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Synthetic experiment settings</a:t>
            </a:r>
          </a:p>
        </p:txBody>
      </p:sp>
      <p:sp>
        <p:nvSpPr>
          <p:cNvPr id="2" name="text-1">
            <a:extLst xmlns:a="http://schemas.openxmlformats.org/drawingml/2006/main">
              <a:ext uri="{FF2B5EF4-FFF2-40B4-BE49-F238E27FC236}">
                <a16:creationId xmlns:a16="http://schemas.microsoft.com/office/drawing/2014/main" id="{EFD13846-F1AB-4364-AD78-A8C4D00029B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B: independent synthetic test samples, fixed dictionary</a:t>
            </a:r>
          </a:p>
        </p:txBody>
      </p:sp>
      <p:sp>
        <p:nvSpPr>
          <p:cNvPr id="3" name="text-2">
            <a:extLst xmlns:a="http://schemas.openxmlformats.org/drawingml/2006/main">
              <a:ext uri="{FF2B5EF4-FFF2-40B4-BE49-F238E27FC236}">
                <a16:creationId xmlns:a16="http://schemas.microsoft.com/office/drawing/2014/main" id="{29731139-5D11-4488-BD7D-78ABB04F83A3}"/>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30</a:t>
            </a:r>
          </a:p>
        </p:txBody>
      </p:sp>
      <p:sp>
        <p:nvSpPr>
          <p:cNvPr id="4" name="text-3">
            <a:extLst xmlns:a="http://schemas.openxmlformats.org/drawingml/2006/main">
              <a:ext uri="{FF2B5EF4-FFF2-40B4-BE49-F238E27FC236}">
                <a16:creationId xmlns:a16="http://schemas.microsoft.com/office/drawing/2014/main" id="{B504A6FC-C646-4F29-8805-C105EF263E07}"/>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D: 250 × 500, normalized Gaussian columns</a:t>
            </a:r>
          </a:p>
        </p:txBody>
      </p:sp>
      <p:sp>
        <p:nvSpPr>
          <p:cNvPr id="5" name="text-4">
            <a:extLst xmlns:a="http://schemas.openxmlformats.org/drawingml/2006/main">
              <a:ext uri="{FF2B5EF4-FFF2-40B4-BE49-F238E27FC236}">
                <a16:creationId xmlns:a16="http://schemas.microsoft.com/office/drawing/2014/main" id="{F9BED443-D302-486A-856F-A63590D76BE9}"/>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Sparse coefficients: p(nonzero) = 0.1, noiseless observations</a:t>
            </a:r>
          </a:p>
        </p:txBody>
      </p:sp>
      <p:sp>
        <p:nvSpPr>
          <p:cNvPr id="6" name="text-5">
            <a:extLst xmlns:a="http://schemas.openxmlformats.org/drawingml/2006/main">
              <a:ext uri="{FF2B5EF4-FFF2-40B4-BE49-F238E27FC236}">
                <a16:creationId xmlns:a16="http://schemas.microsoft.com/office/drawing/2014/main" id="{ACAE2161-CE77-4DB9-BE9A-6189FD9BD063}"/>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16 layers, 200 updates per stage, one seed</a:t>
            </a:r>
          </a:p>
        </p:txBody>
      </p:sp>
      <p:sp>
        <p:nvSpPr>
          <p:cNvPr id="7" name="text-6">
            <a:extLst xmlns:a="http://schemas.openxmlformats.org/drawingml/2006/main">
              <a:ext uri="{FF2B5EF4-FFF2-40B4-BE49-F238E27FC236}">
                <a16:creationId xmlns:a16="http://schemas.microsoft.com/office/drawing/2014/main" id="{85524EF4-D22F-469D-B0CA-D81552C1DB93}"/>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1,000 validation samples and 1,000 independent test samples</a:t>
            </a:r>
          </a:p>
        </p:txBody>
      </p:sp>
    </p:spTree>
    <p:extLst>
      <p:ext uri="{BB962C8B-B14F-4D97-AF65-F5344CB8AC3E}">
        <p14:creationId xmlns:p14="http://schemas.microsoft.com/office/powerpoint/2010/main" val="1483802586"/>
      </p:ext>
    </p:extLst>
  </p:cSld>
</p:sld>
</file>

<file path=ppt/slides/slide3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246038C1-AEE4-4DBA-AD99-8D30F94F9E0D}"/>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ALISTA test results</a:t>
            </a:r>
          </a:p>
        </p:txBody>
      </p:sp>
      <p:sp>
        <p:nvSpPr>
          <p:cNvPr id="2" name="text-1">
            <a:extLst xmlns:a="http://schemas.openxmlformats.org/drawingml/2006/main">
              <a:ext uri="{FF2B5EF4-FFF2-40B4-BE49-F238E27FC236}">
                <a16:creationId xmlns:a16="http://schemas.microsoft.com/office/drawing/2014/main" id="{EE214C90-7AEF-4B04-B5D3-387867F93C27}"/>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B: aggregate test NMSE in dB; more negative is better</a:t>
            </a:r>
          </a:p>
        </p:txBody>
      </p:sp>
      <p:sp>
        <p:nvSpPr>
          <p:cNvPr id="3" name="text-2">
            <a:extLst xmlns:a="http://schemas.openxmlformats.org/drawingml/2006/main">
              <a:ext uri="{FF2B5EF4-FFF2-40B4-BE49-F238E27FC236}">
                <a16:creationId xmlns:a16="http://schemas.microsoft.com/office/drawing/2014/main" id="{BD519AB2-3A69-4380-9679-64AF49AFA48F}"/>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31</a:t>
            </a:r>
          </a:p>
        </p:txBody>
      </p:sp>
      <p:graphicFrame>
        <p:nvGraphicFramePr>
          <p:cNvPr id="4" name="Chart">
            <a:extLst xmlns:a="http://schemas.openxmlformats.org/drawingml/2006/main">
              <a:ext uri="{FF2B5EF4-FFF2-40B4-BE49-F238E27FC236}">
                <a16:creationId xmlns:a16="http://schemas.microsoft.com/office/drawing/2014/main" id="{A619948B-E940-4474-BC76-346942D7C49F}"/>
              </a:ext>
            </a:extLst>
          </p:cNvPr>
          <p:cNvGraphicFramePr/>
          <p:nvPr/>
        </p:nvGraphicFramePr>
        <p:xfrm>
          <a:off xmlns:a="http://schemas.openxmlformats.org/drawingml/2006/main" x="609600" y="1676400"/>
          <a:ext xmlns:a="http://schemas.openxmlformats.org/drawingml/2006/main" cx="10972800" cy="3638550"/>
        </p:xfrm>
        <a:graphic xmlns:a="http://schemas.openxmlformats.org/drawingml/2006/main">
          <a:graphicData uri="http://schemas.openxmlformats.org/drawingml/2006/chart">
            <c:chart xmlns:r="http://schemas.openxmlformats.org/officeDocument/2006/relationships" xmlns:c="http://schemas.openxmlformats.org/drawingml/2006/chart" r:id="Rddaade6876f94c7d"/>
          </a:graphicData>
        </a:graphic>
      </p:graphicFrame>
      <p:sp>
        <p:nvSpPr>
          <p:cNvPr id="5" name="text-3">
            <a:extLst xmlns:a="http://schemas.openxmlformats.org/drawingml/2006/main">
              <a:ext uri="{FF2B5EF4-FFF2-40B4-BE49-F238E27FC236}">
                <a16:creationId xmlns:a16="http://schemas.microsoft.com/office/drawing/2014/main" id="{E19A3559-5A51-45B6-8AC0-E57EE64277EB}"/>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ALISTA-SS at 16 layers approaches the 500-step FISTA error</a:t>
            </a:r>
          </a:p>
        </p:txBody>
      </p:sp>
    </p:spTree>
    <p:extLst>
      <p:ext uri="{BB962C8B-B14F-4D97-AF65-F5344CB8AC3E}">
        <p14:creationId xmlns:p14="http://schemas.microsoft.com/office/powerpoint/2010/main" val="954059583"/>
      </p:ext>
    </p:extLst>
  </p:cSld>
</p:sld>
</file>

<file path=ppt/slides/slide3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715A9FB7-4D5C-4E9A-86EC-297599438B38}"/>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Interpreting the synthetic error values</a:t>
            </a:r>
          </a:p>
        </p:txBody>
      </p:sp>
      <p:sp>
        <p:nvSpPr>
          <p:cNvPr id="2" name="text-1">
            <a:extLst xmlns:a="http://schemas.openxmlformats.org/drawingml/2006/main">
              <a:ext uri="{FF2B5EF4-FFF2-40B4-BE49-F238E27FC236}">
                <a16:creationId xmlns:a16="http://schemas.microsoft.com/office/drawing/2014/main" id="{7FADEAA2-7A5B-4758-8F50-DAD896AC76F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F9F8BD44-0A1F-4DD7-931F-7DAE9C27F08A}"/>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32</a:t>
            </a:r>
          </a:p>
        </p:txBody>
      </p:sp>
      <p:graphicFrame>
        <p:nvGraphicFramePr>
          <p:cNvPr id="4" name="">
            <a:extLst xmlns:a="http://schemas.openxmlformats.org/drawingml/2006/main">
              <a:ext uri="{FF2B5EF4-FFF2-40B4-BE49-F238E27FC236}">
                <a16:creationId xmlns:a16="http://schemas.microsoft.com/office/drawing/2014/main" id="{14D5B5F2-45B6-4A68-AA90-083F6A4C337A}"/>
              </a:ext>
            </a:extLst>
          </p:cNvPr>
          <p:cNvGraphicFramePr/>
          <p:nvPr/>
        </p:nvGraphicFramePr>
        <p:xfrm>
          <a:off xmlns:a="http://schemas.openxmlformats.org/drawingml/2006/main" x="609600" y="1600200"/>
          <a:ext xmlns:a="http://schemas.openxmlformats.org/drawingml/2006/main" cx="10972800" cy="3905250"/>
        </p:xfrm>
        <a:graphic xmlns:a="http://schemas.openxmlformats.org/drawingml/2006/main">
          <a:graphicData uri="http://schemas.openxmlformats.org/drawingml/2006/table">
            <a:tbl>
              <a:tblPr/>
              <a:tblGrid>
                <a:gridCol w="4762500"/>
                <a:gridCol w="2571750"/>
                <a:gridCol w="3638550"/>
              </a:tblGrid>
              <a:tr h="488156">
                <a:tc>
                  <a:txBody>
                    <a:bodyPr lIns="114300" tIns="114300" rIns="114300" bIns="114300"/>
                    <a:lstStyle/>
                    <a:p>
                      <a:r>
                        <a:rPr sz="1725" b="1">
                          <a:solidFill>
                            <a:srgbClr val="FFFFFF"/>
                          </a:solidFill>
                          <a:latin typeface="Arial"/>
                          <a:ea typeface="Arial"/>
                          <a:cs typeface="Arial"/>
                        </a:rPr>
                        <a:t>Method</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NMSE (dB)</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Relative norm error</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488156">
                <a:tc>
                  <a:txBody>
                    <a:bodyPr lIns="114300" tIns="114300" rIns="114300" bIns="114300"/>
                    <a:lstStyle/>
                    <a:p>
                      <a:r>
                        <a:rPr sz="1725" b="0">
                          <a:solidFill>
                            <a:srgbClr val="152B3B"/>
                          </a:solidFill>
                          <a:latin typeface="Arial"/>
                          <a:ea typeface="Arial"/>
                          <a:cs typeface="Arial"/>
                        </a:rPr>
                        <a:t>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-6.26</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48.637%</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488156">
                <a:tc>
                  <a:txBody>
                    <a:bodyPr lIns="114300" tIns="114300" rIns="114300" bIns="114300"/>
                    <a:lstStyle/>
                    <a:p>
                      <a:r>
                        <a:rPr sz="1725" b="0">
                          <a:solidFill>
                            <a:srgbClr val="152B3B"/>
                          </a:solidFill>
                          <a:latin typeface="Arial"/>
                          <a:ea typeface="Arial"/>
                          <a:cs typeface="Arial"/>
                        </a:rPr>
                        <a:t>FISTA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-10.98</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28.241%</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488156">
                <a:tc>
                  <a:txBody>
                    <a:bodyPr lIns="114300" tIns="114300" rIns="114300" bIns="114300"/>
                    <a:lstStyle/>
                    <a:p>
                      <a:r>
                        <a:rPr sz="1725" b="0">
                          <a:solidFill>
                            <a:srgbClr val="152B3B"/>
                          </a:solidFill>
                          <a:latin typeface="Arial"/>
                          <a:ea typeface="Arial"/>
                          <a:cs typeface="Arial"/>
                        </a:rPr>
                        <a:t>Learned 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-12.14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24.731%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488156">
                <a:tc>
                  <a:txBody>
                    <a:bodyPr lIns="114300" tIns="114300" rIns="114300" bIns="114300"/>
                    <a:lstStyle/>
                    <a:p>
                      <a:r>
                        <a:rPr sz="1725" b="0">
                          <a:solidFill>
                            <a:srgbClr val="152B3B"/>
                          </a:solidFill>
                          <a:latin typeface="Arial"/>
                          <a:ea typeface="Arial"/>
                          <a:cs typeface="Arial"/>
                        </a:rPr>
                        <a:t>ALISTA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-28.01</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3.978%</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488156">
                <a:tc>
                  <a:txBody>
                    <a:bodyPr lIns="114300" tIns="114300" rIns="114300" bIns="114300"/>
                    <a:lstStyle/>
                    <a:p>
                      <a:r>
                        <a:rPr sz="1725" b="0">
                          <a:solidFill>
                            <a:srgbClr val="152B3B"/>
                          </a:solidFill>
                          <a:latin typeface="Arial"/>
                          <a:ea typeface="Arial"/>
                          <a:cs typeface="Arial"/>
                        </a:rPr>
                        <a:t>ALISTA-SS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-54.68</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0.185%</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488156">
                <a:tc>
                  <a:txBody>
                    <a:bodyPr lIns="114300" tIns="114300" rIns="114300" bIns="114300"/>
                    <a:lstStyle/>
                    <a:p>
                      <a:r>
                        <a:rPr sz="1725" b="0">
                          <a:solidFill>
                            <a:srgbClr val="152B3B"/>
                          </a:solidFill>
                          <a:latin typeface="Arial"/>
                          <a:ea typeface="Arial"/>
                          <a:cs typeface="Arial"/>
                        </a:rPr>
                        <a:t>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-22.21</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7.751%</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488156">
                <a:tc>
                  <a:txBody>
                    <a:bodyPr lIns="114300" tIns="114300" rIns="114300" bIns="114300"/>
                    <a:lstStyle/>
                    <a:p>
                      <a:r>
                        <a:rPr sz="1725" b="0">
                          <a:solidFill>
                            <a:srgbClr val="152B3B"/>
                          </a:solidFill>
                          <a:latin typeface="Arial"/>
                          <a:ea typeface="Arial"/>
                          <a:cs typeface="Arial"/>
                        </a:rPr>
                        <a:t>FISTA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-55.34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0.171%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BD81A78A-67CA-41A3-9B5D-CA60FE80B7C5}"/>
              </a:ext>
            </a:extLst>
          </p:cNvPr>
          <p:cNvSpPr>
            <a:spLocks xmlns:a="http://schemas.openxmlformats.org/drawingml/2006/main" noGrp="1"/>
          </p:cNvSpPr>
          <p:nvPr/>
        </p:nvSpPr>
        <p:spPr>
          <a:xfrm xmlns:a="http://schemas.openxmlformats.org/drawingml/2006/main">
            <a:off x="609600" y="57340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Relative norm error (%) = 100 × 10^(NMSEdB / 20)</a:t>
            </a:r>
          </a:p>
        </p:txBody>
      </p:sp>
    </p:spTree>
    <p:extLst>
      <p:ext uri="{BB962C8B-B14F-4D97-AF65-F5344CB8AC3E}">
        <p14:creationId xmlns:p14="http://schemas.microsoft.com/office/powerpoint/2010/main" val="1518694259"/>
      </p:ext>
    </p:extLst>
  </p:cSld>
</p:sld>
</file>

<file path=ppt/slides/slide3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B304632-46A4-413A-BB51-065C8CC31B79}"/>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analytic map contributes beyond scalar tuning</a:t>
            </a:r>
          </a:p>
        </p:txBody>
      </p:sp>
      <p:sp>
        <p:nvSpPr>
          <p:cNvPr id="2" name="text-1">
            <a:extLst xmlns:a="http://schemas.openxmlformats.org/drawingml/2006/main">
              <a:ext uri="{FF2B5EF4-FFF2-40B4-BE49-F238E27FC236}">
                <a16:creationId xmlns:a16="http://schemas.microsoft.com/office/drawing/2014/main" id="{85AD25BA-251A-42DD-8AB7-E9FEBDFF33C5}"/>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8C5BA9A7-A7C8-462F-BF6F-6A14049E680C}"/>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33</a:t>
            </a:r>
          </a:p>
        </p:txBody>
      </p:sp>
      <p:graphicFrame>
        <p:nvGraphicFramePr>
          <p:cNvPr id="4" name="">
            <a:extLst xmlns:a="http://schemas.openxmlformats.org/drawingml/2006/main">
              <a:ext uri="{FF2B5EF4-FFF2-40B4-BE49-F238E27FC236}">
                <a16:creationId xmlns:a16="http://schemas.microsoft.com/office/drawing/2014/main" id="{8F7D75DA-B3FF-415C-BDED-0C1FB3ABC4E1}"/>
              </a:ext>
            </a:extLst>
          </p:cNvPr>
          <p:cNvGraphicFramePr/>
          <p:nvPr/>
        </p:nvGraphicFramePr>
        <p:xfrm>
          <a:off xmlns:a="http://schemas.openxmlformats.org/drawingml/2006/main" x="609600" y="1600200"/>
          <a:ext xmlns:a="http://schemas.openxmlformats.org/drawingml/2006/main" cx="10972800" cy="2857500"/>
        </p:xfrm>
        <a:graphic xmlns:a="http://schemas.openxmlformats.org/drawingml/2006/main">
          <a:graphicData uri="http://schemas.openxmlformats.org/drawingml/2006/table">
            <a:tbl>
              <a:tblPr/>
              <a:tblGrid>
                <a:gridCol w="7905750"/>
                <a:gridCol w="3067050"/>
              </a:tblGrid>
              <a:tr h="714375">
                <a:tc>
                  <a:txBody>
                    <a:bodyPr lIns="114300" tIns="114300" rIns="114300" bIns="114300"/>
                    <a:lstStyle/>
                    <a:p>
                      <a:r>
                        <a:rPr sz="2025" b="1">
                          <a:solidFill>
                            <a:srgbClr val="FFFFFF"/>
                          </a:solidFill>
                          <a:latin typeface="Arial"/>
                          <a:ea typeface="Arial"/>
                          <a:cs typeface="Arial"/>
                        </a:rPr>
                        <a:t>Controlled comparison</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2025" b="1">
                          <a:solidFill>
                            <a:srgbClr val="FFFFFF"/>
                          </a:solidFill>
                          <a:latin typeface="Arial"/>
                          <a:ea typeface="Arial"/>
                          <a:cs typeface="Arial"/>
                        </a:rPr>
                        <a:t>Test NMSE</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14375">
                <a:tc>
                  <a:txBody>
                    <a:bodyPr lIns="114300" tIns="114300" rIns="114300" bIns="114300"/>
                    <a:lstStyle/>
                    <a:p>
                      <a:r>
                        <a:rPr sz="2025" b="0">
                          <a:solidFill>
                            <a:srgbClr val="152B3B"/>
                          </a:solidFill>
                          <a:latin typeface="Arial"/>
                          <a:ea typeface="Arial"/>
                          <a:cs typeface="Arial"/>
                        </a:rPr>
                        <a:t>Same 32 scalars, W = D</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2025" b="0">
                          <a:solidFill>
                            <a:srgbClr val="152B3B"/>
                          </a:solidFill>
                          <a:latin typeface="Arial"/>
                          <a:ea typeface="Arial"/>
                          <a:cs typeface="Arial"/>
                        </a:rPr>
                        <a:t>−12.14 dB</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14375">
                <a:tc>
                  <a:txBody>
                    <a:bodyPr lIns="114300" tIns="114300" rIns="114300" bIns="114300"/>
                    <a:lstStyle/>
                    <a:p>
                      <a:r>
                        <a:rPr sz="2025" b="0">
                          <a:solidFill>
                            <a:srgbClr val="152B3B"/>
                          </a:solidFill>
                          <a:latin typeface="Arial"/>
                          <a:ea typeface="Arial"/>
                          <a:cs typeface="Arial"/>
                        </a:rPr>
                        <a:t>Same 32 scalars, analytic W</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2025" b="0">
                          <a:solidFill>
                            <a:srgbClr val="152B3B"/>
                          </a:solidFill>
                          <a:latin typeface="Arial"/>
                          <a:ea typeface="Arial"/>
                          <a:cs typeface="Arial"/>
                        </a:rPr>
                        <a:t>−28.01 dB</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714375">
                <a:tc>
                  <a:txBody>
                    <a:bodyPr lIns="114300" tIns="114300" rIns="114300" bIns="114300"/>
                    <a:lstStyle/>
                    <a:p>
                      <a:r>
                        <a:rPr sz="2025" b="0">
                          <a:solidFill>
                            <a:srgbClr val="152B3B"/>
                          </a:solidFill>
                          <a:latin typeface="Arial"/>
                          <a:ea typeface="Arial"/>
                          <a:cs typeface="Arial"/>
                        </a:rPr>
                        <a:t>Analytic W plus support selection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2025" b="0">
                          <a:solidFill>
                            <a:srgbClr val="152B3B"/>
                          </a:solidFill>
                          <a:latin typeface="Arial"/>
                          <a:ea typeface="Arial"/>
                          <a:cs typeface="Arial"/>
                        </a:rPr>
                        <a:t>−54.68 dB</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7CC4D1B7-1255-4010-A100-7B8458FF22E2}"/>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result supports analytic preconditioning in this benchmark</a:t>
            </a:r>
          </a:p>
        </p:txBody>
      </p:sp>
    </p:spTree>
    <p:extLst>
      <p:ext uri="{BB962C8B-B14F-4D97-AF65-F5344CB8AC3E}">
        <p14:creationId xmlns:p14="http://schemas.microsoft.com/office/powerpoint/2010/main" val="1302538591"/>
      </p:ext>
    </p:extLst>
  </p:cSld>
</p:sld>
</file>

<file path=ppt/slides/slide3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C4481C47-89C1-481A-ACDC-931561E8000B}"/>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Support selection has a runtime cost</a:t>
            </a:r>
          </a:p>
        </p:txBody>
      </p:sp>
      <p:sp>
        <p:nvSpPr>
          <p:cNvPr id="2" name="text-1">
            <a:extLst xmlns:a="http://schemas.openxmlformats.org/drawingml/2006/main">
              <a:ext uri="{FF2B5EF4-FFF2-40B4-BE49-F238E27FC236}">
                <a16:creationId xmlns:a16="http://schemas.microsoft.com/office/drawing/2014/main" id="{93D1AD66-8944-4D07-8873-8EF8407B2CA7}"/>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B: CPU, one thread, batch of 1,000 examples</a:t>
            </a:r>
          </a:p>
        </p:txBody>
      </p:sp>
      <p:sp>
        <p:nvSpPr>
          <p:cNvPr id="3" name="text-2">
            <a:extLst xmlns:a="http://schemas.openxmlformats.org/drawingml/2006/main">
              <a:ext uri="{FF2B5EF4-FFF2-40B4-BE49-F238E27FC236}">
                <a16:creationId xmlns:a16="http://schemas.microsoft.com/office/drawing/2014/main" id="{8E95AC7F-82ED-43EC-8712-D4317ED861D0}"/>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34</a:t>
            </a:r>
          </a:p>
        </p:txBody>
      </p:sp>
      <p:graphicFrame>
        <p:nvGraphicFramePr>
          <p:cNvPr id="4" name="Chart">
            <a:extLst xmlns:a="http://schemas.openxmlformats.org/drawingml/2006/main">
              <a:ext uri="{FF2B5EF4-FFF2-40B4-BE49-F238E27FC236}">
                <a16:creationId xmlns:a16="http://schemas.microsoft.com/office/drawing/2014/main" id="{5CF8153F-D769-41F1-87C7-52418DD8BCA4}"/>
              </a:ext>
            </a:extLst>
          </p:cNvPr>
          <p:cNvGraphicFramePr/>
          <p:nvPr/>
        </p:nvGraphicFramePr>
        <p:xfrm>
          <a:off xmlns:a="http://schemas.openxmlformats.org/drawingml/2006/main" x="609600" y="1676400"/>
          <a:ext xmlns:a="http://schemas.openxmlformats.org/drawingml/2006/main" cx="10972800" cy="3676650"/>
        </p:xfrm>
        <a:graphic xmlns:a="http://schemas.openxmlformats.org/drawingml/2006/main">
          <a:graphicData uri="http://schemas.openxmlformats.org/drawingml/2006/chart">
            <c:chart xmlns:r="http://schemas.openxmlformats.org/officeDocument/2006/relationships" xmlns:c="http://schemas.openxmlformats.org/drawingml/2006/chart" r:id="R1fd5c34b1a624f73"/>
          </a:graphicData>
        </a:graphic>
      </p:graphicFrame>
      <p:sp>
        <p:nvSpPr>
          <p:cNvPr id="5" name="text-3">
            <a:extLst xmlns:a="http://schemas.openxmlformats.org/drawingml/2006/main">
              <a:ext uri="{FF2B5EF4-FFF2-40B4-BE49-F238E27FC236}">
                <a16:creationId xmlns:a16="http://schemas.microsoft.com/office/drawing/2014/main" id="{161F1B55-5BD6-44C1-9626-7E9D3F5E8854}"/>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Support selection improves error but costs more than plain soft thresholding</a:t>
            </a:r>
          </a:p>
        </p:txBody>
      </p:sp>
    </p:spTree>
    <p:extLst>
      <p:ext uri="{BB962C8B-B14F-4D97-AF65-F5344CB8AC3E}">
        <p14:creationId xmlns:p14="http://schemas.microsoft.com/office/powerpoint/2010/main" val="1499532699"/>
      </p:ext>
    </p:extLst>
  </p:cSld>
</p:sld>
</file>

<file path=ppt/slides/slide3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A636921-DBF6-4092-A3CF-A0FF22633500}"/>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What the ALISTA experiment establishes</a:t>
            </a:r>
          </a:p>
        </p:txBody>
      </p:sp>
      <p:sp>
        <p:nvSpPr>
          <p:cNvPr id="2" name="text-1">
            <a:extLst xmlns:a="http://schemas.openxmlformats.org/drawingml/2006/main">
              <a:ext uri="{FF2B5EF4-FFF2-40B4-BE49-F238E27FC236}">
                <a16:creationId xmlns:a16="http://schemas.microsoft.com/office/drawing/2014/main" id="{98F4DF42-701B-4DA0-97BC-0A57A3EDFCE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9A7EF881-01A9-4EA3-BFE2-42390E5FB02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35</a:t>
            </a:r>
          </a:p>
        </p:txBody>
      </p:sp>
      <p:sp>
        <p:nvSpPr>
          <p:cNvPr id="4" name="text-3">
            <a:extLst xmlns:a="http://schemas.openxmlformats.org/drawingml/2006/main">
              <a:ext uri="{FF2B5EF4-FFF2-40B4-BE49-F238E27FC236}">
                <a16:creationId xmlns:a16="http://schemas.microsoft.com/office/drawing/2014/main" id="{2FF32BEA-16F0-47A2-B648-3A30AB195289}"/>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Supported: recovery of unseen signals for the same fixed dictionary</a:t>
            </a:r>
          </a:p>
        </p:txBody>
      </p:sp>
      <p:sp>
        <p:nvSpPr>
          <p:cNvPr id="5" name="text-4">
            <a:extLst xmlns:a="http://schemas.openxmlformats.org/drawingml/2006/main">
              <a:ext uri="{FF2B5EF4-FFF2-40B4-BE49-F238E27FC236}">
                <a16:creationId xmlns:a16="http://schemas.microsoft.com/office/drawing/2014/main" id="{627D579C-0729-4D4B-AC8F-BE4459B22A39}"/>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Supported: large benefit from support selection in this noiseless run</a:t>
            </a:r>
          </a:p>
        </p:txBody>
      </p:sp>
      <p:sp>
        <p:nvSpPr>
          <p:cNvPr id="6" name="text-5">
            <a:extLst xmlns:a="http://schemas.openxmlformats.org/drawingml/2006/main">
              <a:ext uri="{FF2B5EF4-FFF2-40B4-BE49-F238E27FC236}">
                <a16:creationId xmlns:a16="http://schemas.microsoft.com/office/drawing/2014/main" id="{738C5840-0E78-49E4-8FC6-E98E0522DF96}"/>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other seeds, noise levels and dictionary changes</a:t>
            </a:r>
          </a:p>
        </p:txBody>
      </p:sp>
      <p:sp>
        <p:nvSpPr>
          <p:cNvPr id="7" name="text-6">
            <a:extLst xmlns:a="http://schemas.openxmlformats.org/drawingml/2006/main">
              <a:ext uri="{FF2B5EF4-FFF2-40B4-BE49-F238E27FC236}">
                <a16:creationId xmlns:a16="http://schemas.microsoft.com/office/drawing/2014/main" id="{35487C60-9F0B-46E9-B186-36339126E065}"/>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performance on full magnetic-field reconstruction</a:t>
            </a:r>
          </a:p>
        </p:txBody>
      </p:sp>
    </p:spTree>
    <p:extLst>
      <p:ext uri="{BB962C8B-B14F-4D97-AF65-F5344CB8AC3E}">
        <p14:creationId xmlns:p14="http://schemas.microsoft.com/office/powerpoint/2010/main" val="488955411"/>
      </p:ext>
    </p:extLst>
  </p:cSld>
</p:sld>
</file>

<file path=ppt/slides/slide3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83F37B3B-42C1-4237-8E24-2D209F29A718}"/>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ConvLISTA and ALISTA solve different experiments</a:t>
            </a:r>
          </a:p>
        </p:txBody>
      </p:sp>
      <p:sp>
        <p:nvSpPr>
          <p:cNvPr id="2" name="text-1">
            <a:extLst xmlns:a="http://schemas.openxmlformats.org/drawingml/2006/main">
              <a:ext uri="{FF2B5EF4-FFF2-40B4-BE49-F238E27FC236}">
                <a16:creationId xmlns:a16="http://schemas.microsoft.com/office/drawing/2014/main" id="{0B9C6388-44B4-46F5-AB71-FE55087EE033}"/>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86B1D499-E7DF-4540-885E-4F11CCC37EA2}"/>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36</a:t>
            </a:r>
          </a:p>
        </p:txBody>
      </p:sp>
      <p:graphicFrame>
        <p:nvGraphicFramePr>
          <p:cNvPr id="4" name="">
            <a:extLst xmlns:a="http://schemas.openxmlformats.org/drawingml/2006/main">
              <a:ext uri="{FF2B5EF4-FFF2-40B4-BE49-F238E27FC236}">
                <a16:creationId xmlns:a16="http://schemas.microsoft.com/office/drawing/2014/main" id="{092E80C1-E4C1-496C-BEB4-1B50BE6133C2}"/>
              </a:ext>
            </a:extLst>
          </p:cNvPr>
          <p:cNvGraphicFramePr/>
          <p:nvPr/>
        </p:nvGraphicFramePr>
        <p:xfrm>
          <a:off xmlns:a="http://schemas.openxmlformats.org/drawingml/2006/main" x="609600" y="1600200"/>
          <a:ext xmlns:a="http://schemas.openxmlformats.org/drawingml/2006/main" cx="10972800" cy="3752850"/>
        </p:xfrm>
        <a:graphic xmlns:a="http://schemas.openxmlformats.org/drawingml/2006/main">
          <a:graphicData uri="http://schemas.openxmlformats.org/drawingml/2006/table">
            <a:tbl>
              <a:tblPr/>
              <a:tblGrid>
                <a:gridCol w="2914650"/>
                <a:gridCol w="4029075"/>
                <a:gridCol w="4029075"/>
              </a:tblGrid>
              <a:tr h="625475">
                <a:tc>
                  <a:txBody>
                    <a:bodyPr lIns="114300" tIns="114300" rIns="114300" bIns="114300"/>
                    <a:lstStyle/>
                    <a:p>
                      <a:r>
                        <a:rPr sz="1725" b="1">
                          <a:solidFill>
                            <a:srgbClr val="FFFFFF"/>
                          </a:solidFill>
                          <a:latin typeface="Arial"/>
                          <a:ea typeface="Arial"/>
                          <a:cs typeface="Arial"/>
                        </a:rPr>
                        <a:t>Property</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Our ConvLISTA</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Our dense ALISTA</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25475">
                <a:tc>
                  <a:txBody>
                    <a:bodyPr lIns="114300" tIns="114300" rIns="114300" bIns="114300"/>
                    <a:lstStyle/>
                    <a:p>
                      <a:r>
                        <a:rPr sz="1725" b="0">
                          <a:solidFill>
                            <a:srgbClr val="152B3B"/>
                          </a:solidFill>
                          <a:latin typeface="Arial"/>
                          <a:ea typeface="Arial"/>
                          <a:cs typeface="Arial"/>
                        </a:rPr>
                        <a:t>State</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Magnetic-field pixels</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Sparse coefficients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25475">
                <a:tc>
                  <a:txBody>
                    <a:bodyPr lIns="114300" tIns="114300" rIns="114300" bIns="114300"/>
                    <a:lstStyle/>
                    <a:p>
                      <a:r>
                        <a:rPr sz="1725" b="0">
                          <a:solidFill>
                            <a:srgbClr val="152B3B"/>
                          </a:solidFill>
                          <a:latin typeface="Arial"/>
                          <a:ea typeface="Arial"/>
                          <a:cs typeface="Arial"/>
                        </a:rPr>
                        <a:t>Fixed operator</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Padded Fourier A</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Dense D and analytic W</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25475">
                <a:tc>
                  <a:txBody>
                    <a:bodyPr lIns="114300" tIns="114300" rIns="114300" bIns="114300"/>
                    <a:lstStyle/>
                    <a:p>
                      <a:r>
                        <a:rPr sz="1725" b="0">
                          <a:solidFill>
                            <a:srgbClr val="152B3B"/>
                          </a:solidFill>
                          <a:latin typeface="Arial"/>
                          <a:ea typeface="Arial"/>
                          <a:cs typeface="Arial"/>
                        </a:rPr>
                        <a:t>Learned quantities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Two filters and threshold</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Step and threshold per layer</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25475">
                <a:tc>
                  <a:txBody>
                    <a:bodyPr lIns="114300" tIns="114300" rIns="114300" bIns="114300"/>
                    <a:lstStyle/>
                    <a:p>
                      <a:r>
                        <a:rPr sz="1725" b="0">
                          <a:solidFill>
                            <a:srgbClr val="152B3B"/>
                          </a:solidFill>
                          <a:latin typeface="Arial"/>
                          <a:ea typeface="Arial"/>
                          <a:cs typeface="Arial"/>
                        </a:rPr>
                        <a:t>Learned count</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163, tied across depth</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32 at 16 layers</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25475">
                <a:tc>
                  <a:txBody>
                    <a:bodyPr lIns="114300" tIns="114300" rIns="114300" bIns="114300"/>
                    <a:lstStyle/>
                    <a:p>
                      <a:r>
                        <a:rPr sz="1725" b="0">
                          <a:solidFill>
                            <a:srgbClr val="152B3B"/>
                          </a:solidFill>
                          <a:latin typeface="Arial"/>
                          <a:ea typeface="Arial"/>
                          <a:cs typeface="Arial"/>
                        </a:rPr>
                        <a:t>Evaluation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Same fitted fields</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Independent sparse signals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Tree>
    <p:extLst>
      <p:ext uri="{BB962C8B-B14F-4D97-AF65-F5344CB8AC3E}">
        <p14:creationId xmlns:p14="http://schemas.microsoft.com/office/powerpoint/2010/main" val="1713369155"/>
      </p:ext>
    </p:extLst>
  </p:cSld>
</p:sld>
</file>

<file path=ppt/slides/slide3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41F4BE46-5FDB-45BA-8E6B-9BD6A08856AE}"/>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What ALISTA still needs for magnetic fields</a:t>
            </a:r>
          </a:p>
        </p:txBody>
      </p:sp>
      <p:sp>
        <p:nvSpPr>
          <p:cNvPr id="2" name="text-1">
            <a:extLst xmlns:a="http://schemas.openxmlformats.org/drawingml/2006/main">
              <a:ext uri="{FF2B5EF4-FFF2-40B4-BE49-F238E27FC236}">
                <a16:creationId xmlns:a16="http://schemas.microsoft.com/office/drawing/2014/main" id="{D42CE664-0CBA-434D-B891-358683C0550C}"/>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75003AB8-6F1D-4CDE-A4E9-067F09A81089}"/>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37</a:t>
            </a:r>
          </a:p>
        </p:txBody>
      </p:sp>
      <p:sp>
        <p:nvSpPr>
          <p:cNvPr id="4" name="text-3">
            <a:extLst xmlns:a="http://schemas.openxmlformats.org/drawingml/2006/main">
              <a:ext uri="{FF2B5EF4-FFF2-40B4-BE49-F238E27FC236}">
                <a16:creationId xmlns:a16="http://schemas.microsoft.com/office/drawing/2014/main" id="{92A5CD5D-CBB7-4682-B522-ECC41E41EFCD}"/>
              </a:ext>
            </a:extLst>
          </p:cNvPr>
          <p:cNvSpPr>
            <a:spLocks xmlns:a="http://schemas.openxmlformats.org/drawingml/2006/main" noGrp="1"/>
          </p:cNvSpPr>
          <p:nvPr/>
        </p:nvSpPr>
        <p:spPr>
          <a:xfrm xmlns:a="http://schemas.openxmlformats.org/drawingml/2006/main">
            <a:off x="609600" y="17907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x = Ψz,      b ≈ AΨz</a:t>
            </a:r>
          </a:p>
        </p:txBody>
      </p:sp>
      <p:sp>
        <p:nvSpPr>
          <p:cNvPr id="5" name="text-4">
            <a:extLst xmlns:a="http://schemas.openxmlformats.org/drawingml/2006/main">
              <a:ext uri="{FF2B5EF4-FFF2-40B4-BE49-F238E27FC236}">
                <a16:creationId xmlns:a16="http://schemas.microsoft.com/office/drawing/2014/main" id="{C616B864-C6CA-4C03-A326-274694336C13}"/>
              </a:ext>
            </a:extLst>
          </p:cNvPr>
          <p:cNvSpPr>
            <a:spLocks xmlns:a="http://schemas.openxmlformats.org/drawingml/2006/main" noGrp="1"/>
          </p:cNvSpPr>
          <p:nvPr/>
        </p:nvSpPr>
        <p:spPr>
          <a:xfrm xmlns:a="http://schemas.openxmlformats.org/drawingml/2006/main">
            <a:off x="609600" y="31623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Choose a representation in which z is plausibly sparse.</a:t>
            </a:r>
          </a:p>
        </p:txBody>
      </p:sp>
      <p:sp>
        <p:nvSpPr>
          <p:cNvPr id="6" name="text-5">
            <a:extLst xmlns:a="http://schemas.openxmlformats.org/drawingml/2006/main">
              <a:ext uri="{FF2B5EF4-FFF2-40B4-BE49-F238E27FC236}">
                <a16:creationId xmlns:a16="http://schemas.microsoft.com/office/drawing/2014/main" id="{F1AEEF0F-4150-4EEE-9BB9-FC2C03010BA6}"/>
              </a:ext>
            </a:extLst>
          </p:cNvPr>
          <p:cNvSpPr>
            <a:spLocks xmlns:a="http://schemas.openxmlformats.org/drawingml/2006/main" noGrp="1"/>
          </p:cNvSpPr>
          <p:nvPr/>
        </p:nvSpPr>
        <p:spPr>
          <a:xfrm xmlns:a="http://schemas.openxmlformats.org/drawingml/2006/main">
            <a:off x="609600" y="40386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Construct the analytic operator without full-image dense matrices.</a:t>
            </a:r>
          </a:p>
        </p:txBody>
      </p:sp>
      <p:sp>
        <p:nvSpPr>
          <p:cNvPr id="7" name="text-6">
            <a:extLst xmlns:a="http://schemas.openxmlformats.org/drawingml/2006/main">
              <a:ext uri="{FF2B5EF4-FFF2-40B4-BE49-F238E27FC236}">
                <a16:creationId xmlns:a16="http://schemas.microsoft.com/office/drawing/2014/main" id="{765FF335-B4AE-4835-8D86-9FB9FED62C12}"/>
              </a:ext>
            </a:extLst>
          </p:cNvPr>
          <p:cNvSpPr>
            <a:spLocks xmlns:a="http://schemas.openxmlformats.org/drawingml/2006/main" noGrp="1"/>
          </p:cNvSpPr>
          <p:nvPr/>
        </p:nvSpPr>
        <p:spPr>
          <a:xfrm xmlns:a="http://schemas.openxmlformats.org/drawingml/2006/main">
            <a:off x="609600" y="4914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Preserve the existing boundaries and test noise sensitivity.</a:t>
            </a:r>
          </a:p>
        </p:txBody>
      </p:sp>
      <p:sp>
        <p:nvSpPr>
          <p:cNvPr id="8" name="text-7">
            <a:extLst xmlns:a="http://schemas.openxmlformats.org/drawingml/2006/main">
              <a:ext uri="{FF2B5EF4-FFF2-40B4-BE49-F238E27FC236}">
                <a16:creationId xmlns:a16="http://schemas.microsoft.com/office/drawing/2014/main" id="{6109E0F6-84F7-4ADE-B897-6B9A19144EC6}"/>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Few trainable parameters do not remove the operator-storage problem</a:t>
            </a:r>
          </a:p>
        </p:txBody>
      </p:sp>
    </p:spTree>
    <p:extLst>
      <p:ext uri="{BB962C8B-B14F-4D97-AF65-F5344CB8AC3E}">
        <p14:creationId xmlns:p14="http://schemas.microsoft.com/office/powerpoint/2010/main" val="1558939726"/>
      </p:ext>
    </p:extLst>
  </p:cSld>
</p:sld>
</file>

<file path=ppt/slides/slide3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4AE8B9C-0113-443F-87DD-D97BCEC4CF03}"/>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next experiment should explain the gain</a:t>
            </a:r>
          </a:p>
        </p:txBody>
      </p:sp>
      <p:sp>
        <p:nvSpPr>
          <p:cNvPr id="2" name="text-1">
            <a:extLst xmlns:a="http://schemas.openxmlformats.org/drawingml/2006/main">
              <a:ext uri="{FF2B5EF4-FFF2-40B4-BE49-F238E27FC236}">
                <a16:creationId xmlns:a16="http://schemas.microsoft.com/office/drawing/2014/main" id="{4D0298B3-2A3C-4C5D-8E1F-D17306DA12EA}"/>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F329895E-FEF1-4FFB-9902-D298077266F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38</a:t>
            </a:r>
          </a:p>
        </p:txBody>
      </p:sp>
      <p:graphicFrame>
        <p:nvGraphicFramePr>
          <p:cNvPr id="4" name="">
            <a:extLst xmlns:a="http://schemas.openxmlformats.org/drawingml/2006/main">
              <a:ext uri="{FF2B5EF4-FFF2-40B4-BE49-F238E27FC236}">
                <a16:creationId xmlns:a16="http://schemas.microsoft.com/office/drawing/2014/main" id="{62A8AD13-002B-4E1F-AFDE-585481665510}"/>
              </a:ext>
            </a:extLst>
          </p:cNvPr>
          <p:cNvGraphicFramePr/>
          <p:nvPr/>
        </p:nvGraphicFramePr>
        <p:xfrm>
          <a:off xmlns:a="http://schemas.openxmlformats.org/drawingml/2006/main" x="609600" y="1600200"/>
          <a:ext xmlns:a="http://schemas.openxmlformats.org/drawingml/2006/main" cx="10972800" cy="3238500"/>
        </p:xfrm>
        <a:graphic xmlns:a="http://schemas.openxmlformats.org/drawingml/2006/main">
          <a:graphicData uri="http://schemas.openxmlformats.org/drawingml/2006/table">
            <a:tbl>
              <a:tblPr/>
              <a:tblGrid>
                <a:gridCol w="5810250"/>
                <a:gridCol w="5162550"/>
              </a:tblGrid>
              <a:tr h="647700">
                <a:tc>
                  <a:txBody>
                    <a:bodyPr lIns="114300" tIns="114300" rIns="114300" bIns="114300"/>
                    <a:lstStyle/>
                    <a:p>
                      <a:r>
                        <a:rPr sz="1875" b="1">
                          <a:solidFill>
                            <a:srgbClr val="FFFFFF"/>
                          </a:solidFill>
                          <a:latin typeface="Arial"/>
                          <a:ea typeface="Arial"/>
                          <a:cs typeface="Arial"/>
                        </a:rPr>
                        <a:t>Experiment</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Question</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47700">
                <a:tc>
                  <a:txBody>
                    <a:bodyPr lIns="114300" tIns="114300" rIns="114300" bIns="114300"/>
                    <a:lstStyle/>
                    <a:p>
                      <a:r>
                        <a:rPr sz="1875" b="0">
                          <a:solidFill>
                            <a:srgbClr val="152B3B"/>
                          </a:solidFill>
                          <a:latin typeface="Arial"/>
                          <a:ea typeface="Arial"/>
                          <a:cs typeface="Arial"/>
                        </a:rPr>
                        <a:t>Held-out fields or geometries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Does the improvement generalize?</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47700">
                <a:tc>
                  <a:txBody>
                    <a:bodyPr lIns="114300" tIns="114300" rIns="114300" bIns="114300"/>
                    <a:lstStyle/>
                    <a:p>
                      <a:r>
                        <a:rPr sz="1875" b="0">
                          <a:solidFill>
                            <a:srgbClr val="152B3B"/>
                          </a:solidFill>
                          <a:latin typeface="Arial"/>
                          <a:ea typeface="Arial"/>
                          <a:cs typeface="Arial"/>
                        </a:rPr>
                        <a:t>Learned steps and thresholds only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Are spatial filters necessary?</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47700">
                <a:tc>
                  <a:txBody>
                    <a:bodyPr lIns="114300" tIns="114300" rIns="114300" bIns="114300"/>
                    <a:lstStyle/>
                    <a:p>
                      <a:r>
                        <a:rPr sz="1875" b="0">
                          <a:solidFill>
                            <a:srgbClr val="152B3B"/>
                          </a:solidFill>
                          <a:latin typeface="Arial"/>
                          <a:ea typeface="Arial"/>
                          <a:cs typeface="Arial"/>
                        </a:rPr>
                        <a:t>Only C_b, only C_x, then both</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Which branch causes the gain?</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47700">
                <a:tc>
                  <a:txBody>
                    <a:bodyPr lIns="114300" tIns="114300" rIns="114300" bIns="114300"/>
                    <a:lstStyle/>
                    <a:p>
                      <a:r>
                        <a:rPr sz="1875" b="0">
                          <a:solidFill>
                            <a:srgbClr val="152B3B"/>
                          </a:solidFill>
                          <a:latin typeface="Arial"/>
                          <a:ea typeface="Arial"/>
                          <a:cs typeface="Arial"/>
                        </a:rPr>
                        <a:t>Noise and operator perturbations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How sensitive is reconstruction?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28912CE9-1046-4844-AC86-68EA4BDA20B0}"/>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Ablations and independent evaluation make the thesis claim stronger</a:t>
            </a:r>
          </a:p>
        </p:txBody>
      </p:sp>
    </p:spTree>
    <p:extLst>
      <p:ext uri="{BB962C8B-B14F-4D97-AF65-F5344CB8AC3E}">
        <p14:creationId xmlns:p14="http://schemas.microsoft.com/office/powerpoint/2010/main" val="2011453337"/>
      </p:ext>
    </p:extLst>
  </p:cSld>
</p:sld>
</file>

<file path=ppt/slides/slide3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AB843A1-5402-47C7-923E-38C5785F7F39}"/>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Defensible conclusions for the thesis</a:t>
            </a:r>
          </a:p>
        </p:txBody>
      </p:sp>
      <p:sp>
        <p:nvSpPr>
          <p:cNvPr id="2" name="text-1">
            <a:extLst xmlns:a="http://schemas.openxmlformats.org/drawingml/2006/main">
              <a:ext uri="{FF2B5EF4-FFF2-40B4-BE49-F238E27FC236}">
                <a16:creationId xmlns:a16="http://schemas.microsoft.com/office/drawing/2014/main" id="{D6D380C2-315D-4196-A82D-FFFACD8EEA36}"/>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F719FB02-4791-4AAD-9E61-6ADA5C75C06C}"/>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39</a:t>
            </a:r>
          </a:p>
        </p:txBody>
      </p:sp>
      <p:sp>
        <p:nvSpPr>
          <p:cNvPr id="4" name="text-3">
            <a:extLst xmlns:a="http://schemas.openxmlformats.org/drawingml/2006/main">
              <a:ext uri="{FF2B5EF4-FFF2-40B4-BE49-F238E27FC236}">
                <a16:creationId xmlns:a16="http://schemas.microsoft.com/office/drawing/2014/main" id="{5D8F5E17-FADD-4749-9FBF-FF046E2F836B}"/>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ConvLISTA architecture has an explicit mathematical rationale.</a:t>
            </a:r>
          </a:p>
        </p:txBody>
      </p:sp>
      <p:sp>
        <p:nvSpPr>
          <p:cNvPr id="5" name="text-4">
            <a:extLst xmlns:a="http://schemas.openxmlformats.org/drawingml/2006/main">
              <a:ext uri="{FF2B5EF4-FFF2-40B4-BE49-F238E27FC236}">
                <a16:creationId xmlns:a16="http://schemas.microsoft.com/office/drawing/2014/main" id="{F088C255-5946-4A0E-8AAE-A865B6F8063F}"/>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Its field result supports improvement at a short iteration budget.</a:t>
            </a:r>
          </a:p>
        </p:txBody>
      </p:sp>
      <p:sp>
        <p:nvSpPr>
          <p:cNvPr id="6" name="text-5">
            <a:extLst xmlns:a="http://schemas.openxmlformats.org/drawingml/2006/main">
              <a:ext uri="{FF2B5EF4-FFF2-40B4-BE49-F238E27FC236}">
                <a16:creationId xmlns:a16="http://schemas.microsoft.com/office/drawing/2014/main" id="{B3B14E0E-7756-49F6-B0F0-007A5FB90C3C}"/>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ALISTA tests how analytic weights can replace learned maps.</a:t>
            </a:r>
          </a:p>
        </p:txBody>
      </p:sp>
      <p:sp>
        <p:nvSpPr>
          <p:cNvPr id="7" name="text-6">
            <a:extLst xmlns:a="http://schemas.openxmlformats.org/drawingml/2006/main">
              <a:ext uri="{FF2B5EF4-FFF2-40B4-BE49-F238E27FC236}">
                <a16:creationId xmlns:a16="http://schemas.microsoft.com/office/drawing/2014/main" id="{F2D3B8DD-6666-460B-80AB-6BEC0134F0BD}"/>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strongest next claim requires a common, held-out magnetic benchmark.</a:t>
            </a:r>
          </a:p>
        </p:txBody>
      </p:sp>
    </p:spTree>
    <p:extLst>
      <p:ext uri="{BB962C8B-B14F-4D97-AF65-F5344CB8AC3E}">
        <p14:creationId xmlns:p14="http://schemas.microsoft.com/office/powerpoint/2010/main" val="918198842"/>
      </p:ext>
    </p:extLst>
  </p:cSld>
</p:sld>
</file>

<file path=ppt/slides/slide4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C83C18E-83D2-41B5-A41D-49DF2C2334F3}"/>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References and experiment records</a:t>
            </a:r>
          </a:p>
        </p:txBody>
      </p:sp>
      <p:sp>
        <p:nvSpPr>
          <p:cNvPr id="2" name="text-1">
            <a:extLst xmlns:a="http://schemas.openxmlformats.org/drawingml/2006/main">
              <a:ext uri="{FF2B5EF4-FFF2-40B4-BE49-F238E27FC236}">
                <a16:creationId xmlns:a16="http://schemas.microsoft.com/office/drawing/2014/main" id="{75891B99-719C-4ED5-864A-D08228FED702}"/>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7DBE29EA-FA01-48FF-B766-CF0D6868965B}"/>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40</a:t>
            </a:r>
          </a:p>
        </p:txBody>
      </p:sp>
      <p:sp>
        <p:nvSpPr>
          <p:cNvPr id="4" name="text-3">
            <a:extLst xmlns:a="http://schemas.openxmlformats.org/drawingml/2006/main">
              <a:ext uri="{FF2B5EF4-FFF2-40B4-BE49-F238E27FC236}">
                <a16:creationId xmlns:a16="http://schemas.microsoft.com/office/drawing/2014/main" id="{5C4B5073-B0E8-4B65-BE9F-6D47429079EC}"/>
              </a:ext>
            </a:extLst>
          </p:cNvPr>
          <p:cNvSpPr>
            <a:spLocks xmlns:a="http://schemas.openxmlformats.org/drawingml/2006/main" noGrp="1"/>
          </p:cNvSpPr>
          <p:nvPr/>
        </p:nvSpPr>
        <p:spPr>
          <a:xfrm xmlns:a="http://schemas.openxmlformats.org/drawingml/2006/main">
            <a:off x="609600" y="1590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Gregor &amp; LeCun, ICML 2010</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Learning Fast Approximations of Sparse Coding</a:t>
            </a:r>
          </a:p>
        </p:txBody>
      </p:sp>
      <p:sp>
        <p:nvSpPr>
          <p:cNvPr id="5" name="text-4">
            <a:extLst xmlns:a="http://schemas.openxmlformats.org/drawingml/2006/main">
              <a:ext uri="{FF2B5EF4-FFF2-40B4-BE49-F238E27FC236}">
                <a16:creationId xmlns:a16="http://schemas.microsoft.com/office/drawing/2014/main" id="{78D9B460-33DA-4EE4-B4DA-33485B7BB609}"/>
              </a:ext>
            </a:extLst>
          </p:cNvPr>
          <p:cNvSpPr>
            <a:spLocks xmlns:a="http://schemas.openxmlformats.org/drawingml/2006/main" noGrp="1"/>
          </p:cNvSpPr>
          <p:nvPr/>
        </p:nvSpPr>
        <p:spPr>
          <a:xfrm xmlns:a="http://schemas.openxmlformats.org/drawingml/2006/main">
            <a:off x="609600" y="2695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Liu, Chen, Wang &amp; Yin, ICLR 2019</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ALISTA: Analytic Weights Are As Good As Learned Weights in LISTA</a:t>
            </a:r>
          </a:p>
        </p:txBody>
      </p:sp>
      <p:sp>
        <p:nvSpPr>
          <p:cNvPr id="6" name="text-5">
            <a:extLst xmlns:a="http://schemas.openxmlformats.org/drawingml/2006/main">
              <a:ext uri="{FF2B5EF4-FFF2-40B4-BE49-F238E27FC236}">
                <a16:creationId xmlns:a16="http://schemas.microsoft.com/office/drawing/2014/main" id="{03DC50C2-9E14-45B2-98A3-4F81E5DB211C}"/>
              </a:ext>
            </a:extLst>
          </p:cNvPr>
          <p:cNvSpPr>
            <a:spLocks xmlns:a="http://schemas.openxmlformats.org/drawingml/2006/main" noGrp="1"/>
          </p:cNvSpPr>
          <p:nvPr/>
        </p:nvSpPr>
        <p:spPr>
          <a:xfrm xmlns:a="http://schemas.openxmlformats.org/drawingml/2006/main">
            <a:off x="609600" y="38004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Sreter &amp; Giryes, ICASSP 2018</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Learned Convolutional Sparse Coding</a:t>
            </a:r>
          </a:p>
        </p:txBody>
      </p:sp>
      <p:sp>
        <p:nvSpPr>
          <p:cNvPr id="7" name="text-6">
            <a:extLst xmlns:a="http://schemas.openxmlformats.org/drawingml/2006/main">
              <a:ext uri="{FF2B5EF4-FFF2-40B4-BE49-F238E27FC236}">
                <a16:creationId xmlns:a16="http://schemas.microsoft.com/office/drawing/2014/main" id="{54378228-ED08-4661-9255-E4BAE63BF3E0}"/>
              </a:ext>
            </a:extLst>
          </p:cNvPr>
          <p:cNvSpPr>
            <a:spLocks xmlns:a="http://schemas.openxmlformats.org/drawingml/2006/main" noGrp="1"/>
          </p:cNvSpPr>
          <p:nvPr/>
        </p:nvSpPr>
        <p:spPr>
          <a:xfrm xmlns:a="http://schemas.openxmlformats.org/drawingml/2006/main">
            <a:off x="609600" y="49053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Project evidence</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LISTA_FISTA.md, ALISTA.md and archived experiment records</a:t>
            </a:r>
          </a:p>
        </p:txBody>
      </p:sp>
    </p:spTree>
    <p:extLst>
      <p:ext uri="{BB962C8B-B14F-4D97-AF65-F5344CB8AC3E}">
        <p14:creationId xmlns:p14="http://schemas.microsoft.com/office/powerpoint/2010/main" val="1427643431"/>
      </p:ext>
    </p:extLst>
  </p:cSld>
</p:sld>
</file>

<file path=ppt/slides/slide4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EF96DFD-A288-4951-BCA0-C47888FC49B4}"/>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Appendix: the analytic solution column by column</a:t>
            </a:r>
          </a:p>
        </p:txBody>
      </p:sp>
      <p:sp>
        <p:nvSpPr>
          <p:cNvPr id="2" name="text-1">
            <a:extLst xmlns:a="http://schemas.openxmlformats.org/drawingml/2006/main">
              <a:ext uri="{FF2B5EF4-FFF2-40B4-BE49-F238E27FC236}">
                <a16:creationId xmlns:a16="http://schemas.microsoft.com/office/drawing/2014/main" id="{BDD544D6-6BCD-4B91-A088-6B1FAC1EB54A}"/>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56744389-47A8-4291-B24E-B5446DB2E57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41</a:t>
            </a:r>
          </a:p>
        </p:txBody>
      </p:sp>
      <p:sp>
        <p:nvSpPr>
          <p:cNvPr id="4" name="text-3">
            <a:extLst xmlns:a="http://schemas.openxmlformats.org/drawingml/2006/main">
              <a:ext uri="{FF2B5EF4-FFF2-40B4-BE49-F238E27FC236}">
                <a16:creationId xmlns:a16="http://schemas.microsoft.com/office/drawing/2014/main" id="{BCEEF92C-704B-4099-825B-4C33D2BAE8DF}"/>
              </a:ext>
            </a:extLst>
          </p:cNvPr>
          <p:cNvSpPr>
            <a:spLocks xmlns:a="http://schemas.openxmlformats.org/drawingml/2006/main" noGrp="1"/>
          </p:cNvSpPr>
          <p:nvPr/>
        </p:nvSpPr>
        <p:spPr>
          <a:xfrm xmlns:a="http://schemas.openxmlformats.org/drawingml/2006/main">
            <a:off x="609600" y="16668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G = DDᵀ</a:t>
            </a:r>
          </a:p>
        </p:txBody>
      </p:sp>
      <p:sp>
        <p:nvSpPr>
          <p:cNvPr id="5" name="text-4">
            <a:extLst xmlns:a="http://schemas.openxmlformats.org/drawingml/2006/main">
              <a:ext uri="{FF2B5EF4-FFF2-40B4-BE49-F238E27FC236}">
                <a16:creationId xmlns:a16="http://schemas.microsoft.com/office/drawing/2014/main" id="{92FE82F7-9203-4756-A5F2-A695E9F58F05}"/>
              </a:ext>
            </a:extLst>
          </p:cNvPr>
          <p:cNvSpPr>
            <a:spLocks xmlns:a="http://schemas.openxmlformats.org/drawingml/2006/main" noGrp="1"/>
          </p:cNvSpPr>
          <p:nvPr/>
        </p:nvSpPr>
        <p:spPr>
          <a:xfrm xmlns:a="http://schemas.openxmlformats.org/drawingml/2006/main">
            <a:off x="609600" y="26289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uⱼ = G†dⱼ</a:t>
            </a:r>
          </a:p>
        </p:txBody>
      </p:sp>
      <p:sp>
        <p:nvSpPr>
          <p:cNvPr id="6" name="text-5">
            <a:extLst xmlns:a="http://schemas.openxmlformats.org/drawingml/2006/main">
              <a:ext uri="{FF2B5EF4-FFF2-40B4-BE49-F238E27FC236}">
                <a16:creationId xmlns:a16="http://schemas.microsoft.com/office/drawing/2014/main" id="{C7B2EBFA-88F5-4AEA-82AC-AE33FA7346A8}"/>
              </a:ext>
            </a:extLst>
          </p:cNvPr>
          <p:cNvSpPr>
            <a:spLocks xmlns:a="http://schemas.openxmlformats.org/drawingml/2006/main" noGrp="1"/>
          </p:cNvSpPr>
          <p:nvPr/>
        </p:nvSpPr>
        <p:spPr>
          <a:xfrm xmlns:a="http://schemas.openxmlformats.org/drawingml/2006/main">
            <a:off x="609600" y="35909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wⱼ = uⱼ / (dⱼᵀuⱼ)</a:t>
            </a:r>
          </a:p>
        </p:txBody>
      </p:sp>
      <p:sp>
        <p:nvSpPr>
          <p:cNvPr id="7" name="text-6">
            <a:extLst xmlns:a="http://schemas.openxmlformats.org/drawingml/2006/main">
              <a:ext uri="{FF2B5EF4-FFF2-40B4-BE49-F238E27FC236}">
                <a16:creationId xmlns:a16="http://schemas.microsoft.com/office/drawing/2014/main" id="{D7C3CECA-1257-4897-9FAD-A4B4705A7DDC}"/>
              </a:ext>
            </a:extLst>
          </p:cNvPr>
          <p:cNvSpPr>
            <a:spLocks xmlns:a="http://schemas.openxmlformats.org/drawingml/2006/main" noGrp="1"/>
          </p:cNvSpPr>
          <p:nvPr/>
        </p:nvSpPr>
        <p:spPr>
          <a:xfrm xmlns:a="http://schemas.openxmlformats.org/drawingml/2006/main">
            <a:off x="609600" y="4972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The independent SVD solution checks the projected-gradient solver.</a:t>
            </a:r>
          </a:p>
        </p:txBody>
      </p:sp>
    </p:spTree>
    <p:extLst>
      <p:ext uri="{BB962C8B-B14F-4D97-AF65-F5344CB8AC3E}">
        <p14:creationId xmlns:p14="http://schemas.microsoft.com/office/powerpoint/2010/main" val="443973875"/>
      </p:ext>
    </p:extLst>
  </p:cSld>
</p:sld>
</file>

<file path=ppt/slides/slide4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EED2E82-5DCB-439A-B62A-884D0B822486}"/>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Appendix: reproducibility and scope</a:t>
            </a:r>
          </a:p>
        </p:txBody>
      </p:sp>
      <p:sp>
        <p:nvSpPr>
          <p:cNvPr id="2" name="text-1">
            <a:extLst xmlns:a="http://schemas.openxmlformats.org/drawingml/2006/main">
              <a:ext uri="{FF2B5EF4-FFF2-40B4-BE49-F238E27FC236}">
                <a16:creationId xmlns:a16="http://schemas.microsoft.com/office/drawing/2014/main" id="{E116A465-8DBF-4A2F-AFE2-DF281B6CC6E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DA8B004C-6FC2-4CBB-B9D7-B4E99B15618E}"/>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42</a:t>
            </a:r>
          </a:p>
        </p:txBody>
      </p:sp>
      <p:sp>
        <p:nvSpPr>
          <p:cNvPr id="4" name="text-3">
            <a:extLst xmlns:a="http://schemas.openxmlformats.org/drawingml/2006/main">
              <a:ext uri="{FF2B5EF4-FFF2-40B4-BE49-F238E27FC236}">
                <a16:creationId xmlns:a16="http://schemas.microsoft.com/office/drawing/2014/main" id="{59007B07-674D-4DA6-8AAB-CA3C87DDE485}"/>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ConvLISTA: archived 16-layer run, 200 epochs, same-sample fields</a:t>
            </a:r>
          </a:p>
        </p:txBody>
      </p:sp>
      <p:sp>
        <p:nvSpPr>
          <p:cNvPr id="5" name="text-4">
            <a:extLst xmlns:a="http://schemas.openxmlformats.org/drawingml/2006/main">
              <a:ext uri="{FF2B5EF4-FFF2-40B4-BE49-F238E27FC236}">
                <a16:creationId xmlns:a16="http://schemas.microsoft.com/office/drawing/2014/main" id="{FE5CDC5E-8FAC-4C3F-A817-3275CD43601C}"/>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ALISTA: 16 layers, 32 scalars, one noiseless dictionary, seed 0</a:t>
            </a:r>
          </a:p>
        </p:txBody>
      </p:sp>
      <p:sp>
        <p:nvSpPr>
          <p:cNvPr id="6" name="text-5">
            <a:extLst xmlns:a="http://schemas.openxmlformats.org/drawingml/2006/main">
              <a:ext uri="{FF2B5EF4-FFF2-40B4-BE49-F238E27FC236}">
                <a16:creationId xmlns:a16="http://schemas.microsoft.com/office/drawing/2014/main" id="{46978F1F-B772-415E-94BC-C57ECAC1C36D}"/>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ALISTA baselines: validation-selected λ for each method and budget</a:t>
            </a:r>
          </a:p>
        </p:txBody>
      </p:sp>
      <p:sp>
        <p:nvSpPr>
          <p:cNvPr id="7" name="text-6">
            <a:extLst xmlns:a="http://schemas.openxmlformats.org/drawingml/2006/main">
              <a:ext uri="{FF2B5EF4-FFF2-40B4-BE49-F238E27FC236}">
                <a16:creationId xmlns:a16="http://schemas.microsoft.com/office/drawing/2014/main" id="{A74E1567-74E3-46AB-8E81-36DA7BD3A5E5}"/>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Equation fidelity and experiment reproduction are separate claims.</a:t>
            </a:r>
          </a:p>
        </p:txBody>
      </p:sp>
    </p:spTree>
    <p:extLst>
      <p:ext uri="{BB962C8B-B14F-4D97-AF65-F5344CB8AC3E}">
        <p14:creationId xmlns:p14="http://schemas.microsoft.com/office/powerpoint/2010/main" val="7751085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2026-10-15T07:52:11.9530000Z</dcterms:created>
  <dcterms:modified xsi:type="dcterms:W3CDTF">2026-10-15T07:52:11.9530000Z</dcterms:modified>
</coreProperties>
</file>